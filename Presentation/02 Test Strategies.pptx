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5814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gave us the vocabulary of testing types. This chapter gives us decision-making. Every project has limited time and people, so a strategy is how we spend that effort where it matters most. Everything later in the course, from scenarios to estimates, should follow from the strategy.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The common thread: making deliberate, defensible choices about where testing effort goes, instead of testing everything equally until the deadline arrives.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strategy describes how testing will give confidence in the quality of the product. Notice the last question: depth. Not every area deserves the same effort, and the strategy makes that choice explicit.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left to right. Strategy work is the first three or four boxes: understanding requirements, assessing risks, choosing an approach and checking coverage. Execution produces evidence, and evidence is the real product of testing.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small companies the strategy and plan are combined into one document. That is fine. What matters is that the thinking happens: general principles, then this release's specifics, then how each risky area is tackled.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comes from things like new code, complex logic, many integrations, an inexperienced team, or frequent changes. Impact comes from financial loss, legal or compliance issues, safety, reputation, and the number of users affected. Rate each area, then let the matrix tell you where to spend your effort.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RTM makes the gap on REQ-03 impossible to miss: password reset has no tests at all. We build full traceability in Chapter 7. Good strategies combine both ideas: requirements guarantee breadth, risk decides depth.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regression strategy decides what to re-test and when. Selective, impact-based regression is what most teams do day to day, with a full retest reserved for big releases. A suite that is never pruned becomes slow and ignored, so maintenance is part of the strategy.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Automating an unstable feature means the scripts break every sprint and the team spends its time fixing tests instead of finding bugs. Use the four questions at the bottom to decide case by case.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SBTM stands for session-based test management. It turns exploratory testing from random clicking into something you can plan, track and report on: a charter, a time limit, notes, and a debrief.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defect found in requirements costs far less to fix than one found in production, which is the whole case for shift-left. But some problems only appear with real users and real data, so shift-right keeps learning after release. A canary release, for example, goes to 5% of users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are fast, cheap and pinpoint failures precisely, so they form the wide base. UI end-to-end tests are valuable but slow and fragile, so keep them to the critical journeys. Teams that invert this shape end up with the ice-cream cone: a slow, flaky suite that nobody trusts.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useful for finding gaps, but it is easy to game. A test that executes a line of code without checking the result still counts towards code coverage. Treat coverage as a gap-finder, not a quality score.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criteria stop the team wasting time testing a broken build or an unready environment. Exit criteria turn "are we done?" into an objective decision rather than a feeling or a calendar date.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mistakes comes from skipping a strategic decision. Equal effort ignores risk; automating too early ignores stability; no exit criteria ignores evidence.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ten minutes. Encourage them to rate likelihood and impact for each feature before deciding priorities. The next two slides show a model answer.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 transfer is critical because it combines complex business rules and integrations with direct money and regulatory impact. A wrong balance destroys customer trust even if no money is lost. Changing a phone number is a classic fraud route, which is why profile updates rank higher than you might expect.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the risk ratings drive everything else. The critical and high areas get the deepest testing, the most automation for regression, and the exploratory sessions aimed at money-related edge cases like double submits and session timeouts.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Likelihood times impact. 2. The test strategy. 3. Unit tests are faster, cheaper, more stable and pinpoint failures precisely. 4. Shift-left: reviewing user stories before coding. Shift-right: monitoring production or a canary release. 5. An entry criterion.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 strategy is how a team turns limited time into the most useful evidence about quality. Next we look at use cases, one of the main forms requirements take.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2</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Test Strategies</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There is never time to test everything. How to decide what, where, when and how deeply to test.</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30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a:lnSpc>
                <a:spcPts val="3520"/>
              </a:lnSpc>
            </a:pPr>
            <a:r>
              <a:rPr lang="en-US" b="1" dirty="0">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904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59967"/>
            <a:ext cx="790479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how a </a:t>
            </a:r>
            <a:r>
              <a:rPr lang="en-US" sz="1600" b="1" dirty="0">
                <a:solidFill>
                  <a:srgbClr val="3D4A5C"/>
                </a:solidFill>
                <a:latin typeface="Nunito Sans" pitchFamily="34" charset="0"/>
                <a:ea typeface="Nunito Sans" pitchFamily="34" charset="-122"/>
                <a:cs typeface="Nunito Sans" pitchFamily="34" charset="-120"/>
              </a:rPr>
              <a:t>test strategy</a:t>
            </a:r>
            <a:r>
              <a:rPr lang="en-US" sz="1600" dirty="0">
                <a:solidFill>
                  <a:srgbClr val="3D4A5C"/>
                </a:solidFill>
                <a:latin typeface="Nunito Sans" pitchFamily="34" charset="0"/>
                <a:ea typeface="Nunito Sans" pitchFamily="34" charset="-122"/>
                <a:cs typeface="Nunito Sans" pitchFamily="34" charset="-120"/>
              </a:rPr>
              <a:t> differs from a </a:t>
            </a:r>
            <a:r>
              <a:rPr lang="en-US" sz="1600" b="1" dirty="0">
                <a:solidFill>
                  <a:srgbClr val="3D4A5C"/>
                </a:solidFill>
                <a:latin typeface="Nunito Sans" pitchFamily="34" charset="0"/>
                <a:ea typeface="Nunito Sans" pitchFamily="34" charset="-122"/>
                <a:cs typeface="Nunito Sans" pitchFamily="34" charset="-120"/>
              </a:rPr>
              <a:t>test approach</a:t>
            </a:r>
            <a:r>
              <a:rPr lang="en-US" sz="1600" dirty="0">
                <a:solidFill>
                  <a:srgbClr val="3D4A5C"/>
                </a:solidFill>
                <a:latin typeface="Nunito Sans" pitchFamily="34" charset="0"/>
                <a:ea typeface="Nunito Sans" pitchFamily="34" charset="-122"/>
                <a:cs typeface="Nunito Sans" pitchFamily="34" charset="-120"/>
              </a:rPr>
              <a:t> and a </a:t>
            </a:r>
            <a:r>
              <a:rPr lang="en-US" sz="1600" b="1" dirty="0">
                <a:solidFill>
                  <a:srgbClr val="3D4A5C"/>
                </a:solidFill>
                <a:latin typeface="Nunito Sans" pitchFamily="34" charset="0"/>
                <a:ea typeface="Nunito Sans" pitchFamily="34" charset="-122"/>
                <a:cs typeface="Nunito Sans" pitchFamily="34" charset="-120"/>
              </a:rPr>
              <a:t>test plan</a:t>
            </a:r>
            <a:endParaRPr lang="en-US" sz="1600" dirty="0"/>
          </a:p>
        </p:txBody>
      </p:sp>
      <p:sp>
        <p:nvSpPr>
          <p:cNvPr id="6" name="Text 4"/>
          <p:cNvSpPr/>
          <p:nvPr/>
        </p:nvSpPr>
        <p:spPr>
          <a:xfrm>
            <a:off x="812800" y="2438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93367"/>
            <a:ext cx="823880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Use </a:t>
            </a:r>
            <a:r>
              <a:rPr lang="en-US" sz="1600" b="1" dirty="0">
                <a:solidFill>
                  <a:srgbClr val="3D4A5C"/>
                </a:solidFill>
                <a:latin typeface="Nunito Sans" pitchFamily="34" charset="0"/>
                <a:ea typeface="Nunito Sans" pitchFamily="34" charset="-122"/>
                <a:cs typeface="Nunito Sans" pitchFamily="34" charset="-120"/>
              </a:rPr>
              <a:t>risk-based</a:t>
            </a:r>
            <a:r>
              <a:rPr lang="en-US" sz="1600" dirty="0">
                <a:solidFill>
                  <a:srgbClr val="3D4A5C"/>
                </a:solidFill>
                <a:latin typeface="Nunito Sans" pitchFamily="34" charset="0"/>
                <a:ea typeface="Nunito Sans" pitchFamily="34" charset="-122"/>
                <a:cs typeface="Nunito Sans" pitchFamily="34" charset="-120"/>
              </a:rPr>
              <a:t> and </a:t>
            </a:r>
            <a:r>
              <a:rPr lang="en-US" sz="1600" b="1" dirty="0">
                <a:solidFill>
                  <a:srgbClr val="3D4A5C"/>
                </a:solidFill>
                <a:latin typeface="Nunito Sans" pitchFamily="34" charset="0"/>
                <a:ea typeface="Nunito Sans" pitchFamily="34" charset="-122"/>
                <a:cs typeface="Nunito Sans" pitchFamily="34" charset="-120"/>
              </a:rPr>
              <a:t>requirement-based</a:t>
            </a:r>
            <a:r>
              <a:rPr lang="en-US" sz="1600" dirty="0">
                <a:solidFill>
                  <a:srgbClr val="3D4A5C"/>
                </a:solidFill>
                <a:latin typeface="Nunito Sans" pitchFamily="34" charset="0"/>
                <a:ea typeface="Nunito Sans" pitchFamily="34" charset="-122"/>
                <a:cs typeface="Nunito Sans" pitchFamily="34" charset="-120"/>
              </a:rPr>
              <a:t> thinking to decide what to test first</a:t>
            </a:r>
            <a:endParaRPr lang="en-US" sz="1600" dirty="0"/>
          </a:p>
        </p:txBody>
      </p:sp>
      <p:sp>
        <p:nvSpPr>
          <p:cNvPr id="8" name="Text 6"/>
          <p:cNvSpPr/>
          <p:nvPr/>
        </p:nvSpPr>
        <p:spPr>
          <a:xfrm>
            <a:off x="812800" y="2971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3026767"/>
            <a:ext cx="726749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Describe regression, automation and exploratory testing strategies</a:t>
            </a:r>
            <a:endParaRPr lang="en-US" sz="1600" dirty="0"/>
          </a:p>
        </p:txBody>
      </p:sp>
      <p:sp>
        <p:nvSpPr>
          <p:cNvPr id="10" name="Text 8"/>
          <p:cNvSpPr/>
          <p:nvPr/>
        </p:nvSpPr>
        <p:spPr>
          <a:xfrm>
            <a:off x="812800" y="3505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60167"/>
            <a:ext cx="549854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a:t>
            </a:r>
            <a:r>
              <a:rPr lang="en-US" sz="1600" b="1" dirty="0">
                <a:solidFill>
                  <a:srgbClr val="3D4A5C"/>
                </a:solidFill>
                <a:latin typeface="Nunito Sans" pitchFamily="34" charset="0"/>
                <a:ea typeface="Nunito Sans" pitchFamily="34" charset="-122"/>
                <a:cs typeface="Nunito Sans" pitchFamily="34" charset="-120"/>
              </a:rPr>
              <a:t>shift-left</a:t>
            </a:r>
            <a:r>
              <a:rPr lang="en-US" sz="1600" dirty="0">
                <a:solidFill>
                  <a:srgbClr val="3D4A5C"/>
                </a:solidFill>
                <a:latin typeface="Nunito Sans" pitchFamily="34" charset="0"/>
                <a:ea typeface="Nunito Sans" pitchFamily="34" charset="-122"/>
                <a:cs typeface="Nunito Sans" pitchFamily="34" charset="-120"/>
              </a:rPr>
              <a:t>, </a:t>
            </a:r>
            <a:r>
              <a:rPr lang="en-US" sz="1600" b="1" dirty="0">
                <a:solidFill>
                  <a:srgbClr val="3D4A5C"/>
                </a:solidFill>
                <a:latin typeface="Nunito Sans" pitchFamily="34" charset="0"/>
                <a:ea typeface="Nunito Sans" pitchFamily="34" charset="-122"/>
                <a:cs typeface="Nunito Sans" pitchFamily="34" charset="-120"/>
              </a:rPr>
              <a:t>shift-right</a:t>
            </a:r>
            <a:r>
              <a:rPr lang="en-US" sz="1600" dirty="0">
                <a:solidFill>
                  <a:srgbClr val="3D4A5C"/>
                </a:solidFill>
                <a:latin typeface="Nunito Sans" pitchFamily="34" charset="0"/>
                <a:ea typeface="Nunito Sans" pitchFamily="34" charset="-122"/>
                <a:cs typeface="Nunito Sans" pitchFamily="34" charset="-120"/>
              </a:rPr>
              <a:t> and the </a:t>
            </a:r>
            <a:r>
              <a:rPr lang="en-US" sz="1600" b="1" dirty="0">
                <a:solidFill>
                  <a:srgbClr val="3D4A5C"/>
                </a:solidFill>
                <a:latin typeface="Nunito Sans" pitchFamily="34" charset="0"/>
                <a:ea typeface="Nunito Sans" pitchFamily="34" charset="-122"/>
                <a:cs typeface="Nunito Sans" pitchFamily="34" charset="-120"/>
              </a:rPr>
              <a:t>test pyramid</a:t>
            </a:r>
            <a:endParaRPr lang="en-US" sz="1600" dirty="0"/>
          </a:p>
        </p:txBody>
      </p:sp>
      <p:sp>
        <p:nvSpPr>
          <p:cNvPr id="12" name="Text 10"/>
          <p:cNvSpPr/>
          <p:nvPr/>
        </p:nvSpPr>
        <p:spPr>
          <a:xfrm>
            <a:off x="812800" y="40385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93567"/>
            <a:ext cx="701230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Define </a:t>
            </a:r>
            <a:r>
              <a:rPr lang="en-US" sz="1600" b="1" dirty="0">
                <a:solidFill>
                  <a:srgbClr val="3D4A5C"/>
                </a:solidFill>
                <a:latin typeface="Nunito Sans" pitchFamily="34" charset="0"/>
                <a:ea typeface="Nunito Sans" pitchFamily="34" charset="-122"/>
                <a:cs typeface="Nunito Sans" pitchFamily="34" charset="-120"/>
              </a:rPr>
              <a:t>test coverage</a:t>
            </a:r>
            <a:r>
              <a:rPr lang="en-US" sz="1600" dirty="0">
                <a:solidFill>
                  <a:srgbClr val="3D4A5C"/>
                </a:solidFill>
                <a:latin typeface="Nunito Sans" pitchFamily="34" charset="0"/>
                <a:ea typeface="Nunito Sans" pitchFamily="34" charset="-122"/>
                <a:cs typeface="Nunito Sans" pitchFamily="34" charset="-120"/>
              </a:rPr>
              <a:t> and </a:t>
            </a:r>
            <a:r>
              <a:rPr lang="en-US" sz="1600" b="1" dirty="0">
                <a:solidFill>
                  <a:srgbClr val="3D4A5C"/>
                </a:solidFill>
                <a:latin typeface="Nunito Sans" pitchFamily="34" charset="0"/>
                <a:ea typeface="Nunito Sans" pitchFamily="34" charset="-122"/>
                <a:cs typeface="Nunito Sans" pitchFamily="34" charset="-120"/>
              </a:rPr>
              <a:t>entry and exit criteria</a:t>
            </a:r>
            <a:r>
              <a:rPr lang="en-US" sz="1600" dirty="0">
                <a:solidFill>
                  <a:srgbClr val="3D4A5C"/>
                </a:solidFill>
                <a:latin typeface="Nunito Sans" pitchFamily="34" charset="0"/>
                <a:ea typeface="Nunito Sans" pitchFamily="34" charset="-122"/>
                <a:cs typeface="Nunito Sans" pitchFamily="34" charset="-120"/>
              </a:rPr>
              <a:t> for a test phase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IS A TEST STRATEGY?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 high-level answer to five questions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2315766"/>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Question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Example answer</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What will we test?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Checkout, payments, login. Not the legacy admin reports.</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Where?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Unit tests in CI, system tests in QA, UAT in staging.</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When?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Every sprint; full regression before each release.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How?</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Automated regression, manual exploratory, a performance test before Black Friday.</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How deeply?</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Payments: deep, many negative cases. Static “About Us” page: a light check.</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CORE MENTAL MODEL</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From requirements to evidence</a:t>
            </a:r>
            <a:endParaRPr lang="en-US" sz="3200" dirty="0"/>
          </a:p>
        </p:txBody>
      </p:sp>
      <p:sp>
        <p:nvSpPr>
          <p:cNvPr id="4" name="Shape 2"/>
          <p:cNvSpPr/>
          <p:nvPr/>
        </p:nvSpPr>
        <p:spPr>
          <a:xfrm>
            <a:off x="812800" y="1854135"/>
            <a:ext cx="1676400" cy="1805715"/>
          </a:xfrm>
          <a:prstGeom prst="roundRect">
            <a:avLst>
              <a:gd name="adj" fmla="val 4545"/>
            </a:avLst>
          </a:prstGeom>
          <a:solidFill>
            <a:srgbClr val="FBFBF8"/>
          </a:solidFill>
          <a:ln/>
        </p:spPr>
      </p:sp>
      <p:sp>
        <p:nvSpPr>
          <p:cNvPr id="5" name="Shape 3"/>
          <p:cNvSpPr/>
          <p:nvPr/>
        </p:nvSpPr>
        <p:spPr>
          <a:xfrm>
            <a:off x="812800" y="1854135"/>
            <a:ext cx="1676400" cy="1805715"/>
          </a:xfrm>
          <a:custGeom>
            <a:avLst/>
            <a:gdLst/>
            <a:ahLst/>
            <a:cxnLst/>
            <a:rect l="l" t="t" r="r" b="b"/>
            <a:pathLst>
              <a:path w="1676400" h="1805715">
                <a:moveTo>
                  <a:pt x="0" y="76200"/>
                </a:moveTo>
                <a:lnTo>
                  <a:pt x="0" y="76200"/>
                </a:lnTo>
                <a:arcTo wR="76200" hR="76200" stAng="10800000" swAng="5400000"/>
                <a:lnTo>
                  <a:pt x="1600200" y="0"/>
                </a:lnTo>
                <a:arcTo wR="76200" hR="76200" stAng="16200000" swAng="5400000"/>
                <a:lnTo>
                  <a:pt x="1676400" y="76200"/>
                </a:lnTo>
                <a:arcTo wR="76200" hR="25400" stAng="0" swAng="-5400000"/>
                <a:lnTo>
                  <a:pt x="76200" y="50800"/>
                </a:lnTo>
                <a:arcTo wR="76200" hR="25400" stAng="16200000" swAng="-5400000"/>
                <a:close/>
              </a:path>
            </a:pathLst>
          </a:custGeom>
          <a:solidFill>
            <a:srgbClr val="2B5C9E"/>
          </a:solidFill>
          <a:ln/>
        </p:spPr>
      </p:sp>
      <p:sp>
        <p:nvSpPr>
          <p:cNvPr id="6" name="Text 4"/>
          <p:cNvSpPr/>
          <p:nvPr/>
        </p:nvSpPr>
        <p:spPr>
          <a:xfrm>
            <a:off x="965200" y="2057335"/>
            <a:ext cx="1422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1</a:t>
            </a:r>
            <a:endParaRPr lang="en-US" sz="1200" dirty="0"/>
          </a:p>
        </p:txBody>
      </p:sp>
      <p:sp>
        <p:nvSpPr>
          <p:cNvPr id="7" name="Text 5"/>
          <p:cNvSpPr/>
          <p:nvPr/>
        </p:nvSpPr>
        <p:spPr>
          <a:xfrm>
            <a:off x="965200" y="2346855"/>
            <a:ext cx="14224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Requirements</a:t>
            </a:r>
            <a:endParaRPr lang="en-US" sz="1300" dirty="0"/>
          </a:p>
        </p:txBody>
      </p:sp>
      <p:sp>
        <p:nvSpPr>
          <p:cNvPr id="8" name="Text 6"/>
          <p:cNvSpPr/>
          <p:nvPr/>
        </p:nvSpPr>
        <p:spPr>
          <a:xfrm>
            <a:off x="965200" y="2654168"/>
            <a:ext cx="142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What should the system do?</a:t>
            </a:r>
            <a:endParaRPr lang="en-US" sz="1200" dirty="0"/>
          </a:p>
        </p:txBody>
      </p:sp>
      <p:sp>
        <p:nvSpPr>
          <p:cNvPr id="9" name="Shape 7"/>
          <p:cNvSpPr/>
          <p:nvPr/>
        </p:nvSpPr>
        <p:spPr>
          <a:xfrm>
            <a:off x="2590800" y="1854135"/>
            <a:ext cx="1676400" cy="1805715"/>
          </a:xfrm>
          <a:prstGeom prst="roundRect">
            <a:avLst>
              <a:gd name="adj" fmla="val 4545"/>
            </a:avLst>
          </a:prstGeom>
          <a:solidFill>
            <a:srgbClr val="FBFBF8"/>
          </a:solidFill>
          <a:ln/>
        </p:spPr>
      </p:sp>
      <p:sp>
        <p:nvSpPr>
          <p:cNvPr id="10" name="Shape 8"/>
          <p:cNvSpPr/>
          <p:nvPr/>
        </p:nvSpPr>
        <p:spPr>
          <a:xfrm>
            <a:off x="2590800" y="1854135"/>
            <a:ext cx="1676400" cy="1805715"/>
          </a:xfrm>
          <a:custGeom>
            <a:avLst/>
            <a:gdLst/>
            <a:ahLst/>
            <a:cxnLst/>
            <a:rect l="l" t="t" r="r" b="b"/>
            <a:pathLst>
              <a:path w="1676400" h="1805715">
                <a:moveTo>
                  <a:pt x="0" y="76200"/>
                </a:moveTo>
                <a:lnTo>
                  <a:pt x="0" y="76200"/>
                </a:lnTo>
                <a:arcTo wR="76200" hR="76200" stAng="10800000" swAng="5400000"/>
                <a:lnTo>
                  <a:pt x="1600200" y="0"/>
                </a:lnTo>
                <a:arcTo wR="76200" hR="76200" stAng="16200000" swAng="5400000"/>
                <a:lnTo>
                  <a:pt x="1676400" y="76200"/>
                </a:lnTo>
                <a:arcTo wR="76200" hR="25400" stAng="0" swAng="-5400000"/>
                <a:lnTo>
                  <a:pt x="76200" y="50800"/>
                </a:lnTo>
                <a:arcTo wR="76200" hR="25400" stAng="16200000" swAng="-5400000"/>
                <a:close/>
              </a:path>
            </a:pathLst>
          </a:custGeom>
          <a:solidFill>
            <a:srgbClr val="2B5C9E"/>
          </a:solidFill>
          <a:ln/>
        </p:spPr>
      </p:sp>
      <p:sp>
        <p:nvSpPr>
          <p:cNvPr id="11" name="Text 9"/>
          <p:cNvSpPr/>
          <p:nvPr/>
        </p:nvSpPr>
        <p:spPr>
          <a:xfrm>
            <a:off x="2743200" y="2057335"/>
            <a:ext cx="1422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2</a:t>
            </a:r>
            <a:endParaRPr lang="en-US" sz="1200" dirty="0"/>
          </a:p>
        </p:txBody>
      </p:sp>
      <p:sp>
        <p:nvSpPr>
          <p:cNvPr id="12" name="Text 10"/>
          <p:cNvSpPr/>
          <p:nvPr/>
        </p:nvSpPr>
        <p:spPr>
          <a:xfrm>
            <a:off x="2743200" y="2346855"/>
            <a:ext cx="14224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Risks</a:t>
            </a:r>
            <a:endParaRPr lang="en-US" sz="1300" dirty="0"/>
          </a:p>
        </p:txBody>
      </p:sp>
      <p:sp>
        <p:nvSpPr>
          <p:cNvPr id="13" name="Text 11"/>
          <p:cNvSpPr/>
          <p:nvPr/>
        </p:nvSpPr>
        <p:spPr>
          <a:xfrm>
            <a:off x="2743200" y="2654168"/>
            <a:ext cx="14224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What could go wrong, and how badly?</a:t>
            </a:r>
            <a:endParaRPr lang="en-US" sz="1200" dirty="0"/>
          </a:p>
        </p:txBody>
      </p:sp>
      <p:sp>
        <p:nvSpPr>
          <p:cNvPr id="14" name="Shape 12"/>
          <p:cNvSpPr/>
          <p:nvPr/>
        </p:nvSpPr>
        <p:spPr>
          <a:xfrm>
            <a:off x="4368800" y="1854135"/>
            <a:ext cx="1676400" cy="1805715"/>
          </a:xfrm>
          <a:prstGeom prst="roundRect">
            <a:avLst>
              <a:gd name="adj" fmla="val 4545"/>
            </a:avLst>
          </a:prstGeom>
          <a:solidFill>
            <a:srgbClr val="FBFBF8"/>
          </a:solidFill>
          <a:ln/>
        </p:spPr>
      </p:sp>
      <p:sp>
        <p:nvSpPr>
          <p:cNvPr id="15" name="Shape 13"/>
          <p:cNvSpPr/>
          <p:nvPr/>
        </p:nvSpPr>
        <p:spPr>
          <a:xfrm>
            <a:off x="4368800" y="1854135"/>
            <a:ext cx="1676400" cy="1805715"/>
          </a:xfrm>
          <a:custGeom>
            <a:avLst/>
            <a:gdLst/>
            <a:ahLst/>
            <a:cxnLst/>
            <a:rect l="l" t="t" r="r" b="b"/>
            <a:pathLst>
              <a:path w="1676400" h="1805715">
                <a:moveTo>
                  <a:pt x="0" y="76200"/>
                </a:moveTo>
                <a:lnTo>
                  <a:pt x="0" y="76200"/>
                </a:lnTo>
                <a:arcTo wR="76200" hR="76200" stAng="10800000" swAng="5400000"/>
                <a:lnTo>
                  <a:pt x="1600200" y="0"/>
                </a:lnTo>
                <a:arcTo wR="76200" hR="76200" stAng="16200000" swAng="5400000"/>
                <a:lnTo>
                  <a:pt x="1676400" y="76200"/>
                </a:lnTo>
                <a:arcTo wR="76200" hR="25400" stAng="0" swAng="-5400000"/>
                <a:lnTo>
                  <a:pt x="76200" y="50800"/>
                </a:lnTo>
                <a:arcTo wR="76200" hR="25400" stAng="16200000" swAng="-5400000"/>
                <a:close/>
              </a:path>
            </a:pathLst>
          </a:custGeom>
          <a:solidFill>
            <a:srgbClr val="2B5C9E"/>
          </a:solidFill>
          <a:ln/>
        </p:spPr>
      </p:sp>
      <p:sp>
        <p:nvSpPr>
          <p:cNvPr id="16" name="Text 14"/>
          <p:cNvSpPr/>
          <p:nvPr/>
        </p:nvSpPr>
        <p:spPr>
          <a:xfrm>
            <a:off x="4521200" y="2057335"/>
            <a:ext cx="1422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C9E"/>
                </a:solidFill>
                <a:latin typeface="Nunito Sans" pitchFamily="34" charset="0"/>
                <a:ea typeface="Nunito Sans" pitchFamily="34" charset="-122"/>
                <a:cs typeface="Nunito Sans" pitchFamily="34" charset="-120"/>
              </a:rPr>
              <a:t>3</a:t>
            </a:r>
            <a:endParaRPr lang="en-US" sz="1200" dirty="0"/>
          </a:p>
        </p:txBody>
      </p:sp>
      <p:sp>
        <p:nvSpPr>
          <p:cNvPr id="17" name="Text 15"/>
          <p:cNvSpPr/>
          <p:nvPr/>
        </p:nvSpPr>
        <p:spPr>
          <a:xfrm>
            <a:off x="4521200" y="2346855"/>
            <a:ext cx="14224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Test approach</a:t>
            </a:r>
            <a:endParaRPr lang="en-US" sz="1300" dirty="0"/>
          </a:p>
        </p:txBody>
      </p:sp>
      <p:sp>
        <p:nvSpPr>
          <p:cNvPr id="18" name="Text 16"/>
          <p:cNvSpPr/>
          <p:nvPr/>
        </p:nvSpPr>
        <p:spPr>
          <a:xfrm>
            <a:off x="4521200" y="2654168"/>
            <a:ext cx="14224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Which types, levels and techniques reduce those risks?</a:t>
            </a:r>
            <a:endParaRPr lang="en-US" sz="1200" dirty="0"/>
          </a:p>
        </p:txBody>
      </p:sp>
      <p:sp>
        <p:nvSpPr>
          <p:cNvPr id="19" name="Shape 17"/>
          <p:cNvSpPr/>
          <p:nvPr/>
        </p:nvSpPr>
        <p:spPr>
          <a:xfrm>
            <a:off x="6146800" y="1854135"/>
            <a:ext cx="1676400" cy="1805715"/>
          </a:xfrm>
          <a:prstGeom prst="roundRect">
            <a:avLst>
              <a:gd name="adj" fmla="val 4545"/>
            </a:avLst>
          </a:prstGeom>
          <a:solidFill>
            <a:srgbClr val="FBFBF8"/>
          </a:solidFill>
          <a:ln/>
        </p:spPr>
      </p:sp>
      <p:sp>
        <p:nvSpPr>
          <p:cNvPr id="20" name="Shape 18"/>
          <p:cNvSpPr/>
          <p:nvPr/>
        </p:nvSpPr>
        <p:spPr>
          <a:xfrm>
            <a:off x="6146800" y="1854135"/>
            <a:ext cx="1676400" cy="1805715"/>
          </a:xfrm>
          <a:custGeom>
            <a:avLst/>
            <a:gdLst/>
            <a:ahLst/>
            <a:cxnLst/>
            <a:rect l="l" t="t" r="r" b="b"/>
            <a:pathLst>
              <a:path w="1676400" h="1805715">
                <a:moveTo>
                  <a:pt x="0" y="76200"/>
                </a:moveTo>
                <a:lnTo>
                  <a:pt x="0" y="76200"/>
                </a:lnTo>
                <a:arcTo wR="76200" hR="76200" stAng="10800000" swAng="5400000"/>
                <a:lnTo>
                  <a:pt x="1600200" y="0"/>
                </a:lnTo>
                <a:arcTo wR="76200" hR="76200" stAng="16200000" swAng="5400000"/>
                <a:lnTo>
                  <a:pt x="1676400" y="76200"/>
                </a:lnTo>
                <a:arcTo wR="76200" hR="25400" stAng="0" swAng="-5400000"/>
                <a:lnTo>
                  <a:pt x="76200" y="50800"/>
                </a:lnTo>
                <a:arcTo wR="76200" hR="25400" stAng="16200000" swAng="-5400000"/>
                <a:close/>
              </a:path>
            </a:pathLst>
          </a:custGeom>
          <a:solidFill>
            <a:srgbClr val="A14F0A"/>
          </a:solidFill>
          <a:ln/>
        </p:spPr>
      </p:sp>
      <p:sp>
        <p:nvSpPr>
          <p:cNvPr id="21" name="Text 19"/>
          <p:cNvSpPr/>
          <p:nvPr/>
        </p:nvSpPr>
        <p:spPr>
          <a:xfrm>
            <a:off x="6299200" y="2057335"/>
            <a:ext cx="1422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4</a:t>
            </a:r>
            <a:endParaRPr lang="en-US" sz="1200" dirty="0"/>
          </a:p>
        </p:txBody>
      </p:sp>
      <p:sp>
        <p:nvSpPr>
          <p:cNvPr id="22" name="Text 20"/>
          <p:cNvSpPr/>
          <p:nvPr/>
        </p:nvSpPr>
        <p:spPr>
          <a:xfrm>
            <a:off x="6299200" y="2346855"/>
            <a:ext cx="14224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Test coverage</a:t>
            </a:r>
            <a:endParaRPr lang="en-US" sz="1300" dirty="0"/>
          </a:p>
        </p:txBody>
      </p:sp>
      <p:sp>
        <p:nvSpPr>
          <p:cNvPr id="23" name="Text 21"/>
          <p:cNvSpPr/>
          <p:nvPr/>
        </p:nvSpPr>
        <p:spPr>
          <a:xfrm>
            <a:off x="6299200" y="2654168"/>
            <a:ext cx="142240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How much of the requirements and risks do tests address?</a:t>
            </a:r>
            <a:endParaRPr lang="en-US" sz="1200" dirty="0"/>
          </a:p>
        </p:txBody>
      </p:sp>
      <p:sp>
        <p:nvSpPr>
          <p:cNvPr id="24" name="Shape 22"/>
          <p:cNvSpPr/>
          <p:nvPr/>
        </p:nvSpPr>
        <p:spPr>
          <a:xfrm>
            <a:off x="7924800" y="1854135"/>
            <a:ext cx="1676400" cy="1805715"/>
          </a:xfrm>
          <a:prstGeom prst="roundRect">
            <a:avLst>
              <a:gd name="adj" fmla="val 4545"/>
            </a:avLst>
          </a:prstGeom>
          <a:solidFill>
            <a:srgbClr val="FBFBF8"/>
          </a:solidFill>
          <a:ln/>
        </p:spPr>
      </p:sp>
      <p:sp>
        <p:nvSpPr>
          <p:cNvPr id="25" name="Shape 23"/>
          <p:cNvSpPr/>
          <p:nvPr/>
        </p:nvSpPr>
        <p:spPr>
          <a:xfrm>
            <a:off x="7924800" y="1854135"/>
            <a:ext cx="1676400" cy="1805715"/>
          </a:xfrm>
          <a:custGeom>
            <a:avLst/>
            <a:gdLst/>
            <a:ahLst/>
            <a:cxnLst/>
            <a:rect l="l" t="t" r="r" b="b"/>
            <a:pathLst>
              <a:path w="1676400" h="1805715">
                <a:moveTo>
                  <a:pt x="0" y="76200"/>
                </a:moveTo>
                <a:lnTo>
                  <a:pt x="0" y="76200"/>
                </a:lnTo>
                <a:arcTo wR="76200" hR="76200" stAng="10800000" swAng="5400000"/>
                <a:lnTo>
                  <a:pt x="1600200" y="0"/>
                </a:lnTo>
                <a:arcTo wR="76200" hR="76200" stAng="16200000" swAng="5400000"/>
                <a:lnTo>
                  <a:pt x="1676400" y="76200"/>
                </a:lnTo>
                <a:arcTo wR="76200" hR="25400" stAng="0" swAng="-5400000"/>
                <a:lnTo>
                  <a:pt x="76200" y="50800"/>
                </a:lnTo>
                <a:arcTo wR="76200" hR="25400" stAng="16200000" swAng="-5400000"/>
                <a:close/>
              </a:path>
            </a:pathLst>
          </a:custGeom>
          <a:solidFill>
            <a:srgbClr val="A14F0A"/>
          </a:solidFill>
          <a:ln/>
        </p:spPr>
      </p:sp>
      <p:sp>
        <p:nvSpPr>
          <p:cNvPr id="26" name="Text 24"/>
          <p:cNvSpPr/>
          <p:nvPr/>
        </p:nvSpPr>
        <p:spPr>
          <a:xfrm>
            <a:off x="8077200" y="2057335"/>
            <a:ext cx="1422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5</a:t>
            </a:r>
            <a:endParaRPr lang="en-US" sz="1200" dirty="0"/>
          </a:p>
        </p:txBody>
      </p:sp>
      <p:sp>
        <p:nvSpPr>
          <p:cNvPr id="27" name="Text 25"/>
          <p:cNvSpPr/>
          <p:nvPr/>
        </p:nvSpPr>
        <p:spPr>
          <a:xfrm>
            <a:off x="8077200" y="2346855"/>
            <a:ext cx="14224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Execution</a:t>
            </a:r>
            <a:endParaRPr lang="en-US" sz="1300" dirty="0"/>
          </a:p>
        </p:txBody>
      </p:sp>
      <p:sp>
        <p:nvSpPr>
          <p:cNvPr id="28" name="Text 26"/>
          <p:cNvSpPr/>
          <p:nvPr/>
        </p:nvSpPr>
        <p:spPr>
          <a:xfrm>
            <a:off x="8077200" y="2654168"/>
            <a:ext cx="142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Run the tests; log results and defects.</a:t>
            </a:r>
            <a:endParaRPr lang="en-US" sz="1200" dirty="0"/>
          </a:p>
        </p:txBody>
      </p:sp>
      <p:sp>
        <p:nvSpPr>
          <p:cNvPr id="29" name="Shape 27"/>
          <p:cNvSpPr/>
          <p:nvPr/>
        </p:nvSpPr>
        <p:spPr>
          <a:xfrm>
            <a:off x="9702800" y="1854135"/>
            <a:ext cx="1676400" cy="1805715"/>
          </a:xfrm>
          <a:prstGeom prst="roundRect">
            <a:avLst>
              <a:gd name="adj" fmla="val 4545"/>
            </a:avLst>
          </a:prstGeom>
          <a:solidFill>
            <a:srgbClr val="FBFBF8"/>
          </a:solidFill>
          <a:ln/>
        </p:spPr>
      </p:sp>
      <p:sp>
        <p:nvSpPr>
          <p:cNvPr id="30" name="Shape 28"/>
          <p:cNvSpPr/>
          <p:nvPr/>
        </p:nvSpPr>
        <p:spPr>
          <a:xfrm>
            <a:off x="9702800" y="1854135"/>
            <a:ext cx="1676400" cy="1805715"/>
          </a:xfrm>
          <a:custGeom>
            <a:avLst/>
            <a:gdLst/>
            <a:ahLst/>
            <a:cxnLst/>
            <a:rect l="l" t="t" r="r" b="b"/>
            <a:pathLst>
              <a:path w="1676400" h="1805715">
                <a:moveTo>
                  <a:pt x="0" y="76200"/>
                </a:moveTo>
                <a:lnTo>
                  <a:pt x="0" y="76200"/>
                </a:lnTo>
                <a:arcTo wR="76200" hR="76200" stAng="10800000" swAng="5400000"/>
                <a:lnTo>
                  <a:pt x="1600200" y="0"/>
                </a:lnTo>
                <a:arcTo wR="76200" hR="76200" stAng="16200000" swAng="5400000"/>
                <a:lnTo>
                  <a:pt x="1676400" y="76200"/>
                </a:lnTo>
                <a:arcTo wR="76200" hR="25400" stAng="0" swAng="-5400000"/>
                <a:lnTo>
                  <a:pt x="76200" y="50800"/>
                </a:lnTo>
                <a:arcTo wR="76200" hR="25400" stAng="16200000" swAng="-5400000"/>
                <a:close/>
              </a:path>
            </a:pathLst>
          </a:custGeom>
          <a:solidFill>
            <a:srgbClr val="A14F0A"/>
          </a:solidFill>
          <a:ln/>
        </p:spPr>
      </p:sp>
      <p:sp>
        <p:nvSpPr>
          <p:cNvPr id="31" name="Text 29"/>
          <p:cNvSpPr/>
          <p:nvPr/>
        </p:nvSpPr>
        <p:spPr>
          <a:xfrm>
            <a:off x="9855200" y="2057335"/>
            <a:ext cx="14224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6</a:t>
            </a:r>
            <a:endParaRPr lang="en-US" sz="1200" dirty="0"/>
          </a:p>
        </p:txBody>
      </p:sp>
      <p:sp>
        <p:nvSpPr>
          <p:cNvPr id="32" name="Text 30"/>
          <p:cNvSpPr/>
          <p:nvPr/>
        </p:nvSpPr>
        <p:spPr>
          <a:xfrm>
            <a:off x="9855200" y="2346855"/>
            <a:ext cx="14224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Evidence</a:t>
            </a:r>
            <a:endParaRPr lang="en-US" sz="1300" dirty="0"/>
          </a:p>
        </p:txBody>
      </p:sp>
      <p:sp>
        <p:nvSpPr>
          <p:cNvPr id="33" name="Text 31"/>
          <p:cNvSpPr/>
          <p:nvPr/>
        </p:nvSpPr>
        <p:spPr>
          <a:xfrm>
            <a:off x="9855200" y="2654168"/>
            <a:ext cx="142240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Reports, metrics and sign-off for the release decision.</a:t>
            </a:r>
            <a:endParaRPr lang="en-US" sz="1200" dirty="0"/>
          </a:p>
        </p:txBody>
      </p:sp>
      <p:sp>
        <p:nvSpPr>
          <p:cNvPr id="34" name="Text 32"/>
          <p:cNvSpPr/>
          <p:nvPr/>
        </p:nvSpPr>
        <p:spPr>
          <a:xfrm>
            <a:off x="812800" y="3964649"/>
            <a:ext cx="98107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4213D"/>
                </a:solidFill>
                <a:latin typeface="Domine" pitchFamily="18" charset="0"/>
                <a:ea typeface="Domine" pitchFamily="18" charset="-122"/>
                <a:cs typeface="Domine" pitchFamily="18" charset="-120"/>
              </a:rPr>
              <a:t>Testing does not prove software is bug-free. It provides </a:t>
            </a:r>
            <a:r>
              <a:rPr lang="en-US" sz="2000" dirty="0">
                <a:solidFill>
                  <a:srgbClr val="A14F0A"/>
                </a:solidFill>
                <a:latin typeface="Domine" pitchFamily="18" charset="0"/>
                <a:ea typeface="Domine" pitchFamily="18" charset="-122"/>
                <a:cs typeface="Domine" pitchFamily="18" charset="-120"/>
              </a:rPr>
              <a:t>evidence</a:t>
            </a:r>
            <a:r>
              <a:rPr lang="en-US" sz="2000" dirty="0">
                <a:solidFill>
                  <a:srgbClr val="14213D"/>
                </a:solidFill>
                <a:latin typeface="Domine" pitchFamily="18" charset="0"/>
                <a:ea typeface="Domine" pitchFamily="18" charset="-122"/>
                <a:cs typeface="Domine" pitchFamily="18" charset="-120"/>
              </a:rPr>
              <a:t> that helps people make a release decision.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THREE TERMS THAT GET MIXED UP</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Strategy vs. plan vs. approach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5"/>
          <a:ext cx="10553700" cy="2089878"/>
        </p:xfrm>
        <a:graphic>
          <a:graphicData uri="http://schemas.openxmlformats.org/drawingml/2006/table">
            <a:tbl>
              <a:tblPr/>
              <a:tblGrid>
                <a:gridCol w="1688592">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tblGrid>
              <a:tr h="332647">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 strategy</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 plan</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Test approach</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Level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Organisation or product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Project or release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 feature or area, inside the plan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Answers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What are our general testing rules and principles?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Who tests what, when, with which resources?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How exactly will we test this thing?</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Changes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Rarely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Every project or release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Per feature or risk</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Example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“Critical flows get automated regression. We follow the test pyramid.”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“Release 3.2: 2 testers, 3 weeks, checkout redesign, exit criteria…”</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automate happy paths, explore payment edge cases.”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058314"/>
            <a:ext cx="10566400" cy="485114"/>
          </a:xfrm>
          <a:prstGeom prst="roundRect">
            <a:avLst>
              <a:gd name="adj" fmla="val 15708"/>
            </a:avLst>
          </a:prstGeom>
          <a:solidFill>
            <a:srgbClr val="FBEBDD"/>
          </a:solidFill>
          <a:ln/>
        </p:spPr>
        <p:txBody>
          <a:bodyPr wrap="square" lIns="155482" tIns="104682" rIns="0" bIns="79282"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Analogy:</a:t>
            </a:r>
            <a:r>
              <a:rPr lang="en-US" sz="1300" dirty="0">
                <a:solidFill>
                  <a:srgbClr val="14213D"/>
                </a:solidFill>
                <a:latin typeface="Nunito Sans" pitchFamily="34" charset="0"/>
                <a:ea typeface="Nunito Sans" pitchFamily="34" charset="-122"/>
                <a:cs typeface="Nunito Sans" pitchFamily="34" charset="-120"/>
              </a:rPr>
              <a:t> strategy = road-safety policy · plan = your trip itinerary · approach = driving one mountain pass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RISK-BASED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Test the riskiest areas first and deepest</a:t>
            </a:r>
            <a:endParaRPr lang="en-US" sz="3200" dirty="0"/>
          </a:p>
        </p:txBody>
      </p:sp>
      <p:sp>
        <p:nvSpPr>
          <p:cNvPr id="4" name="Text 2"/>
          <p:cNvSpPr/>
          <p:nvPr/>
        </p:nvSpPr>
        <p:spPr>
          <a:xfrm>
            <a:off x="2209800" y="1981135"/>
            <a:ext cx="12361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Nunito Sans" pitchFamily="34" charset="0"/>
                <a:ea typeface="Nunito Sans" pitchFamily="34" charset="-122"/>
                <a:cs typeface="Nunito Sans" pitchFamily="34" charset="-120"/>
              </a:rPr>
              <a:t>Low impact</a:t>
            </a:r>
            <a:endParaRPr lang="en-US" sz="1200" dirty="0"/>
          </a:p>
        </p:txBody>
      </p:sp>
      <p:sp>
        <p:nvSpPr>
          <p:cNvPr id="5" name="Text 3"/>
          <p:cNvSpPr/>
          <p:nvPr/>
        </p:nvSpPr>
        <p:spPr>
          <a:xfrm>
            <a:off x="3649133" y="1981135"/>
            <a:ext cx="12361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Nunito Sans" pitchFamily="34" charset="0"/>
                <a:ea typeface="Nunito Sans" pitchFamily="34" charset="-122"/>
                <a:cs typeface="Nunito Sans" pitchFamily="34" charset="-120"/>
              </a:rPr>
              <a:t>Medium impact</a:t>
            </a:r>
            <a:endParaRPr lang="en-US" sz="1200" dirty="0"/>
          </a:p>
        </p:txBody>
      </p:sp>
      <p:sp>
        <p:nvSpPr>
          <p:cNvPr id="6" name="Text 4"/>
          <p:cNvSpPr/>
          <p:nvPr/>
        </p:nvSpPr>
        <p:spPr>
          <a:xfrm>
            <a:off x="5088467" y="1981135"/>
            <a:ext cx="123613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213D"/>
                </a:solidFill>
                <a:latin typeface="Nunito Sans" pitchFamily="34" charset="0"/>
                <a:ea typeface="Nunito Sans" pitchFamily="34" charset="-122"/>
                <a:cs typeface="Nunito Sans" pitchFamily="34" charset="-120"/>
              </a:rPr>
              <a:t>High impact</a:t>
            </a:r>
            <a:endParaRPr lang="en-US" sz="1200" dirty="0"/>
          </a:p>
        </p:txBody>
      </p:sp>
      <p:sp>
        <p:nvSpPr>
          <p:cNvPr id="7" name="Text 5"/>
          <p:cNvSpPr/>
          <p:nvPr/>
        </p:nvSpPr>
        <p:spPr>
          <a:xfrm>
            <a:off x="914400" y="2499255"/>
            <a:ext cx="11176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High likelihood</a:t>
            </a:r>
            <a:endParaRPr lang="en-US" sz="1200" dirty="0"/>
          </a:p>
        </p:txBody>
      </p:sp>
      <p:sp>
        <p:nvSpPr>
          <p:cNvPr id="8" name="Text 6"/>
          <p:cNvSpPr/>
          <p:nvPr/>
        </p:nvSpPr>
        <p:spPr>
          <a:xfrm>
            <a:off x="2133600" y="2372255"/>
            <a:ext cx="1388533" cy="680641"/>
          </a:xfrm>
          <a:prstGeom prst="roundRect">
            <a:avLst>
              <a:gd name="adj" fmla="val 7464"/>
            </a:avLst>
          </a:prstGeom>
          <a:solidFill>
            <a:srgbClr val="FBEBDD"/>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Medium</a:t>
            </a:r>
            <a:endParaRPr lang="en-US" sz="1300" dirty="0"/>
          </a:p>
        </p:txBody>
      </p:sp>
      <p:sp>
        <p:nvSpPr>
          <p:cNvPr id="9" name="Text 7"/>
          <p:cNvSpPr/>
          <p:nvPr/>
        </p:nvSpPr>
        <p:spPr>
          <a:xfrm>
            <a:off x="3572933" y="2372255"/>
            <a:ext cx="1388533" cy="680641"/>
          </a:xfrm>
          <a:prstGeom prst="roundRect">
            <a:avLst>
              <a:gd name="adj" fmla="val 7464"/>
            </a:avLst>
          </a:prstGeom>
          <a:solidFill>
            <a:srgbClr val="F0A04B"/>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High</a:t>
            </a:r>
            <a:endParaRPr lang="en-US" sz="1300" dirty="0"/>
          </a:p>
        </p:txBody>
      </p:sp>
      <p:sp>
        <p:nvSpPr>
          <p:cNvPr id="10" name="Text 8"/>
          <p:cNvSpPr/>
          <p:nvPr/>
        </p:nvSpPr>
        <p:spPr>
          <a:xfrm>
            <a:off x="5012267" y="2372255"/>
            <a:ext cx="1388533" cy="680641"/>
          </a:xfrm>
          <a:prstGeom prst="roundRect">
            <a:avLst>
              <a:gd name="adj" fmla="val 7464"/>
            </a:avLst>
          </a:prstGeom>
          <a:solidFill>
            <a:srgbClr val="A14F0A"/>
          </a:solidFill>
          <a:ln/>
        </p:spPr>
        <p:txBody>
          <a:bodyPr wrap="square" lIns="61321" tIns="162921" rIns="61321" bIns="137521"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Critical</a:t>
            </a:r>
            <a:endParaRPr lang="en-US" sz="1300" dirty="0"/>
          </a:p>
        </p:txBody>
      </p:sp>
      <p:sp>
        <p:nvSpPr>
          <p:cNvPr id="11" name="Text 9"/>
          <p:cNvSpPr/>
          <p:nvPr/>
        </p:nvSpPr>
        <p:spPr>
          <a:xfrm>
            <a:off x="914400" y="3230696"/>
            <a:ext cx="11176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Medium likelihood</a:t>
            </a:r>
            <a:endParaRPr lang="en-US" sz="1200" dirty="0"/>
          </a:p>
        </p:txBody>
      </p:sp>
      <p:sp>
        <p:nvSpPr>
          <p:cNvPr id="12" name="Text 10"/>
          <p:cNvSpPr/>
          <p:nvPr/>
        </p:nvSpPr>
        <p:spPr>
          <a:xfrm>
            <a:off x="2133600" y="3103696"/>
            <a:ext cx="1388533" cy="680641"/>
          </a:xfrm>
          <a:prstGeom prst="roundRect">
            <a:avLst>
              <a:gd name="adj" fmla="val 7464"/>
            </a:avLst>
          </a:prstGeom>
          <a:solidFill>
            <a:srgbClr val="E1E7EF"/>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Low</a:t>
            </a:r>
            <a:endParaRPr lang="en-US" sz="1300" dirty="0"/>
          </a:p>
        </p:txBody>
      </p:sp>
      <p:sp>
        <p:nvSpPr>
          <p:cNvPr id="13" name="Text 11"/>
          <p:cNvSpPr/>
          <p:nvPr/>
        </p:nvSpPr>
        <p:spPr>
          <a:xfrm>
            <a:off x="3572933" y="3103696"/>
            <a:ext cx="1388533" cy="680641"/>
          </a:xfrm>
          <a:prstGeom prst="roundRect">
            <a:avLst>
              <a:gd name="adj" fmla="val 7464"/>
            </a:avLst>
          </a:prstGeom>
          <a:solidFill>
            <a:srgbClr val="FBEBDD"/>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Medium</a:t>
            </a:r>
            <a:endParaRPr lang="en-US" sz="1300" dirty="0"/>
          </a:p>
        </p:txBody>
      </p:sp>
      <p:sp>
        <p:nvSpPr>
          <p:cNvPr id="14" name="Text 12"/>
          <p:cNvSpPr/>
          <p:nvPr/>
        </p:nvSpPr>
        <p:spPr>
          <a:xfrm>
            <a:off x="5012267" y="3103696"/>
            <a:ext cx="1388533" cy="680641"/>
          </a:xfrm>
          <a:prstGeom prst="roundRect">
            <a:avLst>
              <a:gd name="adj" fmla="val 7464"/>
            </a:avLst>
          </a:prstGeom>
          <a:solidFill>
            <a:srgbClr val="F0A04B"/>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High</a:t>
            </a:r>
            <a:endParaRPr lang="en-US" sz="1300" dirty="0"/>
          </a:p>
        </p:txBody>
      </p:sp>
      <p:sp>
        <p:nvSpPr>
          <p:cNvPr id="15" name="Text 13"/>
          <p:cNvSpPr/>
          <p:nvPr/>
        </p:nvSpPr>
        <p:spPr>
          <a:xfrm>
            <a:off x="914400" y="3962136"/>
            <a:ext cx="1117600" cy="358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Low likelihood</a:t>
            </a:r>
            <a:endParaRPr lang="en-US" sz="1200" dirty="0"/>
          </a:p>
        </p:txBody>
      </p:sp>
      <p:sp>
        <p:nvSpPr>
          <p:cNvPr id="16" name="Text 14"/>
          <p:cNvSpPr/>
          <p:nvPr/>
        </p:nvSpPr>
        <p:spPr>
          <a:xfrm>
            <a:off x="2133600" y="3835136"/>
            <a:ext cx="1388533" cy="586714"/>
          </a:xfrm>
          <a:prstGeom prst="roundRect">
            <a:avLst>
              <a:gd name="adj" fmla="val 8658"/>
            </a:avLst>
          </a:prstGeom>
          <a:solidFill>
            <a:srgbClr val="E1E7EF"/>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Low</a:t>
            </a:r>
            <a:endParaRPr lang="en-US" sz="1300" dirty="0"/>
          </a:p>
        </p:txBody>
      </p:sp>
      <p:sp>
        <p:nvSpPr>
          <p:cNvPr id="17" name="Text 15"/>
          <p:cNvSpPr/>
          <p:nvPr/>
        </p:nvSpPr>
        <p:spPr>
          <a:xfrm>
            <a:off x="3572933" y="3835136"/>
            <a:ext cx="1388533" cy="586714"/>
          </a:xfrm>
          <a:prstGeom prst="roundRect">
            <a:avLst>
              <a:gd name="adj" fmla="val 8658"/>
            </a:avLst>
          </a:prstGeom>
          <a:solidFill>
            <a:srgbClr val="E1E7EF"/>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Low</a:t>
            </a:r>
            <a:endParaRPr lang="en-US" sz="1300" dirty="0"/>
          </a:p>
        </p:txBody>
      </p:sp>
      <p:sp>
        <p:nvSpPr>
          <p:cNvPr id="18" name="Text 16"/>
          <p:cNvSpPr/>
          <p:nvPr/>
        </p:nvSpPr>
        <p:spPr>
          <a:xfrm>
            <a:off x="5012267" y="3835136"/>
            <a:ext cx="1388533" cy="586714"/>
          </a:xfrm>
          <a:prstGeom prst="roundRect">
            <a:avLst>
              <a:gd name="adj" fmla="val 8658"/>
            </a:avLst>
          </a:prstGeom>
          <a:solidFill>
            <a:srgbClr val="FBEBDD"/>
          </a:solidFill>
          <a:ln/>
        </p:spPr>
        <p:txBody>
          <a:bodyPr wrap="square" lIns="61321" tIns="162921" rIns="61321" bIns="137521"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Medium</a:t>
            </a:r>
            <a:endParaRPr lang="en-US" sz="1300" dirty="0"/>
          </a:p>
        </p:txBody>
      </p:sp>
      <p:sp>
        <p:nvSpPr>
          <p:cNvPr id="19" name="Text 17"/>
          <p:cNvSpPr/>
          <p:nvPr/>
        </p:nvSpPr>
        <p:spPr>
          <a:xfrm>
            <a:off x="6807200" y="1854135"/>
            <a:ext cx="47091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4213D"/>
                </a:solidFill>
                <a:latin typeface="Domine" pitchFamily="18" charset="0"/>
                <a:ea typeface="Domine" pitchFamily="18" charset="-122"/>
                <a:cs typeface="Domine" pitchFamily="18" charset="-120"/>
              </a:rPr>
              <a:t>Risk = Likelihood × Impact</a:t>
            </a:r>
            <a:endParaRPr lang="en-US" sz="2000" dirty="0"/>
          </a:p>
        </p:txBody>
      </p:sp>
      <p:sp>
        <p:nvSpPr>
          <p:cNvPr id="20" name="Text 18"/>
          <p:cNvSpPr/>
          <p:nvPr/>
        </p:nvSpPr>
        <p:spPr>
          <a:xfrm>
            <a:off x="6868253" y="2336735"/>
            <a:ext cx="4640487" cy="1092200"/>
          </a:xfrm>
          <a:prstGeom prst="rect">
            <a:avLst/>
          </a:prstGeom>
          <a:noFill/>
          <a:ln/>
        </p:spPr>
        <p:txBody>
          <a:bodyPr wrap="square" lIns="0" tIns="0" rIns="0" bIns="0" rtlCol="0" anchor="t">
            <a:normAutofit/>
          </a:bodyPr>
          <a:lstStyle/>
          <a:p>
            <a:pPr marL="192947" indent="-192947" algn="l">
              <a:lnSpc>
                <a:spcPts val="2100"/>
              </a:lnSpc>
              <a:buSzPct val="100000"/>
              <a:buFontTx/>
              <a:buAutoNum type="arabicPeriod"/>
            </a:pPr>
            <a:r>
              <a:rPr lang="en-US" sz="1400" dirty="0">
                <a:solidFill>
                  <a:srgbClr val="3D4A5C"/>
                </a:solidFill>
                <a:latin typeface="Nunito Sans" pitchFamily="34" charset="0"/>
                <a:ea typeface="Nunito Sans" pitchFamily="34" charset="-122"/>
                <a:cs typeface="Nunito Sans" pitchFamily="34" charset="-120"/>
              </a:rPr>
              <a:t>List the features or areas</a:t>
            </a:r>
            <a:endParaRPr lang="en-US" sz="1400" dirty="0"/>
          </a:p>
          <a:p>
            <a:pPr marL="192947" indent="-192947" algn="l">
              <a:lnSpc>
                <a:spcPts val="2100"/>
              </a:lnSpc>
              <a:buSzPct val="100000"/>
              <a:buFontTx/>
              <a:buAutoNum type="arabicPeriod"/>
            </a:pPr>
            <a:r>
              <a:rPr lang="en-US" sz="1400" dirty="0">
                <a:solidFill>
                  <a:srgbClr val="3D4A5C"/>
                </a:solidFill>
                <a:latin typeface="Nunito Sans" pitchFamily="34" charset="0"/>
                <a:ea typeface="Nunito Sans" pitchFamily="34" charset="-122"/>
                <a:cs typeface="Nunito Sans" pitchFamily="34" charset="-120"/>
              </a:rPr>
              <a:t>Rate likelihood and impact</a:t>
            </a:r>
            <a:endParaRPr lang="en-US" sz="1400" dirty="0"/>
          </a:p>
          <a:p>
            <a:pPr marL="192947" indent="-192947" algn="l">
              <a:lnSpc>
                <a:spcPts val="2100"/>
              </a:lnSpc>
              <a:buSzPct val="100000"/>
              <a:buFontTx/>
              <a:buAutoNum type="arabicPeriod"/>
            </a:pPr>
            <a:r>
              <a:rPr lang="en-US" sz="1400" dirty="0">
                <a:solidFill>
                  <a:srgbClr val="3D4A5C"/>
                </a:solidFill>
                <a:latin typeface="Nunito Sans" pitchFamily="34" charset="0"/>
                <a:ea typeface="Nunito Sans" pitchFamily="34" charset="-122"/>
                <a:cs typeface="Nunito Sans" pitchFamily="34" charset="-120"/>
              </a:rPr>
              <a:t>Test Critical and High first, and deepest</a:t>
            </a:r>
            <a:endParaRPr lang="en-US" sz="1400" dirty="0"/>
          </a:p>
          <a:p>
            <a:pPr marL="192947" indent="-192947" algn="l">
              <a:lnSpc>
                <a:spcPts val="2100"/>
              </a:lnSpc>
              <a:buSzPct val="100000"/>
              <a:buFontTx/>
              <a:buAutoNum type="arabicPeriod"/>
            </a:pPr>
            <a:r>
              <a:rPr lang="en-US" sz="1400" dirty="0">
                <a:solidFill>
                  <a:srgbClr val="3D4A5C"/>
                </a:solidFill>
                <a:latin typeface="Nunito Sans" pitchFamily="34" charset="0"/>
                <a:ea typeface="Nunito Sans" pitchFamily="34" charset="-122"/>
                <a:cs typeface="Nunito Sans" pitchFamily="34" charset="-120"/>
              </a:rPr>
              <a:t>Test Low areas lightly, or later</a:t>
            </a:r>
            <a:endParaRPr lang="en-US" sz="1400" dirty="0"/>
          </a:p>
        </p:txBody>
      </p:sp>
      <p:sp>
        <p:nvSpPr>
          <p:cNvPr id="21" name="Text 19"/>
          <p:cNvSpPr/>
          <p:nvPr/>
        </p:nvSpPr>
        <p:spPr>
          <a:xfrm>
            <a:off x="6807200" y="3555935"/>
            <a:ext cx="4572000" cy="716227"/>
          </a:xfrm>
          <a:prstGeom prst="roundRect">
            <a:avLst>
              <a:gd name="adj" fmla="val 10639"/>
            </a:avLst>
          </a:prstGeom>
          <a:solidFill>
            <a:srgbClr val="EEF2F7"/>
          </a:solidFill>
          <a:ln/>
        </p:spPr>
        <p:txBody>
          <a:bodyPr wrap="square" lIns="130082" tIns="104682" rIns="2066" bIns="79282" rtlCol="0" anchor="t">
            <a:normAutofit/>
          </a:bodyPr>
          <a:lstStyle/>
          <a:p>
            <a:pPr marL="0" indent="0" algn="l">
              <a:lnSpc>
                <a:spcPts val="1820"/>
              </a:lnSpc>
              <a:buNone/>
            </a:pPr>
            <a:r>
              <a:rPr lang="en-US" sz="1300" b="1" dirty="0">
                <a:solidFill>
                  <a:srgbClr val="3D4A5C"/>
                </a:solidFill>
                <a:latin typeface="Nunito Sans" pitchFamily="34" charset="0"/>
                <a:ea typeface="Nunito Sans" pitchFamily="34" charset="-122"/>
                <a:cs typeface="Nunito Sans" pitchFamily="34" charset="-120"/>
              </a:rPr>
              <a:t>Payment:</a:t>
            </a:r>
            <a:r>
              <a:rPr lang="en-US" sz="1300" dirty="0">
                <a:solidFill>
                  <a:srgbClr val="3D4A5C"/>
                </a:solidFill>
                <a:latin typeface="Nunito Sans" pitchFamily="34" charset="0"/>
                <a:ea typeface="Nunito Sans" pitchFamily="34" charset="-122"/>
                <a:cs typeface="Nunito Sans" pitchFamily="34" charset="-120"/>
              </a:rPr>
              <a:t> money + third-party gateway = Critical. </a:t>
            </a:r>
            <a:r>
              <a:rPr lang="en-US" sz="1300" b="1" dirty="0">
                <a:solidFill>
                  <a:srgbClr val="3D4A5C"/>
                </a:solidFill>
                <a:latin typeface="Nunito Sans" pitchFamily="34" charset="0"/>
                <a:ea typeface="Nunito Sans" pitchFamily="34" charset="-122"/>
                <a:cs typeface="Nunito Sans" pitchFamily="34" charset="-120"/>
              </a:rPr>
              <a:t>“About Us”:</a:t>
            </a:r>
            <a:r>
              <a:rPr lang="en-US" sz="1300" dirty="0">
                <a:solidFill>
                  <a:srgbClr val="3D4A5C"/>
                </a:solidFill>
                <a:latin typeface="Nunito Sans" pitchFamily="34" charset="0"/>
                <a:ea typeface="Nunito Sans" pitchFamily="34" charset="-122"/>
                <a:cs typeface="Nunito Sans" pitchFamily="34" charset="-120"/>
              </a:rPr>
              <a:t> Low.</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REQUIREMENT-BASED TESTING</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Every requirement is tested at least once</a:t>
            </a:r>
            <a:endParaRPr lang="en-US" sz="3200" dirty="0"/>
          </a:p>
        </p:txBody>
      </p:sp>
      <p:sp>
        <p:nvSpPr>
          <p:cNvPr id="4" name="Text 2"/>
          <p:cNvSpPr/>
          <p:nvPr/>
        </p:nvSpPr>
        <p:spPr>
          <a:xfrm>
            <a:off x="812800" y="1803335"/>
            <a:ext cx="113792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The </a:t>
            </a:r>
            <a:r>
              <a:rPr lang="en-US" sz="1600" b="1" dirty="0">
                <a:solidFill>
                  <a:srgbClr val="3D4A5C"/>
                </a:solidFill>
                <a:latin typeface="Nunito Sans" pitchFamily="34" charset="0"/>
                <a:ea typeface="Nunito Sans" pitchFamily="34" charset="-122"/>
                <a:cs typeface="Nunito Sans" pitchFamily="34" charset="-120"/>
              </a:rPr>
              <a:t>Requirements Traceability Matrix (RTM)</a:t>
            </a:r>
            <a:r>
              <a:rPr lang="en-US" sz="1600" dirty="0">
                <a:solidFill>
                  <a:srgbClr val="3D4A5C"/>
                </a:solidFill>
                <a:latin typeface="Nunito Sans" pitchFamily="34" charset="0"/>
                <a:ea typeface="Nunito Sans" pitchFamily="34" charset="-122"/>
                <a:cs typeface="Nunito Sans" pitchFamily="34" charset="-120"/>
              </a:rPr>
              <a:t> maps each requirement to its test cases and shows gaps immediately.</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54461"/>
          <a:ext cx="10553700" cy="1437217"/>
        </p:xfrm>
        <a:graphic>
          <a:graphicData uri="http://schemas.openxmlformats.org/drawingml/2006/table">
            <a:tbl>
              <a:tblPr/>
              <a:tblGrid>
                <a:gridCol w="1688592">
                  <a:extLst>
                    <a:ext uri="{9D8B030D-6E8A-4147-A177-3AD203B41FA5}">
                      <a16:colId xmlns:a16="http://schemas.microsoft.com/office/drawing/2014/main" val="20000"/>
                    </a:ext>
                  </a:extLst>
                </a:gridCol>
                <a:gridCol w="4854702">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Req 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Requirement</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Test cases</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Status</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REQ-01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Log in with a valid email and password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TC_LOGIN_001, 002</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Passed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REQ-02</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Account locks after 5 failed attempts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TC_LOGIN_007</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Failed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REQ-03</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User can reset password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Not covered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4045679"/>
            <a:ext cx="10566400" cy="502907"/>
          </a:xfrm>
          <a:prstGeom prst="roundRect">
            <a:avLst>
              <a:gd name="adj" fmla="val 15152"/>
            </a:avLst>
          </a:prstGeom>
          <a:solidFill>
            <a:srgbClr val="FBEBDD"/>
          </a:solidFill>
          <a:ln/>
        </p:spPr>
        <p:txBody>
          <a:bodyPr wrap="square" lIns="155482" tIns="104682" rIns="0" bIns="79282"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Risk-based</a:t>
            </a:r>
            <a:r>
              <a:rPr lang="en-US" sz="1400" dirty="0">
                <a:solidFill>
                  <a:srgbClr val="14213D"/>
                </a:solidFill>
                <a:latin typeface="Nunito Sans" pitchFamily="34" charset="0"/>
                <a:ea typeface="Nunito Sans" pitchFamily="34" charset="-122"/>
                <a:cs typeface="Nunito Sans" pitchFamily="34" charset="-120"/>
              </a:rPr>
              <a:t> sets priority and depth. </a:t>
            </a:r>
            <a:r>
              <a:rPr lang="en-US" sz="1400" b="1" dirty="0">
                <a:solidFill>
                  <a:srgbClr val="14213D"/>
                </a:solidFill>
                <a:latin typeface="Nunito Sans" pitchFamily="34" charset="0"/>
                <a:ea typeface="Nunito Sans" pitchFamily="34" charset="-122"/>
                <a:cs typeface="Nunito Sans" pitchFamily="34" charset="-120"/>
              </a:rPr>
              <a:t>Requirement-based</a:t>
            </a:r>
            <a:r>
              <a:rPr lang="en-US" sz="1400" dirty="0">
                <a:solidFill>
                  <a:srgbClr val="14213D"/>
                </a:solidFill>
                <a:latin typeface="Nunito Sans" pitchFamily="34" charset="0"/>
                <a:ea typeface="Nunito Sans" pitchFamily="34" charset="-122"/>
                <a:cs typeface="Nunito Sans" pitchFamily="34" charset="-120"/>
              </a:rPr>
              <a:t> makes sure nothing is forgotten. Use both.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REGRESSION STRATEGY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Every change can break something</a:t>
            </a:r>
            <a:endParaRPr lang="en-US" sz="3200" dirty="0"/>
          </a:p>
        </p:txBody>
      </p:sp>
      <p:sp>
        <p:nvSpPr>
          <p:cNvPr id="4" name="Shape 2"/>
          <p:cNvSpPr/>
          <p:nvPr/>
        </p:nvSpPr>
        <p:spPr>
          <a:xfrm>
            <a:off x="815975" y="1806510"/>
            <a:ext cx="5200650" cy="1277144"/>
          </a:xfrm>
          <a:prstGeom prst="roundRect">
            <a:avLst>
              <a:gd name="adj" fmla="val 7707"/>
            </a:avLst>
          </a:prstGeom>
          <a:solidFill>
            <a:srgbClr val="FBFBF8"/>
          </a:solidFill>
          <a:ln w="6350">
            <a:solidFill>
              <a:srgbClr val="D3DBE6"/>
            </a:solidFill>
            <a:prstDash val="solid"/>
          </a:ln>
        </p:spPr>
      </p:sp>
      <p:sp>
        <p:nvSpPr>
          <p:cNvPr id="5" name="Text 3"/>
          <p:cNvSpPr/>
          <p:nvPr/>
        </p:nvSpPr>
        <p:spPr>
          <a:xfrm>
            <a:off x="1045633" y="2036167"/>
            <a:ext cx="488357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Retest all</a:t>
            </a:r>
            <a:endParaRPr lang="en-US" sz="1600" dirty="0"/>
          </a:p>
        </p:txBody>
      </p:sp>
      <p:sp>
        <p:nvSpPr>
          <p:cNvPr id="6" name="Text 4"/>
          <p:cNvSpPr/>
          <p:nvPr/>
        </p:nvSpPr>
        <p:spPr>
          <a:xfrm>
            <a:off x="1045633" y="2356182"/>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Major releases or high-risk platform upgrades. The most expensive option.</a:t>
            </a:r>
            <a:endParaRPr lang="en-US" sz="1400" dirty="0"/>
          </a:p>
        </p:txBody>
      </p:sp>
      <p:sp>
        <p:nvSpPr>
          <p:cNvPr id="7" name="Shape 5"/>
          <p:cNvSpPr/>
          <p:nvPr/>
        </p:nvSpPr>
        <p:spPr>
          <a:xfrm>
            <a:off x="6175375" y="1806510"/>
            <a:ext cx="5200650" cy="1277144"/>
          </a:xfrm>
          <a:prstGeom prst="roundRect">
            <a:avLst>
              <a:gd name="adj" fmla="val 7707"/>
            </a:avLst>
          </a:prstGeom>
          <a:solidFill>
            <a:srgbClr val="FBFBF8"/>
          </a:solidFill>
          <a:ln w="6350">
            <a:solidFill>
              <a:srgbClr val="D3DBE6"/>
            </a:solidFill>
            <a:prstDash val="solid"/>
          </a:ln>
        </p:spPr>
      </p:sp>
      <p:sp>
        <p:nvSpPr>
          <p:cNvPr id="8" name="Text 6"/>
          <p:cNvSpPr/>
          <p:nvPr/>
        </p:nvSpPr>
        <p:spPr>
          <a:xfrm>
            <a:off x="6405033" y="2036167"/>
            <a:ext cx="488357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Selective (impact-based)</a:t>
            </a:r>
            <a:endParaRPr lang="en-US" sz="1600" dirty="0"/>
          </a:p>
        </p:txBody>
      </p:sp>
      <p:sp>
        <p:nvSpPr>
          <p:cNvPr id="9" name="Text 7"/>
          <p:cNvSpPr/>
          <p:nvPr/>
        </p:nvSpPr>
        <p:spPr>
          <a:xfrm>
            <a:off x="6405033" y="2356182"/>
            <a:ext cx="488357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Re-test the changed areas and their neighbours. The most common option.</a:t>
            </a:r>
            <a:endParaRPr lang="en-US" sz="1400" dirty="0"/>
          </a:p>
        </p:txBody>
      </p:sp>
      <p:sp>
        <p:nvSpPr>
          <p:cNvPr id="10" name="Shape 8"/>
          <p:cNvSpPr/>
          <p:nvPr/>
        </p:nvSpPr>
        <p:spPr>
          <a:xfrm>
            <a:off x="815975" y="3242404"/>
            <a:ext cx="5200650" cy="1028237"/>
          </a:xfrm>
          <a:prstGeom prst="roundRect">
            <a:avLst>
              <a:gd name="adj" fmla="val 9572"/>
            </a:avLst>
          </a:prstGeom>
          <a:solidFill>
            <a:srgbClr val="FBFBF8"/>
          </a:solidFill>
          <a:ln w="6350">
            <a:solidFill>
              <a:srgbClr val="D3DBE6"/>
            </a:solidFill>
            <a:prstDash val="solid"/>
          </a:ln>
        </p:spPr>
      </p:sp>
      <p:sp>
        <p:nvSpPr>
          <p:cNvPr id="11" name="Text 9"/>
          <p:cNvSpPr/>
          <p:nvPr/>
        </p:nvSpPr>
        <p:spPr>
          <a:xfrm>
            <a:off x="1045633" y="3472061"/>
            <a:ext cx="488357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Priority-based</a:t>
            </a:r>
            <a:endParaRPr lang="en-US" sz="1600" dirty="0"/>
          </a:p>
        </p:txBody>
      </p:sp>
      <p:sp>
        <p:nvSpPr>
          <p:cNvPr id="12" name="Text 10"/>
          <p:cNvSpPr/>
          <p:nvPr/>
        </p:nvSpPr>
        <p:spPr>
          <a:xfrm>
            <a:off x="1045633" y="3792076"/>
            <a:ext cx="488357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P1 tests every build, P2 every release, P3 occasionally.</a:t>
            </a:r>
            <a:endParaRPr lang="en-US" sz="1400" dirty="0"/>
          </a:p>
        </p:txBody>
      </p:sp>
      <p:sp>
        <p:nvSpPr>
          <p:cNvPr id="13" name="Shape 11"/>
          <p:cNvSpPr/>
          <p:nvPr/>
        </p:nvSpPr>
        <p:spPr>
          <a:xfrm>
            <a:off x="6175375" y="3242404"/>
            <a:ext cx="5200650" cy="1028237"/>
          </a:xfrm>
          <a:prstGeom prst="roundRect">
            <a:avLst>
              <a:gd name="adj" fmla="val 9572"/>
            </a:avLst>
          </a:prstGeom>
          <a:solidFill>
            <a:srgbClr val="FBFBF8"/>
          </a:solidFill>
          <a:ln w="6350">
            <a:solidFill>
              <a:srgbClr val="D3DBE6"/>
            </a:solidFill>
            <a:prstDash val="solid"/>
          </a:ln>
        </p:spPr>
      </p:sp>
      <p:sp>
        <p:nvSpPr>
          <p:cNvPr id="14" name="Text 12"/>
          <p:cNvSpPr/>
          <p:nvPr/>
        </p:nvSpPr>
        <p:spPr>
          <a:xfrm>
            <a:off x="6405033" y="3472061"/>
            <a:ext cx="4883573"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Automated nightly suite</a:t>
            </a:r>
            <a:endParaRPr lang="en-US" sz="1600" dirty="0"/>
          </a:p>
        </p:txBody>
      </p:sp>
      <p:sp>
        <p:nvSpPr>
          <p:cNvPr id="15" name="Text 13"/>
          <p:cNvSpPr/>
          <p:nvPr/>
        </p:nvSpPr>
        <p:spPr>
          <a:xfrm>
            <a:off x="6405033" y="3792076"/>
            <a:ext cx="488357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 stable, repeated core suite that runs in CI/CD.</a:t>
            </a:r>
            <a:endParaRPr lang="en-US" sz="1400" dirty="0"/>
          </a:p>
        </p:txBody>
      </p:sp>
      <p:sp>
        <p:nvSpPr>
          <p:cNvPr id="16" name="Text 14"/>
          <p:cNvSpPr/>
          <p:nvPr/>
        </p:nvSpPr>
        <p:spPr>
          <a:xfrm>
            <a:off x="812800" y="452781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Maintain the suite:</a:t>
            </a:r>
            <a:r>
              <a:rPr lang="en-US" sz="1400" dirty="0">
                <a:solidFill>
                  <a:srgbClr val="3D4A5C"/>
                </a:solidFill>
                <a:latin typeface="Nunito Sans" pitchFamily="34" charset="0"/>
                <a:ea typeface="Nunito Sans" pitchFamily="34" charset="-122"/>
                <a:cs typeface="Nunito Sans" pitchFamily="34" charset="-120"/>
              </a:rPr>
              <a:t> remove obsolete tests, add a test for every fixed defect, tag by priority and area.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AUTOMATION STRATEGY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Not everything should be automated</a:t>
            </a:r>
            <a:endParaRPr lang="en-US" sz="3200" dirty="0"/>
          </a:p>
        </p:txBody>
      </p:sp>
      <p:sp>
        <p:nvSpPr>
          <p:cNvPr id="4" name="Shape 2"/>
          <p:cNvSpPr/>
          <p:nvPr/>
        </p:nvSpPr>
        <p:spPr>
          <a:xfrm>
            <a:off x="815975" y="1806513"/>
            <a:ext cx="5175250" cy="2455730"/>
          </a:xfrm>
          <a:prstGeom prst="roundRect">
            <a:avLst>
              <a:gd name="adj" fmla="val 4008"/>
            </a:avLst>
          </a:prstGeom>
          <a:solidFill>
            <a:srgbClr val="FFFDF9"/>
          </a:solidFill>
          <a:ln w="6350">
            <a:solidFill>
              <a:srgbClr val="D3DBE6"/>
            </a:solidFill>
            <a:prstDash val="solid"/>
          </a:ln>
        </p:spPr>
      </p:sp>
      <p:sp>
        <p:nvSpPr>
          <p:cNvPr id="5" name="Text 3"/>
          <p:cNvSpPr/>
          <p:nvPr/>
        </p:nvSpPr>
        <p:spPr>
          <a:xfrm>
            <a:off x="1071033" y="2061567"/>
            <a:ext cx="480508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Good candidates</a:t>
            </a:r>
            <a:endParaRPr lang="en-US" sz="1600" dirty="0"/>
          </a:p>
        </p:txBody>
      </p:sp>
      <p:sp>
        <p:nvSpPr>
          <p:cNvPr id="6" name="Text 4"/>
          <p:cNvSpPr/>
          <p:nvPr/>
        </p:nvSpPr>
        <p:spPr>
          <a:xfrm>
            <a:off x="1155615" y="2406985"/>
            <a:ext cx="4712885" cy="16256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Run often: regression, smoke</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Stable features and UI</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Data-driven: same steps, many data sets</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Critical flows: login, checkout</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Tedious or error-prone for humans</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Performance and load tests</a:t>
            </a:r>
            <a:endParaRPr lang="en-US" sz="1400" dirty="0"/>
          </a:p>
        </p:txBody>
      </p:sp>
      <p:sp>
        <p:nvSpPr>
          <p:cNvPr id="7" name="Shape 5"/>
          <p:cNvSpPr/>
          <p:nvPr/>
        </p:nvSpPr>
        <p:spPr>
          <a:xfrm>
            <a:off x="6200775" y="1806513"/>
            <a:ext cx="5175250" cy="2455730"/>
          </a:xfrm>
          <a:prstGeom prst="roundRect">
            <a:avLst>
              <a:gd name="adj" fmla="val 4008"/>
            </a:avLst>
          </a:prstGeom>
          <a:solidFill>
            <a:srgbClr val="FFFDF9"/>
          </a:solidFill>
          <a:ln w="6350">
            <a:solidFill>
              <a:srgbClr val="D3DBE6"/>
            </a:solidFill>
            <a:prstDash val="solid"/>
          </a:ln>
        </p:spPr>
      </p:sp>
      <p:sp>
        <p:nvSpPr>
          <p:cNvPr id="8" name="Text 6"/>
          <p:cNvSpPr/>
          <p:nvPr/>
        </p:nvSpPr>
        <p:spPr>
          <a:xfrm>
            <a:off x="6455833" y="2061567"/>
            <a:ext cx="480508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14F0A"/>
                </a:solidFill>
                <a:latin typeface="Nunito Sans" pitchFamily="34" charset="0"/>
                <a:ea typeface="Nunito Sans" pitchFamily="34" charset="-122"/>
                <a:cs typeface="Nunito Sans" pitchFamily="34" charset="-120"/>
              </a:rPr>
              <a:t>Poor candidates</a:t>
            </a:r>
            <a:endParaRPr lang="en-US" sz="1600" dirty="0"/>
          </a:p>
        </p:txBody>
      </p:sp>
      <p:sp>
        <p:nvSpPr>
          <p:cNvPr id="9" name="Text 7"/>
          <p:cNvSpPr/>
          <p:nvPr/>
        </p:nvSpPr>
        <p:spPr>
          <a:xfrm>
            <a:off x="6540415" y="2406985"/>
            <a:ext cx="4712885" cy="16256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Run once or rarely</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Features still changing every sprint</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Needs human judgement: look and feel</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Exploratory testing</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Complex setup with little benefit</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CAPTCHA, physical devices</a:t>
            </a:r>
            <a:endParaRPr lang="en-US" sz="1400" dirty="0"/>
          </a:p>
        </p:txBody>
      </p:sp>
      <p:sp>
        <p:nvSpPr>
          <p:cNvPr id="10" name="Text 8"/>
          <p:cNvSpPr/>
          <p:nvPr/>
        </p:nvSpPr>
        <p:spPr>
          <a:xfrm>
            <a:off x="812800" y="451941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Ask:</a:t>
            </a:r>
            <a:r>
              <a:rPr lang="en-US" sz="1400" dirty="0">
                <a:solidFill>
                  <a:srgbClr val="3D4A5C"/>
                </a:solidFill>
                <a:latin typeface="Nunito Sans" pitchFamily="34" charset="0"/>
                <a:ea typeface="Nunito Sans" pitchFamily="34" charset="-122"/>
                <a:cs typeface="Nunito Sans" pitchFamily="34" charset="-120"/>
              </a:rPr>
              <a:t> How often will it run? How stable is it? What does a bug here cost? How much effort to build and maintain?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EXPLORATORY TESTING STRATEGY</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Structured with session-based test management</a:t>
            </a:r>
            <a:endParaRPr lang="en-US" sz="3200" dirty="0"/>
          </a:p>
        </p:txBody>
      </p:sp>
      <p:sp>
        <p:nvSpPr>
          <p:cNvPr id="4" name="Shape 2"/>
          <p:cNvSpPr/>
          <p:nvPr/>
        </p:nvSpPr>
        <p:spPr>
          <a:xfrm>
            <a:off x="812800" y="1854138"/>
            <a:ext cx="2527300" cy="2082668"/>
          </a:xfrm>
          <a:prstGeom prst="roundRect">
            <a:avLst>
              <a:gd name="adj" fmla="val 4878"/>
            </a:avLst>
          </a:prstGeom>
          <a:solidFill>
            <a:srgbClr val="EEF2F7"/>
          </a:solidFill>
          <a:ln/>
        </p:spPr>
      </p:sp>
      <p:sp>
        <p:nvSpPr>
          <p:cNvPr id="5" name="Text 3"/>
          <p:cNvSpPr/>
          <p:nvPr/>
        </p:nvSpPr>
        <p:spPr>
          <a:xfrm>
            <a:off x="1016000" y="2057338"/>
            <a:ext cx="218452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6" name="Text 4"/>
          <p:cNvSpPr/>
          <p:nvPr/>
        </p:nvSpPr>
        <p:spPr>
          <a:xfrm>
            <a:off x="1016000" y="2489138"/>
            <a:ext cx="21845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Charter</a:t>
            </a:r>
            <a:endParaRPr lang="en-US" sz="1600" dirty="0"/>
          </a:p>
        </p:txBody>
      </p:sp>
      <p:sp>
        <p:nvSpPr>
          <p:cNvPr id="7" name="Text 5"/>
          <p:cNvSpPr/>
          <p:nvPr/>
        </p:nvSpPr>
        <p:spPr>
          <a:xfrm>
            <a:off x="1016000" y="2809149"/>
            <a:ext cx="2184527" cy="94985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A mission: “Explore payment with different cards and networks to find error-handling issues.”</a:t>
            </a:r>
            <a:endParaRPr lang="en-US" sz="1300" dirty="0"/>
          </a:p>
        </p:txBody>
      </p:sp>
      <p:sp>
        <p:nvSpPr>
          <p:cNvPr id="8" name="Shape 6"/>
          <p:cNvSpPr/>
          <p:nvPr/>
        </p:nvSpPr>
        <p:spPr>
          <a:xfrm>
            <a:off x="3492500" y="1854138"/>
            <a:ext cx="2527300" cy="2082668"/>
          </a:xfrm>
          <a:prstGeom prst="roundRect">
            <a:avLst>
              <a:gd name="adj" fmla="val 4878"/>
            </a:avLst>
          </a:prstGeom>
          <a:solidFill>
            <a:srgbClr val="EEF2F7"/>
          </a:solidFill>
          <a:ln/>
        </p:spPr>
      </p:sp>
      <p:sp>
        <p:nvSpPr>
          <p:cNvPr id="9" name="Text 7"/>
          <p:cNvSpPr/>
          <p:nvPr/>
        </p:nvSpPr>
        <p:spPr>
          <a:xfrm>
            <a:off x="3695700" y="2057338"/>
            <a:ext cx="218452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10" name="Text 8"/>
          <p:cNvSpPr/>
          <p:nvPr/>
        </p:nvSpPr>
        <p:spPr>
          <a:xfrm>
            <a:off x="3695700" y="2489138"/>
            <a:ext cx="21845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Time-box</a:t>
            </a:r>
            <a:endParaRPr lang="en-US" sz="1600" dirty="0"/>
          </a:p>
        </p:txBody>
      </p:sp>
      <p:sp>
        <p:nvSpPr>
          <p:cNvPr id="11" name="Text 9"/>
          <p:cNvSpPr/>
          <p:nvPr/>
        </p:nvSpPr>
        <p:spPr>
          <a:xfrm>
            <a:off x="3695700" y="2809149"/>
            <a:ext cx="218452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45–90 minutes of focused, uninterrupted testing.</a:t>
            </a:r>
            <a:endParaRPr lang="en-US" sz="1300" dirty="0"/>
          </a:p>
        </p:txBody>
      </p:sp>
      <p:sp>
        <p:nvSpPr>
          <p:cNvPr id="12" name="Shape 10"/>
          <p:cNvSpPr/>
          <p:nvPr/>
        </p:nvSpPr>
        <p:spPr>
          <a:xfrm>
            <a:off x="6172200" y="1854138"/>
            <a:ext cx="2527300" cy="2082668"/>
          </a:xfrm>
          <a:prstGeom prst="roundRect">
            <a:avLst>
              <a:gd name="adj" fmla="val 4878"/>
            </a:avLst>
          </a:prstGeom>
          <a:solidFill>
            <a:srgbClr val="EEF2F7"/>
          </a:solidFill>
          <a:ln/>
        </p:spPr>
      </p:sp>
      <p:sp>
        <p:nvSpPr>
          <p:cNvPr id="13" name="Text 11"/>
          <p:cNvSpPr/>
          <p:nvPr/>
        </p:nvSpPr>
        <p:spPr>
          <a:xfrm>
            <a:off x="6375400" y="2057338"/>
            <a:ext cx="218452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14" name="Text 12"/>
          <p:cNvSpPr/>
          <p:nvPr/>
        </p:nvSpPr>
        <p:spPr>
          <a:xfrm>
            <a:off x="6375400" y="2489138"/>
            <a:ext cx="21845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Notes</a:t>
            </a:r>
            <a:endParaRPr lang="en-US" sz="1600" dirty="0"/>
          </a:p>
        </p:txBody>
      </p:sp>
      <p:sp>
        <p:nvSpPr>
          <p:cNvPr id="15" name="Text 13"/>
          <p:cNvSpPr/>
          <p:nvPr/>
        </p:nvSpPr>
        <p:spPr>
          <a:xfrm>
            <a:off x="6375400" y="2809149"/>
            <a:ext cx="218452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What you tested, bugs found, questions and ideas.</a:t>
            </a:r>
            <a:endParaRPr lang="en-US" sz="1300" dirty="0"/>
          </a:p>
        </p:txBody>
      </p:sp>
      <p:sp>
        <p:nvSpPr>
          <p:cNvPr id="16" name="Shape 14"/>
          <p:cNvSpPr/>
          <p:nvPr/>
        </p:nvSpPr>
        <p:spPr>
          <a:xfrm>
            <a:off x="8851900" y="1854138"/>
            <a:ext cx="2527300" cy="2082668"/>
          </a:xfrm>
          <a:prstGeom prst="roundRect">
            <a:avLst>
              <a:gd name="adj" fmla="val 4878"/>
            </a:avLst>
          </a:prstGeom>
          <a:solidFill>
            <a:srgbClr val="EEF2F7"/>
          </a:solidFill>
          <a:ln/>
        </p:spPr>
      </p:sp>
      <p:sp>
        <p:nvSpPr>
          <p:cNvPr id="17" name="Text 15"/>
          <p:cNvSpPr/>
          <p:nvPr/>
        </p:nvSpPr>
        <p:spPr>
          <a:xfrm>
            <a:off x="9055100" y="2057338"/>
            <a:ext cx="218452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8" name="Text 16"/>
          <p:cNvSpPr/>
          <p:nvPr/>
        </p:nvSpPr>
        <p:spPr>
          <a:xfrm>
            <a:off x="9055100" y="2489138"/>
            <a:ext cx="218452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Debrief</a:t>
            </a:r>
            <a:endParaRPr lang="en-US" sz="1600" dirty="0"/>
          </a:p>
        </p:txBody>
      </p:sp>
      <p:sp>
        <p:nvSpPr>
          <p:cNvPr id="19" name="Text 17"/>
          <p:cNvSpPr/>
          <p:nvPr/>
        </p:nvSpPr>
        <p:spPr>
          <a:xfrm>
            <a:off x="9055100" y="2809149"/>
            <a:ext cx="218452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Share the findings with the team.</a:t>
            </a:r>
            <a:endParaRPr lang="en-US" sz="1300" dirty="0"/>
          </a:p>
        </p:txBody>
      </p:sp>
      <p:sp>
        <p:nvSpPr>
          <p:cNvPr id="20" name="Text 18"/>
          <p:cNvSpPr/>
          <p:nvPr/>
        </p:nvSpPr>
        <p:spPr>
          <a:xfrm>
            <a:off x="812800" y="4241602"/>
            <a:ext cx="10883392"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Use it for:</a:t>
            </a:r>
            <a:r>
              <a:rPr lang="en-US" sz="1400" dirty="0">
                <a:solidFill>
                  <a:srgbClr val="3D4A5C"/>
                </a:solidFill>
                <a:latin typeface="Nunito Sans" pitchFamily="34" charset="0"/>
                <a:ea typeface="Nunito Sans" pitchFamily="34" charset="-122"/>
                <a:cs typeface="Nunito Sans" pitchFamily="34" charset="-120"/>
              </a:rPr>
              <a:t> new features, complex or vaguely specified areas, high-risk areas after scripted tests pass, and to complement automation.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WHEN TESTING HAPPENS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Shift-left and shift-right</a:t>
            </a:r>
            <a:endParaRPr lang="en-US" sz="3200" dirty="0"/>
          </a:p>
        </p:txBody>
      </p:sp>
      <p:sp>
        <p:nvSpPr>
          <p:cNvPr id="4" name="Text 2"/>
          <p:cNvSpPr/>
          <p:nvPr/>
        </p:nvSpPr>
        <p:spPr>
          <a:xfrm>
            <a:off x="812800" y="1752538"/>
            <a:ext cx="1697567" cy="434314"/>
          </a:xfrm>
          <a:custGeom>
            <a:avLst/>
            <a:gdLst/>
            <a:ahLst/>
            <a:cxnLst/>
            <a:rect l="l" t="t" r="r" b="b"/>
            <a:pathLst>
              <a:path w="1697567" h="434314">
                <a:moveTo>
                  <a:pt x="50800" y="0"/>
                </a:moveTo>
                <a:lnTo>
                  <a:pt x="1646767" y="0"/>
                </a:lnTo>
                <a:arcTo wR="50800" hR="50800" stAng="16200000" swAng="5400000"/>
                <a:lnTo>
                  <a:pt x="1697567" y="383514"/>
                </a:lnTo>
                <a:arcTo wR="50800" hR="50800" stAng="0" swAng="5400000"/>
                <a:lnTo>
                  <a:pt x="50800" y="434314"/>
                </a:lnTo>
                <a:arcTo wR="50800" hR="50800" stAng="5400000" swAng="5400000"/>
                <a:lnTo>
                  <a:pt x="0" y="50800"/>
                </a:lnTo>
                <a:arcTo wR="50800" hR="50800" stAng="10800000" swAng="5400000"/>
                <a:close/>
              </a:path>
            </a:pathLst>
          </a:custGeom>
          <a:solidFill>
            <a:srgbClr val="2B5C9E"/>
          </a:solidFill>
          <a:ln/>
        </p:spPr>
        <p:txBody>
          <a:bodyPr wrap="square" lIns="25400" tIns="101600" rIns="25400" bIns="762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Requirements</a:t>
            </a:r>
            <a:endParaRPr lang="en-US" sz="1300" dirty="0"/>
          </a:p>
        </p:txBody>
      </p:sp>
      <p:sp>
        <p:nvSpPr>
          <p:cNvPr id="5" name="Text 3"/>
          <p:cNvSpPr/>
          <p:nvPr/>
        </p:nvSpPr>
        <p:spPr>
          <a:xfrm>
            <a:off x="2586567" y="1752538"/>
            <a:ext cx="1697567" cy="434314"/>
          </a:xfrm>
          <a:custGeom>
            <a:avLst/>
            <a:gdLst/>
            <a:ahLst/>
            <a:cxnLst/>
            <a:rect l="l" t="t" r="r" b="b"/>
            <a:pathLst>
              <a:path w="1697567" h="434314">
                <a:moveTo>
                  <a:pt x="50800" y="0"/>
                </a:moveTo>
                <a:lnTo>
                  <a:pt x="1646767" y="0"/>
                </a:lnTo>
                <a:arcTo wR="50800" hR="50800" stAng="16200000" swAng="5400000"/>
                <a:lnTo>
                  <a:pt x="1697567" y="383514"/>
                </a:lnTo>
                <a:arcTo wR="50800" hR="50800" stAng="0" swAng="5400000"/>
                <a:lnTo>
                  <a:pt x="50800" y="434314"/>
                </a:lnTo>
                <a:arcTo wR="50800" hR="50800" stAng="5400000" swAng="5400000"/>
                <a:lnTo>
                  <a:pt x="0" y="50800"/>
                </a:lnTo>
                <a:arcTo wR="50800" hR="50800" stAng="10800000" swAng="5400000"/>
                <a:close/>
              </a:path>
            </a:pathLst>
          </a:custGeom>
          <a:solidFill>
            <a:srgbClr val="2B5C9E"/>
          </a:solidFill>
          <a:ln/>
        </p:spPr>
        <p:txBody>
          <a:bodyPr wrap="square" lIns="25400" tIns="101600" rIns="25400" bIns="762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Design</a:t>
            </a:r>
            <a:endParaRPr lang="en-US" sz="1300" dirty="0"/>
          </a:p>
        </p:txBody>
      </p:sp>
      <p:sp>
        <p:nvSpPr>
          <p:cNvPr id="6" name="Text 4"/>
          <p:cNvSpPr/>
          <p:nvPr/>
        </p:nvSpPr>
        <p:spPr>
          <a:xfrm>
            <a:off x="4360333" y="1752538"/>
            <a:ext cx="1697567" cy="434314"/>
          </a:xfrm>
          <a:custGeom>
            <a:avLst/>
            <a:gdLst/>
            <a:ahLst/>
            <a:cxnLst/>
            <a:rect l="l" t="t" r="r" b="b"/>
            <a:pathLst>
              <a:path w="1697567" h="434314">
                <a:moveTo>
                  <a:pt x="50800" y="0"/>
                </a:moveTo>
                <a:lnTo>
                  <a:pt x="1646767" y="0"/>
                </a:lnTo>
                <a:arcTo wR="50800" hR="50800" stAng="16200000" swAng="5400000"/>
                <a:lnTo>
                  <a:pt x="1697567" y="383514"/>
                </a:lnTo>
                <a:arcTo wR="50800" hR="50800" stAng="0" swAng="5400000"/>
                <a:lnTo>
                  <a:pt x="50800" y="434314"/>
                </a:lnTo>
                <a:arcTo wR="50800" hR="50800" stAng="5400000" swAng="5400000"/>
                <a:lnTo>
                  <a:pt x="0" y="50800"/>
                </a:lnTo>
                <a:arcTo wR="50800" hR="50800" stAng="10800000" swAng="5400000"/>
                <a:close/>
              </a:path>
            </a:pathLst>
          </a:custGeom>
          <a:solidFill>
            <a:srgbClr val="2B5C9E"/>
          </a:solidFill>
          <a:ln/>
        </p:spPr>
        <p:txBody>
          <a:bodyPr wrap="square" lIns="25400" tIns="101600" rIns="25400" bIns="762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Code</a:t>
            </a:r>
            <a:endParaRPr lang="en-US" sz="1300" dirty="0"/>
          </a:p>
        </p:txBody>
      </p:sp>
      <p:sp>
        <p:nvSpPr>
          <p:cNvPr id="7" name="Text 5"/>
          <p:cNvSpPr/>
          <p:nvPr/>
        </p:nvSpPr>
        <p:spPr>
          <a:xfrm>
            <a:off x="6134100" y="1752538"/>
            <a:ext cx="1697567" cy="434314"/>
          </a:xfrm>
          <a:custGeom>
            <a:avLst/>
            <a:gdLst/>
            <a:ahLst/>
            <a:cxnLst/>
            <a:rect l="l" t="t" r="r" b="b"/>
            <a:pathLst>
              <a:path w="1697567" h="434314">
                <a:moveTo>
                  <a:pt x="50800" y="0"/>
                </a:moveTo>
                <a:lnTo>
                  <a:pt x="1646767" y="0"/>
                </a:lnTo>
                <a:arcTo wR="50800" hR="50800" stAng="16200000" swAng="5400000"/>
                <a:lnTo>
                  <a:pt x="1697567" y="383514"/>
                </a:lnTo>
                <a:arcTo wR="50800" hR="50800" stAng="0" swAng="5400000"/>
                <a:lnTo>
                  <a:pt x="50800" y="434314"/>
                </a:lnTo>
                <a:arcTo wR="50800" hR="50800" stAng="5400000" swAng="5400000"/>
                <a:lnTo>
                  <a:pt x="0" y="50800"/>
                </a:lnTo>
                <a:arcTo wR="50800" hR="50800" stAng="10800000" swAng="5400000"/>
                <a:close/>
              </a:path>
            </a:pathLst>
          </a:custGeom>
          <a:solidFill>
            <a:srgbClr val="D3DBE6"/>
          </a:solidFill>
          <a:ln/>
        </p:spPr>
        <p:txBody>
          <a:bodyPr wrap="square" lIns="25400" tIns="101600" rIns="25400" bIns="76200" rtlCol="0" anchor="t">
            <a:normAutofit/>
          </a:bodyPr>
          <a:lstStyle/>
          <a:p>
            <a:pPr marL="0" indent="0" algn="ctr">
              <a:lnSpc>
                <a:spcPts val="1820"/>
              </a:lnSpc>
              <a:buNone/>
            </a:pPr>
            <a:r>
              <a:rPr lang="en-US" sz="1300" b="1" dirty="0">
                <a:solidFill>
                  <a:srgbClr val="14213D"/>
                </a:solidFill>
                <a:latin typeface="Nunito Sans" pitchFamily="34" charset="0"/>
                <a:ea typeface="Nunito Sans" pitchFamily="34" charset="-122"/>
                <a:cs typeface="Nunito Sans" pitchFamily="34" charset="-120"/>
              </a:rPr>
              <a:t>Test</a:t>
            </a:r>
            <a:endParaRPr lang="en-US" sz="1300" dirty="0"/>
          </a:p>
        </p:txBody>
      </p:sp>
      <p:sp>
        <p:nvSpPr>
          <p:cNvPr id="8" name="Text 6"/>
          <p:cNvSpPr/>
          <p:nvPr/>
        </p:nvSpPr>
        <p:spPr>
          <a:xfrm>
            <a:off x="7907867" y="1752538"/>
            <a:ext cx="1697567" cy="434314"/>
          </a:xfrm>
          <a:custGeom>
            <a:avLst/>
            <a:gdLst/>
            <a:ahLst/>
            <a:cxnLst/>
            <a:rect l="l" t="t" r="r" b="b"/>
            <a:pathLst>
              <a:path w="1697567" h="434314">
                <a:moveTo>
                  <a:pt x="50800" y="0"/>
                </a:moveTo>
                <a:lnTo>
                  <a:pt x="1646767" y="0"/>
                </a:lnTo>
                <a:arcTo wR="50800" hR="50800" stAng="16200000" swAng="5400000"/>
                <a:lnTo>
                  <a:pt x="1697567" y="383514"/>
                </a:lnTo>
                <a:arcTo wR="50800" hR="50800" stAng="0" swAng="5400000"/>
                <a:lnTo>
                  <a:pt x="50800" y="434314"/>
                </a:lnTo>
                <a:arcTo wR="50800" hR="50800" stAng="5400000" swAng="5400000"/>
                <a:lnTo>
                  <a:pt x="0" y="50800"/>
                </a:lnTo>
                <a:arcTo wR="50800" hR="50800" stAng="10800000" swAng="5400000"/>
                <a:close/>
              </a:path>
            </a:pathLst>
          </a:custGeom>
          <a:solidFill>
            <a:srgbClr val="A14F0A"/>
          </a:solidFill>
          <a:ln/>
        </p:spPr>
        <p:txBody>
          <a:bodyPr wrap="square" lIns="25400" tIns="101600" rIns="25400" bIns="762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Release</a:t>
            </a:r>
            <a:endParaRPr lang="en-US" sz="1300" dirty="0"/>
          </a:p>
        </p:txBody>
      </p:sp>
      <p:sp>
        <p:nvSpPr>
          <p:cNvPr id="9" name="Text 7"/>
          <p:cNvSpPr/>
          <p:nvPr/>
        </p:nvSpPr>
        <p:spPr>
          <a:xfrm>
            <a:off x="9681634" y="1752538"/>
            <a:ext cx="1697567" cy="434314"/>
          </a:xfrm>
          <a:custGeom>
            <a:avLst/>
            <a:gdLst/>
            <a:ahLst/>
            <a:cxnLst/>
            <a:rect l="l" t="t" r="r" b="b"/>
            <a:pathLst>
              <a:path w="1697567" h="434314">
                <a:moveTo>
                  <a:pt x="50800" y="0"/>
                </a:moveTo>
                <a:lnTo>
                  <a:pt x="1646767" y="0"/>
                </a:lnTo>
                <a:arcTo wR="50800" hR="50800" stAng="16200000" swAng="5400000"/>
                <a:lnTo>
                  <a:pt x="1697567" y="383514"/>
                </a:lnTo>
                <a:arcTo wR="50800" hR="50800" stAng="0" swAng="5400000"/>
                <a:lnTo>
                  <a:pt x="50800" y="434314"/>
                </a:lnTo>
                <a:arcTo wR="50800" hR="50800" stAng="5400000" swAng="5400000"/>
                <a:lnTo>
                  <a:pt x="0" y="50800"/>
                </a:lnTo>
                <a:arcTo wR="50800" hR="50800" stAng="10800000" swAng="5400000"/>
                <a:close/>
              </a:path>
            </a:pathLst>
          </a:custGeom>
          <a:solidFill>
            <a:srgbClr val="A14F0A"/>
          </a:solidFill>
          <a:ln/>
        </p:spPr>
        <p:txBody>
          <a:bodyPr wrap="square" lIns="25400" tIns="101600" rIns="25400" bIns="76200" rtlCol="0" anchor="t">
            <a:normAutofit/>
          </a:bodyPr>
          <a:lstStyle/>
          <a:p>
            <a:pPr marL="0" indent="0" algn="ctr">
              <a:lnSpc>
                <a:spcPts val="1820"/>
              </a:lnSpc>
              <a:buNone/>
            </a:pPr>
            <a:r>
              <a:rPr lang="en-US" sz="1300" b="1" dirty="0">
                <a:solidFill>
                  <a:srgbClr val="FBFBF8"/>
                </a:solidFill>
                <a:latin typeface="Nunito Sans" pitchFamily="34" charset="0"/>
                <a:ea typeface="Nunito Sans" pitchFamily="34" charset="-122"/>
                <a:cs typeface="Nunito Sans" pitchFamily="34" charset="-120"/>
              </a:rPr>
              <a:t>Production</a:t>
            </a:r>
            <a:endParaRPr lang="en-US" sz="1300" dirty="0"/>
          </a:p>
        </p:txBody>
      </p:sp>
      <p:sp>
        <p:nvSpPr>
          <p:cNvPr id="10" name="Shape 8"/>
          <p:cNvSpPr/>
          <p:nvPr/>
        </p:nvSpPr>
        <p:spPr>
          <a:xfrm>
            <a:off x="812800" y="2390049"/>
            <a:ext cx="5181600" cy="1818614"/>
          </a:xfrm>
          <a:prstGeom prst="roundRect">
            <a:avLst>
              <a:gd name="adj" fmla="val 5587"/>
            </a:avLst>
          </a:prstGeom>
          <a:solidFill>
            <a:srgbClr val="FBFBF8"/>
          </a:solidFill>
          <a:ln/>
        </p:spPr>
      </p:sp>
      <p:sp>
        <p:nvSpPr>
          <p:cNvPr id="11" name="Shape 9"/>
          <p:cNvSpPr/>
          <p:nvPr/>
        </p:nvSpPr>
        <p:spPr>
          <a:xfrm>
            <a:off x="812800" y="2390049"/>
            <a:ext cx="5181600" cy="1818614"/>
          </a:xfrm>
          <a:custGeom>
            <a:avLst/>
            <a:gdLst/>
            <a:ahLst/>
            <a:cxnLst/>
            <a:rect l="l" t="t" r="r" b="b"/>
            <a:pathLst>
              <a:path w="5181600" h="1818614">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2B5C9E"/>
          </a:solidFill>
          <a:ln/>
        </p:spPr>
      </p:sp>
      <p:sp>
        <p:nvSpPr>
          <p:cNvPr id="12" name="Text 10"/>
          <p:cNvSpPr/>
          <p:nvPr/>
        </p:nvSpPr>
        <p:spPr>
          <a:xfrm>
            <a:off x="1041400" y="2669449"/>
            <a:ext cx="486613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 Shift-left: test earlier</a:t>
            </a:r>
            <a:endParaRPr lang="en-US" sz="1600" dirty="0"/>
          </a:p>
        </p:txBody>
      </p:sp>
      <p:sp>
        <p:nvSpPr>
          <p:cNvPr id="13" name="Text 11"/>
          <p:cNvSpPr/>
          <p:nvPr/>
        </p:nvSpPr>
        <p:spPr>
          <a:xfrm>
            <a:off x="1133094" y="2989461"/>
            <a:ext cx="4766818" cy="10160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QA reviews stories and acceptance criteria</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Testers ask “what if…?” in refinement</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Unit tests and automated tests on every commit</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BDD: agree on tests before coding</a:t>
            </a:r>
            <a:endParaRPr lang="en-US" sz="1300" dirty="0"/>
          </a:p>
        </p:txBody>
      </p:sp>
      <p:sp>
        <p:nvSpPr>
          <p:cNvPr id="14" name="Shape 12"/>
          <p:cNvSpPr/>
          <p:nvPr/>
        </p:nvSpPr>
        <p:spPr>
          <a:xfrm>
            <a:off x="6197600" y="2390049"/>
            <a:ext cx="5181600" cy="1818614"/>
          </a:xfrm>
          <a:prstGeom prst="roundRect">
            <a:avLst>
              <a:gd name="adj" fmla="val 5587"/>
            </a:avLst>
          </a:prstGeom>
          <a:solidFill>
            <a:srgbClr val="FBFBF8"/>
          </a:solidFill>
          <a:ln/>
        </p:spPr>
      </p:sp>
      <p:sp>
        <p:nvSpPr>
          <p:cNvPr id="15" name="Shape 13"/>
          <p:cNvSpPr/>
          <p:nvPr/>
        </p:nvSpPr>
        <p:spPr>
          <a:xfrm>
            <a:off x="6197600" y="2390049"/>
            <a:ext cx="5181600" cy="1818614"/>
          </a:xfrm>
          <a:custGeom>
            <a:avLst/>
            <a:gdLst/>
            <a:ahLst/>
            <a:cxnLst/>
            <a:rect l="l" t="t" r="r" b="b"/>
            <a:pathLst>
              <a:path w="5181600" h="1818614">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A14F0A"/>
          </a:solidFill>
          <a:ln/>
        </p:spPr>
      </p:sp>
      <p:sp>
        <p:nvSpPr>
          <p:cNvPr id="16" name="Text 14"/>
          <p:cNvSpPr/>
          <p:nvPr/>
        </p:nvSpPr>
        <p:spPr>
          <a:xfrm>
            <a:off x="6426200" y="2669449"/>
            <a:ext cx="486613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14F0A"/>
                </a:solidFill>
                <a:latin typeface="Nunito Sans" pitchFamily="34" charset="0"/>
                <a:ea typeface="Nunito Sans" pitchFamily="34" charset="-122"/>
                <a:cs typeface="Nunito Sans" pitchFamily="34" charset="-120"/>
              </a:rPr>
              <a:t>Shift-right: test in production →</a:t>
            </a:r>
            <a:endParaRPr lang="en-US" sz="1600" dirty="0"/>
          </a:p>
        </p:txBody>
      </p:sp>
      <p:sp>
        <p:nvSpPr>
          <p:cNvPr id="17" name="Text 15"/>
          <p:cNvSpPr/>
          <p:nvPr/>
        </p:nvSpPr>
        <p:spPr>
          <a:xfrm>
            <a:off x="6517894" y="2989461"/>
            <a:ext cx="4766818" cy="10160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Monitoring, logging and alerting</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A/B tests, feature flags, canary releases</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Synthetic monitoring scripts</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Real user behaviour and crash reports</a:t>
            </a:r>
            <a:endParaRPr lang="en-US" sz="1300" dirty="0"/>
          </a:p>
        </p:txBody>
      </p:sp>
      <p:sp>
        <p:nvSpPr>
          <p:cNvPr id="18" name="Text 16"/>
          <p:cNvSpPr/>
          <p:nvPr/>
        </p:nvSpPr>
        <p:spPr>
          <a:xfrm>
            <a:off x="812800" y="4411861"/>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Shift-left </a:t>
            </a:r>
            <a:r>
              <a:rPr lang="en-US" sz="1400" b="1" dirty="0">
                <a:solidFill>
                  <a:srgbClr val="14213D"/>
                </a:solidFill>
                <a:latin typeface="Nunito Sans" pitchFamily="34" charset="0"/>
                <a:ea typeface="Nunito Sans" pitchFamily="34" charset="-122"/>
                <a:cs typeface="Nunito Sans" pitchFamily="34" charset="-120"/>
              </a:rPr>
              <a:t>prevents</a:t>
            </a:r>
            <a:r>
              <a:rPr lang="en-US" sz="1400" dirty="0">
                <a:solidFill>
                  <a:srgbClr val="14213D"/>
                </a:solidFill>
                <a:latin typeface="Nunito Sans" pitchFamily="34" charset="0"/>
                <a:ea typeface="Nunito Sans" pitchFamily="34" charset="-122"/>
                <a:cs typeface="Nunito Sans" pitchFamily="34" charset="-120"/>
              </a:rPr>
              <a:t> defects. Shift-right </a:t>
            </a:r>
            <a:r>
              <a:rPr lang="en-US" sz="1400" b="1" dirty="0">
                <a:solidFill>
                  <a:srgbClr val="14213D"/>
                </a:solidFill>
                <a:latin typeface="Nunito Sans" pitchFamily="34" charset="0"/>
                <a:ea typeface="Nunito Sans" pitchFamily="34" charset="-122"/>
                <a:cs typeface="Nunito Sans" pitchFamily="34" charset="-120"/>
              </a:rPr>
              <a:t>detects</a:t>
            </a:r>
            <a:r>
              <a:rPr lang="en-US" sz="1400" dirty="0">
                <a:solidFill>
                  <a:srgbClr val="14213D"/>
                </a:solidFill>
                <a:latin typeface="Nunito Sans" pitchFamily="34" charset="0"/>
                <a:ea typeface="Nunito Sans" pitchFamily="34" charset="-122"/>
                <a:cs typeface="Nunito Sans" pitchFamily="34" charset="-120"/>
              </a:rPr>
              <a:t> what slipped through. Mature teams do both.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TEST PYRAMID</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Many fast tests at the bottom, few slow ones on top</a:t>
            </a:r>
            <a:endParaRPr lang="en-US" sz="3200" dirty="0"/>
          </a:p>
        </p:txBody>
      </p:sp>
      <p:sp>
        <p:nvSpPr>
          <p:cNvPr id="4" name="Text 2"/>
          <p:cNvSpPr/>
          <p:nvPr/>
        </p:nvSpPr>
        <p:spPr>
          <a:xfrm>
            <a:off x="2400300" y="1854138"/>
            <a:ext cx="2159000" cy="571500"/>
          </a:xfrm>
          <a:prstGeom prst="roundRect">
            <a:avLst>
              <a:gd name="adj" fmla="val 13333"/>
            </a:avLst>
          </a:prstGeom>
          <a:solidFill>
            <a:srgbClr val="A14F0A"/>
          </a:solidFill>
          <a:ln/>
        </p:spPr>
        <p:txBody>
          <a:bodyPr wrap="square" lIns="102269" tIns="130082" rIns="102269" bIns="10468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UI / End-to-end</a:t>
            </a:r>
            <a:endParaRPr lang="en-US" sz="1500" dirty="0"/>
          </a:p>
        </p:txBody>
      </p:sp>
      <p:sp>
        <p:nvSpPr>
          <p:cNvPr id="5" name="Text 3"/>
          <p:cNvSpPr/>
          <p:nvPr/>
        </p:nvSpPr>
        <p:spPr>
          <a:xfrm>
            <a:off x="6451600" y="2015399"/>
            <a:ext cx="507542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Few.</a:t>
            </a:r>
            <a:r>
              <a:rPr lang="en-US" sz="1400" dirty="0">
                <a:solidFill>
                  <a:srgbClr val="3D4A5C"/>
                </a:solidFill>
                <a:latin typeface="Nunito Sans" pitchFamily="34" charset="0"/>
                <a:ea typeface="Nunito Sans" pitchFamily="34" charset="-122"/>
                <a:cs typeface="Nunito Sans" pitchFamily="34" charset="-120"/>
              </a:rPr>
              <a:t> Slow, expensive, brittle.</a:t>
            </a:r>
            <a:endParaRPr lang="en-US" sz="1400" dirty="0"/>
          </a:p>
        </p:txBody>
      </p:sp>
      <p:sp>
        <p:nvSpPr>
          <p:cNvPr id="6" name="Text 4"/>
          <p:cNvSpPr/>
          <p:nvPr/>
        </p:nvSpPr>
        <p:spPr>
          <a:xfrm>
            <a:off x="1606550" y="2527238"/>
            <a:ext cx="3746500" cy="571500"/>
          </a:xfrm>
          <a:prstGeom prst="roundRect">
            <a:avLst>
              <a:gd name="adj" fmla="val 13333"/>
            </a:avLst>
          </a:prstGeom>
          <a:solidFill>
            <a:srgbClr val="2B5C9E"/>
          </a:solidFill>
          <a:ln/>
        </p:spPr>
        <p:txBody>
          <a:bodyPr wrap="square" lIns="78456" tIns="130082" rIns="78456" bIns="10468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API / Service / Integration</a:t>
            </a:r>
            <a:endParaRPr lang="en-US" sz="1500" dirty="0"/>
          </a:p>
        </p:txBody>
      </p:sp>
      <p:sp>
        <p:nvSpPr>
          <p:cNvPr id="7" name="Text 5"/>
          <p:cNvSpPr/>
          <p:nvPr/>
        </p:nvSpPr>
        <p:spPr>
          <a:xfrm>
            <a:off x="6451600" y="2688499"/>
            <a:ext cx="507542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More.</a:t>
            </a:r>
            <a:r>
              <a:rPr lang="en-US" sz="1400" dirty="0">
                <a:solidFill>
                  <a:srgbClr val="3D4A5C"/>
                </a:solidFill>
                <a:latin typeface="Nunito Sans" pitchFamily="34" charset="0"/>
                <a:ea typeface="Nunito Sans" pitchFamily="34" charset="-122"/>
                <a:cs typeface="Nunito Sans" pitchFamily="34" charset="-120"/>
              </a:rPr>
              <a:t> Faster and stable.</a:t>
            </a:r>
            <a:endParaRPr lang="en-US" sz="1400" dirty="0"/>
          </a:p>
        </p:txBody>
      </p:sp>
      <p:sp>
        <p:nvSpPr>
          <p:cNvPr id="8" name="Text 6"/>
          <p:cNvSpPr/>
          <p:nvPr/>
        </p:nvSpPr>
        <p:spPr>
          <a:xfrm>
            <a:off x="812800" y="3200338"/>
            <a:ext cx="5334000" cy="571500"/>
          </a:xfrm>
          <a:prstGeom prst="roundRect">
            <a:avLst>
              <a:gd name="adj" fmla="val 13333"/>
            </a:avLst>
          </a:prstGeom>
          <a:solidFill>
            <a:srgbClr val="14213D"/>
          </a:solidFill>
          <a:ln/>
        </p:spPr>
        <p:txBody>
          <a:bodyPr wrap="square" lIns="54644" tIns="130082" rIns="54644" bIns="104682" rtlCol="0" anchor="t">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Unit</a:t>
            </a:r>
            <a:endParaRPr lang="en-US" sz="1500" dirty="0"/>
          </a:p>
        </p:txBody>
      </p:sp>
      <p:sp>
        <p:nvSpPr>
          <p:cNvPr id="9" name="Text 7"/>
          <p:cNvSpPr/>
          <p:nvPr/>
        </p:nvSpPr>
        <p:spPr>
          <a:xfrm>
            <a:off x="6451600" y="3361599"/>
            <a:ext cx="507542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Many.</a:t>
            </a:r>
            <a:r>
              <a:rPr lang="en-US" sz="1400" dirty="0">
                <a:solidFill>
                  <a:srgbClr val="3D4A5C"/>
                </a:solidFill>
                <a:latin typeface="Nunito Sans" pitchFamily="34" charset="0"/>
                <a:ea typeface="Nunito Sans" pitchFamily="34" charset="-122"/>
                <a:cs typeface="Nunito Sans" pitchFamily="34" charset="-120"/>
              </a:rPr>
              <a:t> Very fast and cheap.</a:t>
            </a:r>
            <a:endParaRPr lang="en-US" sz="1400" dirty="0"/>
          </a:p>
        </p:txBody>
      </p:sp>
      <p:sp>
        <p:nvSpPr>
          <p:cNvPr id="10" name="Shape 8"/>
          <p:cNvSpPr/>
          <p:nvPr/>
        </p:nvSpPr>
        <p:spPr>
          <a:xfrm>
            <a:off x="812800" y="4076638"/>
            <a:ext cx="5181600" cy="1081947"/>
          </a:xfrm>
          <a:prstGeom prst="roundRect">
            <a:avLst>
              <a:gd name="adj" fmla="val 7043"/>
            </a:avLst>
          </a:prstGeom>
          <a:solidFill>
            <a:srgbClr val="FBEBDD"/>
          </a:solidFill>
          <a:ln/>
        </p:spPr>
      </p:sp>
      <p:sp>
        <p:nvSpPr>
          <p:cNvPr id="11" name="Text 9"/>
          <p:cNvSpPr/>
          <p:nvPr/>
        </p:nvSpPr>
        <p:spPr>
          <a:xfrm>
            <a:off x="1016000" y="4254438"/>
            <a:ext cx="491845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14F0A"/>
                </a:solidFill>
                <a:latin typeface="Nunito Sans" pitchFamily="34" charset="0"/>
                <a:ea typeface="Nunito Sans" pitchFamily="34" charset="-122"/>
                <a:cs typeface="Nunito Sans" pitchFamily="34" charset="-120"/>
              </a:rPr>
              <a:t>Anti-pattern: the ice-cream cone</a:t>
            </a:r>
            <a:endParaRPr lang="en-US" sz="1400" dirty="0"/>
          </a:p>
        </p:txBody>
      </p:sp>
      <p:sp>
        <p:nvSpPr>
          <p:cNvPr id="12" name="Text 10"/>
          <p:cNvSpPr/>
          <p:nvPr/>
        </p:nvSpPr>
        <p:spPr>
          <a:xfrm>
            <a:off x="1016000" y="4518558"/>
            <a:ext cx="491845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Mostly manual and UI tests, few unit tests: slow, brittle, expensive.</a:t>
            </a:r>
            <a:endParaRPr lang="en-US" sz="1300" dirty="0"/>
          </a:p>
        </p:txBody>
      </p:sp>
      <p:sp>
        <p:nvSpPr>
          <p:cNvPr id="13" name="Shape 11"/>
          <p:cNvSpPr/>
          <p:nvPr/>
        </p:nvSpPr>
        <p:spPr>
          <a:xfrm>
            <a:off x="6197600" y="4076638"/>
            <a:ext cx="5181600" cy="1081947"/>
          </a:xfrm>
          <a:prstGeom prst="roundRect">
            <a:avLst>
              <a:gd name="adj" fmla="val 7043"/>
            </a:avLst>
          </a:prstGeom>
          <a:solidFill>
            <a:srgbClr val="EEF2F7"/>
          </a:solidFill>
          <a:ln/>
        </p:spPr>
      </p:sp>
      <p:sp>
        <p:nvSpPr>
          <p:cNvPr id="14" name="Text 12"/>
          <p:cNvSpPr/>
          <p:nvPr/>
        </p:nvSpPr>
        <p:spPr>
          <a:xfrm>
            <a:off x="6400800" y="4254438"/>
            <a:ext cx="491845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On top: manual exploration</a:t>
            </a:r>
            <a:endParaRPr lang="en-US" sz="1400" dirty="0"/>
          </a:p>
        </p:txBody>
      </p:sp>
      <p:sp>
        <p:nvSpPr>
          <p:cNvPr id="15" name="Text 13"/>
          <p:cNvSpPr/>
          <p:nvPr/>
        </p:nvSpPr>
        <p:spPr>
          <a:xfrm>
            <a:off x="6400800" y="4518558"/>
            <a:ext cx="491845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A “cloud” of human investigation complements the automated layers.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TEST COVERAGE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How much of something your tests exercise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155825"/>
        </p:xfrm>
        <a:graphic>
          <a:graphicData uri="http://schemas.openxmlformats.org/drawingml/2006/table">
            <a:tbl>
              <a:tblPr/>
              <a:tblGrid>
                <a:gridCol w="3377184">
                  <a:extLst>
                    <a:ext uri="{9D8B030D-6E8A-4147-A177-3AD203B41FA5}">
                      <a16:colId xmlns:a16="http://schemas.microsoft.com/office/drawing/2014/main" val="20000"/>
                    </a:ext>
                  </a:extLst>
                </a:gridCol>
                <a:gridCol w="7176516">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Coverage type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Formula / meaning</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Requirement coverage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(Requirements with ≥ 1 test ÷ total requirements) × 100</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Risk coverage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 of identified high risks that have tests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Code coverage (white-box)</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 of statements or branches executed by tests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execution coverage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(Tests executed ÷ tests planned) × 100</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Platform coverage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Browser, device and OS combinations tested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2800" y="4225863"/>
            <a:ext cx="3714750" cy="802614"/>
          </a:xfrm>
          <a:prstGeom prst="roundRect">
            <a:avLst>
              <a:gd name="adj" fmla="val 9494"/>
            </a:avLst>
          </a:prstGeom>
          <a:solidFill>
            <a:srgbClr val="EEF2F7"/>
          </a:solidFill>
          <a:ln/>
        </p:spPr>
      </p:sp>
      <p:sp>
        <p:nvSpPr>
          <p:cNvPr id="6" name="Text 3"/>
          <p:cNvSpPr/>
          <p:nvPr/>
        </p:nvSpPr>
        <p:spPr>
          <a:xfrm>
            <a:off x="1016000" y="4378263"/>
            <a:ext cx="85177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B5C9E"/>
                </a:solidFill>
                <a:latin typeface="Domine" pitchFamily="18" charset="0"/>
                <a:ea typeface="Domine" pitchFamily="18" charset="-122"/>
                <a:cs typeface="Domine" pitchFamily="18" charset="-120"/>
              </a:rPr>
              <a:t>90%</a:t>
            </a:r>
            <a:endParaRPr lang="en-US" sz="2800" dirty="0"/>
          </a:p>
        </p:txBody>
      </p:sp>
      <p:sp>
        <p:nvSpPr>
          <p:cNvPr id="7" name="Text 4"/>
          <p:cNvSpPr/>
          <p:nvPr/>
        </p:nvSpPr>
        <p:spPr>
          <a:xfrm>
            <a:off x="1878211" y="4577228"/>
            <a:ext cx="264933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45 of 50 requirements have tests</a:t>
            </a:r>
            <a:endParaRPr lang="en-US" sz="1300" dirty="0"/>
          </a:p>
        </p:txBody>
      </p:sp>
      <p:sp>
        <p:nvSpPr>
          <p:cNvPr id="8" name="Shape 5"/>
          <p:cNvSpPr/>
          <p:nvPr/>
        </p:nvSpPr>
        <p:spPr>
          <a:xfrm>
            <a:off x="4730750" y="4322366"/>
            <a:ext cx="6648450" cy="609600"/>
          </a:xfrm>
          <a:prstGeom prst="roundRect">
            <a:avLst>
              <a:gd name="adj" fmla="val 12500"/>
            </a:avLst>
          </a:prstGeom>
          <a:solidFill>
            <a:srgbClr val="FBEBDD"/>
          </a:solidFill>
          <a:ln/>
        </p:spPr>
      </p:sp>
      <p:pic>
        <p:nvPicPr>
          <p:cNvPr id="9" name="Image 0" descr="Warning"/>
          <p:cNvPicPr>
            <a:picLocks noChangeAspect="1"/>
          </p:cNvPicPr>
          <p:nvPr/>
        </p:nvPicPr>
        <p:blipFill>
          <a:blip r:embed="rId3"/>
          <a:srcRect/>
          <a:stretch/>
        </p:blipFill>
        <p:spPr>
          <a:xfrm>
            <a:off x="4933950" y="4500166"/>
            <a:ext cx="254000" cy="254000"/>
          </a:xfrm>
          <a:prstGeom prst="rect">
            <a:avLst/>
          </a:prstGeom>
        </p:spPr>
      </p:pic>
      <p:sp>
        <p:nvSpPr>
          <p:cNvPr id="10" name="Text 6"/>
          <p:cNvSpPr/>
          <p:nvPr/>
        </p:nvSpPr>
        <p:spPr>
          <a:xfrm>
            <a:off x="5289550" y="4511613"/>
            <a:ext cx="606202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100% coverage ≠ 0 bugs.</a:t>
            </a:r>
            <a:r>
              <a:rPr lang="en-US" sz="1300" dirty="0">
                <a:solidFill>
                  <a:srgbClr val="14213D"/>
                </a:solidFill>
                <a:latin typeface="Nunito Sans" pitchFamily="34" charset="0"/>
                <a:ea typeface="Nunito Sans" pitchFamily="34" charset="-122"/>
                <a:cs typeface="Nunito Sans" pitchFamily="34" charset="-120"/>
              </a:rPr>
              <a:t> It shows what you touched, not how well.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ENTRY AND EXIT CRITERIA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When can testing start, and when is it done?</a:t>
            </a:r>
            <a:endParaRPr lang="en-US" sz="3200" dirty="0"/>
          </a:p>
        </p:txBody>
      </p:sp>
      <p:sp>
        <p:nvSpPr>
          <p:cNvPr id="4" name="Shape 2"/>
          <p:cNvSpPr/>
          <p:nvPr/>
        </p:nvSpPr>
        <p:spPr>
          <a:xfrm>
            <a:off x="812800" y="1803338"/>
            <a:ext cx="5181600" cy="2237714"/>
          </a:xfrm>
          <a:prstGeom prst="roundRect">
            <a:avLst>
              <a:gd name="adj" fmla="val 4540"/>
            </a:avLst>
          </a:prstGeom>
          <a:solidFill>
            <a:srgbClr val="FBFBF8"/>
          </a:solidFill>
          <a:ln/>
        </p:spPr>
      </p:sp>
      <p:sp>
        <p:nvSpPr>
          <p:cNvPr id="5" name="Shape 3"/>
          <p:cNvSpPr/>
          <p:nvPr/>
        </p:nvSpPr>
        <p:spPr>
          <a:xfrm>
            <a:off x="812800" y="1803338"/>
            <a:ext cx="5181600" cy="2237714"/>
          </a:xfrm>
          <a:custGeom>
            <a:avLst/>
            <a:gdLst/>
            <a:ahLst/>
            <a:cxnLst/>
            <a:rect l="l" t="t" r="r" b="b"/>
            <a:pathLst>
              <a:path w="5181600" h="2237714">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2B5C9E"/>
          </a:solidFill>
          <a:ln/>
        </p:spPr>
      </p:sp>
      <p:sp>
        <p:nvSpPr>
          <p:cNvPr id="6" name="Text 4"/>
          <p:cNvSpPr/>
          <p:nvPr/>
        </p:nvSpPr>
        <p:spPr>
          <a:xfrm>
            <a:off x="1066800" y="2108138"/>
            <a:ext cx="481380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Entry: before system test starts</a:t>
            </a:r>
            <a:endParaRPr lang="en-US" sz="1600" dirty="0"/>
          </a:p>
        </p:txBody>
      </p:sp>
      <p:sp>
        <p:nvSpPr>
          <p:cNvPr id="7" name="Text 5"/>
          <p:cNvSpPr/>
          <p:nvPr/>
        </p:nvSpPr>
        <p:spPr>
          <a:xfrm>
            <a:off x="1151382" y="2453549"/>
            <a:ext cx="4721606"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Stories are approved</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Test environment is ready and stable</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Build has passed the smoke test</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Test data is available</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Test cases are reviewed and approved</a:t>
            </a:r>
            <a:endParaRPr lang="en-US" sz="1400" dirty="0"/>
          </a:p>
        </p:txBody>
      </p:sp>
      <p:sp>
        <p:nvSpPr>
          <p:cNvPr id="8" name="Shape 6"/>
          <p:cNvSpPr/>
          <p:nvPr/>
        </p:nvSpPr>
        <p:spPr>
          <a:xfrm>
            <a:off x="6197600" y="1803338"/>
            <a:ext cx="5181600" cy="2237714"/>
          </a:xfrm>
          <a:prstGeom prst="roundRect">
            <a:avLst>
              <a:gd name="adj" fmla="val 4540"/>
            </a:avLst>
          </a:prstGeom>
          <a:solidFill>
            <a:srgbClr val="FBFBF8"/>
          </a:solidFill>
          <a:ln/>
        </p:spPr>
      </p:sp>
      <p:sp>
        <p:nvSpPr>
          <p:cNvPr id="9" name="Shape 7"/>
          <p:cNvSpPr/>
          <p:nvPr/>
        </p:nvSpPr>
        <p:spPr>
          <a:xfrm>
            <a:off x="6197600" y="1803338"/>
            <a:ext cx="5181600" cy="2237714"/>
          </a:xfrm>
          <a:custGeom>
            <a:avLst/>
            <a:gdLst/>
            <a:ahLst/>
            <a:cxnLst/>
            <a:rect l="l" t="t" r="r" b="b"/>
            <a:pathLst>
              <a:path w="5181600" h="2237714">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A14F0A"/>
          </a:solidFill>
          <a:ln/>
        </p:spPr>
      </p:sp>
      <p:sp>
        <p:nvSpPr>
          <p:cNvPr id="10" name="Text 8"/>
          <p:cNvSpPr/>
          <p:nvPr/>
        </p:nvSpPr>
        <p:spPr>
          <a:xfrm>
            <a:off x="6451600" y="2108138"/>
            <a:ext cx="481380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14F0A"/>
                </a:solidFill>
                <a:latin typeface="Nunito Sans" pitchFamily="34" charset="0"/>
                <a:ea typeface="Nunito Sans" pitchFamily="34" charset="-122"/>
                <a:cs typeface="Nunito Sans" pitchFamily="34" charset="-120"/>
              </a:rPr>
              <a:t>Exit: before testing is complete</a:t>
            </a:r>
            <a:endParaRPr lang="en-US" sz="1600" dirty="0"/>
          </a:p>
        </p:txBody>
      </p:sp>
      <p:sp>
        <p:nvSpPr>
          <p:cNvPr id="11" name="Text 9"/>
          <p:cNvSpPr/>
          <p:nvPr/>
        </p:nvSpPr>
        <p:spPr>
          <a:xfrm>
            <a:off x="6536182" y="2453549"/>
            <a:ext cx="4721606"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100% of P1 test cases executed</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At least 95% pass rate overall</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0 open Critical or High defects</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Medium defects fixed or deferred with sign-off</a:t>
            </a:r>
            <a:endParaRPr lang="en-US" sz="1400" dirty="0"/>
          </a:p>
          <a:p>
            <a:pPr marL="169418" indent="-169418" algn="l">
              <a:lnSpc>
                <a:spcPts val="2100"/>
              </a:lnSpc>
              <a:buSzPct val="100000"/>
              <a:buChar char="•"/>
            </a:pPr>
            <a:r>
              <a:rPr lang="en-US" sz="1400" dirty="0">
                <a:solidFill>
                  <a:srgbClr val="3D4A5C"/>
                </a:solidFill>
                <a:latin typeface="Nunito Sans" pitchFamily="34" charset="0"/>
                <a:ea typeface="Nunito Sans" pitchFamily="34" charset="-122"/>
                <a:cs typeface="Nunito Sans" pitchFamily="34" charset="-120"/>
              </a:rPr>
              <a:t>100% requirement coverage; report delivered</a:t>
            </a:r>
            <a:endParaRPr lang="en-US" sz="1400" dirty="0"/>
          </a:p>
        </p:txBody>
      </p:sp>
      <p:sp>
        <p:nvSpPr>
          <p:cNvPr id="12" name="Text 10"/>
          <p:cNvSpPr/>
          <p:nvPr/>
        </p:nvSpPr>
        <p:spPr>
          <a:xfrm>
            <a:off x="812800" y="4295049"/>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Without exit criteria, testing ends when the deadline arrives, whatever the quality.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WATCH 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Common beginner mistakes</a:t>
            </a:r>
            <a:endParaRPr lang="en-US" sz="3200" dirty="0"/>
          </a:p>
        </p:txBody>
      </p:sp>
      <p:sp>
        <p:nvSpPr>
          <p:cNvPr id="4" name="Shape 2"/>
          <p:cNvSpPr/>
          <p:nvPr/>
        </p:nvSpPr>
        <p:spPr>
          <a:xfrm>
            <a:off x="812800" y="1854138"/>
            <a:ext cx="10566400" cy="558800"/>
          </a:xfrm>
          <a:prstGeom prst="roundRect">
            <a:avLst>
              <a:gd name="adj" fmla="val 13636"/>
            </a:avLst>
          </a:prstGeom>
          <a:solidFill>
            <a:srgbClr val="EEF2F7"/>
          </a:solidFill>
          <a:ln/>
        </p:spPr>
      </p:sp>
      <p:pic>
        <p:nvPicPr>
          <p:cNvPr id="5" name="Image 0" descr="Warning"/>
          <p:cNvPicPr>
            <a:picLocks noChangeAspect="1"/>
          </p:cNvPicPr>
          <p:nvPr/>
        </p:nvPicPr>
        <p:blipFill>
          <a:blip r:embed="rId3"/>
          <a:srcRect/>
          <a:stretch/>
        </p:blipFill>
        <p:spPr>
          <a:xfrm>
            <a:off x="1016000" y="2006538"/>
            <a:ext cx="254000" cy="254000"/>
          </a:xfrm>
          <a:prstGeom prst="rect">
            <a:avLst/>
          </a:prstGeom>
        </p:spPr>
      </p:pic>
      <p:sp>
        <p:nvSpPr>
          <p:cNvPr id="6" name="Text 3"/>
          <p:cNvSpPr/>
          <p:nvPr/>
        </p:nvSpPr>
        <p:spPr>
          <a:xfrm>
            <a:off x="1422400" y="2009049"/>
            <a:ext cx="677164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Testing everything equally:</a:t>
            </a:r>
            <a:r>
              <a:rPr lang="en-US" sz="1400" dirty="0">
                <a:solidFill>
                  <a:srgbClr val="3D4A5C"/>
                </a:solidFill>
                <a:latin typeface="Nunito Sans" pitchFamily="34" charset="0"/>
                <a:ea typeface="Nunito Sans" pitchFamily="34" charset="-122"/>
                <a:cs typeface="Nunito Sans" pitchFamily="34" charset="-120"/>
              </a:rPr>
              <a:t> spend more effort where the risk is higher.</a:t>
            </a:r>
            <a:endParaRPr lang="en-US" sz="1400" dirty="0"/>
          </a:p>
        </p:txBody>
      </p:sp>
      <p:sp>
        <p:nvSpPr>
          <p:cNvPr id="7" name="Shape 4"/>
          <p:cNvSpPr/>
          <p:nvPr/>
        </p:nvSpPr>
        <p:spPr>
          <a:xfrm>
            <a:off x="812800" y="2539938"/>
            <a:ext cx="10566400" cy="558800"/>
          </a:xfrm>
          <a:prstGeom prst="roundRect">
            <a:avLst>
              <a:gd name="adj" fmla="val 13636"/>
            </a:avLst>
          </a:prstGeom>
          <a:solidFill>
            <a:srgbClr val="EEF2F7"/>
          </a:solidFill>
          <a:ln/>
        </p:spPr>
      </p:sp>
      <p:pic>
        <p:nvPicPr>
          <p:cNvPr id="8" name="Image 1" descr="Warning"/>
          <p:cNvPicPr>
            <a:picLocks noChangeAspect="1"/>
          </p:cNvPicPr>
          <p:nvPr/>
        </p:nvPicPr>
        <p:blipFill>
          <a:blip r:embed="rId3"/>
          <a:srcRect/>
          <a:stretch/>
        </p:blipFill>
        <p:spPr>
          <a:xfrm>
            <a:off x="1016000" y="2692338"/>
            <a:ext cx="254000" cy="254000"/>
          </a:xfrm>
          <a:prstGeom prst="rect">
            <a:avLst/>
          </a:prstGeom>
        </p:spPr>
      </p:pic>
      <p:sp>
        <p:nvSpPr>
          <p:cNvPr id="9" name="Text 5"/>
          <p:cNvSpPr/>
          <p:nvPr/>
        </p:nvSpPr>
        <p:spPr>
          <a:xfrm>
            <a:off x="1422400" y="2694849"/>
            <a:ext cx="589407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Automating unstable features:</a:t>
            </a:r>
            <a:r>
              <a:rPr lang="en-US" sz="1400" dirty="0">
                <a:solidFill>
                  <a:srgbClr val="3D4A5C"/>
                </a:solidFill>
                <a:latin typeface="Nunito Sans" pitchFamily="34" charset="0"/>
                <a:ea typeface="Nunito Sans" pitchFamily="34" charset="-122"/>
                <a:cs typeface="Nunito Sans" pitchFamily="34" charset="-120"/>
              </a:rPr>
              <a:t> the scripts break every sprint.</a:t>
            </a:r>
            <a:endParaRPr lang="en-US" sz="1400" dirty="0"/>
          </a:p>
        </p:txBody>
      </p:sp>
      <p:sp>
        <p:nvSpPr>
          <p:cNvPr id="10" name="Shape 6"/>
          <p:cNvSpPr/>
          <p:nvPr/>
        </p:nvSpPr>
        <p:spPr>
          <a:xfrm>
            <a:off x="812800" y="3225738"/>
            <a:ext cx="10566400" cy="558800"/>
          </a:xfrm>
          <a:prstGeom prst="roundRect">
            <a:avLst>
              <a:gd name="adj" fmla="val 13636"/>
            </a:avLst>
          </a:prstGeom>
          <a:solidFill>
            <a:srgbClr val="EEF2F7"/>
          </a:solidFill>
          <a:ln/>
        </p:spPr>
      </p:sp>
      <p:pic>
        <p:nvPicPr>
          <p:cNvPr id="11" name="Image 2" descr="Warning"/>
          <p:cNvPicPr>
            <a:picLocks noChangeAspect="1"/>
          </p:cNvPicPr>
          <p:nvPr/>
        </p:nvPicPr>
        <p:blipFill>
          <a:blip r:embed="rId3"/>
          <a:srcRect/>
          <a:stretch/>
        </p:blipFill>
        <p:spPr>
          <a:xfrm>
            <a:off x="1016000" y="3378138"/>
            <a:ext cx="254000" cy="254000"/>
          </a:xfrm>
          <a:prstGeom prst="rect">
            <a:avLst/>
          </a:prstGeom>
        </p:spPr>
      </p:pic>
      <p:sp>
        <p:nvSpPr>
          <p:cNvPr id="12" name="Text 7"/>
          <p:cNvSpPr/>
          <p:nvPr/>
        </p:nvSpPr>
        <p:spPr>
          <a:xfrm>
            <a:off x="1422400" y="3380649"/>
            <a:ext cx="504721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No exit criteria:</a:t>
            </a:r>
            <a:r>
              <a:rPr lang="en-US" sz="1400" dirty="0">
                <a:solidFill>
                  <a:srgbClr val="3D4A5C"/>
                </a:solidFill>
                <a:latin typeface="Nunito Sans" pitchFamily="34" charset="0"/>
                <a:ea typeface="Nunito Sans" pitchFamily="34" charset="-122"/>
                <a:cs typeface="Nunito Sans" pitchFamily="34" charset="-120"/>
              </a:rPr>
              <a:t> then “done” just means “out of time”.</a:t>
            </a:r>
            <a:endParaRPr lang="en-US" sz="1400" dirty="0"/>
          </a:p>
        </p:txBody>
      </p:sp>
      <p:sp>
        <p:nvSpPr>
          <p:cNvPr id="13" name="Shape 8"/>
          <p:cNvSpPr/>
          <p:nvPr/>
        </p:nvSpPr>
        <p:spPr>
          <a:xfrm>
            <a:off x="812800" y="3911538"/>
            <a:ext cx="10566400" cy="558800"/>
          </a:xfrm>
          <a:prstGeom prst="roundRect">
            <a:avLst>
              <a:gd name="adj" fmla="val 13636"/>
            </a:avLst>
          </a:prstGeom>
          <a:solidFill>
            <a:srgbClr val="EEF2F7"/>
          </a:solidFill>
          <a:ln/>
        </p:spPr>
      </p:sp>
      <p:pic>
        <p:nvPicPr>
          <p:cNvPr id="14" name="Image 3" descr="Warning"/>
          <p:cNvPicPr>
            <a:picLocks noChangeAspect="1"/>
          </p:cNvPicPr>
          <p:nvPr/>
        </p:nvPicPr>
        <p:blipFill>
          <a:blip r:embed="rId3"/>
          <a:srcRect/>
          <a:stretch/>
        </p:blipFill>
        <p:spPr>
          <a:xfrm>
            <a:off x="1016000" y="4063938"/>
            <a:ext cx="254000" cy="254000"/>
          </a:xfrm>
          <a:prstGeom prst="rect">
            <a:avLst/>
          </a:prstGeom>
        </p:spPr>
      </p:pic>
      <p:sp>
        <p:nvSpPr>
          <p:cNvPr id="15" name="Text 9"/>
          <p:cNvSpPr/>
          <p:nvPr/>
        </p:nvSpPr>
        <p:spPr>
          <a:xfrm>
            <a:off x="1422400" y="4066449"/>
            <a:ext cx="7133034"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Exploratory testing as random clicking:</a:t>
            </a:r>
            <a:r>
              <a:rPr lang="en-US" sz="1400" dirty="0">
                <a:solidFill>
                  <a:srgbClr val="3D4A5C"/>
                </a:solidFill>
                <a:latin typeface="Nunito Sans" pitchFamily="34" charset="0"/>
                <a:ea typeface="Nunito Sans" pitchFamily="34" charset="-122"/>
                <a:cs typeface="Nunito Sans" pitchFamily="34" charset="-120"/>
              </a:rPr>
              <a:t> it needs a charter and a time-box.</a:t>
            </a:r>
            <a:endParaRPr lang="en-US" sz="1400" dirty="0"/>
          </a:p>
        </p:txBody>
      </p:sp>
      <p:sp>
        <p:nvSpPr>
          <p:cNvPr id="16" name="Shape 10"/>
          <p:cNvSpPr/>
          <p:nvPr/>
        </p:nvSpPr>
        <p:spPr>
          <a:xfrm>
            <a:off x="812800" y="4597338"/>
            <a:ext cx="10566400" cy="558800"/>
          </a:xfrm>
          <a:prstGeom prst="roundRect">
            <a:avLst>
              <a:gd name="adj" fmla="val 13636"/>
            </a:avLst>
          </a:prstGeom>
          <a:solidFill>
            <a:srgbClr val="EEF2F7"/>
          </a:solidFill>
          <a:ln/>
        </p:spPr>
      </p:sp>
      <p:pic>
        <p:nvPicPr>
          <p:cNvPr id="17" name="Image 4" descr="Warning"/>
          <p:cNvPicPr>
            <a:picLocks noChangeAspect="1"/>
          </p:cNvPicPr>
          <p:nvPr/>
        </p:nvPicPr>
        <p:blipFill>
          <a:blip r:embed="rId3"/>
          <a:srcRect/>
          <a:stretch/>
        </p:blipFill>
        <p:spPr>
          <a:xfrm>
            <a:off x="1016000" y="4749738"/>
            <a:ext cx="254000" cy="254000"/>
          </a:xfrm>
          <a:prstGeom prst="rect">
            <a:avLst/>
          </a:prstGeom>
        </p:spPr>
      </p:pic>
      <p:sp>
        <p:nvSpPr>
          <p:cNvPr id="18" name="Text 11"/>
          <p:cNvSpPr/>
          <p:nvPr/>
        </p:nvSpPr>
        <p:spPr>
          <a:xfrm>
            <a:off x="1422400" y="4752249"/>
            <a:ext cx="448913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Inverting the pyramid:</a:t>
            </a:r>
            <a:r>
              <a:rPr lang="en-US" sz="1400" dirty="0">
                <a:solidFill>
                  <a:srgbClr val="3D4A5C"/>
                </a:solidFill>
                <a:latin typeface="Nunito Sans" pitchFamily="34" charset="0"/>
                <a:ea typeface="Nunito Sans" pitchFamily="34" charset="-122"/>
                <a:cs typeface="Nunito Sans" pitchFamily="34" charset="-120"/>
              </a:rPr>
              <a:t> relying only on UI tests.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10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You are the QA lead for SafeBank</a:t>
            </a:r>
            <a:endParaRPr lang="en-US" sz="3200" dirty="0"/>
          </a:p>
        </p:txBody>
      </p:sp>
      <p:sp>
        <p:nvSpPr>
          <p:cNvPr id="4" name="Text 2"/>
          <p:cNvSpPr/>
          <p:nvPr/>
        </p:nvSpPr>
        <p:spPr>
          <a:xfrm>
            <a:off x="812800" y="1803338"/>
            <a:ext cx="52324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4B"/>
                </a:solidFill>
                <a:latin typeface="Nunito Sans" pitchFamily="34" charset="0"/>
                <a:ea typeface="Nunito Sans" pitchFamily="34" charset="-122"/>
                <a:cs typeface="Nunito Sans" pitchFamily="34" charset="-120"/>
              </a:rPr>
              <a:t>Features</a:t>
            </a:r>
            <a:endParaRPr lang="en-US" sz="1600" dirty="0"/>
          </a:p>
        </p:txBody>
      </p:sp>
      <p:sp>
        <p:nvSpPr>
          <p:cNvPr id="5" name="Text 3"/>
          <p:cNvSpPr/>
          <p:nvPr/>
        </p:nvSpPr>
        <p:spPr>
          <a:xfrm>
            <a:off x="897382" y="2148756"/>
            <a:ext cx="5140198" cy="21590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Login with OTP (two-factor)</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View balance and statements</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Fund transfer (own and third-party)</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Bill payments</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Update profile (address, phone)</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Loan EMI calculator</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Branch / ATM locator</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Customer support chat</a:t>
            </a:r>
            <a:endParaRPr lang="en-US" sz="1400" dirty="0"/>
          </a:p>
        </p:txBody>
      </p:sp>
      <p:sp>
        <p:nvSpPr>
          <p:cNvPr id="6" name="Text 4"/>
          <p:cNvSpPr/>
          <p:nvPr/>
        </p:nvSpPr>
        <p:spPr>
          <a:xfrm>
            <a:off x="6299200" y="1803338"/>
            <a:ext cx="52324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4B"/>
                </a:solidFill>
                <a:latin typeface="Nunito Sans" pitchFamily="34" charset="0"/>
                <a:ea typeface="Nunito Sans" pitchFamily="34" charset="-122"/>
                <a:cs typeface="Nunito Sans" pitchFamily="34" charset="-120"/>
              </a:rPr>
              <a:t>Identify</a:t>
            </a:r>
            <a:endParaRPr lang="en-US" sz="1600" dirty="0"/>
          </a:p>
        </p:txBody>
      </p:sp>
      <p:sp>
        <p:nvSpPr>
          <p:cNvPr id="7" name="Text 5"/>
          <p:cNvSpPr/>
          <p:nvPr/>
        </p:nvSpPr>
        <p:spPr>
          <a:xfrm>
            <a:off x="6360253" y="2148756"/>
            <a:ext cx="5163727" cy="1092200"/>
          </a:xfrm>
          <a:prstGeom prst="rect">
            <a:avLst/>
          </a:prstGeom>
          <a:noFill/>
          <a:ln/>
        </p:spPr>
        <p:txBody>
          <a:bodyPr wrap="square" lIns="0" tIns="0" rIns="0" bIns="0" rtlCol="0" anchor="t">
            <a:normAutofit/>
          </a:bodyPr>
          <a:lstStyle/>
          <a:p>
            <a:pPr marL="192947" indent="-192947" algn="l">
              <a:lnSpc>
                <a:spcPts val="2100"/>
              </a:lnSpc>
              <a:buSzPct val="100000"/>
              <a:buFontTx/>
              <a:buAutoNum type="arabicPeriod"/>
            </a:pPr>
            <a:r>
              <a:rPr lang="en-US" sz="1400" dirty="0">
                <a:solidFill>
                  <a:srgbClr val="DCE4F0"/>
                </a:solidFill>
                <a:latin typeface="Nunito Sans" pitchFamily="34" charset="0"/>
                <a:ea typeface="Nunito Sans" pitchFamily="34" charset="-122"/>
                <a:cs typeface="Nunito Sans" pitchFamily="34" charset="-120"/>
              </a:rPr>
              <a:t>High-risk areas (likelihood × impact)</a:t>
            </a:r>
            <a:endParaRPr lang="en-US" sz="1400" dirty="0"/>
          </a:p>
          <a:p>
            <a:pPr marL="192947" indent="-192947" algn="l">
              <a:lnSpc>
                <a:spcPts val="2100"/>
              </a:lnSpc>
              <a:buSzPct val="100000"/>
              <a:buFontTx/>
              <a:buAutoNum type="arabicPeriod"/>
            </a:pPr>
            <a:r>
              <a:rPr lang="en-US" sz="1400" dirty="0">
                <a:solidFill>
                  <a:srgbClr val="DCE4F0"/>
                </a:solidFill>
                <a:latin typeface="Nunito Sans" pitchFamily="34" charset="0"/>
                <a:ea typeface="Nunito Sans" pitchFamily="34" charset="-122"/>
                <a:cs typeface="Nunito Sans" pitchFamily="34" charset="-120"/>
              </a:rPr>
              <a:t>Testing priorities: P1, P2, P3</a:t>
            </a:r>
            <a:endParaRPr lang="en-US" sz="1400" dirty="0"/>
          </a:p>
          <a:p>
            <a:pPr marL="192947" indent="-192947" algn="l">
              <a:lnSpc>
                <a:spcPts val="2100"/>
              </a:lnSpc>
              <a:buSzPct val="100000"/>
              <a:buFontTx/>
              <a:buAutoNum type="arabicPeriod"/>
            </a:pPr>
            <a:r>
              <a:rPr lang="en-US" sz="1400" dirty="0">
                <a:solidFill>
                  <a:srgbClr val="DCE4F0"/>
                </a:solidFill>
                <a:latin typeface="Nunito Sans" pitchFamily="34" charset="0"/>
                <a:ea typeface="Nunito Sans" pitchFamily="34" charset="-122"/>
                <a:cs typeface="Nunito Sans" pitchFamily="34" charset="-120"/>
              </a:rPr>
              <a:t>Tests that should be automated</a:t>
            </a:r>
            <a:endParaRPr lang="en-US" sz="1400" dirty="0"/>
          </a:p>
          <a:p>
            <a:pPr marL="192947" indent="-192947" algn="l">
              <a:lnSpc>
                <a:spcPts val="2100"/>
              </a:lnSpc>
              <a:buSzPct val="100000"/>
              <a:buFontTx/>
              <a:buAutoNum type="arabicPeriod"/>
            </a:pPr>
            <a:r>
              <a:rPr lang="en-US" sz="1400" dirty="0">
                <a:solidFill>
                  <a:srgbClr val="DCE4F0"/>
                </a:solidFill>
                <a:latin typeface="Nunito Sans" pitchFamily="34" charset="0"/>
                <a:ea typeface="Nunito Sans" pitchFamily="34" charset="-122"/>
                <a:cs typeface="Nunito Sans" pitchFamily="34" charset="-120"/>
              </a:rPr>
              <a:t>Tests that need exploratory testing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SafeBank risk assessment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2993827"/>
        </p:xfrm>
        <a:graphic>
          <a:graphicData uri="http://schemas.openxmlformats.org/drawingml/2006/table">
            <a:tbl>
              <a:tblPr/>
              <a:tblGrid>
                <a:gridCol w="2532888">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Feature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Likelihood</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Impact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Risk</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Fund transfer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 complex rules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 money, regulation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Critical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Login with OTP</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 account takeover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Bill payments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 money, billers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Balance / statements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 trust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High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Update profile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 fraud via phone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Medium–High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Loan EMI calculator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 misleading</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Support chat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Branch / ATM locator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Low</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Priorities, automation and exploration</a:t>
            </a:r>
            <a:endParaRPr lang="en-US" sz="3200" dirty="0"/>
          </a:p>
        </p:txBody>
      </p:sp>
      <p:sp>
        <p:nvSpPr>
          <p:cNvPr id="4" name="Shape 2"/>
          <p:cNvSpPr/>
          <p:nvPr/>
        </p:nvSpPr>
        <p:spPr>
          <a:xfrm>
            <a:off x="812800" y="1803338"/>
            <a:ext cx="3420533" cy="2555214"/>
          </a:xfrm>
          <a:prstGeom prst="roundRect">
            <a:avLst>
              <a:gd name="adj" fmla="val 3976"/>
            </a:avLst>
          </a:prstGeom>
          <a:solidFill>
            <a:srgbClr val="EEF2F7"/>
          </a:solidFill>
          <a:ln/>
        </p:spPr>
      </p:sp>
      <p:sp>
        <p:nvSpPr>
          <p:cNvPr id="5" name="Text 3"/>
          <p:cNvSpPr/>
          <p:nvPr/>
        </p:nvSpPr>
        <p:spPr>
          <a:xfrm>
            <a:off x="1016000" y="2006538"/>
            <a:ext cx="310455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Nunito Sans" pitchFamily="34" charset="0"/>
                <a:ea typeface="Nunito Sans" pitchFamily="34" charset="-122"/>
                <a:cs typeface="Nunito Sans" pitchFamily="34" charset="-120"/>
              </a:rPr>
              <a:t>Priorities</a:t>
            </a:r>
            <a:endParaRPr lang="en-US" sz="1600" dirty="0"/>
          </a:p>
        </p:txBody>
      </p:sp>
      <p:sp>
        <p:nvSpPr>
          <p:cNvPr id="6" name="Text 4"/>
          <p:cNvSpPr/>
          <p:nvPr/>
        </p:nvSpPr>
        <p:spPr>
          <a:xfrm>
            <a:off x="1016000" y="2351956"/>
            <a:ext cx="3104557" cy="7112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3D4A5C"/>
                </a:solidFill>
                <a:latin typeface="Nunito Sans" pitchFamily="34" charset="0"/>
                <a:ea typeface="Nunito Sans" pitchFamily="34" charset="-122"/>
                <a:cs typeface="Nunito Sans" pitchFamily="34" charset="-120"/>
              </a:rPr>
              <a:t>P1:</a:t>
            </a:r>
            <a:r>
              <a:rPr lang="en-US" sz="1200" dirty="0">
                <a:solidFill>
                  <a:srgbClr val="3D4A5C"/>
                </a:solidFill>
                <a:latin typeface="Nunito Sans" pitchFamily="34" charset="0"/>
                <a:ea typeface="Nunito Sans" pitchFamily="34" charset="-122"/>
                <a:cs typeface="Nunito Sans" pitchFamily="34" charset="-120"/>
              </a:rPr>
              <a:t> Fund transfer, Login/OTP, Bill payments, Balance and statements. Deep functional, negative, security, integration.</a:t>
            </a:r>
            <a:endParaRPr lang="en-US" sz="1200" dirty="0"/>
          </a:p>
        </p:txBody>
      </p:sp>
      <p:sp>
        <p:nvSpPr>
          <p:cNvPr id="7" name="Text 5"/>
          <p:cNvSpPr/>
          <p:nvPr/>
        </p:nvSpPr>
        <p:spPr>
          <a:xfrm>
            <a:off x="1016000" y="3139356"/>
            <a:ext cx="3104557" cy="4826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3D4A5C"/>
                </a:solidFill>
                <a:latin typeface="Nunito Sans" pitchFamily="34" charset="0"/>
                <a:ea typeface="Nunito Sans" pitchFamily="34" charset="-122"/>
                <a:cs typeface="Nunito Sans" pitchFamily="34" charset="-120"/>
              </a:rPr>
              <a:t>P2:</a:t>
            </a:r>
            <a:r>
              <a:rPr lang="en-US" sz="1200" dirty="0">
                <a:solidFill>
                  <a:srgbClr val="3D4A5C"/>
                </a:solidFill>
                <a:latin typeface="Nunito Sans" pitchFamily="34" charset="0"/>
                <a:ea typeface="Nunito Sans" pitchFamily="34" charset="-122"/>
                <a:cs typeface="Nunito Sans" pitchFamily="34" charset="-120"/>
              </a:rPr>
              <a:t> Update profile (OTP re-verification), EMI calculator boundaries.</a:t>
            </a:r>
            <a:endParaRPr lang="en-US" sz="1200" dirty="0"/>
          </a:p>
        </p:txBody>
      </p:sp>
      <p:sp>
        <p:nvSpPr>
          <p:cNvPr id="8" name="Text 6"/>
          <p:cNvSpPr/>
          <p:nvPr/>
        </p:nvSpPr>
        <p:spPr>
          <a:xfrm>
            <a:off x="1016000" y="3698156"/>
            <a:ext cx="3104557" cy="4826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3D4A5C"/>
                </a:solidFill>
                <a:latin typeface="Nunito Sans" pitchFamily="34" charset="0"/>
                <a:ea typeface="Nunito Sans" pitchFamily="34" charset="-122"/>
                <a:cs typeface="Nunito Sans" pitchFamily="34" charset="-120"/>
              </a:rPr>
              <a:t>P3:</a:t>
            </a:r>
            <a:r>
              <a:rPr lang="en-US" sz="1200" dirty="0">
                <a:solidFill>
                  <a:srgbClr val="3D4A5C"/>
                </a:solidFill>
                <a:latin typeface="Nunito Sans" pitchFamily="34" charset="0"/>
                <a:ea typeface="Nunito Sans" pitchFamily="34" charset="-122"/>
                <a:cs typeface="Nunito Sans" pitchFamily="34" charset="-120"/>
              </a:rPr>
              <a:t> Support chat, Branch locator. Light checks.</a:t>
            </a:r>
            <a:endParaRPr lang="en-US" sz="1200" dirty="0"/>
          </a:p>
        </p:txBody>
      </p:sp>
      <p:sp>
        <p:nvSpPr>
          <p:cNvPr id="9" name="Shape 7"/>
          <p:cNvSpPr/>
          <p:nvPr/>
        </p:nvSpPr>
        <p:spPr>
          <a:xfrm>
            <a:off x="4385733" y="1803338"/>
            <a:ext cx="3420533" cy="2555214"/>
          </a:xfrm>
          <a:prstGeom prst="roundRect">
            <a:avLst>
              <a:gd name="adj" fmla="val 3976"/>
            </a:avLst>
          </a:prstGeom>
          <a:solidFill>
            <a:srgbClr val="EEF2F7"/>
          </a:solidFill>
          <a:ln/>
        </p:spPr>
      </p:sp>
      <p:sp>
        <p:nvSpPr>
          <p:cNvPr id="10" name="Text 8"/>
          <p:cNvSpPr/>
          <p:nvPr/>
        </p:nvSpPr>
        <p:spPr>
          <a:xfrm>
            <a:off x="4588933" y="2006538"/>
            <a:ext cx="310455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5C9E"/>
                </a:solidFill>
                <a:latin typeface="Nunito Sans" pitchFamily="34" charset="0"/>
                <a:ea typeface="Nunito Sans" pitchFamily="34" charset="-122"/>
                <a:cs typeface="Nunito Sans" pitchFamily="34" charset="-120"/>
              </a:rPr>
              <a:t>Automate</a:t>
            </a:r>
            <a:endParaRPr lang="en-US" sz="1600" dirty="0"/>
          </a:p>
        </p:txBody>
      </p:sp>
      <p:sp>
        <p:nvSpPr>
          <p:cNvPr id="11" name="Text 9"/>
          <p:cNvSpPr/>
          <p:nvPr/>
        </p:nvSpPr>
        <p:spPr>
          <a:xfrm>
            <a:off x="4687739" y="2351956"/>
            <a:ext cx="2998131" cy="16256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Login: valid, invalid, locked</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Transfer happy-path regression</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Data-driven transfer amounts and limits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EMI calculator formulas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API tests for transfer and bills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Smoke suite on every build</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Load test at salary-day peaks</a:t>
            </a:r>
            <a:endParaRPr lang="en-US" sz="1200" dirty="0"/>
          </a:p>
        </p:txBody>
      </p:sp>
      <p:sp>
        <p:nvSpPr>
          <p:cNvPr id="12" name="Shape 10"/>
          <p:cNvSpPr/>
          <p:nvPr/>
        </p:nvSpPr>
        <p:spPr>
          <a:xfrm>
            <a:off x="7958667" y="1803338"/>
            <a:ext cx="3420533" cy="2555214"/>
          </a:xfrm>
          <a:prstGeom prst="roundRect">
            <a:avLst>
              <a:gd name="adj" fmla="val 3976"/>
            </a:avLst>
          </a:prstGeom>
          <a:solidFill>
            <a:srgbClr val="EEF2F7"/>
          </a:solidFill>
          <a:ln/>
        </p:spPr>
      </p:sp>
      <p:sp>
        <p:nvSpPr>
          <p:cNvPr id="13" name="Text 11"/>
          <p:cNvSpPr/>
          <p:nvPr/>
        </p:nvSpPr>
        <p:spPr>
          <a:xfrm>
            <a:off x="8161867" y="2006538"/>
            <a:ext cx="310455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14F0A"/>
                </a:solidFill>
                <a:latin typeface="Nunito Sans" pitchFamily="34" charset="0"/>
                <a:ea typeface="Nunito Sans" pitchFamily="34" charset="-122"/>
                <a:cs typeface="Nunito Sans" pitchFamily="34" charset="-120"/>
              </a:rPr>
              <a:t>Explore</a:t>
            </a:r>
            <a:endParaRPr lang="en-US" sz="1600" dirty="0"/>
          </a:p>
        </p:txBody>
      </p:sp>
      <p:sp>
        <p:nvSpPr>
          <p:cNvPr id="14" name="Text 12"/>
          <p:cNvSpPr/>
          <p:nvPr/>
        </p:nvSpPr>
        <p:spPr>
          <a:xfrm>
            <a:off x="8260673" y="2351956"/>
            <a:ext cx="2998131" cy="13970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Double-click Submit, Back, two tabs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Session timeout or network drop mid-transfer</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Expired, reused or late OTP</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Odd statement date ranges, big PDFs</a:t>
            </a:r>
            <a:endParaRPr lang="en-US" sz="1200" dirty="0"/>
          </a:p>
          <a:p>
            <a:pPr marL="155194" indent="-155194" algn="l">
              <a:lnSpc>
                <a:spcPts val="1800"/>
              </a:lnSpc>
              <a:buSzPct val="100000"/>
              <a:buChar char="•"/>
            </a:pPr>
            <a:r>
              <a:rPr lang="en-US" sz="1200" dirty="0">
                <a:solidFill>
                  <a:srgbClr val="3D4A5C"/>
                </a:solidFill>
                <a:latin typeface="Nunito Sans" pitchFamily="34" charset="0"/>
                <a:ea typeface="Nunito Sans" pitchFamily="34" charset="-122"/>
                <a:cs typeface="Nunito Sans" pitchFamily="34" charset="-120"/>
              </a:rPr>
              <a:t>Changing the account ID in the URL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questions, one minute each</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252087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Risk = ______ × ______.</a:t>
            </a:r>
            <a:endParaRPr lang="en-US" sz="1600" dirty="0"/>
          </a:p>
        </p:txBody>
      </p:sp>
      <p:sp>
        <p:nvSpPr>
          <p:cNvPr id="6" name="Text 4"/>
          <p:cNvSpPr/>
          <p:nvPr/>
        </p:nvSpPr>
        <p:spPr>
          <a:xfrm>
            <a:off x="812800" y="2362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17167"/>
            <a:ext cx="875061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Which is written once for a product and rarely changes: the strategy or the plan?</a:t>
            </a:r>
            <a:endParaRPr lang="en-US" sz="1600" dirty="0"/>
          </a:p>
        </p:txBody>
      </p:sp>
      <p:sp>
        <p:nvSpPr>
          <p:cNvPr id="8" name="Text 6"/>
          <p:cNvSpPr/>
          <p:nvPr/>
        </p:nvSpPr>
        <p:spPr>
          <a:xfrm>
            <a:off x="812800" y="2870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25167"/>
            <a:ext cx="701817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Why should the test pyramid have more unit tests than UI tests?</a:t>
            </a:r>
            <a:endParaRPr lang="en-US" sz="1600" dirty="0"/>
          </a:p>
        </p:txBody>
      </p:sp>
      <p:sp>
        <p:nvSpPr>
          <p:cNvPr id="10" name="Text 8"/>
          <p:cNvSpPr/>
          <p:nvPr/>
        </p:nvSpPr>
        <p:spPr>
          <a:xfrm>
            <a:off x="812800" y="3378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433167"/>
            <a:ext cx="669051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Give one example each of a shift-left and a shift-right activity.</a:t>
            </a:r>
            <a:endParaRPr lang="en-US" sz="1600" dirty="0"/>
          </a:p>
        </p:txBody>
      </p:sp>
      <p:sp>
        <p:nvSpPr>
          <p:cNvPr id="12" name="Text 10"/>
          <p:cNvSpPr/>
          <p:nvPr/>
        </p:nvSpPr>
        <p:spPr>
          <a:xfrm>
            <a:off x="812800" y="3886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3941167"/>
            <a:ext cx="830556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“The build has passed the smoke test” is an example of a(n) ______ criterion.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Spend effort where the </a:t>
            </a:r>
            <a:r>
              <a:rPr lang="en-US" sz="3200" b="1" i="0" dirty="0">
                <a:solidFill>
                  <a:srgbClr val="F0A04B"/>
                </a:solidFill>
                <a:latin typeface="Domine" pitchFamily="18" charset="0"/>
                <a:ea typeface="Domine" pitchFamily="18" charset="-122"/>
                <a:cs typeface="Domine" pitchFamily="18" charset="-120"/>
              </a:rPr>
              <a:t>risk</a:t>
            </a:r>
            <a:r>
              <a:rPr lang="en-US" sz="3200" b="1" i="0" dirty="0">
                <a:solidFill>
                  <a:srgbClr val="FBFBF8"/>
                </a:solidFill>
                <a:latin typeface="Domine" pitchFamily="18" charset="0"/>
                <a:ea typeface="Domine" pitchFamily="18" charset="-122"/>
                <a:cs typeface="Domine" pitchFamily="18" charset="-120"/>
              </a:rPr>
              <a:t> is</a:t>
            </a:r>
            <a:endParaRPr lang="en-US" sz="3200" dirty="0"/>
          </a:p>
        </p:txBody>
      </p:sp>
      <p:pic>
        <p:nvPicPr>
          <p:cNvPr id="4" name="Image 0" descr="CheckCircle"/>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743592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Requirements → risks → approach → coverage → execution → evidence.</a:t>
            </a:r>
            <a:endParaRPr lang="en-US" sz="1500" dirty="0"/>
          </a:p>
        </p:txBody>
      </p:sp>
      <p:pic>
        <p:nvPicPr>
          <p:cNvPr id="6" name="Image 1" descr="CheckCircle"/>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641588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Strategy = principles. Plan = this release. Approach = one area.</a:t>
            </a:r>
            <a:endParaRPr lang="en-US" sz="1500" dirty="0"/>
          </a:p>
        </p:txBody>
      </p:sp>
      <p:pic>
        <p:nvPicPr>
          <p:cNvPr id="8" name="Image 2" descr="CheckCircle"/>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723598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Risk-based sets priority; requirement-based ensures nothing is missed.</a:t>
            </a:r>
            <a:endParaRPr lang="en-US" sz="1500" dirty="0"/>
          </a:p>
        </p:txBody>
      </p:sp>
      <p:pic>
        <p:nvPicPr>
          <p:cNvPr id="10" name="Image 3" descr="CheckCircle"/>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712652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Automate the repetitive, stable and critical; explore the new and risky.</a:t>
            </a:r>
            <a:endParaRPr lang="en-US" sz="1500" dirty="0"/>
          </a:p>
        </p:txBody>
      </p:sp>
      <p:pic>
        <p:nvPicPr>
          <p:cNvPr id="12" name="Image 4" descr="CheckCircle"/>
          <p:cNvPicPr>
            <a:picLocks noChangeAspect="1"/>
          </p:cNvPicPr>
          <p:nvPr/>
        </p:nvPicPr>
        <p:blipFill>
          <a:blip r:embed="rId3"/>
          <a:srcRect/>
          <a:stretch/>
        </p:blipFill>
        <p:spPr>
          <a:xfrm>
            <a:off x="812800" y="3536888"/>
            <a:ext cx="254000" cy="254000"/>
          </a:xfrm>
          <a:prstGeom prst="rect">
            <a:avLst/>
          </a:prstGeom>
        </p:spPr>
      </p:pic>
      <p:sp>
        <p:nvSpPr>
          <p:cNvPr id="13" name="Text 6"/>
          <p:cNvSpPr/>
          <p:nvPr/>
        </p:nvSpPr>
        <p:spPr>
          <a:xfrm>
            <a:off x="1219200" y="3530538"/>
            <a:ext cx="687292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Follow the pyramid, shift left and right, and agree entry/exit criteria.</a:t>
            </a:r>
            <a:endParaRPr lang="en-US" sz="1500" dirty="0"/>
          </a:p>
        </p:txBody>
      </p:sp>
      <p:sp>
        <p:nvSpPr>
          <p:cNvPr id="14" name="Text 7"/>
          <p:cNvSpPr/>
          <p:nvPr/>
        </p:nvSpPr>
        <p:spPr>
          <a:xfrm>
            <a:off x="812800" y="41020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3, Use Cases: reading and writing the requirements a strategy works from.</a:t>
            </a:r>
            <a:endParaRPr lang="en-US" sz="1400" dirty="0"/>
          </a:p>
        </p:txBody>
      </p:sp>
    </p:spTree>
  </p:cSld>
  <p:clrMapOvr>
    <a:masterClrMapping/>
  </p:clrMapOvr>
</p:sld>
</file>

<file path=ppt/theme/theme1.xml><?xml version="1.0" encoding="utf-8"?>
<a:theme xmlns:a="http://schemas.openxmlformats.org/drawingml/2006/main" name="Test Strategies">
  <a:themeElements>
    <a:clrScheme name="Test Strategies">
      <a:dk1>
        <a:srgbClr val="14213D"/>
      </a:dk1>
      <a:lt1>
        <a:srgbClr val="FBFBF8"/>
      </a:lt1>
      <a:dk2>
        <a:srgbClr val="4E586C"/>
      </a:dk2>
      <a:lt2>
        <a:srgbClr val="E4E5E5"/>
      </a:lt2>
      <a:accent1>
        <a:srgbClr val="A14F0A"/>
      </a:accent1>
      <a:accent2>
        <a:srgbClr val="2B5C9E"/>
      </a:accent2>
      <a:accent3>
        <a:srgbClr val="F0A04B"/>
      </a:accent3>
      <a:accent4>
        <a:srgbClr val="3D4A5C"/>
      </a:accent4>
      <a:accent5>
        <a:srgbClr val="FBEBDD"/>
      </a:accent5>
      <a:accent6>
        <a:srgbClr val="DCE4F0"/>
      </a:accent6>
      <a:hlink>
        <a:srgbClr val="0563C1"/>
      </a:hlink>
      <a:folHlink>
        <a:srgbClr val="954F72"/>
      </a:folHlink>
    </a:clrScheme>
    <a:fontScheme name="Test Strategies">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2643</Words>
  <Application>Microsoft Office PowerPoint</Application>
  <PresentationFormat>Widescreen</PresentationFormat>
  <Paragraphs>363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Domine</vt:lpstr>
      <vt:lpstr>Nunito Sans</vt:lpstr>
      <vt:lpstr>Test Strategies</vt:lpstr>
      <vt:lpstr>Test Strategies</vt:lpstr>
      <vt:lpstr>What this unit covers:</vt:lpstr>
      <vt:lpstr>A high-level answer to five questions</vt:lpstr>
      <vt:lpstr>From requirements to evidence</vt:lpstr>
      <vt:lpstr>Strategy vs. plan vs. approach</vt:lpstr>
      <vt:lpstr>Test the riskiest areas first and deepest</vt:lpstr>
      <vt:lpstr>Every requirement is tested at least once</vt:lpstr>
      <vt:lpstr>Every change can break something</vt:lpstr>
      <vt:lpstr>Not everything should be automated</vt:lpstr>
      <vt:lpstr>Structured with session-based test management</vt:lpstr>
      <vt:lpstr>Shift-left and shift-right</vt:lpstr>
      <vt:lpstr>Many fast tests at the bottom, few slow ones on top</vt:lpstr>
      <vt:lpstr>How much of something your tests exercise</vt:lpstr>
      <vt:lpstr>When can testing start, and when is it done?</vt:lpstr>
      <vt:lpstr>Common beginner mistakes</vt:lpstr>
      <vt:lpstr>You are the QA lead for SafeBank</vt:lpstr>
      <vt:lpstr>SafeBank risk assessment</vt:lpstr>
      <vt:lpstr>Priorities, automation and exploration</vt:lpstr>
      <vt:lpstr>Five questions, one minute each</vt:lpstr>
      <vt:lpstr>Spend effort where the risk 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Strategies</dc:title>
  <dc:subject/>
  <dc:creator/>
  <cp:lastModifiedBy>Saurabh Kamath</cp:lastModifiedBy>
  <cp:revision>6</cp:revision>
  <dcterms:created xsi:type="dcterms:W3CDTF">2026-10-06T17:16:02Z</dcterms:created>
  <dcterms:modified xsi:type="dcterms:W3CDTF">2026-10-06T18:21:04Z</dcterms:modified>
</cp:coreProperties>
</file>