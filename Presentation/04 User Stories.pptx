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2181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three covered use cases, which are detailed interaction descriptions. Most software companies today work in Agile, where requirements arrive as short user stories in tools like Jira or Azure DevOps. As a QA engineer you will read, question and test user stories every sprint.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outcomes. The one that matters most for a tester is the third: being able to tell, before development starts, whether a story is clear enough to test.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Cs of a user story. A story is not a full specification. The card is deliberately short; the detail comes from the conversation, and the confirmation comes from acceptance criteria, which is chapter five.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part of the format gives the tester something. The role tells you who to log in as. The capability tells you what to test. And the value tells you the real goal, so you can judge whether the feature actually serves its purpose, not just whether the buttons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story into its three parts. The value is the interesting one for testers: it is not enough that a reset email arrives. The customer must actually be able to log in again with the new password, so your testing has to cover the whole journey.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each story names a specific role, a concrete capability and a real reason. The store admin story is a reminder that users are not only customers: internal roles have stories too, and they need testing with the right permissions.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 is a quick checklist for story quality. For the Valuable example, a pure refactoring task has no user value on its own: either link it to a visible benefit like faster pages, or treat it as a technical task rather than a story.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all six INVEST letters, T is the one the tester owns. Vague words like fast, easy, user-friendly or secure are red flags. Ask what they mean in measurable terms, and get the answer written into the acceptance criteria.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are organised from large to small. The epic spans many sprints, each feature is a distinct capability, and each story fits inside one sprint. Some teams skip the feature level and go straight from epic to story. Terminology varies by company and tool, so learn your team's convention.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cannot write a meaningful pass or fail for "Online Checkout" as a whole. You test it story by story, each against its own acceptance criteria, and then end to end once the stories come together.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chapters three and four. Stories are short by design, so the exception flows are often missing. A tester who thinks in use cases will spot those gaps and raise them before development, rather than discovering them as bugs later.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Stories should be about a real user role, not the system. And every vague adjective should trigger the question: how would I measure that?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six minutes. Hint for number five: not every requirement can become a good story as written. The next two slides show model answers.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how each story names a specific role. For number two, "admins" became "store admin", and the vague "issue refunds" became full or partial refunds. The INVEST concerns are really the questions you would raise in a refinement meeting.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five is the trap. A tester's job is not to force a vague request into the story format; it is to ask the questions that turn it into several specific, testable stories.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As a user, I want a capability, so that I get business value. 2. T, Testable. 3. An epic. 4. In the acceptance criteria, which is the next chapter.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 story only says what the user wants. Next we look at acceptance criteria, which define exactly when it is done and are the tester's most important input.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8885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0A04B"/>
                </a:solidFill>
                <a:latin typeface="Nunito Sans" pitchFamily="34" charset="0"/>
                <a:ea typeface="Nunito Sans" pitchFamily="34" charset="-122"/>
                <a:cs typeface="Nunito Sans" pitchFamily="34" charset="-120"/>
              </a:rPr>
              <a:t>Test Design &amp; Strategy · Unit 4</a:t>
            </a:r>
            <a:endParaRPr lang="en-US" sz="1200" dirty="0"/>
          </a:p>
        </p:txBody>
      </p:sp>
      <p:sp>
        <p:nvSpPr>
          <p:cNvPr id="3" name="Text 1"/>
          <p:cNvSpPr>
            <a:spLocks noGrp="1"/>
          </p:cNvSpPr>
          <p:nvPr>
            <p:ph type="title"/>
          </p:nvPr>
        </p:nvSpPr>
        <p:spPr>
          <a:xfrm>
            <a:off x="812800" y="2355850"/>
            <a:ext cx="10883392" cy="878814"/>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BFBF8"/>
                </a:solidFill>
                <a:latin typeface="Domine" pitchFamily="18" charset="0"/>
                <a:ea typeface="Domine" pitchFamily="18" charset="-122"/>
                <a:cs typeface="Domine" pitchFamily="18" charset="-120"/>
              </a:rPr>
              <a:t>User Stories</a:t>
            </a:r>
            <a:endParaRPr lang="en-US" sz="6400" dirty="0"/>
          </a:p>
        </p:txBody>
      </p:sp>
      <p:sp>
        <p:nvSpPr>
          <p:cNvPr id="4" name="Text 2"/>
          <p:cNvSpPr/>
          <p:nvPr/>
        </p:nvSpPr>
        <p:spPr>
          <a:xfrm>
            <a:off x="812800" y="3463264"/>
            <a:ext cx="850265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Nunito Sans" pitchFamily="34" charset="0"/>
                <a:ea typeface="Nunito Sans" pitchFamily="34" charset="-122"/>
                <a:cs typeface="Nunito Sans" pitchFamily="34" charset="-120"/>
              </a:rPr>
              <a:t>How Agile teams express requirements from the user's point of view, and how testers use them</a:t>
            </a:r>
            <a:endParaRPr lang="en-US" sz="2000" dirty="0"/>
          </a:p>
        </p:txBody>
      </p:sp>
      <p:sp>
        <p:nvSpPr>
          <p:cNvPr id="5" name="Shape 3"/>
          <p:cNvSpPr/>
          <p:nvPr/>
        </p:nvSpPr>
        <p:spPr>
          <a:xfrm>
            <a:off x="812800" y="4428464"/>
            <a:ext cx="1016000" cy="38100"/>
          </a:xfrm>
          <a:prstGeom prst="roundRect">
            <a:avLst>
              <a:gd name="adj" fmla="val 50000"/>
            </a:avLst>
          </a:prstGeom>
          <a:solidFill>
            <a:srgbClr val="F0A04B"/>
          </a:solidFill>
          <a:ln/>
        </p:spPr>
      </p:sp>
      <p:sp>
        <p:nvSpPr>
          <p:cNvPr id="6" name="Text 4"/>
          <p:cNvSpPr/>
          <p:nvPr/>
        </p:nvSpPr>
        <p:spPr>
          <a:xfrm>
            <a:off x="812800" y="472056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20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LEARNING OBJECTIVES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this unit covers:</a:t>
            </a:r>
            <a:endParaRPr lang="en-US" sz="3200" dirty="0"/>
          </a:p>
        </p:txBody>
      </p:sp>
      <p:sp>
        <p:nvSpPr>
          <p:cNvPr id="4" name="Text 2"/>
          <p:cNvSpPr/>
          <p:nvPr/>
        </p:nvSpPr>
        <p:spPr>
          <a:xfrm>
            <a:off x="812800" y="19049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59967"/>
            <a:ext cx="645572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Explain what a user story is and why Agile teams use them</a:t>
            </a:r>
            <a:endParaRPr lang="en-US" sz="1600" dirty="0"/>
          </a:p>
        </p:txBody>
      </p:sp>
      <p:sp>
        <p:nvSpPr>
          <p:cNvPr id="6" name="Text 4"/>
          <p:cNvSpPr/>
          <p:nvPr/>
        </p:nvSpPr>
        <p:spPr>
          <a:xfrm>
            <a:off x="812800" y="24383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93367"/>
            <a:ext cx="537186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Write stories in the </a:t>
            </a:r>
            <a:r>
              <a:rPr lang="en-US" sz="1600" b="1" dirty="0">
                <a:solidFill>
                  <a:srgbClr val="3D4A5C"/>
                </a:solidFill>
                <a:latin typeface="Nunito Sans" pitchFamily="34" charset="0"/>
                <a:ea typeface="Nunito Sans" pitchFamily="34" charset="-122"/>
                <a:cs typeface="Nunito Sans" pitchFamily="34" charset="-120"/>
              </a:rPr>
              <a:t>As a / I want / So that</a:t>
            </a:r>
            <a:r>
              <a:rPr lang="en-US" sz="1600" dirty="0">
                <a:solidFill>
                  <a:srgbClr val="3D4A5C"/>
                </a:solidFill>
                <a:latin typeface="Nunito Sans" pitchFamily="34" charset="0"/>
                <a:ea typeface="Nunito Sans" pitchFamily="34" charset="-122"/>
                <a:cs typeface="Nunito Sans" pitchFamily="34" charset="-120"/>
              </a:rPr>
              <a:t> format</a:t>
            </a:r>
            <a:endParaRPr lang="en-US" sz="1600" dirty="0"/>
          </a:p>
        </p:txBody>
      </p:sp>
      <p:sp>
        <p:nvSpPr>
          <p:cNvPr id="8" name="Text 6"/>
          <p:cNvSpPr/>
          <p:nvPr/>
        </p:nvSpPr>
        <p:spPr>
          <a:xfrm>
            <a:off x="812800" y="29717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3026767"/>
            <a:ext cx="485370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Evaluate stories using the </a:t>
            </a:r>
            <a:r>
              <a:rPr lang="en-US" sz="1600" b="1" dirty="0">
                <a:solidFill>
                  <a:srgbClr val="3D4A5C"/>
                </a:solidFill>
                <a:latin typeface="Nunito Sans" pitchFamily="34" charset="0"/>
                <a:ea typeface="Nunito Sans" pitchFamily="34" charset="-122"/>
                <a:cs typeface="Nunito Sans" pitchFamily="34" charset="-120"/>
              </a:rPr>
              <a:t>INVEST</a:t>
            </a:r>
            <a:r>
              <a:rPr lang="en-US" sz="1600" dirty="0">
                <a:solidFill>
                  <a:srgbClr val="3D4A5C"/>
                </a:solidFill>
                <a:latin typeface="Nunito Sans" pitchFamily="34" charset="0"/>
                <a:ea typeface="Nunito Sans" pitchFamily="34" charset="-122"/>
                <a:cs typeface="Nunito Sans" pitchFamily="34" charset="-120"/>
              </a:rPr>
              <a:t> principles</a:t>
            </a:r>
            <a:endParaRPr lang="en-US" sz="1600" dirty="0"/>
          </a:p>
        </p:txBody>
      </p:sp>
      <p:sp>
        <p:nvSpPr>
          <p:cNvPr id="10" name="Text 8"/>
          <p:cNvSpPr/>
          <p:nvPr/>
        </p:nvSpPr>
        <p:spPr>
          <a:xfrm>
            <a:off x="812800" y="3505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60167"/>
            <a:ext cx="4345464"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Distinguish </a:t>
            </a:r>
            <a:r>
              <a:rPr lang="en-US" sz="1600" b="1" dirty="0">
                <a:solidFill>
                  <a:srgbClr val="3D4A5C"/>
                </a:solidFill>
                <a:latin typeface="Nunito Sans" pitchFamily="34" charset="0"/>
                <a:ea typeface="Nunito Sans" pitchFamily="34" charset="-122"/>
                <a:cs typeface="Nunito Sans" pitchFamily="34" charset="-120"/>
              </a:rPr>
              <a:t>epic</a:t>
            </a:r>
            <a:r>
              <a:rPr lang="en-US" sz="1600" dirty="0">
                <a:solidFill>
                  <a:srgbClr val="3D4A5C"/>
                </a:solidFill>
                <a:latin typeface="Nunito Sans" pitchFamily="34" charset="0"/>
                <a:ea typeface="Nunito Sans" pitchFamily="34" charset="-122"/>
                <a:cs typeface="Nunito Sans" pitchFamily="34" charset="-120"/>
              </a:rPr>
              <a:t>, </a:t>
            </a:r>
            <a:r>
              <a:rPr lang="en-US" sz="1600" b="1" dirty="0">
                <a:solidFill>
                  <a:srgbClr val="3D4A5C"/>
                </a:solidFill>
                <a:latin typeface="Nunito Sans" pitchFamily="34" charset="0"/>
                <a:ea typeface="Nunito Sans" pitchFamily="34" charset="-122"/>
                <a:cs typeface="Nunito Sans" pitchFamily="34" charset="-120"/>
              </a:rPr>
              <a:t>feature</a:t>
            </a:r>
            <a:r>
              <a:rPr lang="en-US" sz="1600" dirty="0">
                <a:solidFill>
                  <a:srgbClr val="3D4A5C"/>
                </a:solidFill>
                <a:latin typeface="Nunito Sans" pitchFamily="34" charset="0"/>
                <a:ea typeface="Nunito Sans" pitchFamily="34" charset="-122"/>
                <a:cs typeface="Nunito Sans" pitchFamily="34" charset="-120"/>
              </a:rPr>
              <a:t> and </a:t>
            </a:r>
            <a:r>
              <a:rPr lang="en-US" sz="1600" b="1" dirty="0">
                <a:solidFill>
                  <a:srgbClr val="3D4A5C"/>
                </a:solidFill>
                <a:latin typeface="Nunito Sans" pitchFamily="34" charset="0"/>
                <a:ea typeface="Nunito Sans" pitchFamily="34" charset="-122"/>
                <a:cs typeface="Nunito Sans" pitchFamily="34" charset="-120"/>
              </a:rPr>
              <a:t>user story</a:t>
            </a:r>
            <a:endParaRPr lang="en-US" sz="1600" dirty="0"/>
          </a:p>
        </p:txBody>
      </p:sp>
      <p:sp>
        <p:nvSpPr>
          <p:cNvPr id="12" name="Text 10"/>
          <p:cNvSpPr/>
          <p:nvPr/>
        </p:nvSpPr>
        <p:spPr>
          <a:xfrm>
            <a:off x="812800" y="40385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13" name="Text 11"/>
          <p:cNvSpPr/>
          <p:nvPr/>
        </p:nvSpPr>
        <p:spPr>
          <a:xfrm>
            <a:off x="1422400" y="4093567"/>
            <a:ext cx="397256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Compare user stories with use cases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WHAT IS A USER STORY?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A placeholder for a conversation</a:t>
            </a:r>
            <a:endParaRPr lang="en-US" sz="3200" dirty="0"/>
          </a:p>
        </p:txBody>
      </p:sp>
      <p:sp>
        <p:nvSpPr>
          <p:cNvPr id="4" name="Text 2"/>
          <p:cNvSpPr/>
          <p:nvPr/>
        </p:nvSpPr>
        <p:spPr>
          <a:xfrm>
            <a:off x="812800" y="1854135"/>
            <a:ext cx="981075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14213D"/>
                </a:solidFill>
                <a:latin typeface="Domine" pitchFamily="18" charset="0"/>
                <a:ea typeface="Domine" pitchFamily="18" charset="-122"/>
                <a:cs typeface="Domine" pitchFamily="18" charset="-120"/>
              </a:rPr>
              <a:t>A short description of a feature, told from the perspective of the person who wants it: </a:t>
            </a:r>
            <a:r>
              <a:rPr lang="en-US" sz="2000" dirty="0">
                <a:solidFill>
                  <a:srgbClr val="A14F0A"/>
                </a:solidFill>
                <a:latin typeface="Domine" pitchFamily="18" charset="0"/>
                <a:ea typeface="Domine" pitchFamily="18" charset="-122"/>
                <a:cs typeface="Domine" pitchFamily="18" charset="-120"/>
              </a:rPr>
              <a:t>who</a:t>
            </a:r>
            <a:r>
              <a:rPr lang="en-US" sz="2000" dirty="0">
                <a:solidFill>
                  <a:srgbClr val="14213D"/>
                </a:solidFill>
                <a:latin typeface="Domine" pitchFamily="18" charset="0"/>
                <a:ea typeface="Domine" pitchFamily="18" charset="-122"/>
                <a:cs typeface="Domine" pitchFamily="18" charset="-120"/>
              </a:rPr>
              <a:t> needs it, </a:t>
            </a:r>
            <a:r>
              <a:rPr lang="en-US" sz="2000" dirty="0">
                <a:solidFill>
                  <a:srgbClr val="A14F0A"/>
                </a:solidFill>
                <a:latin typeface="Domine" pitchFamily="18" charset="0"/>
                <a:ea typeface="Domine" pitchFamily="18" charset="-122"/>
                <a:cs typeface="Domine" pitchFamily="18" charset="-120"/>
              </a:rPr>
              <a:t>what</a:t>
            </a:r>
            <a:r>
              <a:rPr lang="en-US" sz="2000" dirty="0">
                <a:solidFill>
                  <a:srgbClr val="14213D"/>
                </a:solidFill>
                <a:latin typeface="Domine" pitchFamily="18" charset="0"/>
                <a:ea typeface="Domine" pitchFamily="18" charset="-122"/>
                <a:cs typeface="Domine" pitchFamily="18" charset="-120"/>
              </a:rPr>
              <a:t> they need, and </a:t>
            </a:r>
            <a:r>
              <a:rPr lang="en-US" sz="2000" dirty="0">
                <a:solidFill>
                  <a:srgbClr val="A14F0A"/>
                </a:solidFill>
                <a:latin typeface="Domine" pitchFamily="18" charset="0"/>
                <a:ea typeface="Domine" pitchFamily="18" charset="-122"/>
                <a:cs typeface="Domine" pitchFamily="18" charset="-120"/>
              </a:rPr>
              <a:t>why</a:t>
            </a:r>
            <a:r>
              <a:rPr lang="en-US" sz="2000" dirty="0">
                <a:solidFill>
                  <a:srgbClr val="14213D"/>
                </a:solidFill>
                <a:latin typeface="Domine" pitchFamily="18" charset="0"/>
                <a:ea typeface="Domine" pitchFamily="18" charset="-122"/>
                <a:cs typeface="Domine" pitchFamily="18" charset="-120"/>
              </a:rPr>
              <a:t>.</a:t>
            </a:r>
            <a:endParaRPr lang="en-US" sz="2000" dirty="0"/>
          </a:p>
        </p:txBody>
      </p:sp>
      <p:sp>
        <p:nvSpPr>
          <p:cNvPr id="5" name="Shape 3"/>
          <p:cNvSpPr/>
          <p:nvPr/>
        </p:nvSpPr>
        <p:spPr>
          <a:xfrm>
            <a:off x="812800" y="2844735"/>
            <a:ext cx="3386667" cy="1325827"/>
          </a:xfrm>
          <a:prstGeom prst="roundRect">
            <a:avLst>
              <a:gd name="adj" fmla="val 7663"/>
            </a:avLst>
          </a:prstGeom>
          <a:solidFill>
            <a:srgbClr val="FBFBF8"/>
          </a:solidFill>
          <a:ln/>
        </p:spPr>
      </p:sp>
      <p:sp>
        <p:nvSpPr>
          <p:cNvPr id="6" name="Shape 4"/>
          <p:cNvSpPr/>
          <p:nvPr/>
        </p:nvSpPr>
        <p:spPr>
          <a:xfrm>
            <a:off x="812800" y="2844735"/>
            <a:ext cx="3386667" cy="1325827"/>
          </a:xfrm>
          <a:custGeom>
            <a:avLst/>
            <a:gdLst/>
            <a:ahLst/>
            <a:cxnLst/>
            <a:rect l="l" t="t" r="r" b="b"/>
            <a:pathLst>
              <a:path w="3386667" h="1325827">
                <a:moveTo>
                  <a:pt x="0" y="101600"/>
                </a:moveTo>
                <a:lnTo>
                  <a:pt x="0" y="101600"/>
                </a:lnTo>
                <a:arcTo wR="101600" hR="101600" stAng="10800000" swAng="5400000"/>
                <a:lnTo>
                  <a:pt x="3285067" y="0"/>
                </a:lnTo>
                <a:arcTo wR="101600" hR="101600" stAng="16200000" swAng="5400000"/>
                <a:lnTo>
                  <a:pt x="3386667" y="101600"/>
                </a:lnTo>
                <a:arcTo wR="101600" hR="50800" stAng="0" swAng="-5400000"/>
                <a:lnTo>
                  <a:pt x="101600" y="50800"/>
                </a:lnTo>
                <a:arcTo wR="101600" hR="50800" stAng="16200000" swAng="-5400000"/>
                <a:close/>
              </a:path>
            </a:pathLst>
          </a:custGeom>
          <a:solidFill>
            <a:srgbClr val="2B5C9E"/>
          </a:solidFill>
          <a:ln/>
        </p:spPr>
      </p:sp>
      <p:sp>
        <p:nvSpPr>
          <p:cNvPr id="7" name="Text 5"/>
          <p:cNvSpPr/>
          <p:nvPr/>
        </p:nvSpPr>
        <p:spPr>
          <a:xfrm>
            <a:off x="1041400" y="3124135"/>
            <a:ext cx="30173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5C9E"/>
                </a:solidFill>
                <a:latin typeface="Nunito Sans" pitchFamily="34" charset="0"/>
                <a:ea typeface="Nunito Sans" pitchFamily="34" charset="-122"/>
                <a:cs typeface="Nunito Sans" pitchFamily="34" charset="-120"/>
              </a:rPr>
              <a:t>Card</a:t>
            </a:r>
            <a:endParaRPr lang="en-US" sz="1600" dirty="0"/>
          </a:p>
        </p:txBody>
      </p:sp>
      <p:sp>
        <p:nvSpPr>
          <p:cNvPr id="8" name="Text 6"/>
          <p:cNvSpPr/>
          <p:nvPr/>
        </p:nvSpPr>
        <p:spPr>
          <a:xfrm>
            <a:off x="1041400" y="3444148"/>
            <a:ext cx="3017351"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The short written statement, traditionally on an index card</a:t>
            </a:r>
            <a:endParaRPr lang="en-US" sz="1400" dirty="0"/>
          </a:p>
        </p:txBody>
      </p:sp>
      <p:sp>
        <p:nvSpPr>
          <p:cNvPr id="9" name="Shape 7"/>
          <p:cNvSpPr/>
          <p:nvPr/>
        </p:nvSpPr>
        <p:spPr>
          <a:xfrm>
            <a:off x="4402667" y="2844735"/>
            <a:ext cx="3386667" cy="1325827"/>
          </a:xfrm>
          <a:prstGeom prst="roundRect">
            <a:avLst>
              <a:gd name="adj" fmla="val 7663"/>
            </a:avLst>
          </a:prstGeom>
          <a:solidFill>
            <a:srgbClr val="FBFBF8"/>
          </a:solidFill>
          <a:ln/>
        </p:spPr>
      </p:sp>
      <p:sp>
        <p:nvSpPr>
          <p:cNvPr id="10" name="Shape 8"/>
          <p:cNvSpPr/>
          <p:nvPr/>
        </p:nvSpPr>
        <p:spPr>
          <a:xfrm>
            <a:off x="4402667" y="2844735"/>
            <a:ext cx="3386667" cy="1325827"/>
          </a:xfrm>
          <a:custGeom>
            <a:avLst/>
            <a:gdLst/>
            <a:ahLst/>
            <a:cxnLst/>
            <a:rect l="l" t="t" r="r" b="b"/>
            <a:pathLst>
              <a:path w="3386667" h="1325827">
                <a:moveTo>
                  <a:pt x="0" y="101600"/>
                </a:moveTo>
                <a:lnTo>
                  <a:pt x="0" y="101600"/>
                </a:lnTo>
                <a:arcTo wR="101600" hR="101600" stAng="10800000" swAng="5400000"/>
                <a:lnTo>
                  <a:pt x="3285067" y="0"/>
                </a:lnTo>
                <a:arcTo wR="101600" hR="101600" stAng="16200000" swAng="5400000"/>
                <a:lnTo>
                  <a:pt x="3386667" y="101600"/>
                </a:lnTo>
                <a:arcTo wR="101600" hR="50800" stAng="0" swAng="-5400000"/>
                <a:lnTo>
                  <a:pt x="101600" y="50800"/>
                </a:lnTo>
                <a:arcTo wR="101600" hR="50800" stAng="16200000" swAng="-5400000"/>
                <a:close/>
              </a:path>
            </a:pathLst>
          </a:custGeom>
          <a:solidFill>
            <a:srgbClr val="2B5C9E"/>
          </a:solidFill>
          <a:ln/>
        </p:spPr>
      </p:sp>
      <p:sp>
        <p:nvSpPr>
          <p:cNvPr id="11" name="Text 9"/>
          <p:cNvSpPr/>
          <p:nvPr/>
        </p:nvSpPr>
        <p:spPr>
          <a:xfrm>
            <a:off x="4631267" y="3124135"/>
            <a:ext cx="30173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5C9E"/>
                </a:solidFill>
                <a:latin typeface="Nunito Sans" pitchFamily="34" charset="0"/>
                <a:ea typeface="Nunito Sans" pitchFamily="34" charset="-122"/>
                <a:cs typeface="Nunito Sans" pitchFamily="34" charset="-120"/>
              </a:rPr>
              <a:t>Conversation</a:t>
            </a:r>
            <a:endParaRPr lang="en-US" sz="1600" dirty="0"/>
          </a:p>
        </p:txBody>
      </p:sp>
      <p:sp>
        <p:nvSpPr>
          <p:cNvPr id="12" name="Text 10"/>
          <p:cNvSpPr/>
          <p:nvPr/>
        </p:nvSpPr>
        <p:spPr>
          <a:xfrm>
            <a:off x="4631267" y="3444148"/>
            <a:ext cx="3017351"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Product owner, developers and testers discuss the details</a:t>
            </a:r>
            <a:endParaRPr lang="en-US" sz="1400" dirty="0"/>
          </a:p>
        </p:txBody>
      </p:sp>
      <p:sp>
        <p:nvSpPr>
          <p:cNvPr id="13" name="Shape 11"/>
          <p:cNvSpPr/>
          <p:nvPr/>
        </p:nvSpPr>
        <p:spPr>
          <a:xfrm>
            <a:off x="7992534" y="2844735"/>
            <a:ext cx="3386667" cy="1325827"/>
          </a:xfrm>
          <a:prstGeom prst="roundRect">
            <a:avLst>
              <a:gd name="adj" fmla="val 7663"/>
            </a:avLst>
          </a:prstGeom>
          <a:solidFill>
            <a:srgbClr val="FBFBF8"/>
          </a:solidFill>
          <a:ln/>
        </p:spPr>
      </p:sp>
      <p:sp>
        <p:nvSpPr>
          <p:cNvPr id="14" name="Shape 12"/>
          <p:cNvSpPr/>
          <p:nvPr/>
        </p:nvSpPr>
        <p:spPr>
          <a:xfrm>
            <a:off x="7992534" y="2844735"/>
            <a:ext cx="3386667" cy="1325827"/>
          </a:xfrm>
          <a:custGeom>
            <a:avLst/>
            <a:gdLst/>
            <a:ahLst/>
            <a:cxnLst/>
            <a:rect l="l" t="t" r="r" b="b"/>
            <a:pathLst>
              <a:path w="3386667" h="1325827">
                <a:moveTo>
                  <a:pt x="0" y="101600"/>
                </a:moveTo>
                <a:lnTo>
                  <a:pt x="0" y="101600"/>
                </a:lnTo>
                <a:arcTo wR="101600" hR="101600" stAng="10800000" swAng="5400000"/>
                <a:lnTo>
                  <a:pt x="3285067" y="0"/>
                </a:lnTo>
                <a:arcTo wR="101600" hR="101600" stAng="16200000" swAng="5400000"/>
                <a:lnTo>
                  <a:pt x="3386667" y="101600"/>
                </a:lnTo>
                <a:arcTo wR="101600" hR="50800" stAng="0" swAng="-5400000"/>
                <a:lnTo>
                  <a:pt x="101600" y="50800"/>
                </a:lnTo>
                <a:arcTo wR="101600" hR="50800" stAng="16200000" swAng="-5400000"/>
                <a:close/>
              </a:path>
            </a:pathLst>
          </a:custGeom>
          <a:solidFill>
            <a:srgbClr val="A14F0A"/>
          </a:solidFill>
          <a:ln/>
        </p:spPr>
      </p:sp>
      <p:sp>
        <p:nvSpPr>
          <p:cNvPr id="15" name="Text 13"/>
          <p:cNvSpPr/>
          <p:nvPr/>
        </p:nvSpPr>
        <p:spPr>
          <a:xfrm>
            <a:off x="8221134" y="3124135"/>
            <a:ext cx="30173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14F0A"/>
                </a:solidFill>
                <a:latin typeface="Nunito Sans" pitchFamily="34" charset="0"/>
                <a:ea typeface="Nunito Sans" pitchFamily="34" charset="-122"/>
                <a:cs typeface="Nunito Sans" pitchFamily="34" charset="-120"/>
              </a:rPr>
              <a:t>Confirmation</a:t>
            </a:r>
            <a:endParaRPr lang="en-US" sz="1600" dirty="0"/>
          </a:p>
        </p:txBody>
      </p:sp>
      <p:sp>
        <p:nvSpPr>
          <p:cNvPr id="16" name="Text 14"/>
          <p:cNvSpPr/>
          <p:nvPr/>
        </p:nvSpPr>
        <p:spPr>
          <a:xfrm>
            <a:off x="8221134" y="3444148"/>
            <a:ext cx="3017351"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Acceptance criteria confirm when the story is done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STANDARD FORMAT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User, action, value</a:t>
            </a:r>
            <a:endParaRPr lang="en-US" sz="3200" dirty="0"/>
          </a:p>
        </p:txBody>
      </p:sp>
      <p:sp>
        <p:nvSpPr>
          <p:cNvPr id="4" name="Shape 2"/>
          <p:cNvSpPr/>
          <p:nvPr/>
        </p:nvSpPr>
        <p:spPr>
          <a:xfrm>
            <a:off x="812800" y="1854135"/>
            <a:ext cx="10566400" cy="904214"/>
          </a:xfrm>
          <a:prstGeom prst="roundRect">
            <a:avLst>
              <a:gd name="adj" fmla="val 11236"/>
            </a:avLst>
          </a:prstGeom>
          <a:solidFill>
            <a:srgbClr val="EEF2F7"/>
          </a:solidFill>
          <a:ln/>
        </p:spPr>
      </p:sp>
      <p:sp>
        <p:nvSpPr>
          <p:cNvPr id="5" name="Text 3"/>
          <p:cNvSpPr/>
          <p:nvPr/>
        </p:nvSpPr>
        <p:spPr>
          <a:xfrm>
            <a:off x="1066800" y="2110648"/>
            <a:ext cx="274701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5C9E"/>
                </a:solidFill>
                <a:latin typeface="Domine" pitchFamily="18" charset="0"/>
                <a:ea typeface="Domine" pitchFamily="18" charset="-122"/>
                <a:cs typeface="Domine" pitchFamily="18" charset="-120"/>
              </a:rPr>
              <a:t>As a </a:t>
            </a:r>
            <a:r>
              <a:rPr lang="en-US" sz="2200" b="1" dirty="0">
                <a:solidFill>
                  <a:srgbClr val="14213D"/>
                </a:solidFill>
                <a:latin typeface="Domine" pitchFamily="18" charset="0"/>
                <a:ea typeface="Domine" pitchFamily="18" charset="-122"/>
                <a:cs typeface="Domine" pitchFamily="18" charset="-120"/>
              </a:rPr>
              <a:t>[user]</a:t>
            </a:r>
            <a:endParaRPr lang="en-US" sz="2200" dirty="0"/>
          </a:p>
        </p:txBody>
      </p:sp>
      <p:sp>
        <p:nvSpPr>
          <p:cNvPr id="6" name="Text 4"/>
          <p:cNvSpPr/>
          <p:nvPr/>
        </p:nvSpPr>
        <p:spPr>
          <a:xfrm>
            <a:off x="3987800" y="2172891"/>
            <a:ext cx="183134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Who benefits?</a:t>
            </a:r>
            <a:endParaRPr lang="en-US" sz="1500" dirty="0"/>
          </a:p>
        </p:txBody>
      </p:sp>
      <p:sp>
        <p:nvSpPr>
          <p:cNvPr id="7" name="Text 5"/>
          <p:cNvSpPr/>
          <p:nvPr/>
        </p:nvSpPr>
        <p:spPr>
          <a:xfrm>
            <a:off x="6019800" y="2057335"/>
            <a:ext cx="5258562"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Which role to test as: customer, admin, guest. Permissions differ.</a:t>
            </a:r>
            <a:endParaRPr lang="en-US" sz="1400" dirty="0"/>
          </a:p>
        </p:txBody>
      </p:sp>
      <p:sp>
        <p:nvSpPr>
          <p:cNvPr id="8" name="Shape 6"/>
          <p:cNvSpPr/>
          <p:nvPr/>
        </p:nvSpPr>
        <p:spPr>
          <a:xfrm>
            <a:off x="812800" y="2885348"/>
            <a:ext cx="10566400" cy="939800"/>
          </a:xfrm>
          <a:prstGeom prst="roundRect">
            <a:avLst>
              <a:gd name="adj" fmla="val 10811"/>
            </a:avLst>
          </a:prstGeom>
          <a:solidFill>
            <a:srgbClr val="EEF2F7"/>
          </a:solidFill>
          <a:ln/>
        </p:spPr>
      </p:sp>
      <p:sp>
        <p:nvSpPr>
          <p:cNvPr id="9" name="Text 7"/>
          <p:cNvSpPr/>
          <p:nvPr/>
        </p:nvSpPr>
        <p:spPr>
          <a:xfrm>
            <a:off x="1066800" y="3159655"/>
            <a:ext cx="274701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5C9E"/>
                </a:solidFill>
                <a:latin typeface="Domine" pitchFamily="18" charset="0"/>
                <a:ea typeface="Domine" pitchFamily="18" charset="-122"/>
                <a:cs typeface="Domine" pitchFamily="18" charset="-120"/>
              </a:rPr>
              <a:t>I want </a:t>
            </a:r>
            <a:r>
              <a:rPr lang="en-US" sz="2200" b="1" dirty="0">
                <a:solidFill>
                  <a:srgbClr val="14213D"/>
                </a:solidFill>
                <a:latin typeface="Domine" pitchFamily="18" charset="0"/>
                <a:ea typeface="Domine" pitchFamily="18" charset="-122"/>
                <a:cs typeface="Domine" pitchFamily="18" charset="-120"/>
              </a:rPr>
              <a:t>[capability]</a:t>
            </a:r>
            <a:endParaRPr lang="en-US" sz="2200" dirty="0"/>
          </a:p>
        </p:txBody>
      </p:sp>
      <p:sp>
        <p:nvSpPr>
          <p:cNvPr id="10" name="Text 8"/>
          <p:cNvSpPr/>
          <p:nvPr/>
        </p:nvSpPr>
        <p:spPr>
          <a:xfrm>
            <a:off x="3987800" y="3088548"/>
            <a:ext cx="183134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What do they need?</a:t>
            </a:r>
            <a:endParaRPr lang="en-US" sz="1500" dirty="0"/>
          </a:p>
        </p:txBody>
      </p:sp>
      <p:sp>
        <p:nvSpPr>
          <p:cNvPr id="11" name="Text 9"/>
          <p:cNvSpPr/>
          <p:nvPr/>
        </p:nvSpPr>
        <p:spPr>
          <a:xfrm>
            <a:off x="6019800" y="3230761"/>
            <a:ext cx="525856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The functionality under test.</a:t>
            </a:r>
            <a:endParaRPr lang="en-US" sz="1400" dirty="0"/>
          </a:p>
        </p:txBody>
      </p:sp>
      <p:sp>
        <p:nvSpPr>
          <p:cNvPr id="12" name="Shape 10"/>
          <p:cNvSpPr/>
          <p:nvPr/>
        </p:nvSpPr>
        <p:spPr>
          <a:xfrm>
            <a:off x="812800" y="3952148"/>
            <a:ext cx="10566400" cy="939800"/>
          </a:xfrm>
          <a:prstGeom prst="roundRect">
            <a:avLst>
              <a:gd name="adj" fmla="val 10811"/>
            </a:avLst>
          </a:prstGeom>
          <a:solidFill>
            <a:srgbClr val="EEF2F7"/>
          </a:solidFill>
          <a:ln/>
        </p:spPr>
      </p:sp>
      <p:sp>
        <p:nvSpPr>
          <p:cNvPr id="13" name="Text 11"/>
          <p:cNvSpPr/>
          <p:nvPr/>
        </p:nvSpPr>
        <p:spPr>
          <a:xfrm>
            <a:off x="1066800" y="4226455"/>
            <a:ext cx="274701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14F0A"/>
                </a:solidFill>
                <a:latin typeface="Domine" pitchFamily="18" charset="0"/>
                <a:ea typeface="Domine" pitchFamily="18" charset="-122"/>
                <a:cs typeface="Domine" pitchFamily="18" charset="-120"/>
              </a:rPr>
              <a:t>So that </a:t>
            </a:r>
            <a:r>
              <a:rPr lang="en-US" sz="2200" b="1" dirty="0">
                <a:solidFill>
                  <a:srgbClr val="14213D"/>
                </a:solidFill>
                <a:latin typeface="Domine" pitchFamily="18" charset="0"/>
                <a:ea typeface="Domine" pitchFamily="18" charset="-122"/>
                <a:cs typeface="Domine" pitchFamily="18" charset="-120"/>
              </a:rPr>
              <a:t>[value]</a:t>
            </a:r>
            <a:endParaRPr lang="en-US" sz="2200" dirty="0"/>
          </a:p>
        </p:txBody>
      </p:sp>
      <p:sp>
        <p:nvSpPr>
          <p:cNvPr id="14" name="Text 12"/>
          <p:cNvSpPr/>
          <p:nvPr/>
        </p:nvSpPr>
        <p:spPr>
          <a:xfrm>
            <a:off x="3987800" y="4155348"/>
            <a:ext cx="183134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Why does it matter?</a:t>
            </a:r>
            <a:endParaRPr lang="en-US" sz="1500" dirty="0"/>
          </a:p>
        </p:txBody>
      </p:sp>
      <p:sp>
        <p:nvSpPr>
          <p:cNvPr id="15" name="Text 13"/>
          <p:cNvSpPr/>
          <p:nvPr/>
        </p:nvSpPr>
        <p:spPr>
          <a:xfrm>
            <a:off x="6019800" y="4297561"/>
            <a:ext cx="525856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The real goal. A feature can “work” and still fail its purpose.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EXAMPLE</a:t>
            </a:r>
            <a:endParaRPr lang="en-US" sz="1200" dirty="0"/>
          </a:p>
        </p:txBody>
      </p:sp>
      <p:sp>
        <p:nvSpPr>
          <p:cNvPr id="3" name="Text 1"/>
          <p:cNvSpPr/>
          <p:nvPr/>
        </p:nvSpPr>
        <p:spPr>
          <a:xfrm>
            <a:off x="812800" y="1381720"/>
            <a:ext cx="10137775" cy="949854"/>
          </a:xfrm>
          <a:prstGeom prst="rect">
            <a:avLst/>
          </a:prstGeom>
          <a:noFill/>
          <a:ln/>
        </p:spPr>
        <p:txBody>
          <a:bodyPr wrap="square" lIns="0" tIns="0" rIns="0" bIns="0" rtlCol="0" anchor="t">
            <a:normAutofit/>
          </a:bodyPr>
          <a:lstStyle/>
          <a:p>
            <a:pPr marL="0" indent="0" algn="l">
              <a:lnSpc>
                <a:spcPts val="3640"/>
              </a:lnSpc>
              <a:buNone/>
            </a:pPr>
            <a:r>
              <a:rPr lang="en-US" sz="2800" dirty="0">
                <a:solidFill>
                  <a:srgbClr val="FBFBF8"/>
                </a:solidFill>
                <a:latin typeface="Domine" pitchFamily="18" charset="0"/>
                <a:ea typeface="Domine" pitchFamily="18" charset="-122"/>
                <a:cs typeface="Domine" pitchFamily="18" charset="-120"/>
              </a:rPr>
              <a:t>“As a </a:t>
            </a:r>
            <a:r>
              <a:rPr lang="en-US" sz="2800" dirty="0">
                <a:solidFill>
                  <a:srgbClr val="F0A04B"/>
                </a:solidFill>
                <a:latin typeface="Domine" pitchFamily="18" charset="0"/>
                <a:ea typeface="Domine" pitchFamily="18" charset="-122"/>
                <a:cs typeface="Domine" pitchFamily="18" charset="-120"/>
              </a:rPr>
              <a:t>customer</a:t>
            </a:r>
            <a:r>
              <a:rPr lang="en-US" sz="2800" dirty="0">
                <a:solidFill>
                  <a:srgbClr val="FBFBF8"/>
                </a:solidFill>
                <a:latin typeface="Domine" pitchFamily="18" charset="0"/>
                <a:ea typeface="Domine" pitchFamily="18" charset="-122"/>
                <a:cs typeface="Domine" pitchFamily="18" charset="-120"/>
              </a:rPr>
              <a:t>, I want to </a:t>
            </a:r>
            <a:r>
              <a:rPr lang="en-US" sz="2800" dirty="0">
                <a:solidFill>
                  <a:srgbClr val="F0A04B"/>
                </a:solidFill>
                <a:latin typeface="Domine" pitchFamily="18" charset="0"/>
                <a:ea typeface="Domine" pitchFamily="18" charset="-122"/>
                <a:cs typeface="Domine" pitchFamily="18" charset="-120"/>
              </a:rPr>
              <a:t>reset my password</a:t>
            </a:r>
            <a:r>
              <a:rPr lang="en-US" sz="2800" dirty="0">
                <a:solidFill>
                  <a:srgbClr val="FBFBF8"/>
                </a:solidFill>
                <a:latin typeface="Domine" pitchFamily="18" charset="0"/>
                <a:ea typeface="Domine" pitchFamily="18" charset="-122"/>
                <a:cs typeface="Domine" pitchFamily="18" charset="-120"/>
              </a:rPr>
              <a:t> so that </a:t>
            </a:r>
            <a:r>
              <a:rPr lang="en-US" sz="2800" dirty="0">
                <a:solidFill>
                  <a:srgbClr val="F0A04B"/>
                </a:solidFill>
                <a:latin typeface="Domine" pitchFamily="18" charset="0"/>
                <a:ea typeface="Domine" pitchFamily="18" charset="-122"/>
                <a:cs typeface="Domine" pitchFamily="18" charset="-120"/>
              </a:rPr>
              <a:t>I can regain access to my account</a:t>
            </a:r>
            <a:r>
              <a:rPr lang="en-US" sz="2800" dirty="0">
                <a:solidFill>
                  <a:srgbClr val="FBFBF8"/>
                </a:solidFill>
                <a:latin typeface="Domine" pitchFamily="18" charset="0"/>
                <a:ea typeface="Domine" pitchFamily="18" charset="-122"/>
                <a:cs typeface="Domine" pitchFamily="18" charset="-120"/>
              </a:rPr>
              <a:t>.”</a:t>
            </a:r>
            <a:endParaRPr lang="en-US" sz="2800" dirty="0"/>
          </a:p>
        </p:txBody>
      </p:sp>
      <p:sp>
        <p:nvSpPr>
          <p:cNvPr id="4" name="Shape 2"/>
          <p:cNvSpPr/>
          <p:nvPr/>
        </p:nvSpPr>
        <p:spPr>
          <a:xfrm>
            <a:off x="812800" y="2661776"/>
            <a:ext cx="3386667" cy="1168334"/>
          </a:xfrm>
          <a:prstGeom prst="roundRect">
            <a:avLst>
              <a:gd name="adj" fmla="val 8696"/>
            </a:avLst>
          </a:prstGeom>
          <a:solidFill>
            <a:srgbClr val="24345A"/>
          </a:solidFill>
          <a:ln/>
        </p:spPr>
      </p:sp>
      <p:sp>
        <p:nvSpPr>
          <p:cNvPr id="5" name="Text 3"/>
          <p:cNvSpPr/>
          <p:nvPr/>
        </p:nvSpPr>
        <p:spPr>
          <a:xfrm>
            <a:off x="1016000" y="2864976"/>
            <a:ext cx="306967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USER</a:t>
            </a:r>
            <a:endParaRPr lang="en-US" sz="1200" dirty="0"/>
          </a:p>
        </p:txBody>
      </p:sp>
      <p:sp>
        <p:nvSpPr>
          <p:cNvPr id="6" name="Text 4"/>
          <p:cNvSpPr/>
          <p:nvPr/>
        </p:nvSpPr>
        <p:spPr>
          <a:xfrm>
            <a:off x="1016000" y="3129096"/>
            <a:ext cx="306967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Customer: not admin, not guest</a:t>
            </a:r>
            <a:endParaRPr lang="en-US" sz="1400" dirty="0"/>
          </a:p>
        </p:txBody>
      </p:sp>
      <p:sp>
        <p:nvSpPr>
          <p:cNvPr id="7" name="Shape 5"/>
          <p:cNvSpPr/>
          <p:nvPr/>
        </p:nvSpPr>
        <p:spPr>
          <a:xfrm>
            <a:off x="4402667" y="2661776"/>
            <a:ext cx="3386667" cy="1168334"/>
          </a:xfrm>
          <a:prstGeom prst="roundRect">
            <a:avLst>
              <a:gd name="adj" fmla="val 8696"/>
            </a:avLst>
          </a:prstGeom>
          <a:solidFill>
            <a:srgbClr val="24345A"/>
          </a:solidFill>
          <a:ln/>
        </p:spPr>
      </p:sp>
      <p:sp>
        <p:nvSpPr>
          <p:cNvPr id="8" name="Text 6"/>
          <p:cNvSpPr/>
          <p:nvPr/>
        </p:nvSpPr>
        <p:spPr>
          <a:xfrm>
            <a:off x="4605867" y="2864976"/>
            <a:ext cx="306967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ACTION</a:t>
            </a:r>
            <a:endParaRPr lang="en-US" sz="1200" dirty="0"/>
          </a:p>
        </p:txBody>
      </p:sp>
      <p:sp>
        <p:nvSpPr>
          <p:cNvPr id="9" name="Text 7"/>
          <p:cNvSpPr/>
          <p:nvPr/>
        </p:nvSpPr>
        <p:spPr>
          <a:xfrm>
            <a:off x="4605867" y="3129096"/>
            <a:ext cx="306967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Reset the password</a:t>
            </a:r>
            <a:endParaRPr lang="en-US" sz="1400" dirty="0"/>
          </a:p>
        </p:txBody>
      </p:sp>
      <p:sp>
        <p:nvSpPr>
          <p:cNvPr id="10" name="Shape 8"/>
          <p:cNvSpPr/>
          <p:nvPr/>
        </p:nvSpPr>
        <p:spPr>
          <a:xfrm>
            <a:off x="7992534" y="2661776"/>
            <a:ext cx="3386667" cy="1168334"/>
          </a:xfrm>
          <a:prstGeom prst="roundRect">
            <a:avLst>
              <a:gd name="adj" fmla="val 8696"/>
            </a:avLst>
          </a:prstGeom>
          <a:solidFill>
            <a:srgbClr val="24345A"/>
          </a:solidFill>
          <a:ln/>
        </p:spPr>
      </p:sp>
      <p:sp>
        <p:nvSpPr>
          <p:cNvPr id="11" name="Text 9"/>
          <p:cNvSpPr/>
          <p:nvPr/>
        </p:nvSpPr>
        <p:spPr>
          <a:xfrm>
            <a:off x="8195734" y="2864976"/>
            <a:ext cx="306967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VALUE</a:t>
            </a:r>
            <a:endParaRPr lang="en-US" sz="1200" dirty="0"/>
          </a:p>
        </p:txBody>
      </p:sp>
      <p:sp>
        <p:nvSpPr>
          <p:cNvPr id="12" name="Text 10"/>
          <p:cNvSpPr/>
          <p:nvPr/>
        </p:nvSpPr>
        <p:spPr>
          <a:xfrm>
            <a:off x="8195734" y="3129096"/>
            <a:ext cx="3069675"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Regain access, so the flow must end with a working login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MORE EXAMPLES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Good user stories</a:t>
            </a:r>
            <a:endParaRPr lang="en-US" sz="3200" dirty="0"/>
          </a:p>
        </p:txBody>
      </p:sp>
      <p:sp>
        <p:nvSpPr>
          <p:cNvPr id="4" name="Text 2"/>
          <p:cNvSpPr/>
          <p:nvPr/>
        </p:nvSpPr>
        <p:spPr>
          <a:xfrm>
            <a:off x="812800" y="1854135"/>
            <a:ext cx="5207000" cy="1009650"/>
          </a:xfrm>
          <a:prstGeom prst="roundRect">
            <a:avLst>
              <a:gd name="adj" fmla="val 7547"/>
            </a:avLst>
          </a:prstGeom>
          <a:solidFill>
            <a:srgbClr val="EEF2F7"/>
          </a:solidFill>
          <a:ln/>
        </p:spPr>
        <p:txBody>
          <a:bodyPr wrap="square" lIns="257082" tIns="206282" rIns="65312" bIns="180882" rtlCol="0" anchor="t">
            <a:normAutofit/>
          </a:bodyPr>
          <a:lstStyle/>
          <a:p>
            <a:pPr marL="0" indent="0" algn="l">
              <a:lnSpc>
                <a:spcPts val="2175"/>
              </a:lnSpc>
              <a:buNone/>
            </a:pPr>
            <a:r>
              <a:rPr lang="en-US" sz="1500" dirty="0">
                <a:solidFill>
                  <a:srgbClr val="3D4A5C"/>
                </a:solidFill>
                <a:latin typeface="Nunito Sans" pitchFamily="34" charset="0"/>
                <a:ea typeface="Nunito Sans" pitchFamily="34" charset="-122"/>
                <a:cs typeface="Nunito Sans" pitchFamily="34" charset="-120"/>
              </a:rPr>
              <a:t>As a </a:t>
            </a:r>
            <a:r>
              <a:rPr lang="en-US" sz="1500" b="1" dirty="0">
                <a:solidFill>
                  <a:srgbClr val="3D4A5C"/>
                </a:solidFill>
                <a:latin typeface="Nunito Sans" pitchFamily="34" charset="0"/>
                <a:ea typeface="Nunito Sans" pitchFamily="34" charset="-122"/>
                <a:cs typeface="Nunito Sans" pitchFamily="34" charset="-120"/>
              </a:rPr>
              <a:t>shopper</a:t>
            </a:r>
            <a:r>
              <a:rPr lang="en-US" sz="1500" dirty="0">
                <a:solidFill>
                  <a:srgbClr val="3D4A5C"/>
                </a:solidFill>
                <a:latin typeface="Nunito Sans" pitchFamily="34" charset="0"/>
                <a:ea typeface="Nunito Sans" pitchFamily="34" charset="-122"/>
                <a:cs typeface="Nunito Sans" pitchFamily="34" charset="-120"/>
              </a:rPr>
              <a:t>, I want to </a:t>
            </a:r>
            <a:r>
              <a:rPr lang="en-US" sz="1500" b="1" dirty="0">
                <a:solidFill>
                  <a:srgbClr val="3D4A5C"/>
                </a:solidFill>
                <a:latin typeface="Nunito Sans" pitchFamily="34" charset="0"/>
                <a:ea typeface="Nunito Sans" pitchFamily="34" charset="-122"/>
                <a:cs typeface="Nunito Sans" pitchFamily="34" charset="-120"/>
              </a:rPr>
              <a:t>filter products by price range</a:t>
            </a:r>
            <a:r>
              <a:rPr lang="en-US" sz="1500" dirty="0">
                <a:solidFill>
                  <a:srgbClr val="3D4A5C"/>
                </a:solidFill>
                <a:latin typeface="Nunito Sans" pitchFamily="34" charset="0"/>
                <a:ea typeface="Nunito Sans" pitchFamily="34" charset="-122"/>
                <a:cs typeface="Nunito Sans" pitchFamily="34" charset="-120"/>
              </a:rPr>
              <a:t> so that </a:t>
            </a:r>
            <a:r>
              <a:rPr lang="en-US" sz="1500" b="1" dirty="0">
                <a:solidFill>
                  <a:srgbClr val="3D4A5C"/>
                </a:solidFill>
                <a:latin typeface="Nunito Sans" pitchFamily="34" charset="0"/>
                <a:ea typeface="Nunito Sans" pitchFamily="34" charset="-122"/>
                <a:cs typeface="Nunito Sans" pitchFamily="34" charset="-120"/>
              </a:rPr>
              <a:t>I can find items within my budget</a:t>
            </a:r>
            <a:r>
              <a:rPr lang="en-US" sz="1500" dirty="0">
                <a:solidFill>
                  <a:srgbClr val="3D4A5C"/>
                </a:solidFill>
                <a:latin typeface="Nunito Sans" pitchFamily="34" charset="0"/>
                <a:ea typeface="Nunito Sans" pitchFamily="34" charset="-122"/>
                <a:cs typeface="Nunito Sans" pitchFamily="34" charset="-120"/>
              </a:rPr>
              <a:t>.</a:t>
            </a:r>
            <a:endParaRPr lang="en-US" sz="1500" dirty="0"/>
          </a:p>
        </p:txBody>
      </p:sp>
      <p:sp>
        <p:nvSpPr>
          <p:cNvPr id="5" name="Shape 3"/>
          <p:cNvSpPr/>
          <p:nvPr/>
        </p:nvSpPr>
        <p:spPr>
          <a:xfrm>
            <a:off x="812800" y="1854135"/>
            <a:ext cx="5207000" cy="1009650"/>
          </a:xfrm>
          <a:custGeom>
            <a:avLst/>
            <a:gdLst/>
            <a:ahLst/>
            <a:cxnLst/>
            <a:rect l="l" t="t" r="r" b="b"/>
            <a:pathLst>
              <a:path w="5207000" h="1009650">
                <a:moveTo>
                  <a:pt x="76200" y="1009650"/>
                </a:moveTo>
                <a:lnTo>
                  <a:pt x="76200" y="1009650"/>
                </a:lnTo>
                <a:arcTo wR="76200" hR="76200" stAng="5400000" swAng="5400000"/>
                <a:lnTo>
                  <a:pt x="0" y="76200"/>
                </a:lnTo>
                <a:arcTo wR="76200" hR="76200" stAng="10800000" swAng="5400000"/>
                <a:lnTo>
                  <a:pt x="76200" y="0"/>
                </a:lnTo>
                <a:arcTo wR="25400" hR="76200" stAng="16200000" swAng="-5400000"/>
                <a:lnTo>
                  <a:pt x="50800" y="933450"/>
                </a:lnTo>
                <a:arcTo wR="25400" hR="76200" stAng="10800000" swAng="-5400000"/>
                <a:close/>
              </a:path>
            </a:pathLst>
          </a:custGeom>
          <a:solidFill>
            <a:srgbClr val="2B5C9E"/>
          </a:solidFill>
          <a:ln/>
        </p:spPr>
      </p:sp>
      <p:sp>
        <p:nvSpPr>
          <p:cNvPr id="6" name="Text 4"/>
          <p:cNvSpPr/>
          <p:nvPr/>
        </p:nvSpPr>
        <p:spPr>
          <a:xfrm>
            <a:off x="6172200" y="1854135"/>
            <a:ext cx="5207000" cy="1009650"/>
          </a:xfrm>
          <a:prstGeom prst="roundRect">
            <a:avLst>
              <a:gd name="adj" fmla="val 7547"/>
            </a:avLst>
          </a:prstGeom>
          <a:solidFill>
            <a:srgbClr val="EEF2F7"/>
          </a:solidFill>
          <a:ln/>
        </p:spPr>
        <p:txBody>
          <a:bodyPr wrap="square" lIns="257082" tIns="206282" rIns="65312" bIns="180882" rtlCol="0" anchor="t">
            <a:normAutofit/>
          </a:bodyPr>
          <a:lstStyle/>
          <a:p>
            <a:pPr marL="0" indent="0" algn="l">
              <a:lnSpc>
                <a:spcPts val="2175"/>
              </a:lnSpc>
              <a:buNone/>
            </a:pPr>
            <a:r>
              <a:rPr lang="en-US" sz="1500" dirty="0">
                <a:solidFill>
                  <a:srgbClr val="3D4A5C"/>
                </a:solidFill>
                <a:latin typeface="Nunito Sans" pitchFamily="34" charset="0"/>
                <a:ea typeface="Nunito Sans" pitchFamily="34" charset="-122"/>
                <a:cs typeface="Nunito Sans" pitchFamily="34" charset="-120"/>
              </a:rPr>
              <a:t>As a </a:t>
            </a:r>
            <a:r>
              <a:rPr lang="en-US" sz="1500" b="1" dirty="0">
                <a:solidFill>
                  <a:srgbClr val="3D4A5C"/>
                </a:solidFill>
                <a:latin typeface="Nunito Sans" pitchFamily="34" charset="0"/>
                <a:ea typeface="Nunito Sans" pitchFamily="34" charset="-122"/>
                <a:cs typeface="Nunito Sans" pitchFamily="34" charset="-120"/>
              </a:rPr>
              <a:t>returning customer</a:t>
            </a:r>
            <a:r>
              <a:rPr lang="en-US" sz="1500" dirty="0">
                <a:solidFill>
                  <a:srgbClr val="3D4A5C"/>
                </a:solidFill>
                <a:latin typeface="Nunito Sans" pitchFamily="34" charset="0"/>
                <a:ea typeface="Nunito Sans" pitchFamily="34" charset="-122"/>
                <a:cs typeface="Nunito Sans" pitchFamily="34" charset="-120"/>
              </a:rPr>
              <a:t>, I want to </a:t>
            </a:r>
            <a:r>
              <a:rPr lang="en-US" sz="1500" b="1" dirty="0">
                <a:solidFill>
                  <a:srgbClr val="3D4A5C"/>
                </a:solidFill>
                <a:latin typeface="Nunito Sans" pitchFamily="34" charset="0"/>
                <a:ea typeface="Nunito Sans" pitchFamily="34" charset="-122"/>
                <a:cs typeface="Nunito Sans" pitchFamily="34" charset="-120"/>
              </a:rPr>
              <a:t>save my card details</a:t>
            </a:r>
            <a:r>
              <a:rPr lang="en-US" sz="1500" dirty="0">
                <a:solidFill>
                  <a:srgbClr val="3D4A5C"/>
                </a:solidFill>
                <a:latin typeface="Nunito Sans" pitchFamily="34" charset="0"/>
                <a:ea typeface="Nunito Sans" pitchFamily="34" charset="-122"/>
                <a:cs typeface="Nunito Sans" pitchFamily="34" charset="-120"/>
              </a:rPr>
              <a:t> so that </a:t>
            </a:r>
            <a:r>
              <a:rPr lang="en-US" sz="1500" b="1" dirty="0">
                <a:solidFill>
                  <a:srgbClr val="3D4A5C"/>
                </a:solidFill>
                <a:latin typeface="Nunito Sans" pitchFamily="34" charset="0"/>
                <a:ea typeface="Nunito Sans" pitchFamily="34" charset="-122"/>
                <a:cs typeface="Nunito Sans" pitchFamily="34" charset="-120"/>
              </a:rPr>
              <a:t>I can check out faster next time</a:t>
            </a:r>
            <a:r>
              <a:rPr lang="en-US" sz="1500" dirty="0">
                <a:solidFill>
                  <a:srgbClr val="3D4A5C"/>
                </a:solidFill>
                <a:latin typeface="Nunito Sans" pitchFamily="34" charset="0"/>
                <a:ea typeface="Nunito Sans" pitchFamily="34" charset="-122"/>
                <a:cs typeface="Nunito Sans" pitchFamily="34" charset="-120"/>
              </a:rPr>
              <a:t>.</a:t>
            </a:r>
            <a:endParaRPr lang="en-US" sz="1500" dirty="0"/>
          </a:p>
        </p:txBody>
      </p:sp>
      <p:sp>
        <p:nvSpPr>
          <p:cNvPr id="7" name="Shape 5"/>
          <p:cNvSpPr/>
          <p:nvPr/>
        </p:nvSpPr>
        <p:spPr>
          <a:xfrm>
            <a:off x="6172200" y="1854135"/>
            <a:ext cx="5207000" cy="1009650"/>
          </a:xfrm>
          <a:custGeom>
            <a:avLst/>
            <a:gdLst/>
            <a:ahLst/>
            <a:cxnLst/>
            <a:rect l="l" t="t" r="r" b="b"/>
            <a:pathLst>
              <a:path w="5207000" h="1009650">
                <a:moveTo>
                  <a:pt x="76200" y="1009650"/>
                </a:moveTo>
                <a:lnTo>
                  <a:pt x="76200" y="1009650"/>
                </a:lnTo>
                <a:arcTo wR="76200" hR="76200" stAng="5400000" swAng="5400000"/>
                <a:lnTo>
                  <a:pt x="0" y="76200"/>
                </a:lnTo>
                <a:arcTo wR="76200" hR="76200" stAng="10800000" swAng="5400000"/>
                <a:lnTo>
                  <a:pt x="76200" y="0"/>
                </a:lnTo>
                <a:arcTo wR="25400" hR="76200" stAng="16200000" swAng="-5400000"/>
                <a:lnTo>
                  <a:pt x="50800" y="933450"/>
                </a:lnTo>
                <a:arcTo wR="25400" hR="76200" stAng="10800000" swAng="-5400000"/>
                <a:close/>
              </a:path>
            </a:pathLst>
          </a:custGeom>
          <a:solidFill>
            <a:srgbClr val="2B5C9E"/>
          </a:solidFill>
          <a:ln/>
        </p:spPr>
      </p:sp>
      <p:sp>
        <p:nvSpPr>
          <p:cNvPr id="8" name="Text 6"/>
          <p:cNvSpPr/>
          <p:nvPr/>
        </p:nvSpPr>
        <p:spPr>
          <a:xfrm>
            <a:off x="812800" y="3016185"/>
            <a:ext cx="5207000" cy="1285875"/>
          </a:xfrm>
          <a:prstGeom prst="roundRect">
            <a:avLst>
              <a:gd name="adj" fmla="val 5926"/>
            </a:avLst>
          </a:prstGeom>
          <a:solidFill>
            <a:srgbClr val="EEF2F7"/>
          </a:solidFill>
          <a:ln/>
        </p:spPr>
        <p:txBody>
          <a:bodyPr wrap="square" lIns="257082" tIns="206282" rIns="65312" bIns="180882" rtlCol="0" anchor="t">
            <a:normAutofit/>
          </a:bodyPr>
          <a:lstStyle/>
          <a:p>
            <a:pPr marL="0" indent="0" algn="l">
              <a:lnSpc>
                <a:spcPts val="2175"/>
              </a:lnSpc>
              <a:buNone/>
            </a:pPr>
            <a:r>
              <a:rPr lang="en-US" sz="1500" dirty="0">
                <a:solidFill>
                  <a:srgbClr val="3D4A5C"/>
                </a:solidFill>
                <a:latin typeface="Nunito Sans" pitchFamily="34" charset="0"/>
                <a:ea typeface="Nunito Sans" pitchFamily="34" charset="-122"/>
                <a:cs typeface="Nunito Sans" pitchFamily="34" charset="-120"/>
              </a:rPr>
              <a:t>As a </a:t>
            </a:r>
            <a:r>
              <a:rPr lang="en-US" sz="1500" b="1" dirty="0">
                <a:solidFill>
                  <a:srgbClr val="3D4A5C"/>
                </a:solidFill>
                <a:latin typeface="Nunito Sans" pitchFamily="34" charset="0"/>
                <a:ea typeface="Nunito Sans" pitchFamily="34" charset="-122"/>
                <a:cs typeface="Nunito Sans" pitchFamily="34" charset="-120"/>
              </a:rPr>
              <a:t>store admin</a:t>
            </a:r>
            <a:r>
              <a:rPr lang="en-US" sz="1500" dirty="0">
                <a:solidFill>
                  <a:srgbClr val="3D4A5C"/>
                </a:solidFill>
                <a:latin typeface="Nunito Sans" pitchFamily="34" charset="0"/>
                <a:ea typeface="Nunito Sans" pitchFamily="34" charset="-122"/>
                <a:cs typeface="Nunito Sans" pitchFamily="34" charset="-120"/>
              </a:rPr>
              <a:t>, I want to </a:t>
            </a:r>
            <a:r>
              <a:rPr lang="en-US" sz="1500" b="1" dirty="0">
                <a:solidFill>
                  <a:srgbClr val="3D4A5C"/>
                </a:solidFill>
                <a:latin typeface="Nunito Sans" pitchFamily="34" charset="0"/>
                <a:ea typeface="Nunito Sans" pitchFamily="34" charset="-122"/>
                <a:cs typeface="Nunito Sans" pitchFamily="34" charset="-120"/>
              </a:rPr>
              <a:t>mark products as out of stock</a:t>
            </a:r>
            <a:r>
              <a:rPr lang="en-US" sz="1500" dirty="0">
                <a:solidFill>
                  <a:srgbClr val="3D4A5C"/>
                </a:solidFill>
                <a:latin typeface="Nunito Sans" pitchFamily="34" charset="0"/>
                <a:ea typeface="Nunito Sans" pitchFamily="34" charset="-122"/>
                <a:cs typeface="Nunito Sans" pitchFamily="34" charset="-120"/>
              </a:rPr>
              <a:t> so that </a:t>
            </a:r>
            <a:r>
              <a:rPr lang="en-US" sz="1500" b="1" dirty="0">
                <a:solidFill>
                  <a:srgbClr val="3D4A5C"/>
                </a:solidFill>
                <a:latin typeface="Nunito Sans" pitchFamily="34" charset="0"/>
                <a:ea typeface="Nunito Sans" pitchFamily="34" charset="-122"/>
                <a:cs typeface="Nunito Sans" pitchFamily="34" charset="-120"/>
              </a:rPr>
              <a:t>customers don't order unavailable items</a:t>
            </a:r>
            <a:r>
              <a:rPr lang="en-US" sz="1500" dirty="0">
                <a:solidFill>
                  <a:srgbClr val="3D4A5C"/>
                </a:solidFill>
                <a:latin typeface="Nunito Sans" pitchFamily="34" charset="0"/>
                <a:ea typeface="Nunito Sans" pitchFamily="34" charset="-122"/>
                <a:cs typeface="Nunito Sans" pitchFamily="34" charset="-120"/>
              </a:rPr>
              <a:t>.</a:t>
            </a:r>
            <a:endParaRPr lang="en-US" sz="1500" dirty="0"/>
          </a:p>
        </p:txBody>
      </p:sp>
      <p:sp>
        <p:nvSpPr>
          <p:cNvPr id="9" name="Shape 7"/>
          <p:cNvSpPr/>
          <p:nvPr/>
        </p:nvSpPr>
        <p:spPr>
          <a:xfrm>
            <a:off x="812800" y="3016185"/>
            <a:ext cx="5207000" cy="1285875"/>
          </a:xfrm>
          <a:custGeom>
            <a:avLst/>
            <a:gdLst/>
            <a:ahLst/>
            <a:cxnLst/>
            <a:rect l="l" t="t" r="r" b="b"/>
            <a:pathLst>
              <a:path w="5207000" h="1285875">
                <a:moveTo>
                  <a:pt x="76200" y="1285875"/>
                </a:moveTo>
                <a:lnTo>
                  <a:pt x="76200" y="1285875"/>
                </a:lnTo>
                <a:arcTo wR="76200" hR="76200" stAng="5400000" swAng="5400000"/>
                <a:lnTo>
                  <a:pt x="0" y="76200"/>
                </a:lnTo>
                <a:arcTo wR="76200" hR="76200" stAng="10800000" swAng="5400000"/>
                <a:lnTo>
                  <a:pt x="76200" y="0"/>
                </a:lnTo>
                <a:arcTo wR="25400" hR="76200" stAng="16200000" swAng="-5400000"/>
                <a:lnTo>
                  <a:pt x="50800" y="1209675"/>
                </a:lnTo>
                <a:arcTo wR="25400" hR="76200" stAng="10800000" swAng="-5400000"/>
                <a:close/>
              </a:path>
            </a:pathLst>
          </a:custGeom>
          <a:solidFill>
            <a:srgbClr val="2B5C9E"/>
          </a:solidFill>
          <a:ln/>
        </p:spPr>
      </p:sp>
      <p:sp>
        <p:nvSpPr>
          <p:cNvPr id="10" name="Text 8"/>
          <p:cNvSpPr/>
          <p:nvPr/>
        </p:nvSpPr>
        <p:spPr>
          <a:xfrm>
            <a:off x="6172200" y="3016185"/>
            <a:ext cx="5207000" cy="1285875"/>
          </a:xfrm>
          <a:prstGeom prst="roundRect">
            <a:avLst>
              <a:gd name="adj" fmla="val 5926"/>
            </a:avLst>
          </a:prstGeom>
          <a:solidFill>
            <a:srgbClr val="EEF2F7"/>
          </a:solidFill>
          <a:ln/>
        </p:spPr>
        <p:txBody>
          <a:bodyPr wrap="square" lIns="257082" tIns="206282" rIns="65312" bIns="180882" rtlCol="0" anchor="t">
            <a:normAutofit/>
          </a:bodyPr>
          <a:lstStyle/>
          <a:p>
            <a:pPr marL="0" indent="0" algn="l">
              <a:lnSpc>
                <a:spcPts val="2175"/>
              </a:lnSpc>
              <a:buNone/>
            </a:pPr>
            <a:r>
              <a:rPr lang="en-US" sz="1500" dirty="0">
                <a:solidFill>
                  <a:srgbClr val="3D4A5C"/>
                </a:solidFill>
                <a:latin typeface="Nunito Sans" pitchFamily="34" charset="0"/>
                <a:ea typeface="Nunito Sans" pitchFamily="34" charset="-122"/>
                <a:cs typeface="Nunito Sans" pitchFamily="34" charset="-120"/>
              </a:rPr>
              <a:t>As a </a:t>
            </a:r>
            <a:r>
              <a:rPr lang="en-US" sz="1500" b="1" dirty="0">
                <a:solidFill>
                  <a:srgbClr val="3D4A5C"/>
                </a:solidFill>
                <a:latin typeface="Nunito Sans" pitchFamily="34" charset="0"/>
                <a:ea typeface="Nunito Sans" pitchFamily="34" charset="-122"/>
                <a:cs typeface="Nunito Sans" pitchFamily="34" charset="-120"/>
              </a:rPr>
              <a:t>bank customer</a:t>
            </a:r>
            <a:r>
              <a:rPr lang="en-US" sz="1500" dirty="0">
                <a:solidFill>
                  <a:srgbClr val="3D4A5C"/>
                </a:solidFill>
                <a:latin typeface="Nunito Sans" pitchFamily="34" charset="0"/>
                <a:ea typeface="Nunito Sans" pitchFamily="34" charset="-122"/>
                <a:cs typeface="Nunito Sans" pitchFamily="34" charset="-120"/>
              </a:rPr>
              <a:t>, I want to </a:t>
            </a:r>
            <a:r>
              <a:rPr lang="en-US" sz="1500" b="1" dirty="0">
                <a:solidFill>
                  <a:srgbClr val="3D4A5C"/>
                </a:solidFill>
                <a:latin typeface="Nunito Sans" pitchFamily="34" charset="0"/>
                <a:ea typeface="Nunito Sans" pitchFamily="34" charset="-122"/>
                <a:cs typeface="Nunito Sans" pitchFamily="34" charset="-120"/>
              </a:rPr>
              <a:t>receive an SMS for every transaction</a:t>
            </a:r>
            <a:r>
              <a:rPr lang="en-US" sz="1500" dirty="0">
                <a:solidFill>
                  <a:srgbClr val="3D4A5C"/>
                </a:solidFill>
                <a:latin typeface="Nunito Sans" pitchFamily="34" charset="0"/>
                <a:ea typeface="Nunito Sans" pitchFamily="34" charset="-122"/>
                <a:cs typeface="Nunito Sans" pitchFamily="34" charset="-120"/>
              </a:rPr>
              <a:t> so that </a:t>
            </a:r>
            <a:r>
              <a:rPr lang="en-US" sz="1500" b="1" dirty="0">
                <a:solidFill>
                  <a:srgbClr val="3D4A5C"/>
                </a:solidFill>
                <a:latin typeface="Nunito Sans" pitchFamily="34" charset="0"/>
                <a:ea typeface="Nunito Sans" pitchFamily="34" charset="-122"/>
                <a:cs typeface="Nunito Sans" pitchFamily="34" charset="-120"/>
              </a:rPr>
              <a:t>I can detect fraud quickly</a:t>
            </a:r>
            <a:r>
              <a:rPr lang="en-US" sz="1500" dirty="0">
                <a:solidFill>
                  <a:srgbClr val="3D4A5C"/>
                </a:solidFill>
                <a:latin typeface="Nunito Sans" pitchFamily="34" charset="0"/>
                <a:ea typeface="Nunito Sans" pitchFamily="34" charset="-122"/>
                <a:cs typeface="Nunito Sans" pitchFamily="34" charset="-120"/>
              </a:rPr>
              <a:t>.</a:t>
            </a:r>
            <a:endParaRPr lang="en-US" sz="1500" dirty="0"/>
          </a:p>
        </p:txBody>
      </p:sp>
      <p:sp>
        <p:nvSpPr>
          <p:cNvPr id="11" name="Shape 9"/>
          <p:cNvSpPr/>
          <p:nvPr/>
        </p:nvSpPr>
        <p:spPr>
          <a:xfrm>
            <a:off x="6172200" y="3016185"/>
            <a:ext cx="5207000" cy="1285875"/>
          </a:xfrm>
          <a:custGeom>
            <a:avLst/>
            <a:gdLst/>
            <a:ahLst/>
            <a:cxnLst/>
            <a:rect l="l" t="t" r="r" b="b"/>
            <a:pathLst>
              <a:path w="5207000" h="1285875">
                <a:moveTo>
                  <a:pt x="76200" y="1285875"/>
                </a:moveTo>
                <a:lnTo>
                  <a:pt x="76200" y="1285875"/>
                </a:lnTo>
                <a:arcTo wR="76200" hR="76200" stAng="5400000" swAng="5400000"/>
                <a:lnTo>
                  <a:pt x="0" y="76200"/>
                </a:lnTo>
                <a:arcTo wR="76200" hR="76200" stAng="10800000" swAng="5400000"/>
                <a:lnTo>
                  <a:pt x="76200" y="0"/>
                </a:lnTo>
                <a:arcTo wR="25400" hR="76200" stAng="16200000" swAng="-5400000"/>
                <a:lnTo>
                  <a:pt x="50800" y="1209675"/>
                </a:lnTo>
                <a:arcTo wR="25400" hR="76200" stAng="10800000" swAng="-5400000"/>
                <a:close/>
              </a:path>
            </a:pathLst>
          </a:custGeom>
          <a:solidFill>
            <a:srgbClr val="2B5C9E"/>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STORY QUALITY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A good story is INVEST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5"/>
          <a:ext cx="10553700" cy="2515129"/>
        </p:xfrm>
        <a:graphic>
          <a:graphicData uri="http://schemas.openxmlformats.org/drawingml/2006/table">
            <a:tbl>
              <a:tblPr/>
              <a:tblGrid>
                <a:gridCol w="2321814">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5065776">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Principle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Meaning</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Bad → fix</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Independent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Deliverable without other stories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“Checkout UI” + “Make checkout work” → one working slice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Negotiable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Not a rigid contract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“14px blue button at x=200” → describe the need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Valuable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Delivers user or business value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“Refactor the DB layer” → link to a visible benefit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Estimable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Team can estimate its size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“Improve the website” → too vague to estimate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Small</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Fits within one sprint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“Entire payment system” → split: card, UPI, wallet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Testable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You can verify it is done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“User-friendly page” → “checkout in ≤ 3 steps”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215390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TESTER'S LETTER</a:t>
            </a:r>
            <a:endParaRPr lang="en-US" sz="1200" dirty="0"/>
          </a:p>
        </p:txBody>
      </p:sp>
      <p:sp>
        <p:nvSpPr>
          <p:cNvPr id="3" name="Text 1"/>
          <p:cNvSpPr/>
          <p:nvPr/>
        </p:nvSpPr>
        <p:spPr>
          <a:xfrm>
            <a:off x="812800" y="2672029"/>
            <a:ext cx="1701800" cy="2057400"/>
          </a:xfrm>
          <a:prstGeom prst="rect">
            <a:avLst/>
          </a:prstGeom>
          <a:noFill/>
          <a:ln/>
        </p:spPr>
        <p:txBody>
          <a:bodyPr wrap="square" lIns="0" tIns="0" rIns="0" bIns="0" rtlCol="0" anchor="t">
            <a:normAutofit/>
          </a:bodyPr>
          <a:lstStyle/>
          <a:p>
            <a:pPr marL="0" indent="0" algn="l">
              <a:lnSpc>
                <a:spcPts val="16000"/>
              </a:lnSpc>
              <a:buNone/>
            </a:pPr>
            <a:r>
              <a:rPr lang="en-US" sz="16000" b="1" dirty="0">
                <a:solidFill>
                  <a:srgbClr val="A14F0A"/>
                </a:solidFill>
                <a:latin typeface="Domine" pitchFamily="18" charset="0"/>
                <a:ea typeface="Domine" pitchFamily="18" charset="-122"/>
                <a:cs typeface="Domine" pitchFamily="18" charset="-120"/>
              </a:rPr>
              <a:t>T</a:t>
            </a:r>
            <a:endParaRPr lang="en-US" sz="16000" dirty="0"/>
          </a:p>
        </p:txBody>
      </p:sp>
      <p:sp>
        <p:nvSpPr>
          <p:cNvPr id="4" name="Text 2"/>
          <p:cNvSpPr>
            <a:spLocks noGrp="1"/>
          </p:cNvSpPr>
          <p:nvPr>
            <p:ph type="title"/>
          </p:nvPr>
        </p:nvSpPr>
        <p:spPr>
          <a:xfrm>
            <a:off x="2870200" y="3070820"/>
            <a:ext cx="876427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Domine" pitchFamily="18" charset="0"/>
                <a:ea typeface="Domine" pitchFamily="18" charset="-122"/>
                <a:cs typeface="Domine" pitchFamily="18" charset="-120"/>
              </a:rPr>
              <a:t>Testable is your special responsibility</a:t>
            </a:r>
            <a:endParaRPr lang="en-US" sz="3200" dirty="0"/>
          </a:p>
        </p:txBody>
      </p:sp>
      <p:sp>
        <p:nvSpPr>
          <p:cNvPr id="5" name="Text 3"/>
          <p:cNvSpPr/>
          <p:nvPr/>
        </p:nvSpPr>
        <p:spPr>
          <a:xfrm>
            <a:off x="2870200" y="3715941"/>
            <a:ext cx="8764270" cy="614627"/>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D4A5C"/>
                </a:solidFill>
                <a:latin typeface="Nunito Sans" pitchFamily="34" charset="0"/>
                <a:ea typeface="Nunito Sans" pitchFamily="34" charset="-122"/>
                <a:cs typeface="Nunito Sans" pitchFamily="34" charset="-120"/>
              </a:rPr>
              <a:t>If you cannot work out how to test a story, raise it in refinement </a:t>
            </a:r>
            <a:r>
              <a:rPr lang="en-US" sz="1600" b="1" dirty="0">
                <a:solidFill>
                  <a:srgbClr val="3D4A5C"/>
                </a:solidFill>
                <a:latin typeface="Nunito Sans" pitchFamily="34" charset="0"/>
                <a:ea typeface="Nunito Sans" pitchFamily="34" charset="-122"/>
                <a:cs typeface="Nunito Sans" pitchFamily="34" charset="-120"/>
              </a:rPr>
              <a:t>before</a:t>
            </a:r>
            <a:r>
              <a:rPr lang="en-US" sz="1600" dirty="0">
                <a:solidFill>
                  <a:srgbClr val="3D4A5C"/>
                </a:solidFill>
                <a:latin typeface="Nunito Sans" pitchFamily="34" charset="0"/>
                <a:ea typeface="Nunito Sans" pitchFamily="34" charset="-122"/>
                <a:cs typeface="Nunito Sans" pitchFamily="34" charset="-120"/>
              </a:rPr>
              <a:t> development starts. That is shift-left testing in practice.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EPIC → FEATURE → STORY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From large goal to sprint-sized slice</a:t>
            </a:r>
            <a:endParaRPr lang="en-US" sz="3200" dirty="0"/>
          </a:p>
        </p:txBody>
      </p:sp>
      <p:sp>
        <p:nvSpPr>
          <p:cNvPr id="4" name="Shape 2"/>
          <p:cNvSpPr/>
          <p:nvPr/>
        </p:nvSpPr>
        <p:spPr>
          <a:xfrm>
            <a:off x="812800" y="1803338"/>
            <a:ext cx="10566400" cy="589227"/>
          </a:xfrm>
          <a:prstGeom prst="roundRect">
            <a:avLst>
              <a:gd name="adj" fmla="val 12932"/>
            </a:avLst>
          </a:prstGeom>
          <a:solidFill>
            <a:srgbClr val="14213D"/>
          </a:solidFill>
          <a:ln/>
        </p:spPr>
      </p:sp>
      <p:sp>
        <p:nvSpPr>
          <p:cNvPr id="5" name="Text 3"/>
          <p:cNvSpPr/>
          <p:nvPr/>
        </p:nvSpPr>
        <p:spPr>
          <a:xfrm>
            <a:off x="1016000" y="1991258"/>
            <a:ext cx="46497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EPIC</a:t>
            </a:r>
            <a:endParaRPr lang="en-US" sz="1200" dirty="0"/>
          </a:p>
        </p:txBody>
      </p:sp>
      <p:sp>
        <p:nvSpPr>
          <p:cNvPr id="6" name="Text 4"/>
          <p:cNvSpPr/>
          <p:nvPr/>
        </p:nvSpPr>
        <p:spPr>
          <a:xfrm>
            <a:off x="1555882" y="1955738"/>
            <a:ext cx="191460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BFBF8"/>
                </a:solidFill>
                <a:latin typeface="Nunito Sans" pitchFamily="34" charset="0"/>
                <a:ea typeface="Nunito Sans" pitchFamily="34" charset="-122"/>
                <a:cs typeface="Nunito Sans" pitchFamily="34" charset="-120"/>
              </a:rPr>
              <a:t>Online Checkout</a:t>
            </a:r>
            <a:endParaRPr lang="en-US" sz="1600" dirty="0"/>
          </a:p>
        </p:txBody>
      </p:sp>
      <p:sp>
        <p:nvSpPr>
          <p:cNvPr id="7" name="Shape 5"/>
          <p:cNvSpPr/>
          <p:nvPr/>
        </p:nvSpPr>
        <p:spPr>
          <a:xfrm>
            <a:off x="812800" y="2544961"/>
            <a:ext cx="3420533" cy="759420"/>
          </a:xfrm>
          <a:prstGeom prst="roundRect">
            <a:avLst>
              <a:gd name="adj" fmla="val 10034"/>
            </a:avLst>
          </a:prstGeom>
          <a:solidFill>
            <a:srgbClr val="2B5C9E"/>
          </a:solidFill>
          <a:ln/>
        </p:spPr>
      </p:sp>
      <p:sp>
        <p:nvSpPr>
          <p:cNvPr id="8" name="Text 6"/>
          <p:cNvSpPr/>
          <p:nvPr/>
        </p:nvSpPr>
        <p:spPr>
          <a:xfrm>
            <a:off x="965200" y="2671961"/>
            <a:ext cx="320920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DCE4F0"/>
                </a:solidFill>
                <a:latin typeface="Nunito Sans" pitchFamily="34" charset="0"/>
                <a:ea typeface="Nunito Sans" pitchFamily="34" charset="-122"/>
                <a:cs typeface="Nunito Sans" pitchFamily="34" charset="-120"/>
              </a:rPr>
              <a:t>FEATURE</a:t>
            </a:r>
            <a:endParaRPr lang="en-US" sz="1200" dirty="0"/>
          </a:p>
        </p:txBody>
      </p:sp>
      <p:sp>
        <p:nvSpPr>
          <p:cNvPr id="9" name="Text 7"/>
          <p:cNvSpPr/>
          <p:nvPr/>
        </p:nvSpPr>
        <p:spPr>
          <a:xfrm>
            <a:off x="965200" y="2910681"/>
            <a:ext cx="320920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BFBF8"/>
                </a:solidFill>
                <a:latin typeface="Nunito Sans" pitchFamily="34" charset="0"/>
                <a:ea typeface="Nunito Sans" pitchFamily="34" charset="-122"/>
                <a:cs typeface="Nunito Sans" pitchFamily="34" charset="-120"/>
              </a:rPr>
              <a:t>Payment Processing</a:t>
            </a:r>
            <a:endParaRPr lang="en-US" sz="1500" dirty="0"/>
          </a:p>
        </p:txBody>
      </p:sp>
      <p:sp>
        <p:nvSpPr>
          <p:cNvPr id="10" name="Text 8"/>
          <p:cNvSpPr/>
          <p:nvPr/>
        </p:nvSpPr>
        <p:spPr>
          <a:xfrm>
            <a:off x="812800" y="3380581"/>
            <a:ext cx="3420533" cy="434314"/>
          </a:xfrm>
          <a:prstGeom prst="roundRect">
            <a:avLst>
              <a:gd name="adj" fmla="val 11697"/>
            </a:avLst>
          </a:prstGeom>
          <a:solidFill>
            <a:srgbClr val="EEF2F7"/>
          </a:solidFill>
          <a:ln/>
        </p:spPr>
        <p:txBody>
          <a:bodyPr wrap="square" lIns="175621" tIns="86721" rIns="45192" bIns="61321"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Story: Pay with credit card</a:t>
            </a:r>
            <a:endParaRPr lang="en-US" sz="1300" dirty="0"/>
          </a:p>
        </p:txBody>
      </p:sp>
      <p:sp>
        <p:nvSpPr>
          <p:cNvPr id="11" name="Shape 9"/>
          <p:cNvSpPr/>
          <p:nvPr/>
        </p:nvSpPr>
        <p:spPr>
          <a:xfrm>
            <a:off x="812800" y="3380581"/>
            <a:ext cx="3420533" cy="434314"/>
          </a:xfrm>
          <a:custGeom>
            <a:avLst/>
            <a:gdLst/>
            <a:ahLst/>
            <a:cxnLst/>
            <a:rect l="l" t="t" r="r" b="b"/>
            <a:pathLst>
              <a:path w="3420533" h="434314">
                <a:moveTo>
                  <a:pt x="50800" y="434314"/>
                </a:moveTo>
                <a:lnTo>
                  <a:pt x="50800" y="434314"/>
                </a:lnTo>
                <a:arcTo wR="50800" hR="50800" stAng="5400000" swAng="5400000"/>
                <a:lnTo>
                  <a:pt x="0" y="50800"/>
                </a:lnTo>
                <a:arcTo wR="50800" hR="50800" stAng="10800000" swAng="5400000"/>
                <a:lnTo>
                  <a:pt x="50800" y="0"/>
                </a:lnTo>
                <a:arcTo wR="12700" hR="50800" stAng="16200000" swAng="-5400000"/>
                <a:lnTo>
                  <a:pt x="38100" y="383514"/>
                </a:lnTo>
                <a:arcTo wR="12700" hR="50800" stAng="10800000" swAng="-5400000"/>
                <a:close/>
              </a:path>
            </a:pathLst>
          </a:custGeom>
          <a:solidFill>
            <a:srgbClr val="A14F0A"/>
          </a:solidFill>
          <a:ln/>
        </p:spPr>
      </p:sp>
      <p:sp>
        <p:nvSpPr>
          <p:cNvPr id="12" name="Text 10"/>
          <p:cNvSpPr/>
          <p:nvPr/>
        </p:nvSpPr>
        <p:spPr>
          <a:xfrm>
            <a:off x="812800" y="3891099"/>
            <a:ext cx="3420533" cy="434314"/>
          </a:xfrm>
          <a:prstGeom prst="roundRect">
            <a:avLst>
              <a:gd name="adj" fmla="val 11697"/>
            </a:avLst>
          </a:prstGeom>
          <a:solidFill>
            <a:srgbClr val="EEF2F7"/>
          </a:solidFill>
          <a:ln/>
        </p:spPr>
        <p:txBody>
          <a:bodyPr wrap="square" lIns="175621" tIns="86721" rIns="45192" bIns="61321"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Story: Pay with UPI</a:t>
            </a:r>
            <a:endParaRPr lang="en-US" sz="1300" dirty="0"/>
          </a:p>
        </p:txBody>
      </p:sp>
      <p:sp>
        <p:nvSpPr>
          <p:cNvPr id="13" name="Shape 11"/>
          <p:cNvSpPr/>
          <p:nvPr/>
        </p:nvSpPr>
        <p:spPr>
          <a:xfrm>
            <a:off x="812800" y="3891099"/>
            <a:ext cx="3420533" cy="434314"/>
          </a:xfrm>
          <a:custGeom>
            <a:avLst/>
            <a:gdLst/>
            <a:ahLst/>
            <a:cxnLst/>
            <a:rect l="l" t="t" r="r" b="b"/>
            <a:pathLst>
              <a:path w="3420533" h="434314">
                <a:moveTo>
                  <a:pt x="50800" y="434314"/>
                </a:moveTo>
                <a:lnTo>
                  <a:pt x="50800" y="434314"/>
                </a:lnTo>
                <a:arcTo wR="50800" hR="50800" stAng="5400000" swAng="5400000"/>
                <a:lnTo>
                  <a:pt x="0" y="50800"/>
                </a:lnTo>
                <a:arcTo wR="50800" hR="50800" stAng="10800000" swAng="5400000"/>
                <a:lnTo>
                  <a:pt x="50800" y="0"/>
                </a:lnTo>
                <a:arcTo wR="12700" hR="50800" stAng="16200000" swAng="-5400000"/>
                <a:lnTo>
                  <a:pt x="38100" y="383514"/>
                </a:lnTo>
                <a:arcTo wR="12700" hR="50800" stAng="10800000" swAng="-5400000"/>
                <a:close/>
              </a:path>
            </a:pathLst>
          </a:custGeom>
          <a:solidFill>
            <a:srgbClr val="A14F0A"/>
          </a:solidFill>
          <a:ln/>
        </p:spPr>
      </p:sp>
      <p:sp>
        <p:nvSpPr>
          <p:cNvPr id="14" name="Text 12"/>
          <p:cNvSpPr/>
          <p:nvPr/>
        </p:nvSpPr>
        <p:spPr>
          <a:xfrm>
            <a:off x="812800" y="4401610"/>
            <a:ext cx="3420533" cy="434314"/>
          </a:xfrm>
          <a:prstGeom prst="roundRect">
            <a:avLst>
              <a:gd name="adj" fmla="val 11697"/>
            </a:avLst>
          </a:prstGeom>
          <a:solidFill>
            <a:srgbClr val="EEF2F7"/>
          </a:solidFill>
          <a:ln/>
        </p:spPr>
        <p:txBody>
          <a:bodyPr wrap="square" lIns="175621" tIns="86721" rIns="45192" bIns="61321"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Story: Retry a failed payment</a:t>
            </a:r>
            <a:endParaRPr lang="en-US" sz="1300" dirty="0"/>
          </a:p>
        </p:txBody>
      </p:sp>
      <p:sp>
        <p:nvSpPr>
          <p:cNvPr id="15" name="Shape 13"/>
          <p:cNvSpPr/>
          <p:nvPr/>
        </p:nvSpPr>
        <p:spPr>
          <a:xfrm>
            <a:off x="812800" y="4401610"/>
            <a:ext cx="3420533" cy="434314"/>
          </a:xfrm>
          <a:custGeom>
            <a:avLst/>
            <a:gdLst/>
            <a:ahLst/>
            <a:cxnLst/>
            <a:rect l="l" t="t" r="r" b="b"/>
            <a:pathLst>
              <a:path w="3420533" h="434314">
                <a:moveTo>
                  <a:pt x="50800" y="434314"/>
                </a:moveTo>
                <a:lnTo>
                  <a:pt x="50800" y="434314"/>
                </a:lnTo>
                <a:arcTo wR="50800" hR="50800" stAng="5400000" swAng="5400000"/>
                <a:lnTo>
                  <a:pt x="0" y="50800"/>
                </a:lnTo>
                <a:arcTo wR="50800" hR="50800" stAng="10800000" swAng="5400000"/>
                <a:lnTo>
                  <a:pt x="50800" y="0"/>
                </a:lnTo>
                <a:arcTo wR="12700" hR="50800" stAng="16200000" swAng="-5400000"/>
                <a:lnTo>
                  <a:pt x="38100" y="383514"/>
                </a:lnTo>
                <a:arcTo wR="12700" hR="50800" stAng="10800000" swAng="-5400000"/>
                <a:close/>
              </a:path>
            </a:pathLst>
          </a:custGeom>
          <a:solidFill>
            <a:srgbClr val="A14F0A"/>
          </a:solidFill>
          <a:ln/>
        </p:spPr>
      </p:sp>
      <p:sp>
        <p:nvSpPr>
          <p:cNvPr id="16" name="Shape 14"/>
          <p:cNvSpPr/>
          <p:nvPr/>
        </p:nvSpPr>
        <p:spPr>
          <a:xfrm>
            <a:off x="4385733" y="2544961"/>
            <a:ext cx="3420533" cy="759420"/>
          </a:xfrm>
          <a:prstGeom prst="roundRect">
            <a:avLst>
              <a:gd name="adj" fmla="val 10034"/>
            </a:avLst>
          </a:prstGeom>
          <a:solidFill>
            <a:srgbClr val="2B5C9E"/>
          </a:solidFill>
          <a:ln/>
        </p:spPr>
      </p:sp>
      <p:sp>
        <p:nvSpPr>
          <p:cNvPr id="17" name="Text 15"/>
          <p:cNvSpPr/>
          <p:nvPr/>
        </p:nvSpPr>
        <p:spPr>
          <a:xfrm>
            <a:off x="4538133" y="2671961"/>
            <a:ext cx="320920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DCE4F0"/>
                </a:solidFill>
                <a:latin typeface="Nunito Sans" pitchFamily="34" charset="0"/>
                <a:ea typeface="Nunito Sans" pitchFamily="34" charset="-122"/>
                <a:cs typeface="Nunito Sans" pitchFamily="34" charset="-120"/>
              </a:rPr>
              <a:t>FEATURE</a:t>
            </a:r>
            <a:endParaRPr lang="en-US" sz="1200" dirty="0"/>
          </a:p>
        </p:txBody>
      </p:sp>
      <p:sp>
        <p:nvSpPr>
          <p:cNvPr id="18" name="Text 16"/>
          <p:cNvSpPr/>
          <p:nvPr/>
        </p:nvSpPr>
        <p:spPr>
          <a:xfrm>
            <a:off x="4538133" y="2910681"/>
            <a:ext cx="320920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BFBF8"/>
                </a:solidFill>
                <a:latin typeface="Nunito Sans" pitchFamily="34" charset="0"/>
                <a:ea typeface="Nunito Sans" pitchFamily="34" charset="-122"/>
                <a:cs typeface="Nunito Sans" pitchFamily="34" charset="-120"/>
              </a:rPr>
              <a:t>Shipping</a:t>
            </a:r>
            <a:endParaRPr lang="en-US" sz="1500" dirty="0"/>
          </a:p>
        </p:txBody>
      </p:sp>
      <p:sp>
        <p:nvSpPr>
          <p:cNvPr id="19" name="Text 17"/>
          <p:cNvSpPr/>
          <p:nvPr/>
        </p:nvSpPr>
        <p:spPr>
          <a:xfrm>
            <a:off x="4385733" y="3380581"/>
            <a:ext cx="3420533" cy="434314"/>
          </a:xfrm>
          <a:prstGeom prst="roundRect">
            <a:avLst>
              <a:gd name="adj" fmla="val 11697"/>
            </a:avLst>
          </a:prstGeom>
          <a:solidFill>
            <a:srgbClr val="EEF2F7"/>
          </a:solidFill>
          <a:ln/>
        </p:spPr>
        <p:txBody>
          <a:bodyPr wrap="square" lIns="175621" tIns="86721" rIns="45192" bIns="61321"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Story: Add a new shipping address</a:t>
            </a:r>
            <a:endParaRPr lang="en-US" sz="1300" dirty="0"/>
          </a:p>
        </p:txBody>
      </p:sp>
      <p:sp>
        <p:nvSpPr>
          <p:cNvPr id="20" name="Shape 18"/>
          <p:cNvSpPr/>
          <p:nvPr/>
        </p:nvSpPr>
        <p:spPr>
          <a:xfrm>
            <a:off x="4385733" y="3380581"/>
            <a:ext cx="3420533" cy="434314"/>
          </a:xfrm>
          <a:custGeom>
            <a:avLst/>
            <a:gdLst/>
            <a:ahLst/>
            <a:cxnLst/>
            <a:rect l="l" t="t" r="r" b="b"/>
            <a:pathLst>
              <a:path w="3420533" h="434314">
                <a:moveTo>
                  <a:pt x="50800" y="434314"/>
                </a:moveTo>
                <a:lnTo>
                  <a:pt x="50800" y="434314"/>
                </a:lnTo>
                <a:arcTo wR="50800" hR="50800" stAng="5400000" swAng="5400000"/>
                <a:lnTo>
                  <a:pt x="0" y="50800"/>
                </a:lnTo>
                <a:arcTo wR="50800" hR="50800" stAng="10800000" swAng="5400000"/>
                <a:lnTo>
                  <a:pt x="50800" y="0"/>
                </a:lnTo>
                <a:arcTo wR="12700" hR="50800" stAng="16200000" swAng="-5400000"/>
                <a:lnTo>
                  <a:pt x="38100" y="383514"/>
                </a:lnTo>
                <a:arcTo wR="12700" hR="50800" stAng="10800000" swAng="-5400000"/>
                <a:close/>
              </a:path>
            </a:pathLst>
          </a:custGeom>
          <a:solidFill>
            <a:srgbClr val="A14F0A"/>
          </a:solidFill>
          <a:ln/>
        </p:spPr>
      </p:sp>
      <p:sp>
        <p:nvSpPr>
          <p:cNvPr id="21" name="Text 19"/>
          <p:cNvSpPr/>
          <p:nvPr/>
        </p:nvSpPr>
        <p:spPr>
          <a:xfrm>
            <a:off x="4385733" y="3891099"/>
            <a:ext cx="3420533" cy="434314"/>
          </a:xfrm>
          <a:prstGeom prst="roundRect">
            <a:avLst>
              <a:gd name="adj" fmla="val 11697"/>
            </a:avLst>
          </a:prstGeom>
          <a:solidFill>
            <a:srgbClr val="EEF2F7"/>
          </a:solidFill>
          <a:ln/>
        </p:spPr>
        <p:txBody>
          <a:bodyPr wrap="square" lIns="175621" tIns="86721" rIns="45192" bIns="61321"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Story: Choose delivery speed</a:t>
            </a:r>
            <a:endParaRPr lang="en-US" sz="1300" dirty="0"/>
          </a:p>
        </p:txBody>
      </p:sp>
      <p:sp>
        <p:nvSpPr>
          <p:cNvPr id="22" name="Shape 20"/>
          <p:cNvSpPr/>
          <p:nvPr/>
        </p:nvSpPr>
        <p:spPr>
          <a:xfrm>
            <a:off x="4385733" y="3891099"/>
            <a:ext cx="3420533" cy="434314"/>
          </a:xfrm>
          <a:custGeom>
            <a:avLst/>
            <a:gdLst/>
            <a:ahLst/>
            <a:cxnLst/>
            <a:rect l="l" t="t" r="r" b="b"/>
            <a:pathLst>
              <a:path w="3420533" h="434314">
                <a:moveTo>
                  <a:pt x="50800" y="434314"/>
                </a:moveTo>
                <a:lnTo>
                  <a:pt x="50800" y="434314"/>
                </a:lnTo>
                <a:arcTo wR="50800" hR="50800" stAng="5400000" swAng="5400000"/>
                <a:lnTo>
                  <a:pt x="0" y="50800"/>
                </a:lnTo>
                <a:arcTo wR="50800" hR="50800" stAng="10800000" swAng="5400000"/>
                <a:lnTo>
                  <a:pt x="50800" y="0"/>
                </a:lnTo>
                <a:arcTo wR="12700" hR="50800" stAng="16200000" swAng="-5400000"/>
                <a:lnTo>
                  <a:pt x="38100" y="383514"/>
                </a:lnTo>
                <a:arcTo wR="12700" hR="50800" stAng="10800000" swAng="-5400000"/>
                <a:close/>
              </a:path>
            </a:pathLst>
          </a:custGeom>
          <a:solidFill>
            <a:srgbClr val="A14F0A"/>
          </a:solidFill>
          <a:ln/>
        </p:spPr>
      </p:sp>
      <p:sp>
        <p:nvSpPr>
          <p:cNvPr id="23" name="Shape 21"/>
          <p:cNvSpPr/>
          <p:nvPr/>
        </p:nvSpPr>
        <p:spPr>
          <a:xfrm>
            <a:off x="7958667" y="2544961"/>
            <a:ext cx="3420533" cy="759420"/>
          </a:xfrm>
          <a:prstGeom prst="roundRect">
            <a:avLst>
              <a:gd name="adj" fmla="val 10034"/>
            </a:avLst>
          </a:prstGeom>
          <a:solidFill>
            <a:srgbClr val="2B5C9E"/>
          </a:solidFill>
          <a:ln/>
        </p:spPr>
      </p:sp>
      <p:sp>
        <p:nvSpPr>
          <p:cNvPr id="24" name="Text 22"/>
          <p:cNvSpPr/>
          <p:nvPr/>
        </p:nvSpPr>
        <p:spPr>
          <a:xfrm>
            <a:off x="8111067" y="2671961"/>
            <a:ext cx="320920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DCE4F0"/>
                </a:solidFill>
                <a:latin typeface="Nunito Sans" pitchFamily="34" charset="0"/>
                <a:ea typeface="Nunito Sans" pitchFamily="34" charset="-122"/>
                <a:cs typeface="Nunito Sans" pitchFamily="34" charset="-120"/>
              </a:rPr>
              <a:t>FEATURE</a:t>
            </a:r>
            <a:endParaRPr lang="en-US" sz="1200" dirty="0"/>
          </a:p>
        </p:txBody>
      </p:sp>
      <p:sp>
        <p:nvSpPr>
          <p:cNvPr id="25" name="Text 23"/>
          <p:cNvSpPr/>
          <p:nvPr/>
        </p:nvSpPr>
        <p:spPr>
          <a:xfrm>
            <a:off x="8111067" y="2910681"/>
            <a:ext cx="320920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BFBF8"/>
                </a:solidFill>
                <a:latin typeface="Nunito Sans" pitchFamily="34" charset="0"/>
                <a:ea typeface="Nunito Sans" pitchFamily="34" charset="-122"/>
                <a:cs typeface="Nunito Sans" pitchFamily="34" charset="-120"/>
              </a:rPr>
              <a:t>Order Confirmation</a:t>
            </a:r>
            <a:endParaRPr lang="en-US" sz="1500" dirty="0"/>
          </a:p>
        </p:txBody>
      </p:sp>
      <p:sp>
        <p:nvSpPr>
          <p:cNvPr id="26" name="Text 24"/>
          <p:cNvSpPr/>
          <p:nvPr/>
        </p:nvSpPr>
        <p:spPr>
          <a:xfrm>
            <a:off x="7958667" y="3380581"/>
            <a:ext cx="3420533" cy="434314"/>
          </a:xfrm>
          <a:prstGeom prst="roundRect">
            <a:avLst>
              <a:gd name="adj" fmla="val 11697"/>
            </a:avLst>
          </a:prstGeom>
          <a:solidFill>
            <a:srgbClr val="EEF2F7"/>
          </a:solidFill>
          <a:ln/>
        </p:spPr>
        <p:txBody>
          <a:bodyPr wrap="square" lIns="175621" tIns="86721" rIns="45192" bIns="61321"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Story: View confirmation page</a:t>
            </a:r>
            <a:endParaRPr lang="en-US" sz="1300" dirty="0"/>
          </a:p>
        </p:txBody>
      </p:sp>
      <p:sp>
        <p:nvSpPr>
          <p:cNvPr id="27" name="Shape 25"/>
          <p:cNvSpPr/>
          <p:nvPr/>
        </p:nvSpPr>
        <p:spPr>
          <a:xfrm>
            <a:off x="7958667" y="3380581"/>
            <a:ext cx="3420533" cy="434314"/>
          </a:xfrm>
          <a:custGeom>
            <a:avLst/>
            <a:gdLst/>
            <a:ahLst/>
            <a:cxnLst/>
            <a:rect l="l" t="t" r="r" b="b"/>
            <a:pathLst>
              <a:path w="3420533" h="434314">
                <a:moveTo>
                  <a:pt x="50800" y="434314"/>
                </a:moveTo>
                <a:lnTo>
                  <a:pt x="50800" y="434314"/>
                </a:lnTo>
                <a:arcTo wR="50800" hR="50800" stAng="5400000" swAng="5400000"/>
                <a:lnTo>
                  <a:pt x="0" y="50800"/>
                </a:lnTo>
                <a:arcTo wR="50800" hR="50800" stAng="10800000" swAng="5400000"/>
                <a:lnTo>
                  <a:pt x="50800" y="0"/>
                </a:lnTo>
                <a:arcTo wR="12700" hR="50800" stAng="16200000" swAng="-5400000"/>
                <a:lnTo>
                  <a:pt x="38100" y="383514"/>
                </a:lnTo>
                <a:arcTo wR="12700" hR="50800" stAng="10800000" swAng="-5400000"/>
                <a:close/>
              </a:path>
            </a:pathLst>
          </a:custGeom>
          <a:solidFill>
            <a:srgbClr val="A14F0A"/>
          </a:solidFill>
          <a:ln/>
        </p:spPr>
      </p:sp>
      <p:sp>
        <p:nvSpPr>
          <p:cNvPr id="28" name="Text 26"/>
          <p:cNvSpPr/>
          <p:nvPr/>
        </p:nvSpPr>
        <p:spPr>
          <a:xfrm>
            <a:off x="7958667" y="3891099"/>
            <a:ext cx="3420533" cy="434314"/>
          </a:xfrm>
          <a:prstGeom prst="roundRect">
            <a:avLst>
              <a:gd name="adj" fmla="val 11697"/>
            </a:avLst>
          </a:prstGeom>
          <a:solidFill>
            <a:srgbClr val="EEF2F7"/>
          </a:solidFill>
          <a:ln/>
        </p:spPr>
        <p:txBody>
          <a:bodyPr wrap="square" lIns="175621" tIns="86721" rIns="45192" bIns="61321"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Story: Receive confirmation email</a:t>
            </a:r>
            <a:endParaRPr lang="en-US" sz="1300" dirty="0"/>
          </a:p>
        </p:txBody>
      </p:sp>
      <p:sp>
        <p:nvSpPr>
          <p:cNvPr id="29" name="Shape 27"/>
          <p:cNvSpPr/>
          <p:nvPr/>
        </p:nvSpPr>
        <p:spPr>
          <a:xfrm>
            <a:off x="7958667" y="3891099"/>
            <a:ext cx="3420533" cy="434314"/>
          </a:xfrm>
          <a:custGeom>
            <a:avLst/>
            <a:gdLst/>
            <a:ahLst/>
            <a:cxnLst/>
            <a:rect l="l" t="t" r="r" b="b"/>
            <a:pathLst>
              <a:path w="3420533" h="434314">
                <a:moveTo>
                  <a:pt x="50800" y="434314"/>
                </a:moveTo>
                <a:lnTo>
                  <a:pt x="50800" y="434314"/>
                </a:lnTo>
                <a:arcTo wR="50800" hR="50800" stAng="5400000" swAng="5400000"/>
                <a:lnTo>
                  <a:pt x="0" y="50800"/>
                </a:lnTo>
                <a:arcTo wR="50800" hR="50800" stAng="10800000" swAng="5400000"/>
                <a:lnTo>
                  <a:pt x="50800" y="0"/>
                </a:lnTo>
                <a:arcTo wR="12700" hR="50800" stAng="16200000" swAng="-5400000"/>
                <a:lnTo>
                  <a:pt x="38100" y="383514"/>
                </a:lnTo>
                <a:arcTo wR="12700" hR="50800" stAng="10800000" swAng="-5400000"/>
                <a:close/>
              </a:path>
            </a:pathLst>
          </a:custGeom>
          <a:solidFill>
            <a:srgbClr val="A14F0A"/>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EPIC VS. FEATURE VS. STORY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Only stories are directly testable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38"/>
          <a:ext cx="10553700" cy="1929805"/>
        </p:xfrm>
        <a:graphic>
          <a:graphicData uri="http://schemas.openxmlformats.org/drawingml/2006/table">
            <a:tbl>
              <a:tblPr/>
              <a:tblGrid>
                <a:gridCol w="2321814">
                  <a:extLst>
                    <a:ext uri="{9D8B030D-6E8A-4147-A177-3AD203B41FA5}">
                      <a16:colId xmlns:a16="http://schemas.microsoft.com/office/drawing/2014/main" val="20000"/>
                    </a:ext>
                  </a:extLst>
                </a:gridCol>
                <a:gridCol w="2743962">
                  <a:extLst>
                    <a:ext uri="{9D8B030D-6E8A-4147-A177-3AD203B41FA5}">
                      <a16:colId xmlns:a16="http://schemas.microsoft.com/office/drawing/2014/main" val="20001"/>
                    </a:ext>
                  </a:extLst>
                </a:gridCol>
                <a:gridCol w="2743962">
                  <a:extLst>
                    <a:ext uri="{9D8B030D-6E8A-4147-A177-3AD203B41FA5}">
                      <a16:colId xmlns:a16="http://schemas.microsoft.com/office/drawing/2014/main" val="20002"/>
                    </a:ext>
                  </a:extLst>
                </a:gridCol>
                <a:gridCol w="2743962">
                  <a:extLst>
                    <a:ext uri="{9D8B030D-6E8A-4147-A177-3AD203B41FA5}">
                      <a16:colId xmlns:a16="http://schemas.microsoft.com/office/drawing/2014/main" val="20003"/>
                    </a:ext>
                  </a:extLst>
                </a:gridCol>
              </a:tblGrid>
              <a:tr h="385961">
                <a:tc>
                  <a:txBody>
                    <a:bodyPr/>
                    <a:lstStyle/>
                    <a:p>
                      <a:pPr marL="0" indent="0">
                        <a:lnSpc>
                          <a:spcPts val="1960"/>
                        </a:lnSpc>
                        <a:buNone/>
                      </a:pP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Epic</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Feature</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User story</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Size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Very large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Medium</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Small</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Duration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Many sprints or releases</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One or a few sprints</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Within one sprint</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Testable?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Not directly: too big</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Partially</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Yes, via its acceptance criteria</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Example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Online Checkout</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Payment Processing</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Pay with credit card</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TWO WAYS TO WRITE REQUIREMENTS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User story vs. use case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8"/>
          <a:ext cx="10553700" cy="2515129"/>
        </p:xfrm>
        <a:graphic>
          <a:graphicData uri="http://schemas.openxmlformats.org/drawingml/2006/table">
            <a:tbl>
              <a:tblPr/>
              <a:tblGrid>
                <a:gridCol w="2532888">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359304">
                <a:tc>
                  <a:txBody>
                    <a:bodyPr/>
                    <a:lstStyle/>
                    <a:p>
                      <a:pPr marL="0" indent="0">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User story</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Use case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Format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One sentence + acceptance criteria</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Structured document with flows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Focus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Who wants what, and why</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How actor and system interact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Detail</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Low; emerges through conversation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High; flows written up front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Typical context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Agile / Scrum</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Waterfall, V-model, regulated domains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Exceptions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In acceptance criteria, often incomplete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Explicit alternate and exception flows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Tester's job</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Ask questions to find missing flows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Derive scenarios from the flows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483565"/>
            <a:ext cx="10566400" cy="751814"/>
          </a:xfrm>
          <a:prstGeom prst="roundRect">
            <a:avLst>
              <a:gd name="adj" fmla="val 10135"/>
            </a:avLst>
          </a:prstGeom>
          <a:solidFill>
            <a:srgbClr val="FBEBDD"/>
          </a:solidFill>
          <a:ln/>
        </p:spPr>
        <p:txBody>
          <a:bodyPr wrap="square" lIns="155482" tIns="104682" rIns="0" bIns="79282"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Pro tip:</a:t>
            </a:r>
            <a:r>
              <a:rPr lang="en-US" sz="1400" dirty="0">
                <a:solidFill>
                  <a:srgbClr val="14213D"/>
                </a:solidFill>
                <a:latin typeface="Nunito Sans" pitchFamily="34" charset="0"/>
                <a:ea typeface="Nunito Sans" pitchFamily="34" charset="-122"/>
                <a:cs typeface="Nunito Sans" pitchFamily="34" charset="-120"/>
              </a:rPr>
              <a:t> mentally write the use case for every story. Each exception not in the acceptance criteria is a question for the product owner.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WATCH OUT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Common beginner mistakes</a:t>
            </a:r>
            <a:endParaRPr lang="en-US" sz="3200" dirty="0"/>
          </a:p>
        </p:txBody>
      </p:sp>
      <p:sp>
        <p:nvSpPr>
          <p:cNvPr id="4" name="Shape 2"/>
          <p:cNvSpPr/>
          <p:nvPr/>
        </p:nvSpPr>
        <p:spPr>
          <a:xfrm>
            <a:off x="812800" y="1854138"/>
            <a:ext cx="10566400" cy="558800"/>
          </a:xfrm>
          <a:prstGeom prst="roundRect">
            <a:avLst>
              <a:gd name="adj" fmla="val 13636"/>
            </a:avLst>
          </a:prstGeom>
          <a:solidFill>
            <a:srgbClr val="EEF2F7"/>
          </a:solidFill>
          <a:ln/>
        </p:spPr>
      </p:sp>
      <p:pic>
        <p:nvPicPr>
          <p:cNvPr id="5" name="Image 0" descr="Warning"/>
          <p:cNvPicPr>
            <a:picLocks noChangeAspect="1"/>
          </p:cNvPicPr>
          <p:nvPr/>
        </p:nvPicPr>
        <p:blipFill>
          <a:blip r:embed="rId3"/>
          <a:srcRect/>
          <a:stretch/>
        </p:blipFill>
        <p:spPr>
          <a:xfrm>
            <a:off x="1016000" y="2006538"/>
            <a:ext cx="254000" cy="254000"/>
          </a:xfrm>
          <a:prstGeom prst="rect">
            <a:avLst/>
          </a:prstGeom>
        </p:spPr>
      </p:pic>
      <p:sp>
        <p:nvSpPr>
          <p:cNvPr id="6" name="Text 3"/>
          <p:cNvSpPr/>
          <p:nvPr/>
        </p:nvSpPr>
        <p:spPr>
          <a:xfrm>
            <a:off x="1422400" y="2009049"/>
            <a:ext cx="825428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Accepting stories without a “So that”:</a:t>
            </a:r>
            <a:r>
              <a:rPr lang="en-US" sz="1400" dirty="0">
                <a:solidFill>
                  <a:srgbClr val="3D4A5C"/>
                </a:solidFill>
                <a:latin typeface="Nunito Sans" pitchFamily="34" charset="0"/>
                <a:ea typeface="Nunito Sans" pitchFamily="34" charset="-122"/>
                <a:cs typeface="Nunito Sans" pitchFamily="34" charset="-120"/>
              </a:rPr>
              <a:t> without the value, you can't judge the purpose.</a:t>
            </a:r>
            <a:endParaRPr lang="en-US" sz="1400" dirty="0"/>
          </a:p>
        </p:txBody>
      </p:sp>
      <p:sp>
        <p:nvSpPr>
          <p:cNvPr id="7" name="Shape 4"/>
          <p:cNvSpPr/>
          <p:nvPr/>
        </p:nvSpPr>
        <p:spPr>
          <a:xfrm>
            <a:off x="812800" y="2539938"/>
            <a:ext cx="10566400" cy="558800"/>
          </a:xfrm>
          <a:prstGeom prst="roundRect">
            <a:avLst>
              <a:gd name="adj" fmla="val 13636"/>
            </a:avLst>
          </a:prstGeom>
          <a:solidFill>
            <a:srgbClr val="EEF2F7"/>
          </a:solidFill>
          <a:ln/>
        </p:spPr>
      </p:sp>
      <p:pic>
        <p:nvPicPr>
          <p:cNvPr id="8" name="Image 1" descr="Warning"/>
          <p:cNvPicPr>
            <a:picLocks noChangeAspect="1"/>
          </p:cNvPicPr>
          <p:nvPr/>
        </p:nvPicPr>
        <p:blipFill>
          <a:blip r:embed="rId3"/>
          <a:srcRect/>
          <a:stretch/>
        </p:blipFill>
        <p:spPr>
          <a:xfrm>
            <a:off x="1016000" y="2692338"/>
            <a:ext cx="254000" cy="254000"/>
          </a:xfrm>
          <a:prstGeom prst="rect">
            <a:avLst/>
          </a:prstGeom>
        </p:spPr>
      </p:pic>
      <p:sp>
        <p:nvSpPr>
          <p:cNvPr id="9" name="Text 5"/>
          <p:cNvSpPr/>
          <p:nvPr/>
        </p:nvSpPr>
        <p:spPr>
          <a:xfrm>
            <a:off x="1422400" y="2694849"/>
            <a:ext cx="728345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Writing from the system's view:</a:t>
            </a:r>
            <a:r>
              <a:rPr lang="en-US" sz="1400" dirty="0">
                <a:solidFill>
                  <a:srgbClr val="3D4A5C"/>
                </a:solidFill>
                <a:latin typeface="Nunito Sans" pitchFamily="34" charset="0"/>
                <a:ea typeface="Nunito Sans" pitchFamily="34" charset="-122"/>
                <a:cs typeface="Nunito Sans" pitchFamily="34" charset="-120"/>
              </a:rPr>
              <a:t> “As the system, I want to validate emails…”</a:t>
            </a:r>
            <a:endParaRPr lang="en-US" sz="1400" dirty="0"/>
          </a:p>
        </p:txBody>
      </p:sp>
      <p:sp>
        <p:nvSpPr>
          <p:cNvPr id="10" name="Shape 6"/>
          <p:cNvSpPr/>
          <p:nvPr/>
        </p:nvSpPr>
        <p:spPr>
          <a:xfrm>
            <a:off x="812800" y="3225738"/>
            <a:ext cx="10566400" cy="558800"/>
          </a:xfrm>
          <a:prstGeom prst="roundRect">
            <a:avLst>
              <a:gd name="adj" fmla="val 13636"/>
            </a:avLst>
          </a:prstGeom>
          <a:solidFill>
            <a:srgbClr val="EEF2F7"/>
          </a:solidFill>
          <a:ln/>
        </p:spPr>
      </p:sp>
      <p:pic>
        <p:nvPicPr>
          <p:cNvPr id="11" name="Image 2" descr="Warning"/>
          <p:cNvPicPr>
            <a:picLocks noChangeAspect="1"/>
          </p:cNvPicPr>
          <p:nvPr/>
        </p:nvPicPr>
        <p:blipFill>
          <a:blip r:embed="rId3"/>
          <a:srcRect/>
          <a:stretch/>
        </p:blipFill>
        <p:spPr>
          <a:xfrm>
            <a:off x="1016000" y="3378138"/>
            <a:ext cx="254000" cy="254000"/>
          </a:xfrm>
          <a:prstGeom prst="rect">
            <a:avLst/>
          </a:prstGeom>
        </p:spPr>
      </p:pic>
      <p:sp>
        <p:nvSpPr>
          <p:cNvPr id="12" name="Text 7"/>
          <p:cNvSpPr/>
          <p:nvPr/>
        </p:nvSpPr>
        <p:spPr>
          <a:xfrm>
            <a:off x="1422400" y="3380649"/>
            <a:ext cx="5354955"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Huge stories:</a:t>
            </a:r>
            <a:r>
              <a:rPr lang="en-US" sz="1400" dirty="0">
                <a:solidFill>
                  <a:srgbClr val="3D4A5C"/>
                </a:solidFill>
                <a:latin typeface="Nunito Sans" pitchFamily="34" charset="0"/>
                <a:ea typeface="Nunito Sans" pitchFamily="34" charset="-122"/>
                <a:cs typeface="Nunito Sans" pitchFamily="34" charset="-120"/>
              </a:rPr>
              <a:t> too big to build and test within one sprint.</a:t>
            </a:r>
            <a:endParaRPr lang="en-US" sz="1400" dirty="0"/>
          </a:p>
        </p:txBody>
      </p:sp>
      <p:sp>
        <p:nvSpPr>
          <p:cNvPr id="13" name="Shape 8"/>
          <p:cNvSpPr/>
          <p:nvPr/>
        </p:nvSpPr>
        <p:spPr>
          <a:xfrm>
            <a:off x="812800" y="3911538"/>
            <a:ext cx="10566400" cy="558800"/>
          </a:xfrm>
          <a:prstGeom prst="roundRect">
            <a:avLst>
              <a:gd name="adj" fmla="val 13636"/>
            </a:avLst>
          </a:prstGeom>
          <a:solidFill>
            <a:srgbClr val="EEF2F7"/>
          </a:solidFill>
          <a:ln/>
        </p:spPr>
      </p:sp>
      <p:pic>
        <p:nvPicPr>
          <p:cNvPr id="14" name="Image 3" descr="Warning"/>
          <p:cNvPicPr>
            <a:picLocks noChangeAspect="1"/>
          </p:cNvPicPr>
          <p:nvPr/>
        </p:nvPicPr>
        <p:blipFill>
          <a:blip r:embed="rId3"/>
          <a:srcRect/>
          <a:stretch/>
        </p:blipFill>
        <p:spPr>
          <a:xfrm>
            <a:off x="1016000" y="4063938"/>
            <a:ext cx="254000" cy="254000"/>
          </a:xfrm>
          <a:prstGeom prst="rect">
            <a:avLst/>
          </a:prstGeom>
        </p:spPr>
      </p:pic>
      <p:sp>
        <p:nvSpPr>
          <p:cNvPr id="15" name="Text 9"/>
          <p:cNvSpPr/>
          <p:nvPr/>
        </p:nvSpPr>
        <p:spPr>
          <a:xfrm>
            <a:off x="1422400" y="4066449"/>
            <a:ext cx="7858443"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Vague words:</a:t>
            </a:r>
            <a:r>
              <a:rPr lang="en-US" sz="1400" dirty="0">
                <a:solidFill>
                  <a:srgbClr val="3D4A5C"/>
                </a:solidFill>
                <a:latin typeface="Nunito Sans" pitchFamily="34" charset="0"/>
                <a:ea typeface="Nunito Sans" pitchFamily="34" charset="-122"/>
                <a:cs typeface="Nunito Sans" pitchFamily="34" charset="-120"/>
              </a:rPr>
              <a:t> “fast”, “easy”, “user-friendly”, “secure” with no measurable meaning.</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PRACTICE · 6 MINUTES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Turn requirements into user stories</a:t>
            </a:r>
            <a:endParaRPr lang="en-US" sz="3200" dirty="0"/>
          </a:p>
        </p:txBody>
      </p:sp>
      <p:sp>
        <p:nvSpPr>
          <p:cNvPr id="4" name="Text 2"/>
          <p:cNvSpPr/>
          <p:nvPr/>
        </p:nvSpPr>
        <p:spPr>
          <a:xfrm>
            <a:off x="812800" y="1803338"/>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Nunito Sans" pitchFamily="34" charset="0"/>
                <a:ea typeface="Nunito Sans" pitchFamily="34" charset="-122"/>
                <a:cs typeface="Nunito Sans" pitchFamily="34" charset="-120"/>
              </a:rPr>
              <a:t>Rewrite each as </a:t>
            </a:r>
            <a:r>
              <a:rPr lang="en-US" sz="1500" b="1" dirty="0">
                <a:solidFill>
                  <a:srgbClr val="C9D3E3"/>
                </a:solidFill>
                <a:latin typeface="Nunito Sans" pitchFamily="34" charset="0"/>
                <a:ea typeface="Nunito Sans" pitchFamily="34" charset="-122"/>
                <a:cs typeface="Nunito Sans" pitchFamily="34" charset="-120"/>
              </a:rPr>
              <a:t>As a / I want / So that</a:t>
            </a:r>
            <a:r>
              <a:rPr lang="en-US" sz="1500" dirty="0">
                <a:solidFill>
                  <a:srgbClr val="C9D3E3"/>
                </a:solidFill>
                <a:latin typeface="Nunito Sans" pitchFamily="34" charset="0"/>
                <a:ea typeface="Nunito Sans" pitchFamily="34" charset="-122"/>
                <a:cs typeface="Nunito Sans" pitchFamily="34" charset="-120"/>
              </a:rPr>
              <a:t>, then name one INVEST concern if there is any.</a:t>
            </a:r>
            <a:endParaRPr lang="en-US" sz="1500" dirty="0"/>
          </a:p>
        </p:txBody>
      </p:sp>
      <p:sp>
        <p:nvSpPr>
          <p:cNvPr id="5" name="Shape 3"/>
          <p:cNvSpPr/>
          <p:nvPr/>
        </p:nvSpPr>
        <p:spPr>
          <a:xfrm>
            <a:off x="812800" y="2324038"/>
            <a:ext cx="10566400" cy="520700"/>
          </a:xfrm>
          <a:prstGeom prst="roundRect">
            <a:avLst>
              <a:gd name="adj" fmla="val 14634"/>
            </a:avLst>
          </a:prstGeom>
          <a:solidFill>
            <a:srgbClr val="24345A"/>
          </a:solidFill>
          <a:ln/>
        </p:spPr>
      </p:sp>
      <p:sp>
        <p:nvSpPr>
          <p:cNvPr id="6" name="Text 4"/>
          <p:cNvSpPr/>
          <p:nvPr/>
        </p:nvSpPr>
        <p:spPr>
          <a:xfrm>
            <a:off x="1016000" y="2451038"/>
            <a:ext cx="254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0A04B"/>
                </a:solidFill>
                <a:latin typeface="Nunito Sans" pitchFamily="34" charset="0"/>
                <a:ea typeface="Nunito Sans" pitchFamily="34" charset="-122"/>
                <a:cs typeface="Nunito Sans" pitchFamily="34" charset="-120"/>
              </a:rPr>
              <a:t>1</a:t>
            </a:r>
            <a:endParaRPr lang="en-US" sz="1500" dirty="0"/>
          </a:p>
        </p:txBody>
      </p:sp>
      <p:sp>
        <p:nvSpPr>
          <p:cNvPr id="7" name="Text 5"/>
          <p:cNvSpPr/>
          <p:nvPr/>
        </p:nvSpPr>
        <p:spPr>
          <a:xfrm>
            <a:off x="1371600" y="2451038"/>
            <a:ext cx="684776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BF8"/>
                </a:solidFill>
                <a:latin typeface="Nunito Sans" pitchFamily="34" charset="0"/>
                <a:ea typeface="Nunito Sans" pitchFamily="34" charset="-122"/>
                <a:cs typeface="Nunito Sans" pitchFamily="34" charset="-120"/>
              </a:rPr>
              <a:t>“The system must allow registered users to view their past orders.”</a:t>
            </a:r>
            <a:endParaRPr lang="en-US" sz="1500" dirty="0"/>
          </a:p>
        </p:txBody>
      </p:sp>
      <p:sp>
        <p:nvSpPr>
          <p:cNvPr id="8" name="Shape 6"/>
          <p:cNvSpPr/>
          <p:nvPr/>
        </p:nvSpPr>
        <p:spPr>
          <a:xfrm>
            <a:off x="812800" y="2946338"/>
            <a:ext cx="10566400" cy="520700"/>
          </a:xfrm>
          <a:prstGeom prst="roundRect">
            <a:avLst>
              <a:gd name="adj" fmla="val 14634"/>
            </a:avLst>
          </a:prstGeom>
          <a:solidFill>
            <a:srgbClr val="24345A"/>
          </a:solidFill>
          <a:ln/>
        </p:spPr>
      </p:sp>
      <p:sp>
        <p:nvSpPr>
          <p:cNvPr id="9" name="Text 7"/>
          <p:cNvSpPr/>
          <p:nvPr/>
        </p:nvSpPr>
        <p:spPr>
          <a:xfrm>
            <a:off x="1016000" y="3073338"/>
            <a:ext cx="254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0A04B"/>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1371600" y="3073338"/>
            <a:ext cx="424664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BF8"/>
                </a:solidFill>
                <a:latin typeface="Nunito Sans" pitchFamily="34" charset="0"/>
                <a:ea typeface="Nunito Sans" pitchFamily="34" charset="-122"/>
                <a:cs typeface="Nunito Sans" pitchFamily="34" charset="-120"/>
              </a:rPr>
              <a:t>“Admins should be able to issue refunds.”</a:t>
            </a:r>
            <a:endParaRPr lang="en-US" sz="1500" dirty="0"/>
          </a:p>
        </p:txBody>
      </p:sp>
      <p:sp>
        <p:nvSpPr>
          <p:cNvPr id="11" name="Shape 9"/>
          <p:cNvSpPr/>
          <p:nvPr/>
        </p:nvSpPr>
        <p:spPr>
          <a:xfrm>
            <a:off x="812800" y="3568638"/>
            <a:ext cx="10566400" cy="520700"/>
          </a:xfrm>
          <a:prstGeom prst="roundRect">
            <a:avLst>
              <a:gd name="adj" fmla="val 14634"/>
            </a:avLst>
          </a:prstGeom>
          <a:solidFill>
            <a:srgbClr val="24345A"/>
          </a:solidFill>
          <a:ln/>
        </p:spPr>
      </p:sp>
      <p:sp>
        <p:nvSpPr>
          <p:cNvPr id="12" name="Text 10"/>
          <p:cNvSpPr/>
          <p:nvPr/>
        </p:nvSpPr>
        <p:spPr>
          <a:xfrm>
            <a:off x="1016000" y="3695638"/>
            <a:ext cx="254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0A04B"/>
                </a:solidFill>
                <a:latin typeface="Nunito Sans" pitchFamily="34" charset="0"/>
                <a:ea typeface="Nunito Sans" pitchFamily="34" charset="-122"/>
                <a:cs typeface="Nunito Sans" pitchFamily="34" charset="-120"/>
              </a:rPr>
              <a:t>3</a:t>
            </a:r>
            <a:endParaRPr lang="en-US" sz="1500" dirty="0"/>
          </a:p>
        </p:txBody>
      </p:sp>
      <p:sp>
        <p:nvSpPr>
          <p:cNvPr id="13" name="Text 11"/>
          <p:cNvSpPr/>
          <p:nvPr/>
        </p:nvSpPr>
        <p:spPr>
          <a:xfrm>
            <a:off x="1371600" y="3695638"/>
            <a:ext cx="281138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BF8"/>
                </a:solidFill>
                <a:latin typeface="Nunito Sans" pitchFamily="34" charset="0"/>
                <a:ea typeface="Nunito Sans" pitchFamily="34" charset="-122"/>
                <a:cs typeface="Nunito Sans" pitchFamily="34" charset="-120"/>
              </a:rPr>
              <a:t>“Add wishlist functionality.”</a:t>
            </a:r>
            <a:endParaRPr lang="en-US" sz="1500" dirty="0"/>
          </a:p>
        </p:txBody>
      </p:sp>
      <p:sp>
        <p:nvSpPr>
          <p:cNvPr id="14" name="Shape 12"/>
          <p:cNvSpPr/>
          <p:nvPr/>
        </p:nvSpPr>
        <p:spPr>
          <a:xfrm>
            <a:off x="812800" y="4190938"/>
            <a:ext cx="10566400" cy="520700"/>
          </a:xfrm>
          <a:prstGeom prst="roundRect">
            <a:avLst>
              <a:gd name="adj" fmla="val 14634"/>
            </a:avLst>
          </a:prstGeom>
          <a:solidFill>
            <a:srgbClr val="24345A"/>
          </a:solidFill>
          <a:ln/>
        </p:spPr>
      </p:sp>
      <p:sp>
        <p:nvSpPr>
          <p:cNvPr id="15" name="Text 13"/>
          <p:cNvSpPr/>
          <p:nvPr/>
        </p:nvSpPr>
        <p:spPr>
          <a:xfrm>
            <a:off x="1016000" y="4317938"/>
            <a:ext cx="254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0A04B"/>
                </a:solidFill>
                <a:latin typeface="Nunito Sans" pitchFamily="34" charset="0"/>
                <a:ea typeface="Nunito Sans" pitchFamily="34" charset="-122"/>
                <a:cs typeface="Nunito Sans" pitchFamily="34" charset="-120"/>
              </a:rPr>
              <a:t>4</a:t>
            </a:r>
            <a:endParaRPr lang="en-US" sz="1500" dirty="0"/>
          </a:p>
        </p:txBody>
      </p:sp>
      <p:sp>
        <p:nvSpPr>
          <p:cNvPr id="16" name="Text 14"/>
          <p:cNvSpPr/>
          <p:nvPr/>
        </p:nvSpPr>
        <p:spPr>
          <a:xfrm>
            <a:off x="1371600" y="4317938"/>
            <a:ext cx="670996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BF8"/>
                </a:solidFill>
                <a:latin typeface="Nunito Sans" pitchFamily="34" charset="0"/>
                <a:ea typeface="Nunito Sans" pitchFamily="34" charset="-122"/>
                <a:cs typeface="Nunito Sans" pitchFamily="34" charset="-120"/>
              </a:rPr>
              <a:t>“The app should send notifications when an item is back in stock.”</a:t>
            </a:r>
            <a:endParaRPr lang="en-US" sz="1500" dirty="0"/>
          </a:p>
        </p:txBody>
      </p:sp>
      <p:sp>
        <p:nvSpPr>
          <p:cNvPr id="17" name="Shape 15"/>
          <p:cNvSpPr/>
          <p:nvPr/>
        </p:nvSpPr>
        <p:spPr>
          <a:xfrm>
            <a:off x="812800" y="4813238"/>
            <a:ext cx="10566400" cy="520700"/>
          </a:xfrm>
          <a:prstGeom prst="roundRect">
            <a:avLst>
              <a:gd name="adj" fmla="val 14634"/>
            </a:avLst>
          </a:prstGeom>
          <a:solidFill>
            <a:srgbClr val="24345A"/>
          </a:solidFill>
          <a:ln/>
        </p:spPr>
      </p:sp>
      <p:sp>
        <p:nvSpPr>
          <p:cNvPr id="18" name="Text 16"/>
          <p:cNvSpPr/>
          <p:nvPr/>
        </p:nvSpPr>
        <p:spPr>
          <a:xfrm>
            <a:off x="1016000" y="4940238"/>
            <a:ext cx="254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0A04B"/>
                </a:solidFill>
                <a:latin typeface="Nunito Sans" pitchFamily="34" charset="0"/>
                <a:ea typeface="Nunito Sans" pitchFamily="34" charset="-122"/>
                <a:cs typeface="Nunito Sans" pitchFamily="34" charset="-120"/>
              </a:rPr>
              <a:t>5</a:t>
            </a:r>
            <a:endParaRPr lang="en-US" sz="1500" dirty="0"/>
          </a:p>
        </p:txBody>
      </p:sp>
      <p:sp>
        <p:nvSpPr>
          <p:cNvPr id="19" name="Text 17"/>
          <p:cNvSpPr/>
          <p:nvPr/>
        </p:nvSpPr>
        <p:spPr>
          <a:xfrm>
            <a:off x="1371600" y="4940238"/>
            <a:ext cx="372665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BF8"/>
                </a:solidFill>
                <a:latin typeface="Nunito Sans" pitchFamily="34" charset="0"/>
                <a:ea typeface="Nunito Sans" pitchFamily="34" charset="-122"/>
                <a:cs typeface="Nunito Sans" pitchFamily="34" charset="-120"/>
              </a:rPr>
              <a:t>“Make the whole mobile app better.”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1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Stories 1 to 3</a:t>
            </a:r>
            <a:endParaRPr lang="en-US" sz="3200" dirty="0"/>
          </a:p>
        </p:txBody>
      </p:sp>
      <p:sp>
        <p:nvSpPr>
          <p:cNvPr id="4" name="Shape 2"/>
          <p:cNvSpPr/>
          <p:nvPr/>
        </p:nvSpPr>
        <p:spPr>
          <a:xfrm>
            <a:off x="812800" y="1803338"/>
            <a:ext cx="10566400" cy="802614"/>
          </a:xfrm>
          <a:prstGeom prst="roundRect">
            <a:avLst>
              <a:gd name="adj" fmla="val 9494"/>
            </a:avLst>
          </a:prstGeom>
          <a:solidFill>
            <a:srgbClr val="EEF2F7"/>
          </a:solidFill>
          <a:ln/>
        </p:spPr>
      </p:sp>
      <p:sp>
        <p:nvSpPr>
          <p:cNvPr id="5" name="Text 3"/>
          <p:cNvSpPr/>
          <p:nvPr/>
        </p:nvSpPr>
        <p:spPr>
          <a:xfrm>
            <a:off x="1016000" y="2071291"/>
            <a:ext cx="254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14F0A"/>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422400" y="1955738"/>
            <a:ext cx="6435852"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As a registered customer, I want to view my past orders so that I can track purchases and reorder items.</a:t>
            </a:r>
            <a:endParaRPr lang="en-US" sz="1400" dirty="0"/>
          </a:p>
        </p:txBody>
      </p:sp>
      <p:sp>
        <p:nvSpPr>
          <p:cNvPr id="7" name="Text 5"/>
          <p:cNvSpPr/>
          <p:nvPr/>
        </p:nvSpPr>
        <p:spPr>
          <a:xfrm>
            <a:off x="7874000" y="1973529"/>
            <a:ext cx="340106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D4A5C"/>
                </a:solidFill>
                <a:latin typeface="Nunito Sans" pitchFamily="34" charset="0"/>
                <a:ea typeface="Nunito Sans" pitchFamily="34" charset="-122"/>
                <a:cs typeface="Nunito Sans" pitchFamily="34" charset="-120"/>
              </a:rPr>
              <a:t>Small:</a:t>
            </a:r>
            <a:r>
              <a:rPr lang="en-US" sz="1300" dirty="0">
                <a:solidFill>
                  <a:srgbClr val="3D4A5C"/>
                </a:solidFill>
                <a:latin typeface="Nunito Sans" pitchFamily="34" charset="0"/>
                <a:ea typeface="Nunito Sans" pitchFamily="34" charset="-122"/>
                <a:cs typeface="Nunito Sans" pitchFamily="34" charset="-120"/>
              </a:rPr>
              <a:t> fine; consider a limit such as the last 12 months, paginated.</a:t>
            </a:r>
            <a:endParaRPr lang="en-US" sz="1300" dirty="0"/>
          </a:p>
        </p:txBody>
      </p:sp>
      <p:sp>
        <p:nvSpPr>
          <p:cNvPr id="8" name="Shape 6"/>
          <p:cNvSpPr/>
          <p:nvPr/>
        </p:nvSpPr>
        <p:spPr>
          <a:xfrm>
            <a:off x="812800" y="2707549"/>
            <a:ext cx="10566400" cy="802614"/>
          </a:xfrm>
          <a:prstGeom prst="roundRect">
            <a:avLst>
              <a:gd name="adj" fmla="val 9494"/>
            </a:avLst>
          </a:prstGeom>
          <a:solidFill>
            <a:srgbClr val="EEF2F7"/>
          </a:solidFill>
          <a:ln/>
        </p:spPr>
      </p:sp>
      <p:sp>
        <p:nvSpPr>
          <p:cNvPr id="9" name="Text 7"/>
          <p:cNvSpPr/>
          <p:nvPr/>
        </p:nvSpPr>
        <p:spPr>
          <a:xfrm>
            <a:off x="1016000" y="2975508"/>
            <a:ext cx="254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14F0A"/>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1422400" y="2859949"/>
            <a:ext cx="6435852"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As a store admin, I want to issue a full or partial refund so that I can resolve customer complaints quickly.</a:t>
            </a:r>
            <a:endParaRPr lang="en-US" sz="1400" dirty="0"/>
          </a:p>
        </p:txBody>
      </p:sp>
      <p:sp>
        <p:nvSpPr>
          <p:cNvPr id="11" name="Text 9"/>
          <p:cNvSpPr/>
          <p:nvPr/>
        </p:nvSpPr>
        <p:spPr>
          <a:xfrm>
            <a:off x="7874000" y="2877741"/>
            <a:ext cx="340106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D4A5C"/>
                </a:solidFill>
                <a:latin typeface="Nunito Sans" pitchFamily="34" charset="0"/>
                <a:ea typeface="Nunito Sans" pitchFamily="34" charset="-122"/>
                <a:cs typeface="Nunito Sans" pitchFamily="34" charset="-120"/>
              </a:rPr>
              <a:t>Testable?</a:t>
            </a:r>
            <a:r>
              <a:rPr lang="en-US" sz="1300" dirty="0">
                <a:solidFill>
                  <a:srgbClr val="3D4A5C"/>
                </a:solidFill>
                <a:latin typeface="Nunito Sans" pitchFamily="34" charset="0"/>
                <a:ea typeface="Nunito Sans" pitchFamily="34" charset="-122"/>
                <a:cs typeface="Nunito Sans" pitchFamily="34" charset="-120"/>
              </a:rPr>
              <a:t> Ask: is there a refund limit, an approval step, a customer notification?</a:t>
            </a:r>
            <a:endParaRPr lang="en-US" sz="1300" dirty="0"/>
          </a:p>
        </p:txBody>
      </p:sp>
      <p:sp>
        <p:nvSpPr>
          <p:cNvPr id="12" name="Shape 10"/>
          <p:cNvSpPr/>
          <p:nvPr/>
        </p:nvSpPr>
        <p:spPr>
          <a:xfrm>
            <a:off x="812800" y="3611761"/>
            <a:ext cx="10566400" cy="802614"/>
          </a:xfrm>
          <a:prstGeom prst="roundRect">
            <a:avLst>
              <a:gd name="adj" fmla="val 9494"/>
            </a:avLst>
          </a:prstGeom>
          <a:solidFill>
            <a:srgbClr val="EEF2F7"/>
          </a:solidFill>
          <a:ln/>
        </p:spPr>
      </p:sp>
      <p:sp>
        <p:nvSpPr>
          <p:cNvPr id="13" name="Text 11"/>
          <p:cNvSpPr/>
          <p:nvPr/>
        </p:nvSpPr>
        <p:spPr>
          <a:xfrm>
            <a:off x="1016000" y="3879720"/>
            <a:ext cx="254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14F0A"/>
                </a:solidFill>
                <a:latin typeface="Nunito Sans" pitchFamily="34" charset="0"/>
                <a:ea typeface="Nunito Sans" pitchFamily="34" charset="-122"/>
                <a:cs typeface="Nunito Sans" pitchFamily="34" charset="-120"/>
              </a:rPr>
              <a:t>3</a:t>
            </a:r>
            <a:endParaRPr lang="en-US" sz="1500" dirty="0"/>
          </a:p>
        </p:txBody>
      </p:sp>
      <p:sp>
        <p:nvSpPr>
          <p:cNvPr id="14" name="Text 12"/>
          <p:cNvSpPr/>
          <p:nvPr/>
        </p:nvSpPr>
        <p:spPr>
          <a:xfrm>
            <a:off x="1422400" y="3764161"/>
            <a:ext cx="6435852"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As a shopper, I want to add products to a wishlist so that I can buy them later without searching again.</a:t>
            </a:r>
            <a:endParaRPr lang="en-US" sz="1400" dirty="0"/>
          </a:p>
        </p:txBody>
      </p:sp>
      <p:sp>
        <p:nvSpPr>
          <p:cNvPr id="15" name="Text 13"/>
          <p:cNvSpPr/>
          <p:nvPr/>
        </p:nvSpPr>
        <p:spPr>
          <a:xfrm>
            <a:off x="7874000" y="3781958"/>
            <a:ext cx="340106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D4A5C"/>
                </a:solidFill>
                <a:latin typeface="Nunito Sans" pitchFamily="34" charset="0"/>
                <a:ea typeface="Nunito Sans" pitchFamily="34" charset="-122"/>
                <a:cs typeface="Nunito Sans" pitchFamily="34" charset="-120"/>
              </a:rPr>
              <a:t>Small?</a:t>
            </a:r>
            <a:r>
              <a:rPr lang="en-US" sz="1300" dirty="0">
                <a:solidFill>
                  <a:srgbClr val="3D4A5C"/>
                </a:solidFill>
                <a:latin typeface="Nunito Sans" pitchFamily="34" charset="0"/>
                <a:ea typeface="Nunito Sans" pitchFamily="34" charset="-122"/>
                <a:cs typeface="Nunito Sans" pitchFamily="34" charset="-120"/>
              </a:rPr>
              <a:t> Possibly not: split into add/remove, view, and move to cart.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2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Stories 4 and 5</a:t>
            </a:r>
            <a:endParaRPr lang="en-US" sz="3200" dirty="0"/>
          </a:p>
        </p:txBody>
      </p:sp>
      <p:sp>
        <p:nvSpPr>
          <p:cNvPr id="4" name="Shape 2"/>
          <p:cNvSpPr/>
          <p:nvPr/>
        </p:nvSpPr>
        <p:spPr>
          <a:xfrm>
            <a:off x="812800" y="1803338"/>
            <a:ext cx="10566400" cy="802614"/>
          </a:xfrm>
          <a:prstGeom prst="roundRect">
            <a:avLst>
              <a:gd name="adj" fmla="val 9494"/>
            </a:avLst>
          </a:prstGeom>
          <a:solidFill>
            <a:srgbClr val="EEF2F7"/>
          </a:solidFill>
          <a:ln/>
        </p:spPr>
      </p:sp>
      <p:sp>
        <p:nvSpPr>
          <p:cNvPr id="5" name="Text 3"/>
          <p:cNvSpPr/>
          <p:nvPr/>
        </p:nvSpPr>
        <p:spPr>
          <a:xfrm>
            <a:off x="1016000" y="2071291"/>
            <a:ext cx="254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14F0A"/>
                </a:solidFill>
                <a:latin typeface="Nunito Sans" pitchFamily="34" charset="0"/>
                <a:ea typeface="Nunito Sans" pitchFamily="34" charset="-122"/>
                <a:cs typeface="Nunito Sans" pitchFamily="34" charset="-120"/>
              </a:rPr>
              <a:t>4</a:t>
            </a:r>
            <a:endParaRPr lang="en-US" sz="1500" dirty="0"/>
          </a:p>
        </p:txBody>
      </p:sp>
      <p:sp>
        <p:nvSpPr>
          <p:cNvPr id="6" name="Text 4"/>
          <p:cNvSpPr/>
          <p:nvPr/>
        </p:nvSpPr>
        <p:spPr>
          <a:xfrm>
            <a:off x="1422400" y="1955738"/>
            <a:ext cx="6435852"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As a shopper, I want to be notified when an out-of-stock item I'm interested in becomes available so that I don't miss buying it.</a:t>
            </a:r>
            <a:endParaRPr lang="en-US" sz="1400" dirty="0"/>
          </a:p>
        </p:txBody>
      </p:sp>
      <p:sp>
        <p:nvSpPr>
          <p:cNvPr id="7" name="Text 5"/>
          <p:cNvSpPr/>
          <p:nvPr/>
        </p:nvSpPr>
        <p:spPr>
          <a:xfrm>
            <a:off x="7874000" y="1973529"/>
            <a:ext cx="340106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D4A5C"/>
                </a:solidFill>
                <a:latin typeface="Nunito Sans" pitchFamily="34" charset="0"/>
                <a:ea typeface="Nunito Sans" pitchFamily="34" charset="-122"/>
                <a:cs typeface="Nunito Sans" pitchFamily="34" charset="-120"/>
              </a:rPr>
              <a:t>Negotiable / Testable:</a:t>
            </a:r>
            <a:r>
              <a:rPr lang="en-US" sz="1300" dirty="0">
                <a:solidFill>
                  <a:srgbClr val="3D4A5C"/>
                </a:solidFill>
                <a:latin typeface="Nunito Sans" pitchFamily="34" charset="0"/>
                <a:ea typeface="Nunito Sans" pitchFamily="34" charset="-122"/>
                <a:cs typeface="Nunito Sans" pitchFamily="34" charset="-120"/>
              </a:rPr>
              <a:t> which channel? How soon after restock? Once or repeatedly?</a:t>
            </a:r>
            <a:endParaRPr lang="en-US" sz="1300" dirty="0"/>
          </a:p>
        </p:txBody>
      </p:sp>
      <p:sp>
        <p:nvSpPr>
          <p:cNvPr id="8" name="Shape 6"/>
          <p:cNvSpPr/>
          <p:nvPr/>
        </p:nvSpPr>
        <p:spPr>
          <a:xfrm>
            <a:off x="812800" y="2859949"/>
            <a:ext cx="10566400" cy="1877020"/>
          </a:xfrm>
          <a:prstGeom prst="roundRect">
            <a:avLst>
              <a:gd name="adj" fmla="val 4060"/>
            </a:avLst>
          </a:prstGeom>
          <a:solidFill>
            <a:srgbClr val="FBEBDD"/>
          </a:solidFill>
          <a:ln/>
        </p:spPr>
      </p:sp>
      <p:sp>
        <p:nvSpPr>
          <p:cNvPr id="9" name="Text 7"/>
          <p:cNvSpPr/>
          <p:nvPr/>
        </p:nvSpPr>
        <p:spPr>
          <a:xfrm>
            <a:off x="1016000" y="3063149"/>
            <a:ext cx="254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14F0A"/>
                </a:solidFill>
                <a:latin typeface="Nunito Sans" pitchFamily="34" charset="0"/>
                <a:ea typeface="Nunito Sans" pitchFamily="34" charset="-122"/>
                <a:cs typeface="Nunito Sans" pitchFamily="34" charset="-120"/>
              </a:rPr>
              <a:t>5</a:t>
            </a:r>
            <a:endParaRPr lang="en-US" sz="1500" dirty="0"/>
          </a:p>
        </p:txBody>
      </p:sp>
      <p:sp>
        <p:nvSpPr>
          <p:cNvPr id="10" name="Text 8"/>
          <p:cNvSpPr/>
          <p:nvPr/>
        </p:nvSpPr>
        <p:spPr>
          <a:xfrm>
            <a:off x="1422400" y="3072011"/>
            <a:ext cx="10046208"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Cannot be written as a good story.</a:t>
            </a:r>
            <a:r>
              <a:rPr lang="en-US" sz="1400" dirty="0">
                <a:solidFill>
                  <a:srgbClr val="14213D"/>
                </a:solidFill>
                <a:latin typeface="Nunito Sans" pitchFamily="34" charset="0"/>
                <a:ea typeface="Nunito Sans" pitchFamily="34" charset="-122"/>
                <a:cs typeface="Nunito Sans" pitchFamily="34" charset="-120"/>
              </a:rPr>
              <a:t> It fails Estimable, Small and Testable.</a:t>
            </a:r>
            <a:endParaRPr lang="en-US" sz="1400" dirty="0"/>
          </a:p>
        </p:txBody>
      </p:sp>
      <p:sp>
        <p:nvSpPr>
          <p:cNvPr id="11" name="Text 9"/>
          <p:cNvSpPr/>
          <p:nvPr/>
        </p:nvSpPr>
        <p:spPr>
          <a:xfrm>
            <a:off x="1016000" y="3431449"/>
            <a:ext cx="10464800"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Ask the product owner: “Better in what way? Faster load times? Fewer crashes? Easier navigation?” Then write specific stories, for example:</a:t>
            </a:r>
            <a:endParaRPr lang="en-US" sz="1400" dirty="0"/>
          </a:p>
        </p:txBody>
      </p:sp>
      <p:sp>
        <p:nvSpPr>
          <p:cNvPr id="12" name="Text 10"/>
          <p:cNvSpPr/>
          <p:nvPr/>
        </p:nvSpPr>
        <p:spPr>
          <a:xfrm>
            <a:off x="1016000" y="4030861"/>
            <a:ext cx="10160000" cy="502907"/>
          </a:xfrm>
          <a:prstGeom prst="roundRect">
            <a:avLst>
              <a:gd name="adj" fmla="val 10101"/>
            </a:avLst>
          </a:prstGeom>
          <a:solidFill>
            <a:srgbClr val="FBFBF8"/>
          </a:solidFill>
          <a:ln/>
        </p:spPr>
        <p:txBody>
          <a:bodyPr wrap="square" lIns="137521" tIns="112121" rIns="0" bIns="86721"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As a mobile shopper, I want product pages to load in under 2 seconds so that I don't abandon my search.</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QUICK CHECK</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Four questions, one minute each</a:t>
            </a:r>
            <a:endParaRPr lang="en-US" sz="3200" dirty="0"/>
          </a:p>
        </p:txBody>
      </p:sp>
      <p:sp>
        <p:nvSpPr>
          <p:cNvPr id="4" name="Text 2"/>
          <p:cNvSpPr/>
          <p:nvPr/>
        </p:nvSpPr>
        <p:spPr>
          <a:xfrm>
            <a:off x="812800" y="1854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09167"/>
            <a:ext cx="648009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What are the three parts of the standard user story format?</a:t>
            </a:r>
            <a:endParaRPr lang="en-US" sz="1600" dirty="0"/>
          </a:p>
        </p:txBody>
      </p:sp>
      <p:sp>
        <p:nvSpPr>
          <p:cNvPr id="6" name="Text 4"/>
          <p:cNvSpPr/>
          <p:nvPr/>
        </p:nvSpPr>
        <p:spPr>
          <a:xfrm>
            <a:off x="812800" y="23875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42567"/>
            <a:ext cx="5922169"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Which INVEST letter matters most directly to a tester?</a:t>
            </a:r>
            <a:endParaRPr lang="en-US" sz="1600" dirty="0"/>
          </a:p>
        </p:txBody>
      </p:sp>
      <p:sp>
        <p:nvSpPr>
          <p:cNvPr id="8" name="Text 6"/>
          <p:cNvSpPr/>
          <p:nvPr/>
        </p:nvSpPr>
        <p:spPr>
          <a:xfrm>
            <a:off x="812800" y="29209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2975967"/>
            <a:ext cx="4341654"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Which is bigger: an epic or a user story?</a:t>
            </a:r>
            <a:endParaRPr lang="en-US" sz="1600" dirty="0"/>
          </a:p>
        </p:txBody>
      </p:sp>
      <p:sp>
        <p:nvSpPr>
          <p:cNvPr id="10" name="Text 8"/>
          <p:cNvSpPr/>
          <p:nvPr/>
        </p:nvSpPr>
        <p:spPr>
          <a:xfrm>
            <a:off x="812800" y="34543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09367"/>
            <a:ext cx="645818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Where are the detailed conditions of a user story captured?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KEY TAKEAWAYS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0A04B"/>
                </a:solidFill>
                <a:latin typeface="Domine" pitchFamily="18" charset="0"/>
                <a:ea typeface="Domine" pitchFamily="18" charset="-122"/>
                <a:cs typeface="Domine" pitchFamily="18" charset="-120"/>
              </a:rPr>
              <a:t>Who</a:t>
            </a:r>
            <a:r>
              <a:rPr lang="en-US" sz="3200" b="1" i="0" dirty="0">
                <a:solidFill>
                  <a:srgbClr val="FBFBF8"/>
                </a:solidFill>
                <a:latin typeface="Domine" pitchFamily="18" charset="0"/>
                <a:ea typeface="Domine" pitchFamily="18" charset="-122"/>
                <a:cs typeface="Domine" pitchFamily="18" charset="-120"/>
              </a:rPr>
              <a:t> + </a:t>
            </a:r>
            <a:r>
              <a:rPr lang="en-US" sz="3200" b="1" i="0" dirty="0">
                <a:solidFill>
                  <a:srgbClr val="F0A04B"/>
                </a:solidFill>
                <a:latin typeface="Domine" pitchFamily="18" charset="0"/>
                <a:ea typeface="Domine" pitchFamily="18" charset="-122"/>
                <a:cs typeface="Domine" pitchFamily="18" charset="-120"/>
              </a:rPr>
              <a:t>what</a:t>
            </a:r>
            <a:r>
              <a:rPr lang="en-US" sz="3200" b="1" i="0" dirty="0">
                <a:solidFill>
                  <a:srgbClr val="FBFBF8"/>
                </a:solidFill>
                <a:latin typeface="Domine" pitchFamily="18" charset="0"/>
                <a:ea typeface="Domine" pitchFamily="18" charset="-122"/>
                <a:cs typeface="Domine" pitchFamily="18" charset="-120"/>
              </a:rPr>
              <a:t> + </a:t>
            </a:r>
            <a:r>
              <a:rPr lang="en-US" sz="3200" b="1" i="0" dirty="0">
                <a:solidFill>
                  <a:srgbClr val="F0A04B"/>
                </a:solidFill>
                <a:latin typeface="Domine" pitchFamily="18" charset="0"/>
                <a:ea typeface="Domine" pitchFamily="18" charset="-122"/>
                <a:cs typeface="Domine" pitchFamily="18" charset="-120"/>
              </a:rPr>
              <a:t>why</a:t>
            </a:r>
            <a:endParaRPr lang="en-US" sz="3200" dirty="0"/>
          </a:p>
        </p:txBody>
      </p:sp>
      <p:pic>
        <p:nvPicPr>
          <p:cNvPr id="4" name="Image 0" descr="CheckCircle"/>
          <p:cNvPicPr>
            <a:picLocks noChangeAspect="1"/>
          </p:cNvPicPr>
          <p:nvPr/>
        </p:nvPicPr>
        <p:blipFill>
          <a:blip r:embed="rId3"/>
          <a:srcRect/>
          <a:stretch/>
        </p:blipFill>
        <p:spPr>
          <a:xfrm>
            <a:off x="812800" y="1860488"/>
            <a:ext cx="254000" cy="254000"/>
          </a:xfrm>
          <a:prstGeom prst="rect">
            <a:avLst/>
          </a:prstGeom>
        </p:spPr>
      </p:pic>
      <p:sp>
        <p:nvSpPr>
          <p:cNvPr id="5" name="Text 2"/>
          <p:cNvSpPr/>
          <p:nvPr/>
        </p:nvSpPr>
        <p:spPr>
          <a:xfrm>
            <a:off x="1219200" y="1854138"/>
            <a:ext cx="744799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A user story is written from the user's perspective: As a / I want / So that.</a:t>
            </a:r>
            <a:endParaRPr lang="en-US" sz="1500" dirty="0"/>
          </a:p>
        </p:txBody>
      </p:sp>
      <p:pic>
        <p:nvPicPr>
          <p:cNvPr id="6" name="Image 1" descr="CheckCircle"/>
          <p:cNvPicPr>
            <a:picLocks noChangeAspect="1"/>
          </p:cNvPicPr>
          <p:nvPr/>
        </p:nvPicPr>
        <p:blipFill>
          <a:blip r:embed="rId3"/>
          <a:srcRect/>
          <a:stretch/>
        </p:blipFill>
        <p:spPr>
          <a:xfrm>
            <a:off x="812800" y="2279588"/>
            <a:ext cx="254000" cy="254000"/>
          </a:xfrm>
          <a:prstGeom prst="rect">
            <a:avLst/>
          </a:prstGeom>
        </p:spPr>
      </p:pic>
      <p:sp>
        <p:nvSpPr>
          <p:cNvPr id="7" name="Text 3"/>
          <p:cNvSpPr/>
          <p:nvPr/>
        </p:nvSpPr>
        <p:spPr>
          <a:xfrm>
            <a:off x="1219200" y="2273238"/>
            <a:ext cx="638357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Stories start conversations. Testers should ask questions early.</a:t>
            </a:r>
            <a:endParaRPr lang="en-US" sz="1500" dirty="0"/>
          </a:p>
        </p:txBody>
      </p:sp>
      <p:pic>
        <p:nvPicPr>
          <p:cNvPr id="8" name="Image 2" descr="CheckCircle"/>
          <p:cNvPicPr>
            <a:picLocks noChangeAspect="1"/>
          </p:cNvPicPr>
          <p:nvPr/>
        </p:nvPicPr>
        <p:blipFill>
          <a:blip r:embed="rId3"/>
          <a:srcRect/>
          <a:stretch/>
        </p:blipFill>
        <p:spPr>
          <a:xfrm>
            <a:off x="812800" y="2698688"/>
            <a:ext cx="254000" cy="254000"/>
          </a:xfrm>
          <a:prstGeom prst="rect">
            <a:avLst/>
          </a:prstGeom>
        </p:spPr>
      </p:pic>
      <p:sp>
        <p:nvSpPr>
          <p:cNvPr id="9" name="Text 4"/>
          <p:cNvSpPr/>
          <p:nvPr/>
        </p:nvSpPr>
        <p:spPr>
          <a:xfrm>
            <a:off x="1219200" y="2692338"/>
            <a:ext cx="484489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Judge quality with INVEST, especially </a:t>
            </a:r>
            <a:r>
              <a:rPr lang="en-US" sz="1500" b="1" dirty="0">
                <a:solidFill>
                  <a:srgbClr val="DCE4F0"/>
                </a:solidFill>
                <a:latin typeface="Nunito Sans" pitchFamily="34" charset="0"/>
                <a:ea typeface="Nunito Sans" pitchFamily="34" charset="-122"/>
                <a:cs typeface="Nunito Sans" pitchFamily="34" charset="-120"/>
              </a:rPr>
              <a:t>Testable</a:t>
            </a:r>
            <a:r>
              <a:rPr lang="en-US" sz="1500" dirty="0">
                <a:solidFill>
                  <a:srgbClr val="DCE4F0"/>
                </a:solidFill>
                <a:latin typeface="Nunito Sans" pitchFamily="34" charset="0"/>
                <a:ea typeface="Nunito Sans" pitchFamily="34" charset="-122"/>
                <a:cs typeface="Nunito Sans" pitchFamily="34" charset="-120"/>
              </a:rPr>
              <a:t>.</a:t>
            </a:r>
            <a:endParaRPr lang="en-US" sz="1500" dirty="0"/>
          </a:p>
        </p:txBody>
      </p:sp>
      <p:pic>
        <p:nvPicPr>
          <p:cNvPr id="10" name="Image 3" descr="CheckCircle"/>
          <p:cNvPicPr>
            <a:picLocks noChangeAspect="1"/>
          </p:cNvPicPr>
          <p:nvPr/>
        </p:nvPicPr>
        <p:blipFill>
          <a:blip r:embed="rId3"/>
          <a:srcRect/>
          <a:stretch/>
        </p:blipFill>
        <p:spPr>
          <a:xfrm>
            <a:off x="812800" y="3117788"/>
            <a:ext cx="254000" cy="254000"/>
          </a:xfrm>
          <a:prstGeom prst="rect">
            <a:avLst/>
          </a:prstGeom>
        </p:spPr>
      </p:pic>
      <p:sp>
        <p:nvSpPr>
          <p:cNvPr id="11" name="Text 5"/>
          <p:cNvSpPr/>
          <p:nvPr/>
        </p:nvSpPr>
        <p:spPr>
          <a:xfrm>
            <a:off x="1219200" y="3111438"/>
            <a:ext cx="65125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Epic → feature → story: from business goal to sprint-sized slice.</a:t>
            </a:r>
            <a:endParaRPr lang="en-US" sz="1500" dirty="0"/>
          </a:p>
        </p:txBody>
      </p:sp>
      <p:pic>
        <p:nvPicPr>
          <p:cNvPr id="12" name="Image 4" descr="CheckCircle"/>
          <p:cNvPicPr>
            <a:picLocks noChangeAspect="1"/>
          </p:cNvPicPr>
          <p:nvPr/>
        </p:nvPicPr>
        <p:blipFill>
          <a:blip r:embed="rId3"/>
          <a:srcRect/>
          <a:stretch/>
        </p:blipFill>
        <p:spPr>
          <a:xfrm>
            <a:off x="812800" y="3536888"/>
            <a:ext cx="254000" cy="254000"/>
          </a:xfrm>
          <a:prstGeom prst="rect">
            <a:avLst/>
          </a:prstGeom>
        </p:spPr>
      </p:pic>
      <p:sp>
        <p:nvSpPr>
          <p:cNvPr id="13" name="Text 6"/>
          <p:cNvSpPr/>
          <p:nvPr/>
        </p:nvSpPr>
        <p:spPr>
          <a:xfrm>
            <a:off x="1219200" y="3530538"/>
            <a:ext cx="720463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Use cases describe interaction flows; stories describe needs and value.</a:t>
            </a:r>
            <a:endParaRPr lang="en-US" sz="1500" dirty="0"/>
          </a:p>
        </p:txBody>
      </p:sp>
      <p:sp>
        <p:nvSpPr>
          <p:cNvPr id="14" name="Text 7"/>
          <p:cNvSpPr/>
          <p:nvPr/>
        </p:nvSpPr>
        <p:spPr>
          <a:xfrm>
            <a:off x="812800" y="41020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Next: Unit 5, Acceptance Criteria: defining exactly when a story is done.</a:t>
            </a:r>
            <a:endParaRPr lang="en-US" sz="1400" dirty="0"/>
          </a:p>
        </p:txBody>
      </p:sp>
    </p:spTree>
  </p:cSld>
  <p:clrMapOvr>
    <a:masterClrMapping/>
  </p:clrMapOvr>
</p:sld>
</file>

<file path=ppt/theme/theme1.xml><?xml version="1.0" encoding="utf-8"?>
<a:theme xmlns:a="http://schemas.openxmlformats.org/drawingml/2006/main" name="User Stories">
  <a:themeElements>
    <a:clrScheme name="User Stories">
      <a:dk1>
        <a:srgbClr val="14213D"/>
      </a:dk1>
      <a:lt1>
        <a:srgbClr val="FBFBF8"/>
      </a:lt1>
      <a:dk2>
        <a:srgbClr val="4E586C"/>
      </a:dk2>
      <a:lt2>
        <a:srgbClr val="E4E5E5"/>
      </a:lt2>
      <a:accent1>
        <a:srgbClr val="A14F0A"/>
      </a:accent1>
      <a:accent2>
        <a:srgbClr val="F0A04B"/>
      </a:accent2>
      <a:accent3>
        <a:srgbClr val="24345A"/>
      </a:accent3>
      <a:accent4>
        <a:srgbClr val="2B5C9E"/>
      </a:accent4>
      <a:accent5>
        <a:srgbClr val="3D4A5C"/>
      </a:accent5>
      <a:accent6>
        <a:srgbClr val="DCE4F0"/>
      </a:accent6>
      <a:hlink>
        <a:srgbClr val="0563C1"/>
      </a:hlink>
      <a:folHlink>
        <a:srgbClr val="954F72"/>
      </a:folHlink>
    </a:clrScheme>
    <a:fontScheme name="User Stories">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2062</Words>
  <Application>Microsoft Office PowerPoint</Application>
  <PresentationFormat>Widescreen</PresentationFormat>
  <Paragraphs>229</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Domine</vt:lpstr>
      <vt:lpstr>Nunito Sans</vt:lpstr>
      <vt:lpstr>User Stories</vt:lpstr>
      <vt:lpstr>User Stories</vt:lpstr>
      <vt:lpstr>What this unit covers:</vt:lpstr>
      <vt:lpstr>A placeholder for a conversation</vt:lpstr>
      <vt:lpstr>User, action, value</vt:lpstr>
      <vt:lpstr>PowerPoint Presentation</vt:lpstr>
      <vt:lpstr>Good user stories</vt:lpstr>
      <vt:lpstr>A good story is INVEST</vt:lpstr>
      <vt:lpstr>Testable is your special responsibility</vt:lpstr>
      <vt:lpstr>From large goal to sprint-sized slice</vt:lpstr>
      <vt:lpstr>Only stories are directly testable</vt:lpstr>
      <vt:lpstr>User story vs. use case</vt:lpstr>
      <vt:lpstr>Common beginner mistakes</vt:lpstr>
      <vt:lpstr>Turn requirements into user stories</vt:lpstr>
      <vt:lpstr>Stories 1 to 3</vt:lpstr>
      <vt:lpstr>Stories 4 and 5</vt:lpstr>
      <vt:lpstr>Four questions, one minute each</vt:lpstr>
      <vt:lpstr>Who + what + why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Stories</dc:title>
  <dc:subject/>
  <dc:creator/>
  <cp:lastModifiedBy>Saurabh Kamath</cp:lastModifiedBy>
  <cp:revision>4</cp:revision>
  <dcterms:created xsi:type="dcterms:W3CDTF">2026-10-06T17:16:23Z</dcterms:created>
  <dcterms:modified xsi:type="dcterms:W3CDTF">2026-10-06T18:21:42Z</dcterms:modified>
</cp:coreProperties>
</file>