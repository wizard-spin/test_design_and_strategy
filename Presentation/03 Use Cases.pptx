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660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two we said testing starts from requirements. A use case is one of the most tester-friendly ways requirements are written, because it describes a step-by-step interaction that maps naturally to test flows. In chapter six we will turn each flow into test scenarios.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outcomes. The most useful skill here is the last one: looking at a use case and seeing all the test scenarios hidden inside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teams often use user stories instead, which is the next chapter. But use-case thinking is still very valuable to testers, because it forces you to ask what happens on every path, not just the happy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elements. The ones testers lean on most are preconditions, which become test preconditions, the three kinds of flow, which become scenarios, and postconditions, which become expected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actor can be a person or a system. Thinking in roles matters for testing because permissions differ by role: what a customer can do, an admin may not, and vice versa.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happy path: everything goes right. The step numbers matter, because alternate and exception flows branch off at specific steps. On the next two slides we look at those branches.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Alternate flows are valid variations. They usually still reach the goal, just by a different route. Each one is a separate scenario to test, because the code behind each route is different.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flows are where the goal is not achieved. Developers tend to focus on the happy path, so testers often find most defects here. Notice how many of these end with "no debit": that is the most important thing to verify when something goes wrong with money.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often forget the failure postconditions. "Account is not debited" is one of the most important checks in the whole use case, because getting it wrong means customers lose money.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writing use cases carefully. Every flow gives at least one scenario, and some give several, like E1 and E3. In chapter six we will add more scenario-finding techniques on top of this.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 case is a requirement: it says what the system should do at a business level. A test case is a verification: exact steps, exact data, an expected result and a pass or fail status. We write test cases in detail in chapter seven.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mistake is by far the most common. If a use case you receive has no exception flows, that is a gap to raise with the business analyst before testing starts.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seven minutes. Remind them that the exception flows are where the value is. The next three slides show a model answer for each option.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E1: the error is generic, "Invalid credentials", rather than saying whether the email or the password was wrong. That prevents attackers learning which emails are registered. Also notice the failure postcondition counts the failed attempt, which is what makes the lockout in E2 possible.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use case has two supporting actors, the payment gateway and the email service, which tells a tester there are integration points to test. Exception E3, the gateway timeout, is where duplicate-charge bugs typically hide.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 is a concurrency exception: another customer books the last seat while you are entering details. These are easy to miss and important to test. E4 shows a time-based rule, holding the booking for 15 minutes, which gives you boundary values to test as well.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An alternate flow is a valid variation that usually still reaches the goal; an exception flow is an error condition where the goal is not achieved. 2. Yes, for example a payment gateway or a bank core system. 3. The customer inserts the card. 4. No, those belong in test cases.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takeaways. Next we move to user stories, the short format most Agile teams use instead of full use cases, and the questions testers should ask about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663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3</a:t>
            </a:r>
            <a:endParaRPr lang="en-US" sz="1200" dirty="0"/>
          </a:p>
        </p:txBody>
      </p:sp>
      <p:sp>
        <p:nvSpPr>
          <p:cNvPr id="3" name="Text 1"/>
          <p:cNvSpPr>
            <a:spLocks noGrp="1"/>
          </p:cNvSpPr>
          <p:nvPr>
            <p:ph type="title"/>
          </p:nvPr>
        </p:nvSpPr>
        <p:spPr>
          <a:xfrm>
            <a:off x="812800" y="25336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Use Cases</a:t>
            </a:r>
            <a:endParaRPr lang="en-US" sz="6400" dirty="0"/>
          </a:p>
        </p:txBody>
      </p:sp>
      <p:sp>
        <p:nvSpPr>
          <p:cNvPr id="4" name="Text 2"/>
          <p:cNvSpPr/>
          <p:nvPr/>
        </p:nvSpPr>
        <p:spPr>
          <a:xfrm>
            <a:off x="812800" y="3641064"/>
            <a:ext cx="850265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How interactions between users and a system become testable flows</a:t>
            </a:r>
            <a:endParaRPr lang="en-US" sz="2000" dirty="0"/>
          </a:p>
        </p:txBody>
      </p:sp>
      <p:sp>
        <p:nvSpPr>
          <p:cNvPr id="5" name="Shape 3"/>
          <p:cNvSpPr/>
          <p:nvPr/>
        </p:nvSpPr>
        <p:spPr>
          <a:xfrm>
            <a:off x="812800" y="4250664"/>
            <a:ext cx="1016000" cy="38100"/>
          </a:xfrm>
          <a:prstGeom prst="roundRect">
            <a:avLst>
              <a:gd name="adj" fmla="val 50000"/>
            </a:avLst>
          </a:prstGeom>
          <a:solidFill>
            <a:srgbClr val="F0A04B"/>
          </a:solidFill>
          <a:ln/>
        </p:spPr>
      </p:sp>
      <p:sp>
        <p:nvSpPr>
          <p:cNvPr id="6" name="Text 4"/>
          <p:cNvSpPr/>
          <p:nvPr/>
        </p:nvSpPr>
        <p:spPr>
          <a:xfrm>
            <a:off x="812800" y="45427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20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9049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59967"/>
            <a:ext cx="1042685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Define a use case and name its parts: actor, system, preconditions, trigger, flows, postconditions</a:t>
            </a:r>
            <a:endParaRPr lang="en-US" sz="1600" dirty="0"/>
          </a:p>
        </p:txBody>
      </p:sp>
      <p:sp>
        <p:nvSpPr>
          <p:cNvPr id="6" name="Text 4"/>
          <p:cNvSpPr/>
          <p:nvPr/>
        </p:nvSpPr>
        <p:spPr>
          <a:xfrm>
            <a:off x="812800" y="24383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93367"/>
            <a:ext cx="746934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Separate the </a:t>
            </a:r>
            <a:r>
              <a:rPr lang="en-US" sz="1600" b="1" dirty="0">
                <a:solidFill>
                  <a:srgbClr val="3D4A5C"/>
                </a:solidFill>
                <a:latin typeface="Nunito Sans" pitchFamily="34" charset="0"/>
                <a:ea typeface="Nunito Sans" pitchFamily="34" charset="-122"/>
                <a:cs typeface="Nunito Sans" pitchFamily="34" charset="-120"/>
              </a:rPr>
              <a:t>main success flow</a:t>
            </a:r>
            <a:r>
              <a:rPr lang="en-US" sz="1600" dirty="0">
                <a:solidFill>
                  <a:srgbClr val="3D4A5C"/>
                </a:solidFill>
                <a:latin typeface="Nunito Sans" pitchFamily="34" charset="0"/>
                <a:ea typeface="Nunito Sans" pitchFamily="34" charset="-122"/>
                <a:cs typeface="Nunito Sans" pitchFamily="34" charset="-120"/>
              </a:rPr>
              <a:t> from </a:t>
            </a:r>
            <a:r>
              <a:rPr lang="en-US" sz="1600" b="1" dirty="0">
                <a:solidFill>
                  <a:srgbClr val="3D4A5C"/>
                </a:solidFill>
                <a:latin typeface="Nunito Sans" pitchFamily="34" charset="0"/>
                <a:ea typeface="Nunito Sans" pitchFamily="34" charset="-122"/>
                <a:cs typeface="Nunito Sans" pitchFamily="34" charset="-120"/>
              </a:rPr>
              <a:t>alternate</a:t>
            </a:r>
            <a:r>
              <a:rPr lang="en-US" sz="1600" dirty="0">
                <a:solidFill>
                  <a:srgbClr val="3D4A5C"/>
                </a:solidFill>
                <a:latin typeface="Nunito Sans" pitchFamily="34" charset="0"/>
                <a:ea typeface="Nunito Sans" pitchFamily="34" charset="-122"/>
                <a:cs typeface="Nunito Sans" pitchFamily="34" charset="-120"/>
              </a:rPr>
              <a:t> and </a:t>
            </a:r>
            <a:r>
              <a:rPr lang="en-US" sz="1600" b="1" dirty="0">
                <a:solidFill>
                  <a:srgbClr val="3D4A5C"/>
                </a:solidFill>
                <a:latin typeface="Nunito Sans" pitchFamily="34" charset="0"/>
                <a:ea typeface="Nunito Sans" pitchFamily="34" charset="-122"/>
                <a:cs typeface="Nunito Sans" pitchFamily="34" charset="-120"/>
              </a:rPr>
              <a:t>exception</a:t>
            </a:r>
            <a:r>
              <a:rPr lang="en-US" sz="1600" dirty="0">
                <a:solidFill>
                  <a:srgbClr val="3D4A5C"/>
                </a:solidFill>
                <a:latin typeface="Nunito Sans" pitchFamily="34" charset="0"/>
                <a:ea typeface="Nunito Sans" pitchFamily="34" charset="-122"/>
                <a:cs typeface="Nunito Sans" pitchFamily="34" charset="-120"/>
              </a:rPr>
              <a:t> flows</a:t>
            </a:r>
            <a:endParaRPr lang="en-US" sz="1600" dirty="0"/>
          </a:p>
        </p:txBody>
      </p:sp>
      <p:sp>
        <p:nvSpPr>
          <p:cNvPr id="8" name="Text 6"/>
          <p:cNvSpPr/>
          <p:nvPr/>
        </p:nvSpPr>
        <p:spPr>
          <a:xfrm>
            <a:off x="812800" y="29717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3026767"/>
            <a:ext cx="508214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Explain how a use case differs from a test case</a:t>
            </a:r>
            <a:endParaRPr lang="en-US" sz="1600" dirty="0"/>
          </a:p>
        </p:txBody>
      </p:sp>
      <p:sp>
        <p:nvSpPr>
          <p:cNvPr id="10" name="Text 8"/>
          <p:cNvSpPr/>
          <p:nvPr/>
        </p:nvSpPr>
        <p:spPr>
          <a:xfrm>
            <a:off x="812800" y="3505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60167"/>
            <a:ext cx="661812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Write a simple use case and identify the scenarios it contains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IS A USE CASE?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 story of interaction</a:t>
            </a:r>
            <a:endParaRPr lang="en-US" sz="3200" dirty="0"/>
          </a:p>
        </p:txBody>
      </p:sp>
      <p:sp>
        <p:nvSpPr>
          <p:cNvPr id="4" name="Text 2"/>
          <p:cNvSpPr/>
          <p:nvPr/>
        </p:nvSpPr>
        <p:spPr>
          <a:xfrm>
            <a:off x="812800" y="1904935"/>
            <a:ext cx="9810750" cy="779727"/>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14213D"/>
                </a:solidFill>
                <a:latin typeface="Domine" pitchFamily="18" charset="0"/>
                <a:ea typeface="Domine" pitchFamily="18" charset="-122"/>
                <a:cs typeface="Domine" pitchFamily="18" charset="-120"/>
              </a:rPr>
              <a:t>How an </a:t>
            </a:r>
            <a:r>
              <a:rPr lang="en-US" sz="2200" dirty="0">
                <a:solidFill>
                  <a:srgbClr val="A14F0A"/>
                </a:solidFill>
                <a:latin typeface="Domine" pitchFamily="18" charset="0"/>
                <a:ea typeface="Domine" pitchFamily="18" charset="-122"/>
                <a:cs typeface="Domine" pitchFamily="18" charset="-120"/>
              </a:rPr>
              <a:t>actor</a:t>
            </a:r>
            <a:r>
              <a:rPr lang="en-US" sz="2200" dirty="0">
                <a:solidFill>
                  <a:srgbClr val="14213D"/>
                </a:solidFill>
                <a:latin typeface="Domine" pitchFamily="18" charset="0"/>
                <a:ea typeface="Domine" pitchFamily="18" charset="-122"/>
                <a:cs typeface="Domine" pitchFamily="18" charset="-120"/>
              </a:rPr>
              <a:t> interacts with a </a:t>
            </a:r>
            <a:r>
              <a:rPr lang="en-US" sz="2200" dirty="0">
                <a:solidFill>
                  <a:srgbClr val="2B5C9E"/>
                </a:solidFill>
                <a:latin typeface="Domine" pitchFamily="18" charset="0"/>
                <a:ea typeface="Domine" pitchFamily="18" charset="-122"/>
                <a:cs typeface="Domine" pitchFamily="18" charset="-120"/>
              </a:rPr>
              <a:t>system</a:t>
            </a:r>
            <a:r>
              <a:rPr lang="en-US" sz="2200" dirty="0">
                <a:solidFill>
                  <a:srgbClr val="14213D"/>
                </a:solidFill>
                <a:latin typeface="Domine" pitchFamily="18" charset="0"/>
                <a:ea typeface="Domine" pitchFamily="18" charset="-122"/>
                <a:cs typeface="Domine" pitchFamily="18" charset="-120"/>
              </a:rPr>
              <a:t> to achieve a specific goal, including what happens when things go right and when they go wrong.</a:t>
            </a:r>
            <a:endParaRPr lang="en-US" sz="2200" dirty="0"/>
          </a:p>
        </p:txBody>
      </p:sp>
      <p:sp>
        <p:nvSpPr>
          <p:cNvPr id="5" name="Text 3"/>
          <p:cNvSpPr/>
          <p:nvPr/>
        </p:nvSpPr>
        <p:spPr>
          <a:xfrm>
            <a:off x="812800" y="3014861"/>
            <a:ext cx="91567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“The user does X, the system responds with Y…” until the goal is achieved or abandoned.</a:t>
            </a:r>
            <a:endParaRPr lang="en-US" sz="1600" dirty="0"/>
          </a:p>
        </p:txBody>
      </p:sp>
      <p:sp>
        <p:nvSpPr>
          <p:cNvPr id="6" name="Text 4"/>
          <p:cNvSpPr/>
          <p:nvPr/>
        </p:nvSpPr>
        <p:spPr>
          <a:xfrm>
            <a:off x="812800" y="3735322"/>
            <a:ext cx="104662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Common in:</a:t>
            </a:r>
            <a:endParaRPr lang="en-US" sz="1400" dirty="0"/>
          </a:p>
        </p:txBody>
      </p:sp>
      <p:sp>
        <p:nvSpPr>
          <p:cNvPr id="7" name="Text 5"/>
          <p:cNvSpPr/>
          <p:nvPr/>
        </p:nvSpPr>
        <p:spPr>
          <a:xfrm>
            <a:off x="1862601" y="3658064"/>
            <a:ext cx="2221508" cy="403423"/>
          </a:xfrm>
          <a:prstGeom prst="roundRect">
            <a:avLst>
              <a:gd name="adj" fmla="val 50000"/>
            </a:avLst>
          </a:prstGeom>
          <a:solidFill>
            <a:srgbClr val="FBFBF8"/>
          </a:solidFill>
          <a:ln w="6350">
            <a:solidFill>
              <a:srgbClr val="D3DBE6"/>
            </a:solidFill>
            <a:prstDash val="solid"/>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Waterfall and V-model</a:t>
            </a:r>
            <a:endParaRPr lang="en-US" sz="1400" dirty="0"/>
          </a:p>
        </p:txBody>
      </p:sp>
      <p:sp>
        <p:nvSpPr>
          <p:cNvPr id="8" name="Text 6"/>
          <p:cNvSpPr/>
          <p:nvPr/>
        </p:nvSpPr>
        <p:spPr>
          <a:xfrm>
            <a:off x="4192058" y="3658064"/>
            <a:ext cx="2256168" cy="403423"/>
          </a:xfrm>
          <a:prstGeom prst="roundRect">
            <a:avLst>
              <a:gd name="adj" fmla="val 50000"/>
            </a:avLst>
          </a:prstGeom>
          <a:solidFill>
            <a:srgbClr val="FBFBF8"/>
          </a:solidFill>
          <a:ln w="6350">
            <a:solidFill>
              <a:srgbClr val="D3DBE6"/>
            </a:solidFill>
            <a:prstDash val="solid"/>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Banking and healthcare</a:t>
            </a:r>
            <a:endParaRPr lang="en-US" sz="1400" dirty="0"/>
          </a:p>
        </p:txBody>
      </p:sp>
      <p:sp>
        <p:nvSpPr>
          <p:cNvPr id="9" name="Text 7"/>
          <p:cNvSpPr/>
          <p:nvPr/>
        </p:nvSpPr>
        <p:spPr>
          <a:xfrm>
            <a:off x="6556177" y="3658064"/>
            <a:ext cx="2464925" cy="403423"/>
          </a:xfrm>
          <a:prstGeom prst="roundRect">
            <a:avLst>
              <a:gd name="adj" fmla="val 50000"/>
            </a:avLst>
          </a:prstGeom>
          <a:solidFill>
            <a:srgbClr val="FBFBF8"/>
          </a:solidFill>
          <a:ln w="6350">
            <a:solidFill>
              <a:srgbClr val="D3DBE6"/>
            </a:solidFill>
            <a:prstDash val="solid"/>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System design documents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ANATOMY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parts of a use case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5"/>
          <a:ext cx="10553700" cy="3326474"/>
        </p:xfrm>
        <a:graphic>
          <a:graphicData uri="http://schemas.openxmlformats.org/drawingml/2006/table">
            <a:tbl>
              <a:tblPr/>
              <a:tblGrid>
                <a:gridCol w="2321814">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Element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Meaning</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ATM example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Name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 short, verb-first goal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Withdraw cash from an ATM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Actor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Who or what interacts to reach the goal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Customer; Bank Core System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System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The thing being built or tested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ATM and banking software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Preconditions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Must be true before it starts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Valid card, enough balance, ATM has cash</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Trigger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The event that starts it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Customer inserts card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Main success flow</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The ideal “happy path”</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Insert card … account debited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Alternate flow</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 different but valid path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Customer chooses another account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Exception flow</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Something fails; goal not met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Wrong PIN 3 times: card retained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Postconditions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Must be true after it ends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Cash dispensed, account debited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ACTORS IN MORE DETAIL</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Who takes part in the interaction</a:t>
            </a:r>
            <a:endParaRPr lang="en-US" sz="3200" dirty="0"/>
          </a:p>
        </p:txBody>
      </p:sp>
      <p:sp>
        <p:nvSpPr>
          <p:cNvPr id="4" name="Shape 2"/>
          <p:cNvSpPr/>
          <p:nvPr/>
        </p:nvSpPr>
        <p:spPr>
          <a:xfrm>
            <a:off x="815975" y="1857310"/>
            <a:ext cx="3380317" cy="2389651"/>
          </a:xfrm>
          <a:prstGeom prst="roundRect">
            <a:avLst>
              <a:gd name="adj" fmla="val 4119"/>
            </a:avLst>
          </a:prstGeom>
          <a:solidFill>
            <a:srgbClr val="FFFDF9"/>
          </a:solidFill>
          <a:ln w="6350">
            <a:solidFill>
              <a:srgbClr val="D3DBE6"/>
            </a:solidFill>
            <a:prstDash val="solid"/>
          </a:ln>
        </p:spPr>
      </p:sp>
      <p:pic>
        <p:nvPicPr>
          <p:cNvPr id="5" name="Image 0" descr="Users"/>
          <p:cNvPicPr>
            <a:picLocks noChangeAspect="1"/>
          </p:cNvPicPr>
          <p:nvPr/>
        </p:nvPicPr>
        <p:blipFill>
          <a:blip r:embed="rId3"/>
          <a:srcRect/>
          <a:stretch/>
        </p:blipFill>
        <p:spPr>
          <a:xfrm>
            <a:off x="1071033" y="2112367"/>
            <a:ext cx="304800" cy="304800"/>
          </a:xfrm>
          <a:prstGeom prst="rect">
            <a:avLst/>
          </a:prstGeom>
        </p:spPr>
      </p:pic>
      <p:sp>
        <p:nvSpPr>
          <p:cNvPr id="6" name="Text 3"/>
          <p:cNvSpPr/>
          <p:nvPr/>
        </p:nvSpPr>
        <p:spPr>
          <a:xfrm>
            <a:off x="1071033" y="251876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Primary actor</a:t>
            </a:r>
            <a:endParaRPr lang="en-US" sz="1800" dirty="0"/>
          </a:p>
        </p:txBody>
      </p:sp>
      <p:sp>
        <p:nvSpPr>
          <p:cNvPr id="7" name="Text 4"/>
          <p:cNvSpPr/>
          <p:nvPr/>
        </p:nvSpPr>
        <p:spPr>
          <a:xfrm>
            <a:off x="1071033" y="2894676"/>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Starts the interaction to achieve a goal.</a:t>
            </a:r>
            <a:endParaRPr lang="en-US" sz="1400" dirty="0"/>
          </a:p>
        </p:txBody>
      </p:sp>
      <p:sp>
        <p:nvSpPr>
          <p:cNvPr id="8" name="Text 5"/>
          <p:cNvSpPr/>
          <p:nvPr/>
        </p:nvSpPr>
        <p:spPr>
          <a:xfrm>
            <a:off x="1071033" y="3494088"/>
            <a:ext cx="295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e.g. Customer</a:t>
            </a:r>
            <a:endParaRPr lang="en-US" sz="1400" dirty="0"/>
          </a:p>
        </p:txBody>
      </p:sp>
      <p:sp>
        <p:nvSpPr>
          <p:cNvPr id="9" name="Shape 6"/>
          <p:cNvSpPr/>
          <p:nvPr/>
        </p:nvSpPr>
        <p:spPr>
          <a:xfrm>
            <a:off x="4405842" y="1857310"/>
            <a:ext cx="3380317" cy="2389651"/>
          </a:xfrm>
          <a:prstGeom prst="roundRect">
            <a:avLst>
              <a:gd name="adj" fmla="val 4119"/>
            </a:avLst>
          </a:prstGeom>
          <a:solidFill>
            <a:srgbClr val="FFFDF9"/>
          </a:solidFill>
          <a:ln w="6350">
            <a:solidFill>
              <a:srgbClr val="D3DBE6"/>
            </a:solidFill>
            <a:prstDash val="solid"/>
          </a:ln>
        </p:spPr>
      </p:sp>
      <p:pic>
        <p:nvPicPr>
          <p:cNvPr id="10" name="Image 1" descr="Database"/>
          <p:cNvPicPr>
            <a:picLocks noChangeAspect="1"/>
          </p:cNvPicPr>
          <p:nvPr/>
        </p:nvPicPr>
        <p:blipFill>
          <a:blip r:embed="rId4"/>
          <a:srcRect/>
          <a:stretch/>
        </p:blipFill>
        <p:spPr>
          <a:xfrm>
            <a:off x="4660900" y="2112367"/>
            <a:ext cx="304800" cy="304800"/>
          </a:xfrm>
          <a:prstGeom prst="rect">
            <a:avLst/>
          </a:prstGeom>
        </p:spPr>
      </p:pic>
      <p:sp>
        <p:nvSpPr>
          <p:cNvPr id="11" name="Text 7"/>
          <p:cNvSpPr/>
          <p:nvPr/>
        </p:nvSpPr>
        <p:spPr>
          <a:xfrm>
            <a:off x="4660900" y="251876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Supporting actor</a:t>
            </a:r>
            <a:endParaRPr lang="en-US" sz="1800" dirty="0"/>
          </a:p>
        </p:txBody>
      </p:sp>
      <p:sp>
        <p:nvSpPr>
          <p:cNvPr id="12" name="Text 8"/>
          <p:cNvSpPr/>
          <p:nvPr/>
        </p:nvSpPr>
        <p:spPr>
          <a:xfrm>
            <a:off x="4660900" y="2894676"/>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Helps the system achieve the goal. Often another system.</a:t>
            </a:r>
            <a:endParaRPr lang="en-US" sz="1400" dirty="0"/>
          </a:p>
        </p:txBody>
      </p:sp>
      <p:sp>
        <p:nvSpPr>
          <p:cNvPr id="13" name="Text 9"/>
          <p:cNvSpPr/>
          <p:nvPr/>
        </p:nvSpPr>
        <p:spPr>
          <a:xfrm>
            <a:off x="4660900" y="3494088"/>
            <a:ext cx="2956306"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e.g. Bank Core System, SMS gateway</a:t>
            </a:r>
            <a:endParaRPr lang="en-US" sz="1400" dirty="0"/>
          </a:p>
        </p:txBody>
      </p:sp>
      <p:sp>
        <p:nvSpPr>
          <p:cNvPr id="14" name="Shape 10"/>
          <p:cNvSpPr/>
          <p:nvPr/>
        </p:nvSpPr>
        <p:spPr>
          <a:xfrm>
            <a:off x="7995709" y="1857310"/>
            <a:ext cx="3380317" cy="2389651"/>
          </a:xfrm>
          <a:prstGeom prst="roundRect">
            <a:avLst>
              <a:gd name="adj" fmla="val 4119"/>
            </a:avLst>
          </a:prstGeom>
          <a:solidFill>
            <a:srgbClr val="FFFDF9"/>
          </a:solidFill>
          <a:ln w="6350">
            <a:solidFill>
              <a:srgbClr val="D3DBE6"/>
            </a:solidFill>
            <a:prstDash val="solid"/>
          </a:ln>
        </p:spPr>
      </p:sp>
      <p:pic>
        <p:nvPicPr>
          <p:cNvPr id="15" name="Image 2" descr="Key"/>
          <p:cNvPicPr>
            <a:picLocks noChangeAspect="1"/>
          </p:cNvPicPr>
          <p:nvPr/>
        </p:nvPicPr>
        <p:blipFill>
          <a:blip r:embed="rId5"/>
          <a:srcRect/>
          <a:stretch/>
        </p:blipFill>
        <p:spPr>
          <a:xfrm>
            <a:off x="8250767" y="2112367"/>
            <a:ext cx="304800" cy="304800"/>
          </a:xfrm>
          <a:prstGeom prst="rect">
            <a:avLst/>
          </a:prstGeom>
        </p:spPr>
      </p:pic>
      <p:sp>
        <p:nvSpPr>
          <p:cNvPr id="16" name="Text 11"/>
          <p:cNvSpPr/>
          <p:nvPr/>
        </p:nvSpPr>
        <p:spPr>
          <a:xfrm>
            <a:off x="8250767" y="251876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Roles, not people</a:t>
            </a:r>
            <a:endParaRPr lang="en-US" sz="1800" dirty="0"/>
          </a:p>
        </p:txBody>
      </p:sp>
      <p:sp>
        <p:nvSpPr>
          <p:cNvPr id="17" name="Text 12"/>
          <p:cNvSpPr/>
          <p:nvPr/>
        </p:nvSpPr>
        <p:spPr>
          <a:xfrm>
            <a:off x="8250767" y="2894676"/>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One person can be a “Customer” today and an “Admin” tomorrow.</a:t>
            </a:r>
            <a:endParaRPr lang="en-US" sz="1400" dirty="0"/>
          </a:p>
        </p:txBody>
      </p:sp>
      <p:sp>
        <p:nvSpPr>
          <p:cNvPr id="18" name="Text 13"/>
          <p:cNvSpPr/>
          <p:nvPr/>
        </p:nvSpPr>
        <p:spPr>
          <a:xfrm>
            <a:off x="8250767" y="3494088"/>
            <a:ext cx="295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Test each role separately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WORKED EXAMPLE · UC-ATM-01</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Withdraw cash from an ATM</a:t>
            </a:r>
            <a:endParaRPr lang="en-US" sz="3200" dirty="0"/>
          </a:p>
        </p:txBody>
      </p:sp>
      <p:sp>
        <p:nvSpPr>
          <p:cNvPr id="4" name="Shape 2"/>
          <p:cNvSpPr/>
          <p:nvPr/>
        </p:nvSpPr>
        <p:spPr>
          <a:xfrm>
            <a:off x="812800" y="1803335"/>
            <a:ext cx="3810000" cy="792427"/>
          </a:xfrm>
          <a:prstGeom prst="roundRect">
            <a:avLst>
              <a:gd name="adj" fmla="val 9616"/>
            </a:avLst>
          </a:prstGeom>
          <a:solidFill>
            <a:srgbClr val="FBFBF8"/>
          </a:solidFill>
          <a:ln/>
        </p:spPr>
      </p:sp>
      <p:sp>
        <p:nvSpPr>
          <p:cNvPr id="5" name="Text 3"/>
          <p:cNvSpPr/>
          <p:nvPr/>
        </p:nvSpPr>
        <p:spPr>
          <a:xfrm>
            <a:off x="990600" y="1955735"/>
            <a:ext cx="355803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ACTOR</a:t>
            </a:r>
            <a:endParaRPr lang="en-US" sz="1200" dirty="0"/>
          </a:p>
        </p:txBody>
      </p:sp>
      <p:sp>
        <p:nvSpPr>
          <p:cNvPr id="6" name="Text 4"/>
          <p:cNvSpPr/>
          <p:nvPr/>
        </p:nvSpPr>
        <p:spPr>
          <a:xfrm>
            <a:off x="990600" y="2194455"/>
            <a:ext cx="355803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Customer · supporting: Bank Core System</a:t>
            </a:r>
            <a:endParaRPr lang="en-US" sz="1400" dirty="0"/>
          </a:p>
        </p:txBody>
      </p:sp>
      <p:sp>
        <p:nvSpPr>
          <p:cNvPr id="7" name="Shape 5"/>
          <p:cNvSpPr/>
          <p:nvPr/>
        </p:nvSpPr>
        <p:spPr>
          <a:xfrm>
            <a:off x="812800" y="2722761"/>
            <a:ext cx="3810000" cy="1041334"/>
          </a:xfrm>
          <a:prstGeom prst="roundRect">
            <a:avLst>
              <a:gd name="adj" fmla="val 7318"/>
            </a:avLst>
          </a:prstGeom>
          <a:solidFill>
            <a:srgbClr val="FBFBF8"/>
          </a:solidFill>
          <a:ln/>
        </p:spPr>
      </p:sp>
      <p:sp>
        <p:nvSpPr>
          <p:cNvPr id="8" name="Text 6"/>
          <p:cNvSpPr/>
          <p:nvPr/>
        </p:nvSpPr>
        <p:spPr>
          <a:xfrm>
            <a:off x="990600" y="2875161"/>
            <a:ext cx="355803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PRECONDITION</a:t>
            </a:r>
            <a:endParaRPr lang="en-US" sz="1200" dirty="0"/>
          </a:p>
        </p:txBody>
      </p:sp>
      <p:sp>
        <p:nvSpPr>
          <p:cNvPr id="9" name="Text 7"/>
          <p:cNvSpPr/>
          <p:nvPr/>
        </p:nvSpPr>
        <p:spPr>
          <a:xfrm>
            <a:off x="990600" y="3113881"/>
            <a:ext cx="3558032"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Valid card and sufficient balance. ATM is online and has cash.</a:t>
            </a:r>
            <a:endParaRPr lang="en-US" sz="1400" dirty="0"/>
          </a:p>
        </p:txBody>
      </p:sp>
      <p:sp>
        <p:nvSpPr>
          <p:cNvPr id="10" name="Shape 8"/>
          <p:cNvSpPr/>
          <p:nvPr/>
        </p:nvSpPr>
        <p:spPr>
          <a:xfrm>
            <a:off x="812800" y="3891096"/>
            <a:ext cx="3810000" cy="792427"/>
          </a:xfrm>
          <a:prstGeom prst="roundRect">
            <a:avLst>
              <a:gd name="adj" fmla="val 9616"/>
            </a:avLst>
          </a:prstGeom>
          <a:solidFill>
            <a:srgbClr val="FBFBF8"/>
          </a:solidFill>
          <a:ln/>
        </p:spPr>
      </p:sp>
      <p:sp>
        <p:nvSpPr>
          <p:cNvPr id="11" name="Text 9"/>
          <p:cNvSpPr/>
          <p:nvPr/>
        </p:nvSpPr>
        <p:spPr>
          <a:xfrm>
            <a:off x="990600" y="4043496"/>
            <a:ext cx="355803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TRIGGER</a:t>
            </a:r>
            <a:endParaRPr lang="en-US" sz="1200" dirty="0"/>
          </a:p>
        </p:txBody>
      </p:sp>
      <p:sp>
        <p:nvSpPr>
          <p:cNvPr id="12" name="Text 10"/>
          <p:cNvSpPr/>
          <p:nvPr/>
        </p:nvSpPr>
        <p:spPr>
          <a:xfrm>
            <a:off x="990600" y="4282216"/>
            <a:ext cx="355803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Customer inserts card</a:t>
            </a:r>
            <a:endParaRPr lang="en-US" sz="1400" dirty="0"/>
          </a:p>
        </p:txBody>
      </p:sp>
      <p:sp>
        <p:nvSpPr>
          <p:cNvPr id="13" name="Text 11"/>
          <p:cNvSpPr/>
          <p:nvPr/>
        </p:nvSpPr>
        <p:spPr>
          <a:xfrm>
            <a:off x="4927600" y="1803335"/>
            <a:ext cx="664514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MAIN SUCCESS FLOW</a:t>
            </a:r>
            <a:endParaRPr lang="en-US" sz="1200" dirty="0"/>
          </a:p>
        </p:txBody>
      </p:sp>
      <p:sp>
        <p:nvSpPr>
          <p:cNvPr id="14" name="Shape 12"/>
          <p:cNvSpPr/>
          <p:nvPr/>
        </p:nvSpPr>
        <p:spPr>
          <a:xfrm>
            <a:off x="4927600" y="2080155"/>
            <a:ext cx="6451600" cy="401307"/>
          </a:xfrm>
          <a:prstGeom prst="roundRect">
            <a:avLst>
              <a:gd name="adj" fmla="val 15823"/>
            </a:avLst>
          </a:prstGeom>
          <a:solidFill>
            <a:srgbClr val="FBFBF8"/>
          </a:solidFill>
          <a:ln/>
        </p:spPr>
      </p:sp>
      <p:sp>
        <p:nvSpPr>
          <p:cNvPr id="15" name="Text 13"/>
          <p:cNvSpPr/>
          <p:nvPr/>
        </p:nvSpPr>
        <p:spPr>
          <a:xfrm>
            <a:off x="5080000" y="2156355"/>
            <a:ext cx="2540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1</a:t>
            </a:r>
            <a:endParaRPr lang="en-US" sz="1400" dirty="0"/>
          </a:p>
        </p:txBody>
      </p:sp>
      <p:sp>
        <p:nvSpPr>
          <p:cNvPr id="16" name="Text 14"/>
          <p:cNvSpPr/>
          <p:nvPr/>
        </p:nvSpPr>
        <p:spPr>
          <a:xfrm>
            <a:off x="5410200" y="2156355"/>
            <a:ext cx="101393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Insert card</a:t>
            </a:r>
            <a:endParaRPr lang="en-US" sz="1400" dirty="0"/>
          </a:p>
        </p:txBody>
      </p:sp>
      <p:sp>
        <p:nvSpPr>
          <p:cNvPr id="17" name="Shape 15"/>
          <p:cNvSpPr/>
          <p:nvPr/>
        </p:nvSpPr>
        <p:spPr>
          <a:xfrm>
            <a:off x="4927600" y="2544961"/>
            <a:ext cx="6451600" cy="401307"/>
          </a:xfrm>
          <a:prstGeom prst="roundRect">
            <a:avLst>
              <a:gd name="adj" fmla="val 15823"/>
            </a:avLst>
          </a:prstGeom>
          <a:solidFill>
            <a:srgbClr val="FBFBF8"/>
          </a:solidFill>
          <a:ln/>
        </p:spPr>
      </p:sp>
      <p:sp>
        <p:nvSpPr>
          <p:cNvPr id="18" name="Text 16"/>
          <p:cNvSpPr/>
          <p:nvPr/>
        </p:nvSpPr>
        <p:spPr>
          <a:xfrm>
            <a:off x="5080000" y="2621161"/>
            <a:ext cx="2540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2</a:t>
            </a:r>
            <a:endParaRPr lang="en-US" sz="1400" dirty="0"/>
          </a:p>
        </p:txBody>
      </p:sp>
      <p:sp>
        <p:nvSpPr>
          <p:cNvPr id="19" name="Text 17"/>
          <p:cNvSpPr/>
          <p:nvPr/>
        </p:nvSpPr>
        <p:spPr>
          <a:xfrm>
            <a:off x="5410200" y="2621161"/>
            <a:ext cx="91154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Enter PIN</a:t>
            </a:r>
            <a:endParaRPr lang="en-US" sz="1400" dirty="0"/>
          </a:p>
        </p:txBody>
      </p:sp>
      <p:sp>
        <p:nvSpPr>
          <p:cNvPr id="20" name="Shape 18"/>
          <p:cNvSpPr/>
          <p:nvPr/>
        </p:nvSpPr>
        <p:spPr>
          <a:xfrm>
            <a:off x="4927600" y="3009770"/>
            <a:ext cx="6451600" cy="401307"/>
          </a:xfrm>
          <a:prstGeom prst="roundRect">
            <a:avLst>
              <a:gd name="adj" fmla="val 15823"/>
            </a:avLst>
          </a:prstGeom>
          <a:solidFill>
            <a:srgbClr val="FBFBF8"/>
          </a:solidFill>
          <a:ln/>
        </p:spPr>
      </p:sp>
      <p:sp>
        <p:nvSpPr>
          <p:cNvPr id="21" name="Text 19"/>
          <p:cNvSpPr/>
          <p:nvPr/>
        </p:nvSpPr>
        <p:spPr>
          <a:xfrm>
            <a:off x="5080000" y="3085970"/>
            <a:ext cx="2540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3</a:t>
            </a:r>
            <a:endParaRPr lang="en-US" sz="1400" dirty="0"/>
          </a:p>
        </p:txBody>
      </p:sp>
      <p:sp>
        <p:nvSpPr>
          <p:cNvPr id="22" name="Text 20"/>
          <p:cNvSpPr/>
          <p:nvPr/>
        </p:nvSpPr>
        <p:spPr>
          <a:xfrm>
            <a:off x="5410200" y="3085970"/>
            <a:ext cx="173878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Select withdrawal</a:t>
            </a:r>
            <a:endParaRPr lang="en-US" sz="1400" dirty="0"/>
          </a:p>
        </p:txBody>
      </p:sp>
      <p:sp>
        <p:nvSpPr>
          <p:cNvPr id="23" name="Shape 21"/>
          <p:cNvSpPr/>
          <p:nvPr/>
        </p:nvSpPr>
        <p:spPr>
          <a:xfrm>
            <a:off x="4927600" y="3474576"/>
            <a:ext cx="6451600" cy="401307"/>
          </a:xfrm>
          <a:prstGeom prst="roundRect">
            <a:avLst>
              <a:gd name="adj" fmla="val 15823"/>
            </a:avLst>
          </a:prstGeom>
          <a:solidFill>
            <a:srgbClr val="FBFBF8"/>
          </a:solidFill>
          <a:ln/>
        </p:spPr>
      </p:sp>
      <p:sp>
        <p:nvSpPr>
          <p:cNvPr id="24" name="Text 22"/>
          <p:cNvSpPr/>
          <p:nvPr/>
        </p:nvSpPr>
        <p:spPr>
          <a:xfrm>
            <a:off x="5080000" y="3550776"/>
            <a:ext cx="2540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4</a:t>
            </a:r>
            <a:endParaRPr lang="en-US" sz="1400" dirty="0"/>
          </a:p>
        </p:txBody>
      </p:sp>
      <p:sp>
        <p:nvSpPr>
          <p:cNvPr id="25" name="Text 23"/>
          <p:cNvSpPr/>
          <p:nvPr/>
        </p:nvSpPr>
        <p:spPr>
          <a:xfrm>
            <a:off x="5410200" y="3550776"/>
            <a:ext cx="12938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Enter amount</a:t>
            </a:r>
            <a:endParaRPr lang="en-US" sz="1400" dirty="0"/>
          </a:p>
        </p:txBody>
      </p:sp>
      <p:sp>
        <p:nvSpPr>
          <p:cNvPr id="26" name="Shape 24"/>
          <p:cNvSpPr/>
          <p:nvPr/>
        </p:nvSpPr>
        <p:spPr>
          <a:xfrm>
            <a:off x="4927600" y="3939381"/>
            <a:ext cx="6451600" cy="401307"/>
          </a:xfrm>
          <a:prstGeom prst="roundRect">
            <a:avLst>
              <a:gd name="adj" fmla="val 15823"/>
            </a:avLst>
          </a:prstGeom>
          <a:solidFill>
            <a:srgbClr val="FBFBF8"/>
          </a:solidFill>
          <a:ln/>
        </p:spPr>
      </p:sp>
      <p:sp>
        <p:nvSpPr>
          <p:cNvPr id="27" name="Text 25"/>
          <p:cNvSpPr/>
          <p:nvPr/>
        </p:nvSpPr>
        <p:spPr>
          <a:xfrm>
            <a:off x="5080000" y="4015581"/>
            <a:ext cx="2540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5</a:t>
            </a:r>
            <a:endParaRPr lang="en-US" sz="1400" dirty="0"/>
          </a:p>
        </p:txBody>
      </p:sp>
      <p:sp>
        <p:nvSpPr>
          <p:cNvPr id="28" name="Text 26"/>
          <p:cNvSpPr/>
          <p:nvPr/>
        </p:nvSpPr>
        <p:spPr>
          <a:xfrm>
            <a:off x="5410200" y="4015581"/>
            <a:ext cx="242411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System validates balance</a:t>
            </a:r>
            <a:endParaRPr lang="en-US" sz="1400" dirty="0"/>
          </a:p>
        </p:txBody>
      </p:sp>
      <p:sp>
        <p:nvSpPr>
          <p:cNvPr id="29" name="Shape 27"/>
          <p:cNvSpPr/>
          <p:nvPr/>
        </p:nvSpPr>
        <p:spPr>
          <a:xfrm>
            <a:off x="4927600" y="4404190"/>
            <a:ext cx="6451600" cy="401307"/>
          </a:xfrm>
          <a:prstGeom prst="roundRect">
            <a:avLst>
              <a:gd name="adj" fmla="val 15823"/>
            </a:avLst>
          </a:prstGeom>
          <a:solidFill>
            <a:srgbClr val="FBFBF8"/>
          </a:solidFill>
          <a:ln/>
        </p:spPr>
      </p:sp>
      <p:sp>
        <p:nvSpPr>
          <p:cNvPr id="30" name="Text 28"/>
          <p:cNvSpPr/>
          <p:nvPr/>
        </p:nvSpPr>
        <p:spPr>
          <a:xfrm>
            <a:off x="5080000" y="4480390"/>
            <a:ext cx="2540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6</a:t>
            </a:r>
            <a:endParaRPr lang="en-US" sz="1400" dirty="0"/>
          </a:p>
        </p:txBody>
      </p:sp>
      <p:sp>
        <p:nvSpPr>
          <p:cNvPr id="31" name="Text 29"/>
          <p:cNvSpPr/>
          <p:nvPr/>
        </p:nvSpPr>
        <p:spPr>
          <a:xfrm>
            <a:off x="5410200" y="4480390"/>
            <a:ext cx="194897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ATM dispenses cash</a:t>
            </a:r>
            <a:endParaRPr lang="en-US" sz="1400" dirty="0"/>
          </a:p>
        </p:txBody>
      </p:sp>
      <p:sp>
        <p:nvSpPr>
          <p:cNvPr id="32" name="Shape 30"/>
          <p:cNvSpPr/>
          <p:nvPr/>
        </p:nvSpPr>
        <p:spPr>
          <a:xfrm>
            <a:off x="4927600" y="4868996"/>
            <a:ext cx="6451600" cy="401307"/>
          </a:xfrm>
          <a:prstGeom prst="roundRect">
            <a:avLst>
              <a:gd name="adj" fmla="val 15823"/>
            </a:avLst>
          </a:prstGeom>
          <a:solidFill>
            <a:srgbClr val="FBFBF8"/>
          </a:solidFill>
          <a:ln/>
        </p:spPr>
      </p:sp>
      <p:sp>
        <p:nvSpPr>
          <p:cNvPr id="33" name="Text 31"/>
          <p:cNvSpPr/>
          <p:nvPr/>
        </p:nvSpPr>
        <p:spPr>
          <a:xfrm>
            <a:off x="5080000" y="4945196"/>
            <a:ext cx="2540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7</a:t>
            </a:r>
            <a:endParaRPr lang="en-US" sz="1400" dirty="0"/>
          </a:p>
        </p:txBody>
      </p:sp>
      <p:sp>
        <p:nvSpPr>
          <p:cNvPr id="34" name="Text 32"/>
          <p:cNvSpPr/>
          <p:nvPr/>
        </p:nvSpPr>
        <p:spPr>
          <a:xfrm>
            <a:off x="5410200" y="4945196"/>
            <a:ext cx="1767126"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Account is debited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WORKED EXAMPLE · ALTERNATE FLOWS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Different paths that still reach the goal</a:t>
            </a:r>
            <a:endParaRPr lang="en-US" sz="3200" dirty="0"/>
          </a:p>
        </p:txBody>
      </p:sp>
      <p:sp>
        <p:nvSpPr>
          <p:cNvPr id="4" name="Shape 2"/>
          <p:cNvSpPr/>
          <p:nvPr/>
        </p:nvSpPr>
        <p:spPr>
          <a:xfrm>
            <a:off x="812800" y="1854135"/>
            <a:ext cx="3386667" cy="1965854"/>
          </a:xfrm>
          <a:prstGeom prst="roundRect">
            <a:avLst>
              <a:gd name="adj" fmla="val 5168"/>
            </a:avLst>
          </a:prstGeom>
          <a:solidFill>
            <a:srgbClr val="EEF2F7"/>
          </a:solidFill>
          <a:ln/>
        </p:spPr>
      </p:sp>
      <p:sp>
        <p:nvSpPr>
          <p:cNvPr id="5" name="Shape 3"/>
          <p:cNvSpPr/>
          <p:nvPr/>
        </p:nvSpPr>
        <p:spPr>
          <a:xfrm>
            <a:off x="812800" y="1854135"/>
            <a:ext cx="3386667" cy="1965854"/>
          </a:xfrm>
          <a:custGeom>
            <a:avLst/>
            <a:gdLst/>
            <a:ahLst/>
            <a:cxnLst/>
            <a:rect l="l" t="t" r="r" b="b"/>
            <a:pathLst>
              <a:path w="3386667" h="1965854">
                <a:moveTo>
                  <a:pt x="0" y="101600"/>
                </a:moveTo>
                <a:lnTo>
                  <a:pt x="0" y="101600"/>
                </a:lnTo>
                <a:arcTo wR="101600" hR="101600" stAng="10800000" swAng="5400000"/>
                <a:lnTo>
                  <a:pt x="3285067" y="0"/>
                </a:lnTo>
                <a:arcTo wR="101600" hR="101600" stAng="16200000" swAng="5400000"/>
                <a:lnTo>
                  <a:pt x="3386667" y="101600"/>
                </a:lnTo>
                <a:arcTo wR="101600" hR="50800" stAng="0" swAng="-5400000"/>
                <a:lnTo>
                  <a:pt x="101600" y="50800"/>
                </a:lnTo>
                <a:arcTo wR="101600" hR="50800" stAng="16200000" swAng="-5400000"/>
                <a:close/>
              </a:path>
            </a:pathLst>
          </a:custGeom>
          <a:solidFill>
            <a:srgbClr val="2B5C9E"/>
          </a:solidFill>
          <a:ln/>
        </p:spPr>
      </p:sp>
      <p:sp>
        <p:nvSpPr>
          <p:cNvPr id="6" name="Text 4"/>
          <p:cNvSpPr/>
          <p:nvPr/>
        </p:nvSpPr>
        <p:spPr>
          <a:xfrm>
            <a:off x="1066800" y="2158935"/>
            <a:ext cx="296502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A1 · AT STEP 4</a:t>
            </a:r>
            <a:endParaRPr lang="en-US" sz="1200" dirty="0"/>
          </a:p>
        </p:txBody>
      </p:sp>
      <p:sp>
        <p:nvSpPr>
          <p:cNvPr id="7" name="Text 5"/>
          <p:cNvSpPr/>
          <p:nvPr/>
        </p:nvSpPr>
        <p:spPr>
          <a:xfrm>
            <a:off x="1066800" y="2473855"/>
            <a:ext cx="296502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Quick-cash amount</a:t>
            </a:r>
            <a:endParaRPr lang="en-US" sz="1600" dirty="0"/>
          </a:p>
        </p:txBody>
      </p:sp>
      <p:sp>
        <p:nvSpPr>
          <p:cNvPr id="8" name="Text 6"/>
          <p:cNvSpPr/>
          <p:nvPr/>
        </p:nvSpPr>
        <p:spPr>
          <a:xfrm>
            <a:off x="1066800" y="2819270"/>
            <a:ext cx="2965027" cy="772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Customer picks a preset amount, e.g. ₹2,000, instead of typing one. Continue at step 5.</a:t>
            </a:r>
            <a:endParaRPr lang="en-US" sz="1400" dirty="0"/>
          </a:p>
        </p:txBody>
      </p:sp>
      <p:sp>
        <p:nvSpPr>
          <p:cNvPr id="9" name="Shape 7"/>
          <p:cNvSpPr/>
          <p:nvPr/>
        </p:nvSpPr>
        <p:spPr>
          <a:xfrm>
            <a:off x="4402667" y="1854135"/>
            <a:ext cx="3386667" cy="1965854"/>
          </a:xfrm>
          <a:prstGeom prst="roundRect">
            <a:avLst>
              <a:gd name="adj" fmla="val 5168"/>
            </a:avLst>
          </a:prstGeom>
          <a:solidFill>
            <a:srgbClr val="EEF2F7"/>
          </a:solidFill>
          <a:ln/>
        </p:spPr>
      </p:sp>
      <p:sp>
        <p:nvSpPr>
          <p:cNvPr id="10" name="Shape 8"/>
          <p:cNvSpPr/>
          <p:nvPr/>
        </p:nvSpPr>
        <p:spPr>
          <a:xfrm>
            <a:off x="4402667" y="1854135"/>
            <a:ext cx="3386667" cy="1965854"/>
          </a:xfrm>
          <a:custGeom>
            <a:avLst/>
            <a:gdLst/>
            <a:ahLst/>
            <a:cxnLst/>
            <a:rect l="l" t="t" r="r" b="b"/>
            <a:pathLst>
              <a:path w="3386667" h="1965854">
                <a:moveTo>
                  <a:pt x="0" y="101600"/>
                </a:moveTo>
                <a:lnTo>
                  <a:pt x="0" y="101600"/>
                </a:lnTo>
                <a:arcTo wR="101600" hR="101600" stAng="10800000" swAng="5400000"/>
                <a:lnTo>
                  <a:pt x="3285067" y="0"/>
                </a:lnTo>
                <a:arcTo wR="101600" hR="101600" stAng="16200000" swAng="5400000"/>
                <a:lnTo>
                  <a:pt x="3386667" y="101600"/>
                </a:lnTo>
                <a:arcTo wR="101600" hR="50800" stAng="0" swAng="-5400000"/>
                <a:lnTo>
                  <a:pt x="101600" y="50800"/>
                </a:lnTo>
                <a:arcTo wR="101600" hR="50800" stAng="16200000" swAng="-5400000"/>
                <a:close/>
              </a:path>
            </a:pathLst>
          </a:custGeom>
          <a:solidFill>
            <a:srgbClr val="2B5C9E"/>
          </a:solidFill>
          <a:ln/>
        </p:spPr>
      </p:sp>
      <p:sp>
        <p:nvSpPr>
          <p:cNvPr id="11" name="Text 9"/>
          <p:cNvSpPr/>
          <p:nvPr/>
        </p:nvSpPr>
        <p:spPr>
          <a:xfrm>
            <a:off x="4656667" y="2158935"/>
            <a:ext cx="296502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A2 · AT STEP 6</a:t>
            </a:r>
            <a:endParaRPr lang="en-US" sz="1200" dirty="0"/>
          </a:p>
        </p:txBody>
      </p:sp>
      <p:sp>
        <p:nvSpPr>
          <p:cNvPr id="12" name="Text 10"/>
          <p:cNvSpPr/>
          <p:nvPr/>
        </p:nvSpPr>
        <p:spPr>
          <a:xfrm>
            <a:off x="4656667" y="2473855"/>
            <a:ext cx="296502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Receipt requested</a:t>
            </a:r>
            <a:endParaRPr lang="en-US" sz="1600" dirty="0"/>
          </a:p>
        </p:txBody>
      </p:sp>
      <p:sp>
        <p:nvSpPr>
          <p:cNvPr id="13" name="Text 11"/>
          <p:cNvSpPr/>
          <p:nvPr/>
        </p:nvSpPr>
        <p:spPr>
          <a:xfrm>
            <a:off x="4656667" y="2819270"/>
            <a:ext cx="313266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ATM prints a receipt and continues.</a:t>
            </a:r>
            <a:endParaRPr lang="en-US" sz="1400" dirty="0"/>
          </a:p>
        </p:txBody>
      </p:sp>
      <p:sp>
        <p:nvSpPr>
          <p:cNvPr id="14" name="Shape 12"/>
          <p:cNvSpPr/>
          <p:nvPr/>
        </p:nvSpPr>
        <p:spPr>
          <a:xfrm>
            <a:off x="7992534" y="1854135"/>
            <a:ext cx="3386667" cy="1965854"/>
          </a:xfrm>
          <a:prstGeom prst="roundRect">
            <a:avLst>
              <a:gd name="adj" fmla="val 5168"/>
            </a:avLst>
          </a:prstGeom>
          <a:solidFill>
            <a:srgbClr val="EEF2F7"/>
          </a:solidFill>
          <a:ln/>
        </p:spPr>
      </p:sp>
      <p:sp>
        <p:nvSpPr>
          <p:cNvPr id="15" name="Shape 13"/>
          <p:cNvSpPr/>
          <p:nvPr/>
        </p:nvSpPr>
        <p:spPr>
          <a:xfrm>
            <a:off x="7992534" y="1854135"/>
            <a:ext cx="3386667" cy="1965854"/>
          </a:xfrm>
          <a:custGeom>
            <a:avLst/>
            <a:gdLst/>
            <a:ahLst/>
            <a:cxnLst/>
            <a:rect l="l" t="t" r="r" b="b"/>
            <a:pathLst>
              <a:path w="3386667" h="1965854">
                <a:moveTo>
                  <a:pt x="0" y="101600"/>
                </a:moveTo>
                <a:lnTo>
                  <a:pt x="0" y="101600"/>
                </a:lnTo>
                <a:arcTo wR="101600" hR="101600" stAng="10800000" swAng="5400000"/>
                <a:lnTo>
                  <a:pt x="3285067" y="0"/>
                </a:lnTo>
                <a:arcTo wR="101600" hR="101600" stAng="16200000" swAng="5400000"/>
                <a:lnTo>
                  <a:pt x="3386667" y="101600"/>
                </a:lnTo>
                <a:arcTo wR="101600" hR="50800" stAng="0" swAng="-5400000"/>
                <a:lnTo>
                  <a:pt x="101600" y="50800"/>
                </a:lnTo>
                <a:arcTo wR="101600" hR="50800" stAng="16200000" swAng="-5400000"/>
                <a:close/>
              </a:path>
            </a:pathLst>
          </a:custGeom>
          <a:solidFill>
            <a:srgbClr val="2B5C9E"/>
          </a:solidFill>
          <a:ln/>
        </p:spPr>
      </p:sp>
      <p:sp>
        <p:nvSpPr>
          <p:cNvPr id="16" name="Text 14"/>
          <p:cNvSpPr/>
          <p:nvPr/>
        </p:nvSpPr>
        <p:spPr>
          <a:xfrm>
            <a:off x="8246534" y="2158935"/>
            <a:ext cx="296502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5C9E"/>
                </a:solidFill>
                <a:latin typeface="Nunito Sans" pitchFamily="34" charset="0"/>
                <a:ea typeface="Nunito Sans" pitchFamily="34" charset="-122"/>
                <a:cs typeface="Nunito Sans" pitchFamily="34" charset="-120"/>
              </a:rPr>
              <a:t>A3 · AT STEP 3</a:t>
            </a:r>
            <a:endParaRPr lang="en-US" sz="1200" dirty="0"/>
          </a:p>
        </p:txBody>
      </p:sp>
      <p:sp>
        <p:nvSpPr>
          <p:cNvPr id="17" name="Text 15"/>
          <p:cNvSpPr/>
          <p:nvPr/>
        </p:nvSpPr>
        <p:spPr>
          <a:xfrm>
            <a:off x="8246534" y="2473855"/>
            <a:ext cx="296502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Multiple accounts</a:t>
            </a:r>
            <a:endParaRPr lang="en-US" sz="1600" dirty="0"/>
          </a:p>
        </p:txBody>
      </p:sp>
      <p:sp>
        <p:nvSpPr>
          <p:cNvPr id="18" name="Text 16"/>
          <p:cNvSpPr/>
          <p:nvPr/>
        </p:nvSpPr>
        <p:spPr>
          <a:xfrm>
            <a:off x="8246534" y="2819270"/>
            <a:ext cx="296502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Customer selects Savings or Current before withdrawing.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WORKED EXAMPLE · EXCEPTION FLOWS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When something goes wrong</a:t>
            </a:r>
            <a:endParaRPr lang="en-US" sz="3200" dirty="0"/>
          </a:p>
        </p:txBody>
      </p:sp>
      <p:sp>
        <p:nvSpPr>
          <p:cNvPr id="4" name="Shape 2"/>
          <p:cNvSpPr/>
          <p:nvPr/>
        </p:nvSpPr>
        <p:spPr>
          <a:xfrm>
            <a:off x="812800" y="1803335"/>
            <a:ext cx="3420533" cy="1412147"/>
          </a:xfrm>
          <a:prstGeom prst="roundRect">
            <a:avLst>
              <a:gd name="adj" fmla="val 7195"/>
            </a:avLst>
          </a:prstGeom>
          <a:solidFill>
            <a:srgbClr val="FBEBDD"/>
          </a:solidFill>
          <a:ln/>
        </p:spPr>
      </p:sp>
      <p:sp>
        <p:nvSpPr>
          <p:cNvPr id="5" name="Text 3"/>
          <p:cNvSpPr/>
          <p:nvPr/>
        </p:nvSpPr>
        <p:spPr>
          <a:xfrm>
            <a:off x="1016000" y="2006535"/>
            <a:ext cx="310455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E1 · STEP 2</a:t>
            </a:r>
            <a:endParaRPr lang="en-US" sz="1200" dirty="0"/>
          </a:p>
        </p:txBody>
      </p:sp>
      <p:sp>
        <p:nvSpPr>
          <p:cNvPr id="6" name="Text 4"/>
          <p:cNvSpPr/>
          <p:nvPr/>
        </p:nvSpPr>
        <p:spPr>
          <a:xfrm>
            <a:off x="1016000" y="2270655"/>
            <a:ext cx="31045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unito Sans" pitchFamily="34" charset="0"/>
                <a:ea typeface="Nunito Sans" pitchFamily="34" charset="-122"/>
                <a:cs typeface="Nunito Sans" pitchFamily="34" charset="-120"/>
              </a:rPr>
              <a:t>Incorrect PIN</a:t>
            </a:r>
            <a:endParaRPr lang="en-US" sz="1500" dirty="0"/>
          </a:p>
        </p:txBody>
      </p:sp>
      <p:sp>
        <p:nvSpPr>
          <p:cNvPr id="7" name="Text 5"/>
          <p:cNvSpPr/>
          <p:nvPr/>
        </p:nvSpPr>
        <p:spPr>
          <a:xfrm>
            <a:off x="1016000" y="2550055"/>
            <a:ext cx="310455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Error and retry. After 3 wrong attempts the card is retained.</a:t>
            </a:r>
            <a:endParaRPr lang="en-US" sz="1300" dirty="0"/>
          </a:p>
        </p:txBody>
      </p:sp>
      <p:sp>
        <p:nvSpPr>
          <p:cNvPr id="8" name="Shape 6"/>
          <p:cNvSpPr/>
          <p:nvPr/>
        </p:nvSpPr>
        <p:spPr>
          <a:xfrm>
            <a:off x="4385733" y="1803335"/>
            <a:ext cx="3420533" cy="1412147"/>
          </a:xfrm>
          <a:prstGeom prst="roundRect">
            <a:avLst>
              <a:gd name="adj" fmla="val 7195"/>
            </a:avLst>
          </a:prstGeom>
          <a:solidFill>
            <a:srgbClr val="FBEBDD"/>
          </a:solidFill>
          <a:ln/>
        </p:spPr>
      </p:sp>
      <p:sp>
        <p:nvSpPr>
          <p:cNvPr id="9" name="Text 7"/>
          <p:cNvSpPr/>
          <p:nvPr/>
        </p:nvSpPr>
        <p:spPr>
          <a:xfrm>
            <a:off x="4588933" y="2006535"/>
            <a:ext cx="310455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E2 · STEP 5</a:t>
            </a:r>
            <a:endParaRPr lang="en-US" sz="1200" dirty="0"/>
          </a:p>
        </p:txBody>
      </p:sp>
      <p:sp>
        <p:nvSpPr>
          <p:cNvPr id="10" name="Text 8"/>
          <p:cNvSpPr/>
          <p:nvPr/>
        </p:nvSpPr>
        <p:spPr>
          <a:xfrm>
            <a:off x="4588933" y="2270655"/>
            <a:ext cx="31045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unito Sans" pitchFamily="34" charset="0"/>
                <a:ea typeface="Nunito Sans" pitchFamily="34" charset="-122"/>
                <a:cs typeface="Nunito Sans" pitchFamily="34" charset="-120"/>
              </a:rPr>
              <a:t>Insufficient balance</a:t>
            </a:r>
            <a:endParaRPr lang="en-US" sz="1500" dirty="0"/>
          </a:p>
        </p:txBody>
      </p:sp>
      <p:sp>
        <p:nvSpPr>
          <p:cNvPr id="11" name="Text 9"/>
          <p:cNvSpPr/>
          <p:nvPr/>
        </p:nvSpPr>
        <p:spPr>
          <a:xfrm>
            <a:off x="4588933" y="2550055"/>
            <a:ext cx="310455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“Insufficient funds”; offer another amount or cancel.</a:t>
            </a:r>
            <a:endParaRPr lang="en-US" sz="1300" dirty="0"/>
          </a:p>
        </p:txBody>
      </p:sp>
      <p:sp>
        <p:nvSpPr>
          <p:cNvPr id="12" name="Shape 10"/>
          <p:cNvSpPr/>
          <p:nvPr/>
        </p:nvSpPr>
        <p:spPr>
          <a:xfrm>
            <a:off x="7958667" y="1803335"/>
            <a:ext cx="3420533" cy="1412147"/>
          </a:xfrm>
          <a:prstGeom prst="roundRect">
            <a:avLst>
              <a:gd name="adj" fmla="val 7195"/>
            </a:avLst>
          </a:prstGeom>
          <a:solidFill>
            <a:srgbClr val="FBEBDD"/>
          </a:solidFill>
          <a:ln/>
        </p:spPr>
      </p:sp>
      <p:sp>
        <p:nvSpPr>
          <p:cNvPr id="13" name="Text 11"/>
          <p:cNvSpPr/>
          <p:nvPr/>
        </p:nvSpPr>
        <p:spPr>
          <a:xfrm>
            <a:off x="8161867" y="2006535"/>
            <a:ext cx="310455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E3 · STEP 4</a:t>
            </a:r>
            <a:endParaRPr lang="en-US" sz="1200" dirty="0"/>
          </a:p>
        </p:txBody>
      </p:sp>
      <p:sp>
        <p:nvSpPr>
          <p:cNvPr id="14" name="Text 12"/>
          <p:cNvSpPr/>
          <p:nvPr/>
        </p:nvSpPr>
        <p:spPr>
          <a:xfrm>
            <a:off x="8161867" y="2270655"/>
            <a:ext cx="31045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unito Sans" pitchFamily="34" charset="0"/>
                <a:ea typeface="Nunito Sans" pitchFamily="34" charset="-122"/>
                <a:cs typeface="Nunito Sans" pitchFamily="34" charset="-120"/>
              </a:rPr>
              <a:t>Invalid amount</a:t>
            </a:r>
            <a:endParaRPr lang="en-US" sz="1500" dirty="0"/>
          </a:p>
        </p:txBody>
      </p:sp>
      <p:sp>
        <p:nvSpPr>
          <p:cNvPr id="15" name="Text 13"/>
          <p:cNvSpPr/>
          <p:nvPr/>
        </p:nvSpPr>
        <p:spPr>
          <a:xfrm>
            <a:off x="8161867" y="2550055"/>
            <a:ext cx="310455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Not a multiple of 100, or above the per-transaction limit.</a:t>
            </a:r>
            <a:endParaRPr lang="en-US" sz="1300" dirty="0"/>
          </a:p>
        </p:txBody>
      </p:sp>
      <p:sp>
        <p:nvSpPr>
          <p:cNvPr id="16" name="Shape 14"/>
          <p:cNvSpPr/>
          <p:nvPr/>
        </p:nvSpPr>
        <p:spPr>
          <a:xfrm>
            <a:off x="812800" y="3367881"/>
            <a:ext cx="3420533" cy="1412147"/>
          </a:xfrm>
          <a:prstGeom prst="roundRect">
            <a:avLst>
              <a:gd name="adj" fmla="val 7195"/>
            </a:avLst>
          </a:prstGeom>
          <a:solidFill>
            <a:srgbClr val="FBEBDD"/>
          </a:solidFill>
          <a:ln/>
        </p:spPr>
      </p:sp>
      <p:sp>
        <p:nvSpPr>
          <p:cNvPr id="17" name="Text 15"/>
          <p:cNvSpPr/>
          <p:nvPr/>
        </p:nvSpPr>
        <p:spPr>
          <a:xfrm>
            <a:off x="1016000" y="3571081"/>
            <a:ext cx="310455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E4 · STEP 6</a:t>
            </a:r>
            <a:endParaRPr lang="en-US" sz="1200" dirty="0"/>
          </a:p>
        </p:txBody>
      </p:sp>
      <p:sp>
        <p:nvSpPr>
          <p:cNvPr id="18" name="Text 16"/>
          <p:cNvSpPr/>
          <p:nvPr/>
        </p:nvSpPr>
        <p:spPr>
          <a:xfrm>
            <a:off x="1016000" y="3835202"/>
            <a:ext cx="31045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unito Sans" pitchFamily="34" charset="0"/>
                <a:ea typeface="Nunito Sans" pitchFamily="34" charset="-122"/>
                <a:cs typeface="Nunito Sans" pitchFamily="34" charset="-120"/>
              </a:rPr>
              <a:t>Cash out or jam</a:t>
            </a:r>
            <a:endParaRPr lang="en-US" sz="1500" dirty="0"/>
          </a:p>
        </p:txBody>
      </p:sp>
      <p:sp>
        <p:nvSpPr>
          <p:cNvPr id="19" name="Text 17"/>
          <p:cNvSpPr/>
          <p:nvPr/>
        </p:nvSpPr>
        <p:spPr>
          <a:xfrm>
            <a:off x="1016000" y="4114602"/>
            <a:ext cx="321733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Transaction reversed; no debit happens.</a:t>
            </a:r>
            <a:endParaRPr lang="en-US" sz="1300" dirty="0"/>
          </a:p>
        </p:txBody>
      </p:sp>
      <p:sp>
        <p:nvSpPr>
          <p:cNvPr id="20" name="Shape 18"/>
          <p:cNvSpPr/>
          <p:nvPr/>
        </p:nvSpPr>
        <p:spPr>
          <a:xfrm>
            <a:off x="4385733" y="3367881"/>
            <a:ext cx="3420533" cy="1412147"/>
          </a:xfrm>
          <a:prstGeom prst="roundRect">
            <a:avLst>
              <a:gd name="adj" fmla="val 7195"/>
            </a:avLst>
          </a:prstGeom>
          <a:solidFill>
            <a:srgbClr val="FBEBDD"/>
          </a:solidFill>
          <a:ln/>
        </p:spPr>
      </p:sp>
      <p:sp>
        <p:nvSpPr>
          <p:cNvPr id="21" name="Text 19"/>
          <p:cNvSpPr/>
          <p:nvPr/>
        </p:nvSpPr>
        <p:spPr>
          <a:xfrm>
            <a:off x="4588933" y="3571081"/>
            <a:ext cx="310455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E5 · ANY STEP</a:t>
            </a:r>
            <a:endParaRPr lang="en-US" sz="1200" dirty="0"/>
          </a:p>
        </p:txBody>
      </p:sp>
      <p:sp>
        <p:nvSpPr>
          <p:cNvPr id="22" name="Text 20"/>
          <p:cNvSpPr/>
          <p:nvPr/>
        </p:nvSpPr>
        <p:spPr>
          <a:xfrm>
            <a:off x="4588933" y="3835202"/>
            <a:ext cx="31045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unito Sans" pitchFamily="34" charset="0"/>
                <a:ea typeface="Nunito Sans" pitchFamily="34" charset="-122"/>
                <a:cs typeface="Nunito Sans" pitchFamily="34" charset="-120"/>
              </a:rPr>
              <a:t>Timeout</a:t>
            </a:r>
            <a:endParaRPr lang="en-US" sz="1500" dirty="0"/>
          </a:p>
        </p:txBody>
      </p:sp>
      <p:sp>
        <p:nvSpPr>
          <p:cNvPr id="23" name="Text 21"/>
          <p:cNvSpPr/>
          <p:nvPr/>
        </p:nvSpPr>
        <p:spPr>
          <a:xfrm>
            <a:off x="4588933" y="4114602"/>
            <a:ext cx="310455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No response in 30 seconds: session ends, card ejected.</a:t>
            </a:r>
            <a:endParaRPr lang="en-US" sz="1300" dirty="0"/>
          </a:p>
        </p:txBody>
      </p:sp>
      <p:sp>
        <p:nvSpPr>
          <p:cNvPr id="24" name="Shape 22"/>
          <p:cNvSpPr/>
          <p:nvPr/>
        </p:nvSpPr>
        <p:spPr>
          <a:xfrm>
            <a:off x="7958667" y="3367881"/>
            <a:ext cx="3420533" cy="1412147"/>
          </a:xfrm>
          <a:prstGeom prst="roundRect">
            <a:avLst>
              <a:gd name="adj" fmla="val 7195"/>
            </a:avLst>
          </a:prstGeom>
          <a:solidFill>
            <a:srgbClr val="FBEBDD"/>
          </a:solidFill>
          <a:ln/>
        </p:spPr>
      </p:sp>
      <p:sp>
        <p:nvSpPr>
          <p:cNvPr id="25" name="Text 23"/>
          <p:cNvSpPr/>
          <p:nvPr/>
        </p:nvSpPr>
        <p:spPr>
          <a:xfrm>
            <a:off x="8161867" y="3571081"/>
            <a:ext cx="310455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E6 · STEP 5</a:t>
            </a:r>
            <a:endParaRPr lang="en-US" sz="1200" dirty="0"/>
          </a:p>
        </p:txBody>
      </p:sp>
      <p:sp>
        <p:nvSpPr>
          <p:cNvPr id="26" name="Text 24"/>
          <p:cNvSpPr/>
          <p:nvPr/>
        </p:nvSpPr>
        <p:spPr>
          <a:xfrm>
            <a:off x="8161867" y="3835202"/>
            <a:ext cx="31045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Nunito Sans" pitchFamily="34" charset="0"/>
                <a:ea typeface="Nunito Sans" pitchFamily="34" charset="-122"/>
                <a:cs typeface="Nunito Sans" pitchFamily="34" charset="-120"/>
              </a:rPr>
              <a:t>Connection lost</a:t>
            </a:r>
            <a:endParaRPr lang="en-US" sz="1500" dirty="0"/>
          </a:p>
        </p:txBody>
      </p:sp>
      <p:sp>
        <p:nvSpPr>
          <p:cNvPr id="27" name="Text 25"/>
          <p:cNvSpPr/>
          <p:nvPr/>
        </p:nvSpPr>
        <p:spPr>
          <a:xfrm>
            <a:off x="8161867" y="4114602"/>
            <a:ext cx="310455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Bank unreachable: transaction cancelled, no debit.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WORKED EXAMPLE · POSTCONDITIONS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must be true afterwards</a:t>
            </a:r>
            <a:endParaRPr lang="en-US" sz="3200" dirty="0"/>
          </a:p>
        </p:txBody>
      </p:sp>
      <p:sp>
        <p:nvSpPr>
          <p:cNvPr id="4" name="Shape 2"/>
          <p:cNvSpPr/>
          <p:nvPr/>
        </p:nvSpPr>
        <p:spPr>
          <a:xfrm>
            <a:off x="812800" y="1854138"/>
            <a:ext cx="5181600" cy="2082800"/>
          </a:xfrm>
          <a:prstGeom prst="roundRect">
            <a:avLst>
              <a:gd name="adj" fmla="val 4878"/>
            </a:avLst>
          </a:prstGeom>
          <a:solidFill>
            <a:srgbClr val="FBFBF8"/>
          </a:solidFill>
          <a:ln/>
        </p:spPr>
      </p:sp>
      <p:sp>
        <p:nvSpPr>
          <p:cNvPr id="5" name="Shape 3"/>
          <p:cNvSpPr/>
          <p:nvPr/>
        </p:nvSpPr>
        <p:spPr>
          <a:xfrm>
            <a:off x="812800" y="1854138"/>
            <a:ext cx="5181600" cy="2082800"/>
          </a:xfrm>
          <a:custGeom>
            <a:avLst/>
            <a:gdLst/>
            <a:ahLst/>
            <a:cxnLst/>
            <a:rect l="l" t="t" r="r" b="b"/>
            <a:pathLst>
              <a:path w="5181600" h="208280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2B5C9E"/>
          </a:solidFill>
          <a:ln/>
        </p:spPr>
      </p:sp>
      <p:pic>
        <p:nvPicPr>
          <p:cNvPr id="6" name="Image 0" descr="CheckCircle"/>
          <p:cNvPicPr>
            <a:picLocks noChangeAspect="1"/>
          </p:cNvPicPr>
          <p:nvPr/>
        </p:nvPicPr>
        <p:blipFill>
          <a:blip r:embed="rId3"/>
          <a:srcRect/>
          <a:stretch/>
        </p:blipFill>
        <p:spPr>
          <a:xfrm>
            <a:off x="1066800" y="2158938"/>
            <a:ext cx="279400" cy="279400"/>
          </a:xfrm>
          <a:prstGeom prst="rect">
            <a:avLst/>
          </a:prstGeom>
        </p:spPr>
      </p:pic>
      <p:sp>
        <p:nvSpPr>
          <p:cNvPr id="7" name="Text 4"/>
          <p:cNvSpPr/>
          <p:nvPr/>
        </p:nvSpPr>
        <p:spPr>
          <a:xfrm>
            <a:off x="1447800" y="2161449"/>
            <a:ext cx="1432004"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On success</a:t>
            </a:r>
            <a:endParaRPr lang="en-US" sz="1800" dirty="0"/>
          </a:p>
        </p:txBody>
      </p:sp>
      <p:sp>
        <p:nvSpPr>
          <p:cNvPr id="8" name="Text 5"/>
          <p:cNvSpPr/>
          <p:nvPr/>
        </p:nvSpPr>
        <p:spPr>
          <a:xfrm>
            <a:off x="1137920" y="2539938"/>
            <a:ext cx="4735068" cy="11684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3D4A5C"/>
                </a:solidFill>
                <a:latin typeface="Nunito Sans" pitchFamily="34" charset="0"/>
                <a:ea typeface="Nunito Sans" pitchFamily="34" charset="-122"/>
                <a:cs typeface="Nunito Sans" pitchFamily="34" charset="-120"/>
              </a:rPr>
              <a:t>Cash dispensed</a:t>
            </a:r>
            <a:endParaRPr lang="en-US" sz="1500" dirty="0"/>
          </a:p>
          <a:p>
            <a:pPr marL="182880" indent="-182880" algn="l">
              <a:lnSpc>
                <a:spcPts val="2250"/>
              </a:lnSpc>
              <a:buSzPct val="100000"/>
              <a:buChar char="•"/>
            </a:pPr>
            <a:r>
              <a:rPr lang="en-US" sz="1500" dirty="0">
                <a:solidFill>
                  <a:srgbClr val="3D4A5C"/>
                </a:solidFill>
                <a:latin typeface="Nunito Sans" pitchFamily="34" charset="0"/>
                <a:ea typeface="Nunito Sans" pitchFamily="34" charset="-122"/>
                <a:cs typeface="Nunito Sans" pitchFamily="34" charset="-120"/>
              </a:rPr>
              <a:t>Account debited by exactly the amount</a:t>
            </a:r>
            <a:endParaRPr lang="en-US" sz="1500" dirty="0"/>
          </a:p>
          <a:p>
            <a:pPr marL="182880" indent="-182880" algn="l">
              <a:lnSpc>
                <a:spcPts val="2250"/>
              </a:lnSpc>
              <a:buSzPct val="100000"/>
              <a:buChar char="•"/>
            </a:pPr>
            <a:r>
              <a:rPr lang="en-US" sz="1500" dirty="0">
                <a:solidFill>
                  <a:srgbClr val="3D4A5C"/>
                </a:solidFill>
                <a:latin typeface="Nunito Sans" pitchFamily="34" charset="0"/>
                <a:ea typeface="Nunito Sans" pitchFamily="34" charset="-122"/>
                <a:cs typeface="Nunito Sans" pitchFamily="34" charset="-120"/>
              </a:rPr>
              <a:t>Transaction recorded</a:t>
            </a:r>
            <a:endParaRPr lang="en-US" sz="1500" dirty="0"/>
          </a:p>
          <a:p>
            <a:pPr marL="182880" indent="-182880" algn="l">
              <a:lnSpc>
                <a:spcPts val="2250"/>
              </a:lnSpc>
              <a:buSzPct val="100000"/>
              <a:buChar char="•"/>
            </a:pPr>
            <a:r>
              <a:rPr lang="en-US" sz="1500" dirty="0">
                <a:solidFill>
                  <a:srgbClr val="3D4A5C"/>
                </a:solidFill>
                <a:latin typeface="Nunito Sans" pitchFamily="34" charset="0"/>
                <a:ea typeface="Nunito Sans" pitchFamily="34" charset="-122"/>
                <a:cs typeface="Nunito Sans" pitchFamily="34" charset="-120"/>
              </a:rPr>
              <a:t>Card returned</a:t>
            </a:r>
            <a:endParaRPr lang="en-US" sz="1500" dirty="0"/>
          </a:p>
        </p:txBody>
      </p:sp>
      <p:sp>
        <p:nvSpPr>
          <p:cNvPr id="9" name="Shape 6"/>
          <p:cNvSpPr/>
          <p:nvPr/>
        </p:nvSpPr>
        <p:spPr>
          <a:xfrm>
            <a:off x="6197600" y="1854138"/>
            <a:ext cx="5181600" cy="2082800"/>
          </a:xfrm>
          <a:prstGeom prst="roundRect">
            <a:avLst>
              <a:gd name="adj" fmla="val 4878"/>
            </a:avLst>
          </a:prstGeom>
          <a:solidFill>
            <a:srgbClr val="FBFBF8"/>
          </a:solidFill>
          <a:ln/>
        </p:spPr>
      </p:sp>
      <p:sp>
        <p:nvSpPr>
          <p:cNvPr id="10" name="Shape 7"/>
          <p:cNvSpPr/>
          <p:nvPr/>
        </p:nvSpPr>
        <p:spPr>
          <a:xfrm>
            <a:off x="6197600" y="1854138"/>
            <a:ext cx="5181600" cy="2082800"/>
          </a:xfrm>
          <a:custGeom>
            <a:avLst/>
            <a:gdLst/>
            <a:ahLst/>
            <a:cxnLst/>
            <a:rect l="l" t="t" r="r" b="b"/>
            <a:pathLst>
              <a:path w="5181600" h="208280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A14F0A"/>
          </a:solidFill>
          <a:ln/>
        </p:spPr>
      </p:sp>
      <p:pic>
        <p:nvPicPr>
          <p:cNvPr id="11" name="Image 1" descr="Warning"/>
          <p:cNvPicPr>
            <a:picLocks noChangeAspect="1"/>
          </p:cNvPicPr>
          <p:nvPr/>
        </p:nvPicPr>
        <p:blipFill>
          <a:blip r:embed="rId4"/>
          <a:srcRect/>
          <a:stretch/>
        </p:blipFill>
        <p:spPr>
          <a:xfrm>
            <a:off x="6451600" y="2158938"/>
            <a:ext cx="279400" cy="279400"/>
          </a:xfrm>
          <a:prstGeom prst="rect">
            <a:avLst/>
          </a:prstGeom>
        </p:spPr>
      </p:pic>
      <p:sp>
        <p:nvSpPr>
          <p:cNvPr id="12" name="Text 8"/>
          <p:cNvSpPr/>
          <p:nvPr/>
        </p:nvSpPr>
        <p:spPr>
          <a:xfrm>
            <a:off x="6832600" y="2161449"/>
            <a:ext cx="130206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Nunito Sans" pitchFamily="34" charset="0"/>
                <a:ea typeface="Nunito Sans" pitchFamily="34" charset="-122"/>
                <a:cs typeface="Nunito Sans" pitchFamily="34" charset="-120"/>
              </a:rPr>
              <a:t>On failure</a:t>
            </a:r>
            <a:endParaRPr lang="en-US" sz="1800" dirty="0"/>
          </a:p>
        </p:txBody>
      </p:sp>
      <p:sp>
        <p:nvSpPr>
          <p:cNvPr id="13" name="Text 9"/>
          <p:cNvSpPr/>
          <p:nvPr/>
        </p:nvSpPr>
        <p:spPr>
          <a:xfrm>
            <a:off x="6522720" y="2539938"/>
            <a:ext cx="4735068" cy="8826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3D4A5C"/>
                </a:solidFill>
                <a:latin typeface="Nunito Sans" pitchFamily="34" charset="0"/>
                <a:ea typeface="Nunito Sans" pitchFamily="34" charset="-122"/>
                <a:cs typeface="Nunito Sans" pitchFamily="34" charset="-120"/>
              </a:rPr>
              <a:t>No cash dispensed</a:t>
            </a:r>
            <a:endParaRPr lang="en-US" sz="1500" dirty="0"/>
          </a:p>
          <a:p>
            <a:pPr marL="182880" indent="-182880" algn="l">
              <a:lnSpc>
                <a:spcPts val="2250"/>
              </a:lnSpc>
              <a:buSzPct val="100000"/>
              <a:buChar char="•"/>
            </a:pPr>
            <a:r>
              <a:rPr lang="en-US" sz="1500" dirty="0">
                <a:solidFill>
                  <a:srgbClr val="3D4A5C"/>
                </a:solidFill>
                <a:latin typeface="Nunito Sans" pitchFamily="34" charset="0"/>
                <a:ea typeface="Nunito Sans" pitchFamily="34" charset="-122"/>
                <a:cs typeface="Nunito Sans" pitchFamily="34" charset="-120"/>
              </a:rPr>
              <a:t>Account </a:t>
            </a:r>
            <a:r>
              <a:rPr lang="en-US" sz="1500" b="1" dirty="0">
                <a:solidFill>
                  <a:srgbClr val="3D4A5C"/>
                </a:solidFill>
                <a:latin typeface="Nunito Sans" pitchFamily="34" charset="0"/>
                <a:ea typeface="Nunito Sans" pitchFamily="34" charset="-122"/>
                <a:cs typeface="Nunito Sans" pitchFamily="34" charset="-120"/>
              </a:rPr>
              <a:t>not</a:t>
            </a:r>
            <a:r>
              <a:rPr lang="en-US" sz="1500" dirty="0">
                <a:solidFill>
                  <a:srgbClr val="3D4A5C"/>
                </a:solidFill>
                <a:latin typeface="Nunito Sans" pitchFamily="34" charset="0"/>
                <a:ea typeface="Nunito Sans" pitchFamily="34" charset="-122"/>
                <a:cs typeface="Nunito Sans" pitchFamily="34" charset="-120"/>
              </a:rPr>
              <a:t> debited, or debit reversed</a:t>
            </a:r>
            <a:endParaRPr lang="en-US" sz="1500" dirty="0"/>
          </a:p>
          <a:p>
            <a:pPr marL="182880" indent="-182880" algn="l">
              <a:lnSpc>
                <a:spcPts val="2250"/>
              </a:lnSpc>
              <a:buSzPct val="100000"/>
              <a:buChar char="•"/>
            </a:pPr>
            <a:r>
              <a:rPr lang="en-US" sz="1500" dirty="0">
                <a:solidFill>
                  <a:srgbClr val="3D4A5C"/>
                </a:solidFill>
                <a:latin typeface="Nunito Sans" pitchFamily="34" charset="0"/>
                <a:ea typeface="Nunito Sans" pitchFamily="34" charset="-122"/>
                <a:cs typeface="Nunito Sans" pitchFamily="34" charset="-120"/>
              </a:rPr>
              <a:t>Reason logged</a:t>
            </a:r>
            <a:endParaRPr lang="en-US" sz="1500" dirty="0"/>
          </a:p>
        </p:txBody>
      </p:sp>
      <p:sp>
        <p:nvSpPr>
          <p:cNvPr id="14" name="Text 10"/>
          <p:cNvSpPr/>
          <p:nvPr/>
        </p:nvSpPr>
        <p:spPr>
          <a:xfrm>
            <a:off x="812800" y="4241738"/>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Failure postconditions are critical test points: verify what must </a:t>
            </a:r>
            <a:r>
              <a:rPr lang="en-US" sz="1500" b="1" dirty="0">
                <a:solidFill>
                  <a:srgbClr val="14213D"/>
                </a:solidFill>
                <a:latin typeface="Nunito Sans" pitchFamily="34" charset="0"/>
                <a:ea typeface="Nunito Sans" pitchFamily="34" charset="-122"/>
                <a:cs typeface="Nunito Sans" pitchFamily="34" charset="-120"/>
              </a:rPr>
              <a:t>not</a:t>
            </a:r>
            <a:r>
              <a:rPr lang="en-US" sz="1500" dirty="0">
                <a:solidFill>
                  <a:srgbClr val="14213D"/>
                </a:solidFill>
                <a:latin typeface="Nunito Sans" pitchFamily="34" charset="0"/>
                <a:ea typeface="Nunito Sans" pitchFamily="34" charset="-122"/>
                <a:cs typeface="Nunito Sans" pitchFamily="34" charset="-120"/>
              </a:rPr>
              <a:t> happen.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FROM ONE USE CASE, MANY SCENARIOS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Every flow becomes a test scenario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8"/>
          <a:ext cx="10553700" cy="3326474"/>
        </p:xfrm>
        <a:graphic>
          <a:graphicData uri="http://schemas.openxmlformats.org/drawingml/2006/table">
            <a:tbl>
              <a:tblPr/>
              <a:tblGrid>
                <a:gridCol w="1899666">
                  <a:extLst>
                    <a:ext uri="{9D8B030D-6E8A-4147-A177-3AD203B41FA5}">
                      <a16:colId xmlns:a16="http://schemas.microsoft.com/office/drawing/2014/main" val="20000"/>
                    </a:ext>
                  </a:extLst>
                </a:gridCol>
                <a:gridCol w="8654034">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Flow</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Test scenario</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Main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Withdraw a valid amount successfully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Withdraw using quick-cash</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Withdraw with a receipt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Wrong PIN once, then correct PIN; wrong PIN 3 times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Withdraw more than the balance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Withdraw ₹150 (not a multiple of 100); withdraw above the limit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ATM cash runs out mid-transaction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Customer walks away; session times out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Network failure during balance validation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529490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1 main + 3 alternate + 6 exception flows = </a:t>
            </a:r>
            <a:r>
              <a:rPr lang="en-US" sz="1400" b="1" dirty="0">
                <a:solidFill>
                  <a:srgbClr val="14213D"/>
                </a:solidFill>
                <a:latin typeface="Nunito Sans" pitchFamily="34" charset="0"/>
                <a:ea typeface="Nunito Sans" pitchFamily="34" charset="-122"/>
                <a:cs typeface="Nunito Sans" pitchFamily="34" charset="-120"/>
              </a:rPr>
              <a:t>10+ scenarios</a:t>
            </a:r>
            <a:r>
              <a:rPr lang="en-US" sz="1400" dirty="0">
                <a:solidFill>
                  <a:srgbClr val="14213D"/>
                </a:solidFill>
                <a:latin typeface="Nunito Sans" pitchFamily="34" charset="0"/>
                <a:ea typeface="Nunito Sans" pitchFamily="34" charset="-122"/>
                <a:cs typeface="Nunito Sans" pitchFamily="34" charset="-120"/>
              </a:rPr>
              <a:t>, and most defects hide in the exceptions.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REQUIREMENT VS. VERIFICATION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Use case vs. test case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515129"/>
        </p:xfrm>
        <a:graphic>
          <a:graphicData uri="http://schemas.openxmlformats.org/drawingml/2006/table">
            <a:tbl>
              <a:tblPr/>
              <a:tblGrid>
                <a:gridCol w="2321814">
                  <a:extLst>
                    <a:ext uri="{9D8B030D-6E8A-4147-A177-3AD203B41FA5}">
                      <a16:colId xmlns:a16="http://schemas.microsoft.com/office/drawing/2014/main" val="20000"/>
                    </a:ext>
                  </a:extLst>
                </a:gridCol>
                <a:gridCol w="4115943">
                  <a:extLst>
                    <a:ext uri="{9D8B030D-6E8A-4147-A177-3AD203B41FA5}">
                      <a16:colId xmlns:a16="http://schemas.microsoft.com/office/drawing/2014/main" val="20001"/>
                    </a:ext>
                  </a:extLst>
                </a:gridCol>
                <a:gridCol w="4115943">
                  <a:extLst>
                    <a:ext uri="{9D8B030D-6E8A-4147-A177-3AD203B41FA5}">
                      <a16:colId xmlns:a16="http://schemas.microsoft.com/office/drawing/2014/main" val="20002"/>
                    </a:ext>
                  </a:extLst>
                </a:gridCol>
              </a:tblGrid>
              <a:tr h="359304">
                <a:tc>
                  <a:txBody>
                    <a:bodyPr/>
                    <a:lstStyle/>
                    <a:p>
                      <a:pPr marL="0" indent="0">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Use case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Test case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Purpose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Describes required behaviour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Verifies the behaviour works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Written by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Business analyst / product team</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Detail</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“Customer enters amount”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“Enter 2000 in Amount, click Proceed”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data?</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No</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Pass / fail?</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No</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Yes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Relationship</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One use case → many test cases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Each traces back to a use case flow</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WATCH OUT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Common beginner mistakes</a:t>
            </a:r>
            <a:endParaRPr lang="en-US" sz="3200" dirty="0"/>
          </a:p>
        </p:txBody>
      </p:sp>
      <p:sp>
        <p:nvSpPr>
          <p:cNvPr id="4" name="Shape 2"/>
          <p:cNvSpPr/>
          <p:nvPr/>
        </p:nvSpPr>
        <p:spPr>
          <a:xfrm>
            <a:off x="812800" y="1854138"/>
            <a:ext cx="10566400" cy="558800"/>
          </a:xfrm>
          <a:prstGeom prst="roundRect">
            <a:avLst>
              <a:gd name="adj" fmla="val 13636"/>
            </a:avLst>
          </a:prstGeom>
          <a:solidFill>
            <a:srgbClr val="EEF2F7"/>
          </a:solidFill>
          <a:ln/>
        </p:spPr>
      </p:sp>
      <p:pic>
        <p:nvPicPr>
          <p:cNvPr id="5" name="Image 0" descr="Warning"/>
          <p:cNvPicPr>
            <a:picLocks noChangeAspect="1"/>
          </p:cNvPicPr>
          <p:nvPr/>
        </p:nvPicPr>
        <p:blipFill>
          <a:blip r:embed="rId3"/>
          <a:srcRect/>
          <a:stretch/>
        </p:blipFill>
        <p:spPr>
          <a:xfrm>
            <a:off x="1016000" y="2006538"/>
            <a:ext cx="254000" cy="254000"/>
          </a:xfrm>
          <a:prstGeom prst="rect">
            <a:avLst/>
          </a:prstGeom>
        </p:spPr>
      </p:pic>
      <p:sp>
        <p:nvSpPr>
          <p:cNvPr id="6" name="Text 3"/>
          <p:cNvSpPr/>
          <p:nvPr/>
        </p:nvSpPr>
        <p:spPr>
          <a:xfrm>
            <a:off x="1422400" y="2009049"/>
            <a:ext cx="751086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Writing only the happy path:</a:t>
            </a:r>
            <a:r>
              <a:rPr lang="en-US" sz="1400" dirty="0">
                <a:solidFill>
                  <a:srgbClr val="3D4A5C"/>
                </a:solidFill>
                <a:latin typeface="Nunito Sans" pitchFamily="34" charset="0"/>
                <a:ea typeface="Nunito Sans" pitchFamily="34" charset="-122"/>
                <a:cs typeface="Nunito Sans" pitchFamily="34" charset="-120"/>
              </a:rPr>
              <a:t> the value is in the alternate and exception flows.</a:t>
            </a:r>
            <a:endParaRPr lang="en-US" sz="1400" dirty="0"/>
          </a:p>
        </p:txBody>
      </p:sp>
      <p:sp>
        <p:nvSpPr>
          <p:cNvPr id="7" name="Shape 4"/>
          <p:cNvSpPr/>
          <p:nvPr/>
        </p:nvSpPr>
        <p:spPr>
          <a:xfrm>
            <a:off x="812800" y="2539938"/>
            <a:ext cx="10566400" cy="558800"/>
          </a:xfrm>
          <a:prstGeom prst="roundRect">
            <a:avLst>
              <a:gd name="adj" fmla="val 13636"/>
            </a:avLst>
          </a:prstGeom>
          <a:solidFill>
            <a:srgbClr val="EEF2F7"/>
          </a:solidFill>
          <a:ln/>
        </p:spPr>
      </p:sp>
      <p:pic>
        <p:nvPicPr>
          <p:cNvPr id="8" name="Image 1" descr="Warning"/>
          <p:cNvPicPr>
            <a:picLocks noChangeAspect="1"/>
          </p:cNvPicPr>
          <p:nvPr/>
        </p:nvPicPr>
        <p:blipFill>
          <a:blip r:embed="rId3"/>
          <a:srcRect/>
          <a:stretch/>
        </p:blipFill>
        <p:spPr>
          <a:xfrm>
            <a:off x="1016000" y="2692338"/>
            <a:ext cx="254000" cy="254000"/>
          </a:xfrm>
          <a:prstGeom prst="rect">
            <a:avLst/>
          </a:prstGeom>
        </p:spPr>
      </p:pic>
      <p:sp>
        <p:nvSpPr>
          <p:cNvPr id="9" name="Text 5"/>
          <p:cNvSpPr/>
          <p:nvPr/>
        </p:nvSpPr>
        <p:spPr>
          <a:xfrm>
            <a:off x="1422400" y="2694849"/>
            <a:ext cx="744402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Mixing in UI detail:</a:t>
            </a:r>
            <a:r>
              <a:rPr lang="en-US" sz="1400" dirty="0">
                <a:solidFill>
                  <a:srgbClr val="3D4A5C"/>
                </a:solidFill>
                <a:latin typeface="Nunito Sans" pitchFamily="34" charset="0"/>
                <a:ea typeface="Nunito Sans" pitchFamily="34" charset="-122"/>
                <a:cs typeface="Nunito Sans" pitchFamily="34" charset="-120"/>
              </a:rPr>
              <a:t> “click the blue button” belongs in design, not the use case.</a:t>
            </a:r>
            <a:endParaRPr lang="en-US" sz="1400" dirty="0"/>
          </a:p>
        </p:txBody>
      </p:sp>
      <p:sp>
        <p:nvSpPr>
          <p:cNvPr id="10" name="Shape 6"/>
          <p:cNvSpPr/>
          <p:nvPr/>
        </p:nvSpPr>
        <p:spPr>
          <a:xfrm>
            <a:off x="812800" y="3225738"/>
            <a:ext cx="10566400" cy="558800"/>
          </a:xfrm>
          <a:prstGeom prst="roundRect">
            <a:avLst>
              <a:gd name="adj" fmla="val 13636"/>
            </a:avLst>
          </a:prstGeom>
          <a:solidFill>
            <a:srgbClr val="EEF2F7"/>
          </a:solidFill>
          <a:ln/>
        </p:spPr>
      </p:sp>
      <p:pic>
        <p:nvPicPr>
          <p:cNvPr id="11" name="Image 2" descr="Warning"/>
          <p:cNvPicPr>
            <a:picLocks noChangeAspect="1"/>
          </p:cNvPicPr>
          <p:nvPr/>
        </p:nvPicPr>
        <p:blipFill>
          <a:blip r:embed="rId3"/>
          <a:srcRect/>
          <a:stretch/>
        </p:blipFill>
        <p:spPr>
          <a:xfrm>
            <a:off x="1016000" y="3378138"/>
            <a:ext cx="254000" cy="254000"/>
          </a:xfrm>
          <a:prstGeom prst="rect">
            <a:avLst/>
          </a:prstGeom>
        </p:spPr>
      </p:pic>
      <p:sp>
        <p:nvSpPr>
          <p:cNvPr id="12" name="Text 7"/>
          <p:cNvSpPr/>
          <p:nvPr/>
        </p:nvSpPr>
        <p:spPr>
          <a:xfrm>
            <a:off x="1422400" y="3380649"/>
            <a:ext cx="7670324"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Forgetting failure postconditions:</a:t>
            </a:r>
            <a:r>
              <a:rPr lang="en-US" sz="1400" dirty="0">
                <a:solidFill>
                  <a:srgbClr val="3D4A5C"/>
                </a:solidFill>
                <a:latin typeface="Nunito Sans" pitchFamily="34" charset="0"/>
                <a:ea typeface="Nunito Sans" pitchFamily="34" charset="-122"/>
                <a:cs typeface="Nunito Sans" pitchFamily="34" charset="-120"/>
              </a:rPr>
              <a:t> “account is not debited” is a critical test point.</a:t>
            </a:r>
            <a:endParaRPr lang="en-US" sz="1400" dirty="0"/>
          </a:p>
        </p:txBody>
      </p:sp>
      <p:sp>
        <p:nvSpPr>
          <p:cNvPr id="13" name="Shape 8"/>
          <p:cNvSpPr/>
          <p:nvPr/>
        </p:nvSpPr>
        <p:spPr>
          <a:xfrm>
            <a:off x="812800" y="3911538"/>
            <a:ext cx="10566400" cy="558800"/>
          </a:xfrm>
          <a:prstGeom prst="roundRect">
            <a:avLst>
              <a:gd name="adj" fmla="val 13636"/>
            </a:avLst>
          </a:prstGeom>
          <a:solidFill>
            <a:srgbClr val="EEF2F7"/>
          </a:solidFill>
          <a:ln/>
        </p:spPr>
      </p:sp>
      <p:pic>
        <p:nvPicPr>
          <p:cNvPr id="14" name="Image 3" descr="Warning"/>
          <p:cNvPicPr>
            <a:picLocks noChangeAspect="1"/>
          </p:cNvPicPr>
          <p:nvPr/>
        </p:nvPicPr>
        <p:blipFill>
          <a:blip r:embed="rId3"/>
          <a:srcRect/>
          <a:stretch/>
        </p:blipFill>
        <p:spPr>
          <a:xfrm>
            <a:off x="1016000" y="4063938"/>
            <a:ext cx="254000" cy="254000"/>
          </a:xfrm>
          <a:prstGeom prst="rect">
            <a:avLst/>
          </a:prstGeom>
        </p:spPr>
      </p:pic>
      <p:sp>
        <p:nvSpPr>
          <p:cNvPr id="15" name="Text 9"/>
          <p:cNvSpPr/>
          <p:nvPr/>
        </p:nvSpPr>
        <p:spPr>
          <a:xfrm>
            <a:off x="1422400" y="4066449"/>
            <a:ext cx="703961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Confusing actors with job titles:</a:t>
            </a:r>
            <a:r>
              <a:rPr lang="en-US" sz="1400" dirty="0">
                <a:solidFill>
                  <a:srgbClr val="3D4A5C"/>
                </a:solidFill>
                <a:latin typeface="Nunito Sans" pitchFamily="34" charset="0"/>
                <a:ea typeface="Nunito Sans" pitchFamily="34" charset="-122"/>
                <a:cs typeface="Nunito Sans" pitchFamily="34" charset="-120"/>
              </a:rPr>
              <a:t> an actor is a role, and it can be a system.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 7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Write a brief use case</a:t>
            </a:r>
            <a:endParaRPr lang="en-US" sz="3200" dirty="0"/>
          </a:p>
        </p:txBody>
      </p:sp>
      <p:sp>
        <p:nvSpPr>
          <p:cNvPr id="4" name="Text 2"/>
          <p:cNvSpPr/>
          <p:nvPr/>
        </p:nvSpPr>
        <p:spPr>
          <a:xfrm>
            <a:off x="812800" y="1854138"/>
            <a:ext cx="9483725"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Nunito Sans" pitchFamily="34" charset="0"/>
                <a:ea typeface="Nunito Sans" pitchFamily="34" charset="-122"/>
                <a:cs typeface="Nunito Sans" pitchFamily="34" charset="-120"/>
              </a:rPr>
              <a:t>Include the actor, preconditions, trigger, main flow, at least two alternate or exception flows, and postconditions. Pick one or more:</a:t>
            </a:r>
            <a:endParaRPr lang="en-US" sz="1600" dirty="0"/>
          </a:p>
        </p:txBody>
      </p:sp>
      <p:sp>
        <p:nvSpPr>
          <p:cNvPr id="5" name="Shape 3"/>
          <p:cNvSpPr/>
          <p:nvPr/>
        </p:nvSpPr>
        <p:spPr>
          <a:xfrm>
            <a:off x="819150" y="2734140"/>
            <a:ext cx="3373967" cy="1399514"/>
          </a:xfrm>
          <a:prstGeom prst="roundRect">
            <a:avLst>
              <a:gd name="adj" fmla="val 6806"/>
            </a:avLst>
          </a:prstGeom>
          <a:solidFill>
            <a:srgbClr val="24345A"/>
          </a:solidFill>
          <a:ln w="12700">
            <a:solidFill>
              <a:srgbClr val="F0A04B"/>
            </a:solidFill>
            <a:prstDash val="solid"/>
          </a:ln>
        </p:spPr>
      </p:sp>
      <p:pic>
        <p:nvPicPr>
          <p:cNvPr id="6" name="Image 0" descr="Key"/>
          <p:cNvPicPr>
            <a:picLocks noChangeAspect="1"/>
          </p:cNvPicPr>
          <p:nvPr/>
        </p:nvPicPr>
        <p:blipFill>
          <a:blip r:embed="rId3"/>
          <a:srcRect/>
          <a:stretch/>
        </p:blipFill>
        <p:spPr>
          <a:xfrm>
            <a:off x="2328333" y="3045290"/>
            <a:ext cx="355600" cy="355600"/>
          </a:xfrm>
          <a:prstGeom prst="rect">
            <a:avLst/>
          </a:prstGeom>
        </p:spPr>
      </p:pic>
      <p:sp>
        <p:nvSpPr>
          <p:cNvPr id="7" name="Text 4"/>
          <p:cNvSpPr/>
          <p:nvPr/>
        </p:nvSpPr>
        <p:spPr>
          <a:xfrm>
            <a:off x="2144666" y="3502490"/>
            <a:ext cx="722868" cy="345414"/>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FBFBF8"/>
                </a:solidFill>
                <a:latin typeface="Nunito Sans" pitchFamily="34" charset="0"/>
                <a:ea typeface="Nunito Sans" pitchFamily="34" charset="-122"/>
                <a:cs typeface="Nunito Sans" pitchFamily="34" charset="-120"/>
              </a:rPr>
              <a:t>Login</a:t>
            </a:r>
            <a:endParaRPr lang="en-US" sz="1800" dirty="0"/>
          </a:p>
        </p:txBody>
      </p:sp>
      <p:sp>
        <p:nvSpPr>
          <p:cNvPr id="8" name="Shape 5"/>
          <p:cNvSpPr/>
          <p:nvPr/>
        </p:nvSpPr>
        <p:spPr>
          <a:xfrm>
            <a:off x="4409017" y="2734140"/>
            <a:ext cx="3373967" cy="1399514"/>
          </a:xfrm>
          <a:prstGeom prst="roundRect">
            <a:avLst>
              <a:gd name="adj" fmla="val 6806"/>
            </a:avLst>
          </a:prstGeom>
          <a:solidFill>
            <a:srgbClr val="24345A"/>
          </a:solidFill>
          <a:ln w="12700">
            <a:solidFill>
              <a:srgbClr val="F0A04B"/>
            </a:solidFill>
            <a:prstDash val="solid"/>
          </a:ln>
        </p:spPr>
      </p:sp>
      <p:pic>
        <p:nvPicPr>
          <p:cNvPr id="9" name="Image 1" descr="Home"/>
          <p:cNvPicPr>
            <a:picLocks noChangeAspect="1"/>
          </p:cNvPicPr>
          <p:nvPr/>
        </p:nvPicPr>
        <p:blipFill>
          <a:blip r:embed="rId4"/>
          <a:srcRect/>
          <a:stretch/>
        </p:blipFill>
        <p:spPr>
          <a:xfrm>
            <a:off x="5918200" y="3045290"/>
            <a:ext cx="355600" cy="355600"/>
          </a:xfrm>
          <a:prstGeom prst="rect">
            <a:avLst/>
          </a:prstGeom>
        </p:spPr>
      </p:pic>
      <p:sp>
        <p:nvSpPr>
          <p:cNvPr id="10" name="Text 6"/>
          <p:cNvSpPr/>
          <p:nvPr/>
        </p:nvSpPr>
        <p:spPr>
          <a:xfrm>
            <a:off x="5027771" y="3502490"/>
            <a:ext cx="2136458" cy="345414"/>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FBFBF8"/>
                </a:solidFill>
                <a:latin typeface="Nunito Sans" pitchFamily="34" charset="0"/>
                <a:ea typeface="Nunito Sans" pitchFamily="34" charset="-122"/>
                <a:cs typeface="Nunito Sans" pitchFamily="34" charset="-120"/>
              </a:rPr>
              <a:t>Online shopping</a:t>
            </a:r>
            <a:endParaRPr lang="en-US" sz="1800" dirty="0"/>
          </a:p>
        </p:txBody>
      </p:sp>
      <p:sp>
        <p:nvSpPr>
          <p:cNvPr id="11" name="Shape 7"/>
          <p:cNvSpPr/>
          <p:nvPr/>
        </p:nvSpPr>
        <p:spPr>
          <a:xfrm>
            <a:off x="7998884" y="2734140"/>
            <a:ext cx="3373967" cy="1399514"/>
          </a:xfrm>
          <a:prstGeom prst="roundRect">
            <a:avLst>
              <a:gd name="adj" fmla="val 6806"/>
            </a:avLst>
          </a:prstGeom>
          <a:solidFill>
            <a:srgbClr val="24345A"/>
          </a:solidFill>
          <a:ln w="12700">
            <a:solidFill>
              <a:srgbClr val="F0A04B"/>
            </a:solidFill>
            <a:prstDash val="solid"/>
          </a:ln>
        </p:spPr>
      </p:sp>
      <p:pic>
        <p:nvPicPr>
          <p:cNvPr id="12" name="Image 2" descr="PaperPlane"/>
          <p:cNvPicPr>
            <a:picLocks noChangeAspect="1"/>
          </p:cNvPicPr>
          <p:nvPr/>
        </p:nvPicPr>
        <p:blipFill>
          <a:blip r:embed="rId5"/>
          <a:srcRect/>
          <a:stretch/>
        </p:blipFill>
        <p:spPr>
          <a:xfrm>
            <a:off x="9508067" y="3045290"/>
            <a:ext cx="355600" cy="355600"/>
          </a:xfrm>
          <a:prstGeom prst="rect">
            <a:avLst/>
          </a:prstGeom>
        </p:spPr>
      </p:pic>
      <p:sp>
        <p:nvSpPr>
          <p:cNvPr id="13" name="Text 8"/>
          <p:cNvSpPr/>
          <p:nvPr/>
        </p:nvSpPr>
        <p:spPr>
          <a:xfrm>
            <a:off x="8640664" y="3502490"/>
            <a:ext cx="2090341" cy="345414"/>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FBFBF8"/>
                </a:solidFill>
                <a:latin typeface="Nunito Sans" pitchFamily="34" charset="0"/>
                <a:ea typeface="Nunito Sans" pitchFamily="34" charset="-122"/>
                <a:cs typeface="Nunito Sans" pitchFamily="34" charset="-120"/>
              </a:rPr>
              <a:t>Booking a flight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1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Log in to the application</a:t>
            </a:r>
            <a:endParaRPr lang="en-US" sz="3200" dirty="0"/>
          </a:p>
        </p:txBody>
      </p:sp>
      <p:sp>
        <p:nvSpPr>
          <p:cNvPr id="4" name="Text 2"/>
          <p:cNvSpPr/>
          <p:nvPr/>
        </p:nvSpPr>
        <p:spPr>
          <a:xfrm>
            <a:off x="812800" y="1701738"/>
            <a:ext cx="10566400" cy="485114"/>
          </a:xfrm>
          <a:prstGeom prst="roundRect">
            <a:avLst>
              <a:gd name="adj" fmla="val 15708"/>
            </a:avLst>
          </a:prstGeom>
          <a:solidFill>
            <a:srgbClr val="EEF2F7"/>
          </a:solidFill>
          <a:ln/>
        </p:spPr>
        <p:txBody>
          <a:bodyPr wrap="square" lIns="155482" tIns="104682" rIns="0" bIns="79282"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Actor:</a:t>
            </a:r>
            <a:r>
              <a:rPr lang="en-US" sz="1300" dirty="0">
                <a:solidFill>
                  <a:srgbClr val="3D4A5C"/>
                </a:solidFill>
                <a:latin typeface="Nunito Sans" pitchFamily="34" charset="0"/>
                <a:ea typeface="Nunito Sans" pitchFamily="34" charset="-122"/>
                <a:cs typeface="Nunito Sans" pitchFamily="34" charset="-120"/>
              </a:rPr>
              <a:t> Registered user · </a:t>
            </a:r>
            <a:r>
              <a:rPr lang="en-US" sz="1300" b="1" dirty="0">
                <a:solidFill>
                  <a:srgbClr val="3D4A5C"/>
                </a:solidFill>
                <a:latin typeface="Nunito Sans" pitchFamily="34" charset="0"/>
                <a:ea typeface="Nunito Sans" pitchFamily="34" charset="-122"/>
                <a:cs typeface="Nunito Sans" pitchFamily="34" charset="-120"/>
              </a:rPr>
              <a:t>Precondition:</a:t>
            </a:r>
            <a:r>
              <a:rPr lang="en-US" sz="1300" dirty="0">
                <a:solidFill>
                  <a:srgbClr val="3D4A5C"/>
                </a:solidFill>
                <a:latin typeface="Nunito Sans" pitchFamily="34" charset="0"/>
                <a:ea typeface="Nunito Sans" pitchFamily="34" charset="-122"/>
                <a:cs typeface="Nunito Sans" pitchFamily="34" charset="-120"/>
              </a:rPr>
              <a:t> Active account; login page accessible · </a:t>
            </a:r>
            <a:r>
              <a:rPr lang="en-US" sz="1300" b="1" dirty="0">
                <a:solidFill>
                  <a:srgbClr val="3D4A5C"/>
                </a:solidFill>
                <a:latin typeface="Nunito Sans" pitchFamily="34" charset="0"/>
                <a:ea typeface="Nunito Sans" pitchFamily="34" charset="-122"/>
                <a:cs typeface="Nunito Sans" pitchFamily="34" charset="-120"/>
              </a:rPr>
              <a:t>Trigger:</a:t>
            </a:r>
            <a:r>
              <a:rPr lang="en-US" sz="1300" dirty="0">
                <a:solidFill>
                  <a:srgbClr val="3D4A5C"/>
                </a:solidFill>
                <a:latin typeface="Nunito Sans" pitchFamily="34" charset="0"/>
                <a:ea typeface="Nunito Sans" pitchFamily="34" charset="-122"/>
                <a:cs typeface="Nunito Sans" pitchFamily="34" charset="-120"/>
              </a:rPr>
              <a:t> User opens the login page</a:t>
            </a:r>
            <a:endParaRPr lang="en-US" sz="1300" dirty="0"/>
          </a:p>
        </p:txBody>
      </p:sp>
      <p:sp>
        <p:nvSpPr>
          <p:cNvPr id="5" name="Shape 3"/>
          <p:cNvSpPr/>
          <p:nvPr/>
        </p:nvSpPr>
        <p:spPr>
          <a:xfrm>
            <a:off x="815975" y="2342424"/>
            <a:ext cx="5200650" cy="2591197"/>
          </a:xfrm>
          <a:prstGeom prst="roundRect">
            <a:avLst>
              <a:gd name="adj" fmla="val 2818"/>
            </a:avLst>
          </a:prstGeom>
          <a:solidFill>
            <a:srgbClr val="FFFDF9"/>
          </a:solidFill>
          <a:ln w="6350">
            <a:solidFill>
              <a:srgbClr val="D3DBE6"/>
            </a:solidFill>
            <a:prstDash val="solid"/>
          </a:ln>
        </p:spPr>
      </p:sp>
      <p:sp>
        <p:nvSpPr>
          <p:cNvPr id="6" name="Text 4"/>
          <p:cNvSpPr/>
          <p:nvPr/>
        </p:nvSpPr>
        <p:spPr>
          <a:xfrm>
            <a:off x="994833" y="2495885"/>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4213D"/>
                </a:solidFill>
                <a:latin typeface="Nunito Sans" pitchFamily="34" charset="0"/>
                <a:ea typeface="Nunito Sans" pitchFamily="34" charset="-122"/>
                <a:cs typeface="Nunito Sans" pitchFamily="34" charset="-120"/>
              </a:rPr>
              <a:t>Main flow</a:t>
            </a:r>
            <a:endParaRPr lang="en-US" sz="1300" dirty="0"/>
          </a:p>
        </p:txBody>
      </p:sp>
      <p:sp>
        <p:nvSpPr>
          <p:cNvPr id="7" name="Text 5"/>
          <p:cNvSpPr/>
          <p:nvPr/>
        </p:nvSpPr>
        <p:spPr>
          <a:xfrm>
            <a:off x="1083403" y="2770188"/>
            <a:ext cx="4892032" cy="1168400"/>
          </a:xfrm>
          <a:prstGeom prst="rect">
            <a:avLst/>
          </a:prstGeom>
          <a:noFill/>
          <a:ln/>
        </p:spPr>
        <p:txBody>
          <a:bodyPr wrap="square" lIns="0" tIns="0" rIns="0" bIns="0" rtlCol="0" anchor="t">
            <a:normAutofit/>
          </a:bodyPr>
          <a:lstStyle/>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User enters a registered email</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User enters the password</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User clicks Login</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System validates the credentials</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System creates a session and shows the dashboard</a:t>
            </a:r>
            <a:endParaRPr lang="en-US" sz="1200" dirty="0"/>
          </a:p>
        </p:txBody>
      </p:sp>
      <p:sp>
        <p:nvSpPr>
          <p:cNvPr id="8" name="Shape 6"/>
          <p:cNvSpPr/>
          <p:nvPr/>
        </p:nvSpPr>
        <p:spPr>
          <a:xfrm>
            <a:off x="6175375" y="2342424"/>
            <a:ext cx="5200650" cy="1013023"/>
          </a:xfrm>
          <a:prstGeom prst="roundRect">
            <a:avLst>
              <a:gd name="adj" fmla="val 7209"/>
            </a:avLst>
          </a:prstGeom>
          <a:solidFill>
            <a:srgbClr val="FFFDF9"/>
          </a:solidFill>
          <a:ln w="6350">
            <a:solidFill>
              <a:srgbClr val="D3DBE6"/>
            </a:solidFill>
            <a:prstDash val="solid"/>
          </a:ln>
        </p:spPr>
      </p:sp>
      <p:sp>
        <p:nvSpPr>
          <p:cNvPr id="9" name="Text 7"/>
          <p:cNvSpPr/>
          <p:nvPr/>
        </p:nvSpPr>
        <p:spPr>
          <a:xfrm>
            <a:off x="6354233" y="2495885"/>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2B5C9E"/>
                </a:solidFill>
                <a:latin typeface="Nunito Sans" pitchFamily="34" charset="0"/>
                <a:ea typeface="Nunito Sans" pitchFamily="34" charset="-122"/>
                <a:cs typeface="Nunito Sans" pitchFamily="34" charset="-120"/>
              </a:rPr>
              <a:t>Alternate</a:t>
            </a:r>
            <a:endParaRPr lang="en-US" sz="1300" dirty="0"/>
          </a:p>
        </p:txBody>
      </p:sp>
      <p:sp>
        <p:nvSpPr>
          <p:cNvPr id="10" name="Text 8"/>
          <p:cNvSpPr/>
          <p:nvPr/>
        </p:nvSpPr>
        <p:spPr>
          <a:xfrm>
            <a:off x="6453039" y="2744788"/>
            <a:ext cx="4881795" cy="4826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A1: “Remember me” keeps the session after closing</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A2: Log in with Google (SSO)</a:t>
            </a:r>
            <a:endParaRPr lang="en-US" sz="1200" dirty="0"/>
          </a:p>
        </p:txBody>
      </p:sp>
      <p:sp>
        <p:nvSpPr>
          <p:cNvPr id="11" name="Shape 9"/>
          <p:cNvSpPr/>
          <p:nvPr/>
        </p:nvSpPr>
        <p:spPr>
          <a:xfrm>
            <a:off x="6175375" y="3463398"/>
            <a:ext cx="5200650" cy="1470223"/>
          </a:xfrm>
          <a:prstGeom prst="roundRect">
            <a:avLst>
              <a:gd name="adj" fmla="val 4967"/>
            </a:avLst>
          </a:prstGeom>
          <a:solidFill>
            <a:srgbClr val="FFFDF9"/>
          </a:solidFill>
          <a:ln w="6350">
            <a:solidFill>
              <a:srgbClr val="D3DBE6"/>
            </a:solidFill>
            <a:prstDash val="solid"/>
          </a:ln>
        </p:spPr>
      </p:sp>
      <p:sp>
        <p:nvSpPr>
          <p:cNvPr id="12" name="Text 10"/>
          <p:cNvSpPr/>
          <p:nvPr/>
        </p:nvSpPr>
        <p:spPr>
          <a:xfrm>
            <a:off x="6354233" y="3616858"/>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A14F0A"/>
                </a:solidFill>
                <a:latin typeface="Nunito Sans" pitchFamily="34" charset="0"/>
                <a:ea typeface="Nunito Sans" pitchFamily="34" charset="-122"/>
                <a:cs typeface="Nunito Sans" pitchFamily="34" charset="-120"/>
              </a:rPr>
              <a:t>Exception</a:t>
            </a:r>
            <a:endParaRPr lang="en-US" sz="1300" dirty="0"/>
          </a:p>
        </p:txBody>
      </p:sp>
      <p:sp>
        <p:nvSpPr>
          <p:cNvPr id="13" name="Text 11"/>
          <p:cNvSpPr/>
          <p:nvPr/>
        </p:nvSpPr>
        <p:spPr>
          <a:xfrm>
            <a:off x="6453039" y="3865761"/>
            <a:ext cx="4881795" cy="9398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E1: Invalid credentials: generic error</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E2: 5 failures: account locked 15 minutes</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E3: Account deactivated: contact support</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E4: Empty fields: “required” message</a:t>
            </a:r>
            <a:endParaRPr lang="en-US" sz="1200" dirty="0"/>
          </a:p>
        </p:txBody>
      </p:sp>
      <p:sp>
        <p:nvSpPr>
          <p:cNvPr id="14" name="Text 12"/>
          <p:cNvSpPr/>
          <p:nvPr/>
        </p:nvSpPr>
        <p:spPr>
          <a:xfrm>
            <a:off x="812800" y="5089196"/>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Postconditions.</a:t>
            </a:r>
            <a:r>
              <a:rPr lang="en-US" sz="1300" dirty="0">
                <a:solidFill>
                  <a:srgbClr val="3D4A5C"/>
                </a:solidFill>
                <a:latin typeface="Nunito Sans" pitchFamily="34" charset="0"/>
                <a:ea typeface="Nunito Sans" pitchFamily="34" charset="-122"/>
                <a:cs typeface="Nunito Sans" pitchFamily="34" charset="-120"/>
              </a:rPr>
              <a:t> Success: authenticated, session created, last login recorded. Failure: no session; failed attempt counted.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2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Purchase a product online</a:t>
            </a:r>
            <a:endParaRPr lang="en-US" sz="3200" dirty="0"/>
          </a:p>
        </p:txBody>
      </p:sp>
      <p:sp>
        <p:nvSpPr>
          <p:cNvPr id="4" name="Text 2"/>
          <p:cNvSpPr/>
          <p:nvPr/>
        </p:nvSpPr>
        <p:spPr>
          <a:xfrm>
            <a:off x="812800" y="1701738"/>
            <a:ext cx="10566400" cy="485114"/>
          </a:xfrm>
          <a:prstGeom prst="roundRect">
            <a:avLst>
              <a:gd name="adj" fmla="val 15708"/>
            </a:avLst>
          </a:prstGeom>
          <a:solidFill>
            <a:srgbClr val="EEF2F7"/>
          </a:solidFill>
          <a:ln/>
        </p:spPr>
        <p:txBody>
          <a:bodyPr wrap="square" lIns="155482" tIns="104682" rIns="0" bIns="79282"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Actor:</a:t>
            </a:r>
            <a:r>
              <a:rPr lang="en-US" sz="1300" dirty="0">
                <a:solidFill>
                  <a:srgbClr val="3D4A5C"/>
                </a:solidFill>
                <a:latin typeface="Nunito Sans" pitchFamily="34" charset="0"/>
                <a:ea typeface="Nunito Sans" pitchFamily="34" charset="-122"/>
                <a:cs typeface="Nunito Sans" pitchFamily="34" charset="-120"/>
              </a:rPr>
              <a:t> Customer; payment gateway, email service · </a:t>
            </a:r>
            <a:r>
              <a:rPr lang="en-US" sz="1300" b="1" dirty="0">
                <a:solidFill>
                  <a:srgbClr val="3D4A5C"/>
                </a:solidFill>
                <a:latin typeface="Nunito Sans" pitchFamily="34" charset="0"/>
                <a:ea typeface="Nunito Sans" pitchFamily="34" charset="-122"/>
                <a:cs typeface="Nunito Sans" pitchFamily="34" charset="-120"/>
              </a:rPr>
              <a:t>Precondition:</a:t>
            </a:r>
            <a:r>
              <a:rPr lang="en-US" sz="1300" dirty="0">
                <a:solidFill>
                  <a:srgbClr val="3D4A5C"/>
                </a:solidFill>
                <a:latin typeface="Nunito Sans" pitchFamily="34" charset="0"/>
                <a:ea typeface="Nunito Sans" pitchFamily="34" charset="-122"/>
                <a:cs typeface="Nunito Sans" pitchFamily="34" charset="-120"/>
              </a:rPr>
              <a:t> Logged in; product in stock · </a:t>
            </a:r>
            <a:r>
              <a:rPr lang="en-US" sz="1300" b="1" dirty="0">
                <a:solidFill>
                  <a:srgbClr val="3D4A5C"/>
                </a:solidFill>
                <a:latin typeface="Nunito Sans" pitchFamily="34" charset="0"/>
                <a:ea typeface="Nunito Sans" pitchFamily="34" charset="-122"/>
                <a:cs typeface="Nunito Sans" pitchFamily="34" charset="-120"/>
              </a:rPr>
              <a:t>Trigger:</a:t>
            </a:r>
            <a:r>
              <a:rPr lang="en-US" sz="1300" dirty="0">
                <a:solidFill>
                  <a:srgbClr val="3D4A5C"/>
                </a:solidFill>
                <a:latin typeface="Nunito Sans" pitchFamily="34" charset="0"/>
                <a:ea typeface="Nunito Sans" pitchFamily="34" charset="-122"/>
                <a:cs typeface="Nunito Sans" pitchFamily="34" charset="-120"/>
              </a:rPr>
              <a:t> Customer clicks Add to Cart</a:t>
            </a:r>
            <a:endParaRPr lang="en-US" sz="1300" dirty="0"/>
          </a:p>
        </p:txBody>
      </p:sp>
      <p:sp>
        <p:nvSpPr>
          <p:cNvPr id="5" name="Shape 3"/>
          <p:cNvSpPr/>
          <p:nvPr/>
        </p:nvSpPr>
        <p:spPr>
          <a:xfrm>
            <a:off x="815975" y="2342424"/>
            <a:ext cx="5200650" cy="2362597"/>
          </a:xfrm>
          <a:prstGeom prst="roundRect">
            <a:avLst>
              <a:gd name="adj" fmla="val 3091"/>
            </a:avLst>
          </a:prstGeom>
          <a:solidFill>
            <a:srgbClr val="FFFDF9"/>
          </a:solidFill>
          <a:ln w="6350">
            <a:solidFill>
              <a:srgbClr val="D3DBE6"/>
            </a:solidFill>
            <a:prstDash val="solid"/>
          </a:ln>
        </p:spPr>
      </p:sp>
      <p:sp>
        <p:nvSpPr>
          <p:cNvPr id="6" name="Text 4"/>
          <p:cNvSpPr/>
          <p:nvPr/>
        </p:nvSpPr>
        <p:spPr>
          <a:xfrm>
            <a:off x="994833" y="2495885"/>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4213D"/>
                </a:solidFill>
                <a:latin typeface="Nunito Sans" pitchFamily="34" charset="0"/>
                <a:ea typeface="Nunito Sans" pitchFamily="34" charset="-122"/>
                <a:cs typeface="Nunito Sans" pitchFamily="34" charset="-120"/>
              </a:rPr>
              <a:t>Main flow</a:t>
            </a:r>
            <a:endParaRPr lang="en-US" sz="1300" dirty="0"/>
          </a:p>
        </p:txBody>
      </p:sp>
      <p:sp>
        <p:nvSpPr>
          <p:cNvPr id="7" name="Text 5"/>
          <p:cNvSpPr/>
          <p:nvPr/>
        </p:nvSpPr>
        <p:spPr>
          <a:xfrm>
            <a:off x="1083403" y="2770188"/>
            <a:ext cx="4892032" cy="1625600"/>
          </a:xfrm>
          <a:prstGeom prst="rect">
            <a:avLst/>
          </a:prstGeom>
          <a:noFill/>
          <a:ln/>
        </p:spPr>
        <p:txBody>
          <a:bodyPr wrap="square" lIns="0" tIns="0" rIns="0" bIns="0" rtlCol="0" anchor="t">
            <a:normAutofit/>
          </a:bodyPr>
          <a:lstStyle/>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Customer adds a product to the cart</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Opens the cart and clicks Checkout</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Enters or selects a shipping address</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Selects a payment method, enters card</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System requests authorisation from the gateway</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Payment authorised; order created</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Confirmation page shown and email sent</a:t>
            </a:r>
            <a:endParaRPr lang="en-US" sz="1200" dirty="0"/>
          </a:p>
        </p:txBody>
      </p:sp>
      <p:sp>
        <p:nvSpPr>
          <p:cNvPr id="8" name="Shape 6"/>
          <p:cNvSpPr/>
          <p:nvPr/>
        </p:nvSpPr>
        <p:spPr>
          <a:xfrm>
            <a:off x="6175375" y="2342424"/>
            <a:ext cx="5200650" cy="1013023"/>
          </a:xfrm>
          <a:prstGeom prst="roundRect">
            <a:avLst>
              <a:gd name="adj" fmla="val 7209"/>
            </a:avLst>
          </a:prstGeom>
          <a:solidFill>
            <a:srgbClr val="FFFDF9"/>
          </a:solidFill>
          <a:ln w="6350">
            <a:solidFill>
              <a:srgbClr val="D3DBE6"/>
            </a:solidFill>
            <a:prstDash val="solid"/>
          </a:ln>
        </p:spPr>
      </p:sp>
      <p:sp>
        <p:nvSpPr>
          <p:cNvPr id="9" name="Text 7"/>
          <p:cNvSpPr/>
          <p:nvPr/>
        </p:nvSpPr>
        <p:spPr>
          <a:xfrm>
            <a:off x="6354233" y="2495885"/>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2B5C9E"/>
                </a:solidFill>
                <a:latin typeface="Nunito Sans" pitchFamily="34" charset="0"/>
                <a:ea typeface="Nunito Sans" pitchFamily="34" charset="-122"/>
                <a:cs typeface="Nunito Sans" pitchFamily="34" charset="-120"/>
              </a:rPr>
              <a:t>Alternate</a:t>
            </a:r>
            <a:endParaRPr lang="en-US" sz="1300" dirty="0"/>
          </a:p>
        </p:txBody>
      </p:sp>
      <p:sp>
        <p:nvSpPr>
          <p:cNvPr id="10" name="Text 8"/>
          <p:cNvSpPr/>
          <p:nvPr/>
        </p:nvSpPr>
        <p:spPr>
          <a:xfrm>
            <a:off x="6453039" y="2744788"/>
            <a:ext cx="4881795" cy="4826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A1: Valid coupon applied: total reduced</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A2: Saved address or card used</a:t>
            </a:r>
            <a:endParaRPr lang="en-US" sz="1200" dirty="0"/>
          </a:p>
        </p:txBody>
      </p:sp>
      <p:sp>
        <p:nvSpPr>
          <p:cNvPr id="11" name="Shape 9"/>
          <p:cNvSpPr/>
          <p:nvPr/>
        </p:nvSpPr>
        <p:spPr>
          <a:xfrm>
            <a:off x="6175375" y="3463398"/>
            <a:ext cx="5200650" cy="1241623"/>
          </a:xfrm>
          <a:prstGeom prst="roundRect">
            <a:avLst>
              <a:gd name="adj" fmla="val 5881"/>
            </a:avLst>
          </a:prstGeom>
          <a:solidFill>
            <a:srgbClr val="FFFDF9"/>
          </a:solidFill>
          <a:ln w="6350">
            <a:solidFill>
              <a:srgbClr val="D3DBE6"/>
            </a:solidFill>
            <a:prstDash val="solid"/>
          </a:ln>
        </p:spPr>
      </p:sp>
      <p:sp>
        <p:nvSpPr>
          <p:cNvPr id="12" name="Text 10"/>
          <p:cNvSpPr/>
          <p:nvPr/>
        </p:nvSpPr>
        <p:spPr>
          <a:xfrm>
            <a:off x="6354233" y="3616858"/>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A14F0A"/>
                </a:solidFill>
                <a:latin typeface="Nunito Sans" pitchFamily="34" charset="0"/>
                <a:ea typeface="Nunito Sans" pitchFamily="34" charset="-122"/>
                <a:cs typeface="Nunito Sans" pitchFamily="34" charset="-120"/>
              </a:rPr>
              <a:t>Exception</a:t>
            </a:r>
            <a:endParaRPr lang="en-US" sz="1300" dirty="0"/>
          </a:p>
        </p:txBody>
      </p:sp>
      <p:sp>
        <p:nvSpPr>
          <p:cNvPr id="13" name="Text 11"/>
          <p:cNvSpPr/>
          <p:nvPr/>
        </p:nvSpPr>
        <p:spPr>
          <a:xfrm>
            <a:off x="6453039" y="3865761"/>
            <a:ext cx="4881795" cy="7112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E1: Out of stock before checkout: notify, remove</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E2: Payment declined: no order, cart kept</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E3: Gateway timeout: no duplicate charge</a:t>
            </a:r>
            <a:endParaRPr lang="en-US" sz="1200" dirty="0"/>
          </a:p>
        </p:txBody>
      </p:sp>
      <p:sp>
        <p:nvSpPr>
          <p:cNvPr id="14" name="Text 12"/>
          <p:cNvSpPr/>
          <p:nvPr/>
        </p:nvSpPr>
        <p:spPr>
          <a:xfrm>
            <a:off x="812800" y="4860596"/>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Postconditions.</a:t>
            </a:r>
            <a:r>
              <a:rPr lang="en-US" sz="1300" dirty="0">
                <a:solidFill>
                  <a:srgbClr val="3D4A5C"/>
                </a:solidFill>
                <a:latin typeface="Nunito Sans" pitchFamily="34" charset="0"/>
                <a:ea typeface="Nunito Sans" pitchFamily="34" charset="-122"/>
                <a:cs typeface="Nunito Sans" pitchFamily="34" charset="-120"/>
              </a:rPr>
              <a:t> Success: order created, stock reduced, payment captured, email sent. Failure: no order, no charge, cart intact.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3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Book a one-way flight</a:t>
            </a:r>
            <a:endParaRPr lang="en-US" sz="3200" dirty="0"/>
          </a:p>
        </p:txBody>
      </p:sp>
      <p:sp>
        <p:nvSpPr>
          <p:cNvPr id="4" name="Text 2"/>
          <p:cNvSpPr/>
          <p:nvPr/>
        </p:nvSpPr>
        <p:spPr>
          <a:xfrm>
            <a:off x="812800" y="1701738"/>
            <a:ext cx="10566400" cy="716227"/>
          </a:xfrm>
          <a:prstGeom prst="roundRect">
            <a:avLst>
              <a:gd name="adj" fmla="val 10639"/>
            </a:avLst>
          </a:prstGeom>
          <a:solidFill>
            <a:srgbClr val="EEF2F7"/>
          </a:solidFill>
          <a:ln/>
        </p:spPr>
        <p:txBody>
          <a:bodyPr wrap="square" lIns="155482" tIns="104682" rIns="0" bIns="79282"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Actor:</a:t>
            </a:r>
            <a:r>
              <a:rPr lang="en-US" sz="1300" dirty="0">
                <a:solidFill>
                  <a:srgbClr val="3D4A5C"/>
                </a:solidFill>
                <a:latin typeface="Nunito Sans" pitchFamily="34" charset="0"/>
                <a:ea typeface="Nunito Sans" pitchFamily="34" charset="-122"/>
                <a:cs typeface="Nunito Sans" pitchFamily="34" charset="-120"/>
              </a:rPr>
              <a:t> Traveller; airline inventory, payment gateway · </a:t>
            </a:r>
            <a:r>
              <a:rPr lang="en-US" sz="1300" b="1" dirty="0">
                <a:solidFill>
                  <a:srgbClr val="3D4A5C"/>
                </a:solidFill>
                <a:latin typeface="Nunito Sans" pitchFamily="34" charset="0"/>
                <a:ea typeface="Nunito Sans" pitchFamily="34" charset="-122"/>
                <a:cs typeface="Nunito Sans" pitchFamily="34" charset="-120"/>
              </a:rPr>
              <a:t>Precondition:</a:t>
            </a:r>
            <a:r>
              <a:rPr lang="en-US" sz="1300" dirty="0">
                <a:solidFill>
                  <a:srgbClr val="3D4A5C"/>
                </a:solidFill>
                <a:latin typeface="Nunito Sans" pitchFamily="34" charset="0"/>
                <a:ea typeface="Nunito Sans" pitchFamily="34" charset="-122"/>
                <a:cs typeface="Nunito Sans" pitchFamily="34" charset="-120"/>
              </a:rPr>
              <a:t> Flights exist for the route and date · </a:t>
            </a:r>
            <a:r>
              <a:rPr lang="en-US" sz="1300" b="1" dirty="0">
                <a:solidFill>
                  <a:srgbClr val="3D4A5C"/>
                </a:solidFill>
                <a:latin typeface="Nunito Sans" pitchFamily="34" charset="0"/>
                <a:ea typeface="Nunito Sans" pitchFamily="34" charset="-122"/>
                <a:cs typeface="Nunito Sans" pitchFamily="34" charset="-120"/>
              </a:rPr>
              <a:t>Trigger:</a:t>
            </a:r>
            <a:r>
              <a:rPr lang="en-US" sz="1300" dirty="0">
                <a:solidFill>
                  <a:srgbClr val="3D4A5C"/>
                </a:solidFill>
                <a:latin typeface="Nunito Sans" pitchFamily="34" charset="0"/>
                <a:ea typeface="Nunito Sans" pitchFamily="34" charset="-122"/>
                <a:cs typeface="Nunito Sans" pitchFamily="34" charset="-120"/>
              </a:rPr>
              <a:t> Traveller searches for flights</a:t>
            </a:r>
            <a:endParaRPr lang="en-US" sz="1300" dirty="0"/>
          </a:p>
        </p:txBody>
      </p:sp>
      <p:sp>
        <p:nvSpPr>
          <p:cNvPr id="5" name="Shape 3"/>
          <p:cNvSpPr/>
          <p:nvPr/>
        </p:nvSpPr>
        <p:spPr>
          <a:xfrm>
            <a:off x="815975" y="2573536"/>
            <a:ext cx="5200650" cy="2591197"/>
          </a:xfrm>
          <a:prstGeom prst="roundRect">
            <a:avLst>
              <a:gd name="adj" fmla="val 2818"/>
            </a:avLst>
          </a:prstGeom>
          <a:solidFill>
            <a:srgbClr val="FFFDF9"/>
          </a:solidFill>
          <a:ln w="6350">
            <a:solidFill>
              <a:srgbClr val="D3DBE6"/>
            </a:solidFill>
            <a:prstDash val="solid"/>
          </a:ln>
        </p:spPr>
      </p:sp>
      <p:sp>
        <p:nvSpPr>
          <p:cNvPr id="6" name="Text 4"/>
          <p:cNvSpPr/>
          <p:nvPr/>
        </p:nvSpPr>
        <p:spPr>
          <a:xfrm>
            <a:off x="994833" y="2727003"/>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4213D"/>
                </a:solidFill>
                <a:latin typeface="Nunito Sans" pitchFamily="34" charset="0"/>
                <a:ea typeface="Nunito Sans" pitchFamily="34" charset="-122"/>
                <a:cs typeface="Nunito Sans" pitchFamily="34" charset="-120"/>
              </a:rPr>
              <a:t>Main flow</a:t>
            </a:r>
            <a:endParaRPr lang="en-US" sz="1300" dirty="0"/>
          </a:p>
        </p:txBody>
      </p:sp>
      <p:sp>
        <p:nvSpPr>
          <p:cNvPr id="7" name="Text 5"/>
          <p:cNvSpPr/>
          <p:nvPr/>
        </p:nvSpPr>
        <p:spPr>
          <a:xfrm>
            <a:off x="1083403" y="3001305"/>
            <a:ext cx="4892032" cy="1397000"/>
          </a:xfrm>
          <a:prstGeom prst="rect">
            <a:avLst/>
          </a:prstGeom>
          <a:noFill/>
          <a:ln/>
        </p:spPr>
        <p:txBody>
          <a:bodyPr wrap="square" lIns="0" tIns="0" rIns="0" bIns="0" rtlCol="0" anchor="t">
            <a:normAutofit/>
          </a:bodyPr>
          <a:lstStyle/>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Enter origin, destination, date, passengers</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System displays available flights</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Traveller selects a flight and fare</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Traveller enters passenger details</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Traveller pays</a:t>
            </a:r>
            <a:endParaRPr lang="en-US" sz="1200" dirty="0"/>
          </a:p>
          <a:p>
            <a:pPr marL="165431" indent="-165431" algn="l">
              <a:lnSpc>
                <a:spcPts val="1800"/>
              </a:lnSpc>
              <a:buSzPct val="100000"/>
              <a:buFontTx/>
              <a:buAutoNum type="arabicPeriod"/>
            </a:pPr>
            <a:r>
              <a:rPr lang="en-US" sz="1200" dirty="0">
                <a:solidFill>
                  <a:srgbClr val="3D4A5C"/>
                </a:solidFill>
                <a:latin typeface="Nunito Sans" pitchFamily="34" charset="0"/>
                <a:ea typeface="Nunito Sans" pitchFamily="34" charset="-122"/>
                <a:cs typeface="Nunito Sans" pitchFamily="34" charset="-120"/>
              </a:rPr>
              <a:t>System confirms the booking and issues a PNR and e-ticket</a:t>
            </a:r>
            <a:endParaRPr lang="en-US" sz="1200" dirty="0"/>
          </a:p>
        </p:txBody>
      </p:sp>
      <p:sp>
        <p:nvSpPr>
          <p:cNvPr id="8" name="Shape 6"/>
          <p:cNvSpPr/>
          <p:nvPr/>
        </p:nvSpPr>
        <p:spPr>
          <a:xfrm>
            <a:off x="6175375" y="2573536"/>
            <a:ext cx="5200650" cy="1013023"/>
          </a:xfrm>
          <a:prstGeom prst="roundRect">
            <a:avLst>
              <a:gd name="adj" fmla="val 7209"/>
            </a:avLst>
          </a:prstGeom>
          <a:solidFill>
            <a:srgbClr val="FFFDF9"/>
          </a:solidFill>
          <a:ln w="6350">
            <a:solidFill>
              <a:srgbClr val="D3DBE6"/>
            </a:solidFill>
            <a:prstDash val="solid"/>
          </a:ln>
        </p:spPr>
      </p:sp>
      <p:sp>
        <p:nvSpPr>
          <p:cNvPr id="9" name="Text 7"/>
          <p:cNvSpPr/>
          <p:nvPr/>
        </p:nvSpPr>
        <p:spPr>
          <a:xfrm>
            <a:off x="6354233" y="2727003"/>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2B5C9E"/>
                </a:solidFill>
                <a:latin typeface="Nunito Sans" pitchFamily="34" charset="0"/>
                <a:ea typeface="Nunito Sans" pitchFamily="34" charset="-122"/>
                <a:cs typeface="Nunito Sans" pitchFamily="34" charset="-120"/>
              </a:rPr>
              <a:t>Alternate</a:t>
            </a:r>
            <a:endParaRPr lang="en-US" sz="1300" dirty="0"/>
          </a:p>
        </p:txBody>
      </p:sp>
      <p:sp>
        <p:nvSpPr>
          <p:cNvPr id="10" name="Text 8"/>
          <p:cNvSpPr/>
          <p:nvPr/>
        </p:nvSpPr>
        <p:spPr>
          <a:xfrm>
            <a:off x="6453039" y="2975905"/>
            <a:ext cx="4881795" cy="4826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A1: Select a seat (paid or free)</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A2: Add extra baggage</a:t>
            </a:r>
            <a:endParaRPr lang="en-US" sz="1200" dirty="0"/>
          </a:p>
        </p:txBody>
      </p:sp>
      <p:sp>
        <p:nvSpPr>
          <p:cNvPr id="11" name="Shape 9"/>
          <p:cNvSpPr/>
          <p:nvPr/>
        </p:nvSpPr>
        <p:spPr>
          <a:xfrm>
            <a:off x="6175375" y="3694509"/>
            <a:ext cx="5200650" cy="1470223"/>
          </a:xfrm>
          <a:prstGeom prst="roundRect">
            <a:avLst>
              <a:gd name="adj" fmla="val 4967"/>
            </a:avLst>
          </a:prstGeom>
          <a:solidFill>
            <a:srgbClr val="FFFDF9"/>
          </a:solidFill>
          <a:ln w="6350">
            <a:solidFill>
              <a:srgbClr val="D3DBE6"/>
            </a:solidFill>
            <a:prstDash val="solid"/>
          </a:ln>
        </p:spPr>
      </p:sp>
      <p:sp>
        <p:nvSpPr>
          <p:cNvPr id="12" name="Text 10"/>
          <p:cNvSpPr/>
          <p:nvPr/>
        </p:nvSpPr>
        <p:spPr>
          <a:xfrm>
            <a:off x="6354233" y="3847976"/>
            <a:ext cx="4988221"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A14F0A"/>
                </a:solidFill>
                <a:latin typeface="Nunito Sans" pitchFamily="34" charset="0"/>
                <a:ea typeface="Nunito Sans" pitchFamily="34" charset="-122"/>
                <a:cs typeface="Nunito Sans" pitchFamily="34" charset="-120"/>
              </a:rPr>
              <a:t>Exception</a:t>
            </a:r>
            <a:endParaRPr lang="en-US" sz="1300" dirty="0"/>
          </a:p>
        </p:txBody>
      </p:sp>
      <p:sp>
        <p:nvSpPr>
          <p:cNvPr id="13" name="Text 11"/>
          <p:cNvSpPr/>
          <p:nvPr/>
        </p:nvSpPr>
        <p:spPr>
          <a:xfrm>
            <a:off x="6453039" y="4096879"/>
            <a:ext cx="4881795" cy="9398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E1: No flights found: suggest nearby dates</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E2: Fare changes or seat taken: confirm new fare</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E3: Invalid characters in name: validation error</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E4: Payment fails: hold 15 min, then release</a:t>
            </a:r>
            <a:endParaRPr lang="en-US" sz="1200" dirty="0"/>
          </a:p>
        </p:txBody>
      </p:sp>
      <p:sp>
        <p:nvSpPr>
          <p:cNvPr id="14" name="Text 12"/>
          <p:cNvSpPr/>
          <p:nvPr/>
        </p:nvSpPr>
        <p:spPr>
          <a:xfrm>
            <a:off x="812800" y="5320308"/>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Postconditions.</a:t>
            </a:r>
            <a:r>
              <a:rPr lang="en-US" sz="1300" dirty="0">
                <a:solidFill>
                  <a:srgbClr val="3D4A5C"/>
                </a:solidFill>
                <a:latin typeface="Nunito Sans" pitchFamily="34" charset="0"/>
                <a:ea typeface="Nunito Sans" pitchFamily="34" charset="-122"/>
                <a:cs typeface="Nunito Sans" pitchFamily="34" charset="-120"/>
              </a:rPr>
              <a:t> Success: seat reserved, PNR generated, ticket emailed. Failure: no booking, seat released, no charge.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Four questions, one minute each</a:t>
            </a:r>
            <a:endParaRPr lang="en-US" sz="3200" dirty="0"/>
          </a:p>
        </p:txBody>
      </p:sp>
      <p:sp>
        <p:nvSpPr>
          <p:cNvPr id="4" name="Text 2"/>
          <p:cNvSpPr/>
          <p:nvPr/>
        </p:nvSpPr>
        <p:spPr>
          <a:xfrm>
            <a:off x="812800" y="1854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09167"/>
            <a:ext cx="793972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What is the difference between an alternate flow and an exception flow?</a:t>
            </a:r>
            <a:endParaRPr lang="en-US" sz="1600" dirty="0"/>
          </a:p>
        </p:txBody>
      </p:sp>
      <p:sp>
        <p:nvSpPr>
          <p:cNvPr id="6" name="Text 4"/>
          <p:cNvSpPr/>
          <p:nvPr/>
        </p:nvSpPr>
        <p:spPr>
          <a:xfrm>
            <a:off x="812800" y="23875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42567"/>
            <a:ext cx="4775915"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Can an actor be a system? Give an example.</a:t>
            </a:r>
            <a:endParaRPr lang="en-US" sz="1600" dirty="0"/>
          </a:p>
        </p:txBody>
      </p:sp>
      <p:sp>
        <p:nvSpPr>
          <p:cNvPr id="8" name="Text 6"/>
          <p:cNvSpPr/>
          <p:nvPr/>
        </p:nvSpPr>
        <p:spPr>
          <a:xfrm>
            <a:off x="812800" y="29209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75967"/>
            <a:ext cx="442341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In the ATM use case, what is the trigger?</a:t>
            </a:r>
            <a:endParaRPr lang="en-US" sz="1600" dirty="0"/>
          </a:p>
        </p:txBody>
      </p:sp>
      <p:sp>
        <p:nvSpPr>
          <p:cNvPr id="10" name="Text 8"/>
          <p:cNvSpPr/>
          <p:nvPr/>
        </p:nvSpPr>
        <p:spPr>
          <a:xfrm>
            <a:off x="812800" y="34543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09367"/>
            <a:ext cx="611457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Does a use case contain test data and a pass/fail status?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Bugs hide in the </a:t>
            </a:r>
            <a:r>
              <a:rPr lang="en-US" sz="3200" b="1" i="0" dirty="0">
                <a:solidFill>
                  <a:srgbClr val="F0A04B"/>
                </a:solidFill>
                <a:latin typeface="Domine" pitchFamily="18" charset="0"/>
                <a:ea typeface="Domine" pitchFamily="18" charset="-122"/>
                <a:cs typeface="Domine" pitchFamily="18" charset="-120"/>
              </a:rPr>
              <a:t>exception flows</a:t>
            </a:r>
            <a:endParaRPr lang="en-US" sz="3200" dirty="0"/>
          </a:p>
        </p:txBody>
      </p:sp>
      <p:pic>
        <p:nvPicPr>
          <p:cNvPr id="4" name="Image 0" descr="CheckCircle"/>
          <p:cNvPicPr>
            <a:picLocks noChangeAspect="1"/>
          </p:cNvPicPr>
          <p:nvPr/>
        </p:nvPicPr>
        <p:blipFill>
          <a:blip r:embed="rId3"/>
          <a:srcRect/>
          <a:stretch/>
        </p:blipFill>
        <p:spPr>
          <a:xfrm>
            <a:off x="812800" y="1860488"/>
            <a:ext cx="254000" cy="254000"/>
          </a:xfrm>
          <a:prstGeom prst="rect">
            <a:avLst/>
          </a:prstGeom>
        </p:spPr>
      </p:pic>
      <p:sp>
        <p:nvSpPr>
          <p:cNvPr id="5" name="Text 2"/>
          <p:cNvSpPr/>
          <p:nvPr/>
        </p:nvSpPr>
        <p:spPr>
          <a:xfrm>
            <a:off x="1219200" y="1854138"/>
            <a:ext cx="65435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A use case describes actor ↔ system interaction to reach a goal.</a:t>
            </a:r>
            <a:endParaRPr lang="en-US" sz="1500" dirty="0"/>
          </a:p>
        </p:txBody>
      </p:sp>
      <p:pic>
        <p:nvPicPr>
          <p:cNvPr id="6" name="Image 1" descr="CheckCircle"/>
          <p:cNvPicPr>
            <a:picLocks noChangeAspect="1"/>
          </p:cNvPicPr>
          <p:nvPr/>
        </p:nvPicPr>
        <p:blipFill>
          <a:blip r:embed="rId3"/>
          <a:srcRect/>
          <a:stretch/>
        </p:blipFill>
        <p:spPr>
          <a:xfrm>
            <a:off x="812800" y="2279588"/>
            <a:ext cx="254000" cy="254000"/>
          </a:xfrm>
          <a:prstGeom prst="rect">
            <a:avLst/>
          </a:prstGeom>
        </p:spPr>
      </p:pic>
      <p:sp>
        <p:nvSpPr>
          <p:cNvPr id="7" name="Text 3"/>
          <p:cNvSpPr/>
          <p:nvPr/>
        </p:nvSpPr>
        <p:spPr>
          <a:xfrm>
            <a:off x="1219200" y="2273238"/>
            <a:ext cx="969335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Parts: actor, system, preconditions, trigger, main, alternate and exception flows, postconditions.</a:t>
            </a:r>
            <a:endParaRPr lang="en-US" sz="1500" dirty="0"/>
          </a:p>
        </p:txBody>
      </p:sp>
      <p:pic>
        <p:nvPicPr>
          <p:cNvPr id="8" name="Image 2" descr="CheckCircle"/>
          <p:cNvPicPr>
            <a:picLocks noChangeAspect="1"/>
          </p:cNvPicPr>
          <p:nvPr/>
        </p:nvPicPr>
        <p:blipFill>
          <a:blip r:embed="rId3"/>
          <a:srcRect/>
          <a:stretch/>
        </p:blipFill>
        <p:spPr>
          <a:xfrm>
            <a:off x="812800" y="2698688"/>
            <a:ext cx="254000" cy="254000"/>
          </a:xfrm>
          <a:prstGeom prst="rect">
            <a:avLst/>
          </a:prstGeom>
        </p:spPr>
      </p:pic>
      <p:sp>
        <p:nvSpPr>
          <p:cNvPr id="9" name="Text 4"/>
          <p:cNvSpPr/>
          <p:nvPr/>
        </p:nvSpPr>
        <p:spPr>
          <a:xfrm>
            <a:off x="1219200" y="2692338"/>
            <a:ext cx="478337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Each flow becomes one or more test scenarios.</a:t>
            </a:r>
            <a:endParaRPr lang="en-US" sz="1500" dirty="0"/>
          </a:p>
        </p:txBody>
      </p:sp>
      <p:pic>
        <p:nvPicPr>
          <p:cNvPr id="10" name="Image 3" descr="CheckCircle"/>
          <p:cNvPicPr>
            <a:picLocks noChangeAspect="1"/>
          </p:cNvPicPr>
          <p:nvPr/>
        </p:nvPicPr>
        <p:blipFill>
          <a:blip r:embed="rId3"/>
          <a:srcRect/>
          <a:stretch/>
        </p:blipFill>
        <p:spPr>
          <a:xfrm>
            <a:off x="812800" y="3117788"/>
            <a:ext cx="254000" cy="254000"/>
          </a:xfrm>
          <a:prstGeom prst="rect">
            <a:avLst/>
          </a:prstGeom>
        </p:spPr>
      </p:pic>
      <p:sp>
        <p:nvSpPr>
          <p:cNvPr id="11" name="Text 5"/>
          <p:cNvSpPr/>
          <p:nvPr/>
        </p:nvSpPr>
        <p:spPr>
          <a:xfrm>
            <a:off x="1219200" y="3111438"/>
            <a:ext cx="608901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A use case is a requirement; a test case is a verification of it.</a:t>
            </a:r>
            <a:endParaRPr lang="en-US" sz="1500" dirty="0"/>
          </a:p>
        </p:txBody>
      </p:sp>
      <p:sp>
        <p:nvSpPr>
          <p:cNvPr id="12" name="Text 6"/>
          <p:cNvSpPr/>
          <p:nvPr/>
        </p:nvSpPr>
        <p:spPr>
          <a:xfrm>
            <a:off x="812800" y="36829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a:t>
            </a:r>
            <a:r>
              <a:rPr lang="en-US" sz="1400">
                <a:solidFill>
                  <a:srgbClr val="C9D3E3"/>
                </a:solidFill>
                <a:latin typeface="Nunito Sans" pitchFamily="34" charset="0"/>
                <a:ea typeface="Nunito Sans" pitchFamily="34" charset="-122"/>
                <a:cs typeface="Nunito Sans" pitchFamily="34" charset="-120"/>
              </a:rPr>
              <a:t>: Unit </a:t>
            </a:r>
            <a:r>
              <a:rPr lang="en-US" sz="1400" dirty="0">
                <a:solidFill>
                  <a:srgbClr val="C9D3E3"/>
                </a:solidFill>
                <a:latin typeface="Nunito Sans" pitchFamily="34" charset="0"/>
                <a:ea typeface="Nunito Sans" pitchFamily="34" charset="-122"/>
                <a:cs typeface="Nunito Sans" pitchFamily="34" charset="-120"/>
              </a:rPr>
              <a:t>4, User Stories: how Agile teams express requirements.</a:t>
            </a:r>
            <a:endParaRPr lang="en-US" sz="1400" dirty="0"/>
          </a:p>
        </p:txBody>
      </p:sp>
    </p:spTree>
  </p:cSld>
  <p:clrMapOvr>
    <a:masterClrMapping/>
  </p:clrMapOvr>
</p:sld>
</file>

<file path=ppt/theme/theme1.xml><?xml version="1.0" encoding="utf-8"?>
<a:theme xmlns:a="http://schemas.openxmlformats.org/drawingml/2006/main" name="Use Cases">
  <a:themeElements>
    <a:clrScheme name="Use Cases">
      <a:dk1>
        <a:srgbClr val="14213D"/>
      </a:dk1>
      <a:lt1>
        <a:srgbClr val="FBFBF8"/>
      </a:lt1>
      <a:dk2>
        <a:srgbClr val="4E586C"/>
      </a:dk2>
      <a:lt2>
        <a:srgbClr val="E4E5E5"/>
      </a:lt2>
      <a:accent1>
        <a:srgbClr val="A14F0A"/>
      </a:accent1>
      <a:accent2>
        <a:srgbClr val="2B5C9E"/>
      </a:accent2>
      <a:accent3>
        <a:srgbClr val="F0A04B"/>
      </a:accent3>
      <a:accent4>
        <a:srgbClr val="24345A"/>
      </a:accent4>
      <a:accent5>
        <a:srgbClr val="3D4A5C"/>
      </a:accent5>
      <a:accent6>
        <a:srgbClr val="FBEBDD"/>
      </a:accent6>
      <a:hlink>
        <a:srgbClr val="0563C1"/>
      </a:hlink>
      <a:folHlink>
        <a:srgbClr val="954F72"/>
      </a:folHlink>
    </a:clrScheme>
    <a:fontScheme name="Use Cases">
      <a:majorFont>
        <a:latin typeface="Nuni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2290</Words>
  <Application>Microsoft Office PowerPoint</Application>
  <PresentationFormat>Widescreen</PresentationFormat>
  <Paragraphs>297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Domine</vt:lpstr>
      <vt:lpstr>Nunito Sans</vt:lpstr>
      <vt:lpstr>Use Cases</vt:lpstr>
      <vt:lpstr>Use Cases</vt:lpstr>
      <vt:lpstr>What this unit covers:</vt:lpstr>
      <vt:lpstr>A story of interaction</vt:lpstr>
      <vt:lpstr>The parts of a use case</vt:lpstr>
      <vt:lpstr>Who takes part in the interaction</vt:lpstr>
      <vt:lpstr>Withdraw cash from an ATM</vt:lpstr>
      <vt:lpstr>Different paths that still reach the goal</vt:lpstr>
      <vt:lpstr>When something goes wrong</vt:lpstr>
      <vt:lpstr>What must be true afterwards</vt:lpstr>
      <vt:lpstr>Every flow becomes a test scenario</vt:lpstr>
      <vt:lpstr>Use case vs. test case</vt:lpstr>
      <vt:lpstr>Common beginner mistakes</vt:lpstr>
      <vt:lpstr>Write a brief use case</vt:lpstr>
      <vt:lpstr>Log in to the application</vt:lpstr>
      <vt:lpstr>Purchase a product online</vt:lpstr>
      <vt:lpstr>Book a one-way flight</vt:lpstr>
      <vt:lpstr>Four questions, one minute each</vt:lpstr>
      <vt:lpstr>Bugs hide in the exception flows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Cases</dc:title>
  <dc:subject/>
  <dc:creator/>
  <cp:lastModifiedBy>Saurabh Kamath</cp:lastModifiedBy>
  <cp:revision>4</cp:revision>
  <dcterms:created xsi:type="dcterms:W3CDTF">2026-10-06T17:16:12Z</dcterms:created>
  <dcterms:modified xsi:type="dcterms:W3CDTF">2026-10-06T18:21:22Z</dcterms:modified>
</cp:coreProperties>
</file>