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687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have now seen the whole testing workflow: choosing types and a strategy, analysing requirements, designing scenarios and test cases, and managing defects. Every one of those activities takes time. Sooner or later your lead will ask how long testing will take. This chapter teaches you to answer with a reasoned estimate instead of a guess.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objectives. The formula in objective four is the one thing worth memorising; everything else is about thinking through the work completely and being honest about what your number depends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the phase most often squeezed when development runs late. If you can show where the hours come from, you can negotiate scope instead of silently cutting corners. And remember the callout: an estimate is a prediction with assumptions, not a commitment carved in stone.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factors describe the size and shape of what you must test. Beginners usually count only test cases, but test data and environment setup are real hours too, and they are often the tasks that slip.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hours beginners forget. Defect work alone is often fifteen to thirty percent of execution effort. And the six-hour productive day is the single most useful number in this chapter: plan with eight and you are late from day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go from the simplest approach to the most data-driven. Expert judgement is what most teams do first. Delphi and Planning Poker both reduce one person's bias by getting independent estimates before discussion: the conversation about why two people disagree is often where forgotten work appears.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 breakdown structure for testing the login module. Notice that execution is only eight of the thirty-nine hours. The items in orange, test data and the summary report, are the ones people forget when they estimate in one go.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don't have test cases yet, a rough rule is the number of scenarios from chapter six times about two. The 17.5 hours covers design plus one execution cycle only. Setup, defect handling, regression and reporting all come on top.</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Three-point estimation admits that we don't know exactly. Estimate three values for each task or for the total. The PERT formula is a weighted average: the most likely value counts four times. The standard deviation, optional, tells you how wide the uncertainty is. Its weakness: garbage in, garbage out. O, M and P are still judgement.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arithmetic slowly. Four times thirty is one hundred and twenty; add twenty and fifty-two to get one hundred and ninety-two; divide by six to get thirty-two. Notice E is a little higher than M, because the pessimistic tail is longer than the optimistic one. Giving a range is more honest than a single number, and it is easy to justify.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 estimation is only as good as your records, which is one more reason to track estimate versus actual. Always adjust for what is different this time: here a new payment gateway adds fifteen percent, so fifty-four times one point one five is about sixty-two hours.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single approach is best. The combination at the bottom is what experienced QA leads actually do: the WBS stops you forgetting work, three-point handles uncertainty, and history and experts catch numbers that look wrong.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Effort is how much work; duration is how long on the calendar. Divide effort by daily team capacity, using productive hours, not eight. Then remember that adding testers doesn't help while everyone waits for a build or a fix.</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assumption is a condition your number depends on. When the environment arrives three days late, you can point to the assumption and re-estimate, instead of being blamed for a missed date. The out-of-scope list does the same job for work nobody asked you to plan.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one of these produces a number that is too low or can't be defended. The first is by far the most common: in the WBS example, execution was eight hours out of thirty-nine.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minutes. Work in pairs if you like. Start with a WBS so you don't forget tasks, use test-case counts where you can, and write down every assumption you make, especially about the five browsers and the automation. There is no single correct number.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Assumption two is the important judgement call: not all forty test cases need to run on all five browsers. Only the UI-relevant ones do, and repeat runs are faster. Writing it down means the stakeholder can challenge it, and we'll see on the last answer slide what it costs if they do.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line traces back to an assumption on the previous slide. Notice automation at fifteen hours is the single biggest item, larger than all execution combined. The sixty-seven hours becomes our most likely value, M, for a three-point estimate.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times sixty-seven is two hundred and sixty-eight. The range sixty-three to seventy-six is E plus or minus one standard deviation. The last sentence of the quote is what makes this a professional estimate: it tells the stakeholder exactly what happens if they challenge assumption two. Your numbers will differ, and that's fine. Estimates are judged on completeness of tasks, clear assumptions and sound arithmetic, not on matching a correct number.</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E equals O plus four M plus P, all divided by six. 2. Ten plus sixty-four plus twenty-eight is one hundred and two; divided by six is 17 hours. 3. Any four of: test design, test data preparation, environment setup, automation, regression, defect retesting, reporting, meetings, risk and uncertainty. 4. 48 divided by 12 is 4 days. 5. So stakeholders know what the number depends on, and the estimate can be revised when an assumption changes.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You can now explain where testing hours come from, estimate them five ways, and turn them into a schedule you can defend. In the capstone you'll put everything from the course together on one realistic feature.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8885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 Unit 9</a:t>
            </a:r>
            <a:endParaRPr lang="en-US" sz="1200" dirty="0"/>
          </a:p>
        </p:txBody>
      </p:sp>
      <p:sp>
        <p:nvSpPr>
          <p:cNvPr id="3" name="Text 1"/>
          <p:cNvSpPr>
            <a:spLocks noGrp="1"/>
          </p:cNvSpPr>
          <p:nvPr>
            <p:ph type="title"/>
          </p:nvPr>
        </p:nvSpPr>
        <p:spPr>
          <a:xfrm>
            <a:off x="812800" y="2355850"/>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BF8"/>
                </a:solidFill>
                <a:latin typeface="Domine" pitchFamily="18" charset="0"/>
                <a:ea typeface="Domine" pitchFamily="18" charset="-122"/>
                <a:cs typeface="Domine" pitchFamily="18" charset="-120"/>
              </a:rPr>
              <a:t>Test Estimation</a:t>
            </a:r>
            <a:endParaRPr lang="en-US" sz="6400" dirty="0"/>
          </a:p>
        </p:txBody>
      </p:sp>
      <p:sp>
        <p:nvSpPr>
          <p:cNvPr id="4" name="Text 2"/>
          <p:cNvSpPr/>
          <p:nvPr/>
        </p:nvSpPr>
        <p:spPr>
          <a:xfrm>
            <a:off x="812800" y="3463264"/>
            <a:ext cx="850265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Answering "how long will testing take?" with something better than a guess</a:t>
            </a:r>
            <a:endParaRPr lang="en-US" sz="2000" dirty="0"/>
          </a:p>
        </p:txBody>
      </p:sp>
      <p:sp>
        <p:nvSpPr>
          <p:cNvPr id="5" name="Shape 3"/>
          <p:cNvSpPr/>
          <p:nvPr/>
        </p:nvSpPr>
        <p:spPr>
          <a:xfrm>
            <a:off x="812800" y="4428464"/>
            <a:ext cx="1016000" cy="38100"/>
          </a:xfrm>
          <a:prstGeom prst="roundRect">
            <a:avLst>
              <a:gd name="adj" fmla="val 50000"/>
            </a:avLst>
          </a:prstGeom>
          <a:solidFill>
            <a:srgbClr val="F0A04B"/>
          </a:solidFill>
          <a:ln/>
        </p:spPr>
      </p:sp>
      <p:sp>
        <p:nvSpPr>
          <p:cNvPr id="6" name="Text 4"/>
          <p:cNvSpPr/>
          <p:nvPr/>
        </p:nvSpPr>
        <p:spPr>
          <a:xfrm>
            <a:off x="812800" y="472056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30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LEARNING OBJECTIVES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this unit covers:</a:t>
            </a:r>
            <a:endParaRPr lang="en-US" sz="3200" dirty="0"/>
          </a:p>
        </p:txBody>
      </p:sp>
      <p:sp>
        <p:nvSpPr>
          <p:cNvPr id="4" name="Text 2"/>
          <p:cNvSpPr/>
          <p:nvPr/>
        </p:nvSpPr>
        <p:spPr>
          <a:xfrm>
            <a:off x="812800" y="1854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09167"/>
            <a:ext cx="4135041"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Explain why testing needs estimation.</a:t>
            </a:r>
            <a:endParaRPr lang="en-US" sz="1600" dirty="0"/>
          </a:p>
        </p:txBody>
      </p:sp>
      <p:sp>
        <p:nvSpPr>
          <p:cNvPr id="6" name="Text 4"/>
          <p:cNvSpPr/>
          <p:nvPr/>
        </p:nvSpPr>
        <p:spPr>
          <a:xfrm>
            <a:off x="812800" y="23875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42567"/>
            <a:ext cx="510413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List the factors that contribute to testing effort.</a:t>
            </a:r>
            <a:endParaRPr lang="en-US" sz="1600" dirty="0"/>
          </a:p>
        </p:txBody>
      </p:sp>
      <p:sp>
        <p:nvSpPr>
          <p:cNvPr id="8" name="Text 6"/>
          <p:cNvSpPr/>
          <p:nvPr/>
        </p:nvSpPr>
        <p:spPr>
          <a:xfrm>
            <a:off x="812800" y="29209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75967"/>
            <a:ext cx="1002284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Apply five approaches: expert judgement, WBS, test-case-based, three-point and historical.</a:t>
            </a:r>
            <a:endParaRPr lang="en-US" sz="1600" dirty="0"/>
          </a:p>
        </p:txBody>
      </p:sp>
      <p:sp>
        <p:nvSpPr>
          <p:cNvPr id="10" name="Text 8"/>
          <p:cNvSpPr/>
          <p:nvPr/>
        </p:nvSpPr>
        <p:spPr>
          <a:xfrm>
            <a:off x="812800" y="34543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09367"/>
            <a:ext cx="63942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Calculate a three-point estimate with </a:t>
            </a:r>
            <a:r>
              <a:rPr lang="en-US" sz="1600" b="1" dirty="0">
                <a:solidFill>
                  <a:srgbClr val="14213D"/>
                </a:solidFill>
                <a:latin typeface="Nunito Sans" pitchFamily="34" charset="0"/>
                <a:ea typeface="Nunito Sans" pitchFamily="34" charset="-122"/>
                <a:cs typeface="Nunito Sans" pitchFamily="34" charset="-120"/>
              </a:rPr>
              <a:t>E = (O + 4M + P) / 6</a:t>
            </a:r>
            <a:r>
              <a:rPr lang="en-US" sz="1600" dirty="0">
                <a:solidFill>
                  <a:srgbClr val="3D4A5C"/>
                </a:solidFill>
                <a:latin typeface="Nunito Sans" pitchFamily="34" charset="0"/>
                <a:ea typeface="Nunito Sans" pitchFamily="34" charset="-122"/>
                <a:cs typeface="Nunito Sans" pitchFamily="34" charset="-120"/>
              </a:rPr>
              <a:t>.</a:t>
            </a:r>
            <a:endParaRPr lang="en-US" sz="1600" dirty="0"/>
          </a:p>
        </p:txBody>
      </p:sp>
      <p:sp>
        <p:nvSpPr>
          <p:cNvPr id="12" name="Text 10"/>
          <p:cNvSpPr/>
          <p:nvPr/>
        </p:nvSpPr>
        <p:spPr>
          <a:xfrm>
            <a:off x="812800" y="39877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4042767"/>
            <a:ext cx="634881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State your assumptions and convert effort into a schedule.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WHY ESTIMATE?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jobs an estimate does</a:t>
            </a:r>
            <a:endParaRPr lang="en-US" sz="3200" dirty="0"/>
          </a:p>
        </p:txBody>
      </p:sp>
      <p:pic>
        <p:nvPicPr>
          <p:cNvPr id="4" name="Image 0" descr="Clock"/>
          <p:cNvPicPr>
            <a:picLocks noChangeAspect="1"/>
          </p:cNvPicPr>
          <p:nvPr/>
        </p:nvPicPr>
        <p:blipFill>
          <a:blip r:embed="rId3"/>
          <a:srcRect/>
          <a:stretch/>
        </p:blipFill>
        <p:spPr>
          <a:xfrm>
            <a:off x="812800" y="1809685"/>
            <a:ext cx="254000" cy="254000"/>
          </a:xfrm>
          <a:prstGeom prst="rect">
            <a:avLst/>
          </a:prstGeom>
        </p:spPr>
      </p:pic>
      <p:sp>
        <p:nvSpPr>
          <p:cNvPr id="5" name="Text 2"/>
          <p:cNvSpPr/>
          <p:nvPr/>
        </p:nvSpPr>
        <p:spPr>
          <a:xfrm>
            <a:off x="1219200" y="1803335"/>
            <a:ext cx="651049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Planning:</a:t>
            </a:r>
            <a:r>
              <a:rPr lang="en-US" sz="1500" dirty="0">
                <a:solidFill>
                  <a:srgbClr val="3D4A5C"/>
                </a:solidFill>
                <a:latin typeface="Nunito Sans" pitchFamily="34" charset="0"/>
                <a:ea typeface="Nunito Sans" pitchFamily="34" charset="-122"/>
                <a:cs typeface="Nunito Sans" pitchFamily="34" charset="-120"/>
              </a:rPr>
              <a:t> the project manager needs dates for the release plan.</a:t>
            </a:r>
            <a:endParaRPr lang="en-US" sz="1500" dirty="0"/>
          </a:p>
        </p:txBody>
      </p:sp>
      <p:pic>
        <p:nvPicPr>
          <p:cNvPr id="6" name="Image 1" descr="Users"/>
          <p:cNvPicPr>
            <a:picLocks noChangeAspect="1"/>
          </p:cNvPicPr>
          <p:nvPr/>
        </p:nvPicPr>
        <p:blipFill>
          <a:blip r:embed="rId4"/>
          <a:srcRect/>
          <a:stretch/>
        </p:blipFill>
        <p:spPr>
          <a:xfrm>
            <a:off x="812800" y="2203385"/>
            <a:ext cx="254000" cy="254000"/>
          </a:xfrm>
          <a:prstGeom prst="rect">
            <a:avLst/>
          </a:prstGeom>
        </p:spPr>
      </p:pic>
      <p:sp>
        <p:nvSpPr>
          <p:cNvPr id="7" name="Text 3"/>
          <p:cNvSpPr/>
          <p:nvPr/>
        </p:nvSpPr>
        <p:spPr>
          <a:xfrm>
            <a:off x="1219200" y="2197035"/>
            <a:ext cx="598844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Resourcing:</a:t>
            </a:r>
            <a:r>
              <a:rPr lang="en-US" sz="1500" dirty="0">
                <a:solidFill>
                  <a:srgbClr val="3D4A5C"/>
                </a:solidFill>
                <a:latin typeface="Nunito Sans" pitchFamily="34" charset="0"/>
                <a:ea typeface="Nunito Sans" pitchFamily="34" charset="-122"/>
                <a:cs typeface="Nunito Sans" pitchFamily="34" charset="-120"/>
              </a:rPr>
              <a:t> how many testers, devices and environments?</a:t>
            </a:r>
            <a:endParaRPr lang="en-US" sz="1500" dirty="0"/>
          </a:p>
        </p:txBody>
      </p:sp>
      <p:pic>
        <p:nvPicPr>
          <p:cNvPr id="8" name="Image 2" descr="Chat"/>
          <p:cNvPicPr>
            <a:picLocks noChangeAspect="1"/>
          </p:cNvPicPr>
          <p:nvPr/>
        </p:nvPicPr>
        <p:blipFill>
          <a:blip r:embed="rId5"/>
          <a:srcRect/>
          <a:stretch/>
        </p:blipFill>
        <p:spPr>
          <a:xfrm>
            <a:off x="812800" y="2597085"/>
            <a:ext cx="254000" cy="254000"/>
          </a:xfrm>
          <a:prstGeom prst="rect">
            <a:avLst/>
          </a:prstGeom>
        </p:spPr>
      </p:pic>
      <p:sp>
        <p:nvSpPr>
          <p:cNvPr id="9" name="Text 4"/>
          <p:cNvSpPr/>
          <p:nvPr/>
        </p:nvSpPr>
        <p:spPr>
          <a:xfrm>
            <a:off x="1219200" y="2590735"/>
            <a:ext cx="854241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Negotiation:</a:t>
            </a:r>
            <a:r>
              <a:rPr lang="en-US" sz="1500" dirty="0">
                <a:solidFill>
                  <a:srgbClr val="3D4A5C"/>
                </a:solidFill>
                <a:latin typeface="Nunito Sans" pitchFamily="34" charset="0"/>
                <a:ea typeface="Nunito Sans" pitchFamily="34" charset="-122"/>
                <a:cs typeface="Nunito Sans" pitchFamily="34" charset="-120"/>
              </a:rPr>
              <a:t> if time is fixed, what scope can we test, and which risks stay untested?</a:t>
            </a:r>
            <a:endParaRPr lang="en-US" sz="1500" dirty="0"/>
          </a:p>
        </p:txBody>
      </p:sp>
      <p:pic>
        <p:nvPicPr>
          <p:cNvPr id="10" name="Image 3" descr="Verified"/>
          <p:cNvPicPr>
            <a:picLocks noChangeAspect="1"/>
          </p:cNvPicPr>
          <p:nvPr/>
        </p:nvPicPr>
        <p:blipFill>
          <a:blip r:embed="rId6"/>
          <a:srcRect/>
          <a:stretch/>
        </p:blipFill>
        <p:spPr>
          <a:xfrm>
            <a:off x="812800" y="2990785"/>
            <a:ext cx="254000" cy="254000"/>
          </a:xfrm>
          <a:prstGeom prst="rect">
            <a:avLst/>
          </a:prstGeom>
        </p:spPr>
      </p:pic>
      <p:sp>
        <p:nvSpPr>
          <p:cNvPr id="11" name="Text 5"/>
          <p:cNvSpPr/>
          <p:nvPr/>
        </p:nvSpPr>
        <p:spPr>
          <a:xfrm>
            <a:off x="1219200" y="2984435"/>
            <a:ext cx="842176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Credibility:</a:t>
            </a:r>
            <a:r>
              <a:rPr lang="en-US" sz="1500" dirty="0">
                <a:solidFill>
                  <a:srgbClr val="3D4A5C"/>
                </a:solidFill>
                <a:latin typeface="Nunito Sans" pitchFamily="34" charset="0"/>
                <a:ea typeface="Nunito Sans" pitchFamily="34" charset="-122"/>
                <a:cs typeface="Nunito Sans" pitchFamily="34" charset="-120"/>
              </a:rPr>
              <a:t> testing gets squeezed at the end; a reasoned estimate protects quality.</a:t>
            </a:r>
            <a:endParaRPr lang="en-US" sz="1500" dirty="0"/>
          </a:p>
        </p:txBody>
      </p:sp>
      <p:pic>
        <p:nvPicPr>
          <p:cNvPr id="12" name="Image 4" descr="Chart"/>
          <p:cNvPicPr>
            <a:picLocks noChangeAspect="1"/>
          </p:cNvPicPr>
          <p:nvPr/>
        </p:nvPicPr>
        <p:blipFill>
          <a:blip r:embed="rId7"/>
          <a:srcRect/>
          <a:stretch/>
        </p:blipFill>
        <p:spPr>
          <a:xfrm>
            <a:off x="812800" y="3384485"/>
            <a:ext cx="254000" cy="254000"/>
          </a:xfrm>
          <a:prstGeom prst="rect">
            <a:avLst/>
          </a:prstGeom>
        </p:spPr>
      </p:pic>
      <p:sp>
        <p:nvSpPr>
          <p:cNvPr id="13" name="Text 6"/>
          <p:cNvSpPr/>
          <p:nvPr/>
        </p:nvSpPr>
        <p:spPr>
          <a:xfrm>
            <a:off x="1219200" y="3378135"/>
            <a:ext cx="619021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Tracking:</a:t>
            </a:r>
            <a:r>
              <a:rPr lang="en-US" sz="1500" dirty="0">
                <a:solidFill>
                  <a:srgbClr val="3D4A5C"/>
                </a:solidFill>
                <a:latin typeface="Nunito Sans" pitchFamily="34" charset="0"/>
                <a:ea typeface="Nunito Sans" pitchFamily="34" charset="-122"/>
                <a:cs typeface="Nunito Sans" pitchFamily="34" charset="-120"/>
              </a:rPr>
              <a:t> estimate vs. actual makes the next estimate better.</a:t>
            </a:r>
            <a:endParaRPr lang="en-US" sz="1500" dirty="0"/>
          </a:p>
        </p:txBody>
      </p:sp>
      <p:sp>
        <p:nvSpPr>
          <p:cNvPr id="14" name="Text 7"/>
          <p:cNvSpPr/>
          <p:nvPr/>
        </p:nvSpPr>
        <p:spPr>
          <a:xfrm>
            <a:off x="812800" y="3898835"/>
            <a:ext cx="10566400" cy="838200"/>
          </a:xfrm>
          <a:prstGeom prst="roundRect">
            <a:avLst>
              <a:gd name="adj" fmla="val 9091"/>
            </a:avLst>
          </a:prstGeom>
          <a:solidFill>
            <a:srgbClr val="FBEBDD"/>
          </a:solidFill>
          <a:ln/>
        </p:spPr>
        <p:txBody>
          <a:bodyPr wrap="square" lIns="180882" tIns="130082" rIns="0" bIns="104682"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An estimate is </a:t>
            </a:r>
            <a:r>
              <a:rPr lang="en-US" sz="1500" b="1" dirty="0">
                <a:solidFill>
                  <a:srgbClr val="A14F0A"/>
                </a:solidFill>
                <a:latin typeface="Nunito Sans" pitchFamily="34" charset="0"/>
                <a:ea typeface="Nunito Sans" pitchFamily="34" charset="-122"/>
                <a:cs typeface="Nunito Sans" pitchFamily="34" charset="-120"/>
              </a:rPr>
              <a:t>not a promise</a:t>
            </a:r>
            <a:r>
              <a:rPr lang="en-US" sz="1500" dirty="0">
                <a:solidFill>
                  <a:srgbClr val="14213D"/>
                </a:solidFill>
                <a:latin typeface="Nunito Sans" pitchFamily="34" charset="0"/>
                <a:ea typeface="Nunito Sans" pitchFamily="34" charset="-122"/>
                <a:cs typeface="Nunito Sans" pitchFamily="34" charset="-120"/>
              </a:rPr>
              <a:t>. It is a best prediction based on stated assumptions. When an assumption changes, the estimate changes too.</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DRIVES EFFORT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 work itself</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2515129"/>
        </p:xfrm>
        <a:graphic>
          <a:graphicData uri="http://schemas.openxmlformats.org/drawingml/2006/table">
            <a:tbl>
              <a:tblPr/>
              <a:tblGrid>
                <a:gridCol w="2532888">
                  <a:extLst>
                    <a:ext uri="{9D8B030D-6E8A-4147-A177-3AD203B41FA5}">
                      <a16:colId xmlns:a16="http://schemas.microsoft.com/office/drawing/2014/main" val="20000"/>
                    </a:ext>
                  </a:extLst>
                </a:gridCol>
                <a:gridCol w="4432554">
                  <a:extLst>
                    <a:ext uri="{9D8B030D-6E8A-4147-A177-3AD203B41FA5}">
                      <a16:colId xmlns:a16="http://schemas.microsoft.com/office/drawing/2014/main" val="20001"/>
                    </a:ext>
                  </a:extLst>
                </a:gridCol>
                <a:gridCol w="3588258">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Factor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How it affects effort</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Example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Scope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More features and modules, more testing</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Login only vs. full checkout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Complexity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Logic, integrations and rules need more scenarios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3 payment gateways vs. a static page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Requirements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Each requirement and AC needs coverage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12 stories × ~6 AC each</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 cases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Design, review and execution scale with count</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40 vs. 400 test cases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Test data</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Accounts, products, cards, coupons, masked data</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20 users in different states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Environments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Builds, configs, devices, browsers, sandboxes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Payment gateway sandbox access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DRIVES EFFORT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 work around the work</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5"/>
          <a:ext cx="10553700" cy="2155825"/>
        </p:xfrm>
        <a:graphic>
          <a:graphicData uri="http://schemas.openxmlformats.org/drawingml/2006/table">
            <a:tbl>
              <a:tblPr/>
              <a:tblGrid>
                <a:gridCol w="2532888">
                  <a:extLst>
                    <a:ext uri="{9D8B030D-6E8A-4147-A177-3AD203B41FA5}">
                      <a16:colId xmlns:a16="http://schemas.microsoft.com/office/drawing/2014/main" val="20000"/>
                    </a:ext>
                  </a:extLst>
                </a:gridCol>
                <a:gridCol w="4432554">
                  <a:extLst>
                    <a:ext uri="{9D8B030D-6E8A-4147-A177-3AD203B41FA5}">
                      <a16:colId xmlns:a16="http://schemas.microsoft.com/office/drawing/2014/main" val="20001"/>
                    </a:ext>
                  </a:extLst>
                </a:gridCol>
                <a:gridCol w="3588258">
                  <a:extLst>
                    <a:ext uri="{9D8B030D-6E8A-4147-A177-3AD203B41FA5}">
                      <a16:colId xmlns:a16="http://schemas.microsoft.com/office/drawing/2014/main" val="20002"/>
                    </a:ext>
                  </a:extLst>
                </a:gridCol>
              </a:tblGrid>
              <a:tr h="359304">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Factor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How it affects effort</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Example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Automation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Building, debugging, maintaining scripts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~1–3 h per automated test at first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Regression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Re-running existing tests every cycle</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2 cycles × 1 day</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Defect retesting</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Logging, reproducing, retesting, re-running</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Often 15–30% of execution</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Team capacity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Testers, skill, availability, leave, meetings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2 testers × 6 productive h/day</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Risk</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Unclear requirements, new tech, unstable builds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Add contingency (a buffer)</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812800" y="4175060"/>
            <a:ext cx="10566400" cy="838200"/>
          </a:xfrm>
          <a:prstGeom prst="roundRect">
            <a:avLst>
              <a:gd name="adj" fmla="val 9091"/>
            </a:avLst>
          </a:prstGeom>
          <a:solidFill>
            <a:srgbClr val="FBEBDD"/>
          </a:solidFill>
          <a:ln/>
        </p:spPr>
      </p:sp>
      <p:pic>
        <p:nvPicPr>
          <p:cNvPr id="6" name="Image 0" descr="Warning"/>
          <p:cNvPicPr>
            <a:picLocks noChangeAspect="1"/>
          </p:cNvPicPr>
          <p:nvPr/>
        </p:nvPicPr>
        <p:blipFill>
          <a:blip r:embed="rId3"/>
          <a:srcRect l="-269" r="-269"/>
          <a:stretch/>
        </p:blipFill>
        <p:spPr>
          <a:xfrm>
            <a:off x="1016000" y="4454460"/>
            <a:ext cx="197908" cy="279400"/>
          </a:xfrm>
          <a:prstGeom prst="rect">
            <a:avLst/>
          </a:prstGeom>
        </p:spPr>
      </p:pic>
      <p:sp>
        <p:nvSpPr>
          <p:cNvPr id="7" name="Text 3"/>
          <p:cNvSpPr/>
          <p:nvPr/>
        </p:nvSpPr>
        <p:spPr>
          <a:xfrm>
            <a:off x="1366308" y="4327460"/>
            <a:ext cx="10103983" cy="5588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Productive hours are not working hours.</a:t>
            </a:r>
            <a:r>
              <a:rPr lang="en-US" sz="1500" dirty="0">
                <a:solidFill>
                  <a:srgbClr val="14213D"/>
                </a:solidFill>
                <a:latin typeface="Nunito Sans" pitchFamily="34" charset="0"/>
                <a:ea typeface="Nunito Sans" pitchFamily="34" charset="-122"/>
                <a:cs typeface="Nunito Sans" pitchFamily="34" charset="-120"/>
              </a:rPr>
              <a:t> In an 8-hour day a tester has about </a:t>
            </a:r>
            <a:r>
              <a:rPr lang="en-US" sz="1500" b="1" dirty="0">
                <a:solidFill>
                  <a:srgbClr val="A14F0A"/>
                </a:solidFill>
                <a:latin typeface="Nunito Sans" pitchFamily="34" charset="0"/>
                <a:ea typeface="Nunito Sans" pitchFamily="34" charset="-122"/>
                <a:cs typeface="Nunito Sans" pitchFamily="34" charset="-120"/>
              </a:rPr>
              <a:t>6 productive testing hours</a:t>
            </a:r>
            <a:r>
              <a:rPr lang="en-US" sz="1500" dirty="0">
                <a:solidFill>
                  <a:srgbClr val="14213D"/>
                </a:solidFill>
                <a:latin typeface="Nunito Sans" pitchFamily="34" charset="0"/>
                <a:ea typeface="Nunito Sans" pitchFamily="34" charset="-122"/>
                <a:cs typeface="Nunito Sans" pitchFamily="34" charset="-120"/>
              </a:rPr>
              <a:t> after meetings, stand-ups, email and environment issues.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APPROACH 1 OF 5 · EXPERT JUDGEMENT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Ask the people who've done it before</a:t>
            </a:r>
            <a:endParaRPr lang="en-US" sz="3200" dirty="0"/>
          </a:p>
        </p:txBody>
      </p:sp>
      <p:sp>
        <p:nvSpPr>
          <p:cNvPr id="4" name="Text 2"/>
          <p:cNvSpPr/>
          <p:nvPr/>
        </p:nvSpPr>
        <p:spPr>
          <a:xfrm>
            <a:off x="812800" y="1854135"/>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The QA lead, senior testers and developers estimate from experience.</a:t>
            </a:r>
            <a:endParaRPr lang="en-US" sz="1600" dirty="0"/>
          </a:p>
        </p:txBody>
      </p:sp>
      <p:sp>
        <p:nvSpPr>
          <p:cNvPr id="5" name="Shape 3"/>
          <p:cNvSpPr/>
          <p:nvPr/>
        </p:nvSpPr>
        <p:spPr>
          <a:xfrm>
            <a:off x="812800" y="2443361"/>
            <a:ext cx="5181600" cy="1381720"/>
          </a:xfrm>
          <a:prstGeom prst="roundRect">
            <a:avLst>
              <a:gd name="adj" fmla="val 7353"/>
            </a:avLst>
          </a:prstGeom>
          <a:solidFill>
            <a:srgbClr val="EEF2F7"/>
          </a:solidFill>
          <a:ln/>
        </p:spPr>
      </p:sp>
      <p:sp>
        <p:nvSpPr>
          <p:cNvPr id="6" name="Text 4"/>
          <p:cNvSpPr/>
          <p:nvPr/>
        </p:nvSpPr>
        <p:spPr>
          <a:xfrm>
            <a:off x="1066800" y="2697361"/>
            <a:ext cx="48138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Domine" pitchFamily="18" charset="0"/>
                <a:ea typeface="Domine" pitchFamily="18" charset="-122"/>
                <a:cs typeface="Domine" pitchFamily="18" charset="-120"/>
              </a:rPr>
              <a:t>Wideband Delphi</a:t>
            </a:r>
            <a:endParaRPr lang="en-US" sz="1800" dirty="0"/>
          </a:p>
        </p:txBody>
      </p:sp>
      <p:sp>
        <p:nvSpPr>
          <p:cNvPr id="7" name="Text 5"/>
          <p:cNvSpPr/>
          <p:nvPr/>
        </p:nvSpPr>
        <p:spPr>
          <a:xfrm>
            <a:off x="1066800" y="3073270"/>
            <a:ext cx="481380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Experts estimate independently, discuss the differences, then re-estimate.</a:t>
            </a:r>
            <a:endParaRPr lang="en-US" sz="1400" dirty="0"/>
          </a:p>
        </p:txBody>
      </p:sp>
      <p:sp>
        <p:nvSpPr>
          <p:cNvPr id="8" name="Shape 6"/>
          <p:cNvSpPr/>
          <p:nvPr/>
        </p:nvSpPr>
        <p:spPr>
          <a:xfrm>
            <a:off x="6197600" y="2443361"/>
            <a:ext cx="5181600" cy="1381720"/>
          </a:xfrm>
          <a:prstGeom prst="roundRect">
            <a:avLst>
              <a:gd name="adj" fmla="val 7353"/>
            </a:avLst>
          </a:prstGeom>
          <a:solidFill>
            <a:srgbClr val="EEF2F7"/>
          </a:solidFill>
          <a:ln/>
        </p:spPr>
      </p:sp>
      <p:sp>
        <p:nvSpPr>
          <p:cNvPr id="9" name="Text 7"/>
          <p:cNvSpPr/>
          <p:nvPr/>
        </p:nvSpPr>
        <p:spPr>
          <a:xfrm>
            <a:off x="6451600" y="2697361"/>
            <a:ext cx="4813808"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Domine" pitchFamily="18" charset="0"/>
                <a:ea typeface="Domine" pitchFamily="18" charset="-122"/>
                <a:cs typeface="Domine" pitchFamily="18" charset="-120"/>
              </a:rPr>
              <a:t>Planning Poker</a:t>
            </a:r>
            <a:endParaRPr lang="en-US" sz="1800" dirty="0"/>
          </a:p>
        </p:txBody>
      </p:sp>
      <p:sp>
        <p:nvSpPr>
          <p:cNvPr id="10" name="Text 8"/>
          <p:cNvSpPr/>
          <p:nvPr/>
        </p:nvSpPr>
        <p:spPr>
          <a:xfrm>
            <a:off x="6451600" y="3073270"/>
            <a:ext cx="481380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Agile teams estimate stories together, in story points.</a:t>
            </a:r>
            <a:endParaRPr lang="en-US" sz="1400" dirty="0"/>
          </a:p>
        </p:txBody>
      </p:sp>
      <p:pic>
        <p:nvPicPr>
          <p:cNvPr id="11" name="Image 0" descr="CheckCircle"/>
          <p:cNvPicPr>
            <a:picLocks noChangeAspect="1"/>
          </p:cNvPicPr>
          <p:nvPr/>
        </p:nvPicPr>
        <p:blipFill>
          <a:blip r:embed="rId3"/>
          <a:srcRect/>
          <a:stretch/>
        </p:blipFill>
        <p:spPr>
          <a:xfrm>
            <a:off x="812800" y="4140002"/>
            <a:ext cx="228600" cy="228600"/>
          </a:xfrm>
          <a:prstGeom prst="rect">
            <a:avLst/>
          </a:prstGeom>
        </p:spPr>
      </p:pic>
      <p:sp>
        <p:nvSpPr>
          <p:cNvPr id="12" name="Text 9"/>
          <p:cNvSpPr/>
          <p:nvPr/>
        </p:nvSpPr>
        <p:spPr>
          <a:xfrm>
            <a:off x="1143000" y="4129881"/>
            <a:ext cx="324842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5C9E"/>
                </a:solidFill>
                <a:latin typeface="Nunito Sans" pitchFamily="34" charset="0"/>
                <a:ea typeface="Nunito Sans" pitchFamily="34" charset="-122"/>
                <a:cs typeface="Nunito Sans" pitchFamily="34" charset="-120"/>
              </a:rPr>
              <a:t>Pro:</a:t>
            </a:r>
            <a:r>
              <a:rPr lang="en-US" sz="1400" dirty="0">
                <a:solidFill>
                  <a:srgbClr val="3D4A5C"/>
                </a:solidFill>
                <a:latin typeface="Nunito Sans" pitchFamily="34" charset="0"/>
                <a:ea typeface="Nunito Sans" pitchFamily="34" charset="-122"/>
                <a:cs typeface="Nunito Sans" pitchFamily="34" charset="-120"/>
              </a:rPr>
              <a:t> fast; uses real-world knowledge</a:t>
            </a:r>
            <a:endParaRPr lang="en-US" sz="1400" dirty="0"/>
          </a:p>
        </p:txBody>
      </p:sp>
      <p:pic>
        <p:nvPicPr>
          <p:cNvPr id="13" name="Image 1" descr="Warning"/>
          <p:cNvPicPr>
            <a:picLocks noChangeAspect="1"/>
          </p:cNvPicPr>
          <p:nvPr/>
        </p:nvPicPr>
        <p:blipFill>
          <a:blip r:embed="rId4"/>
          <a:srcRect/>
          <a:stretch/>
        </p:blipFill>
        <p:spPr>
          <a:xfrm>
            <a:off x="4391422" y="4140002"/>
            <a:ext cx="228600" cy="228600"/>
          </a:xfrm>
          <a:prstGeom prst="rect">
            <a:avLst/>
          </a:prstGeom>
        </p:spPr>
      </p:pic>
      <p:sp>
        <p:nvSpPr>
          <p:cNvPr id="14" name="Text 10"/>
          <p:cNvSpPr/>
          <p:nvPr/>
        </p:nvSpPr>
        <p:spPr>
          <a:xfrm>
            <a:off x="4721622" y="4129881"/>
            <a:ext cx="370879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Con:</a:t>
            </a:r>
            <a:r>
              <a:rPr lang="en-US" sz="1400" dirty="0">
                <a:solidFill>
                  <a:srgbClr val="3D4A5C"/>
                </a:solidFill>
                <a:latin typeface="Nunito Sans" pitchFamily="34" charset="0"/>
                <a:ea typeface="Nunito Sans" pitchFamily="34" charset="-122"/>
                <a:cs typeface="Nunito Sans" pitchFamily="34" charset="-120"/>
              </a:rPr>
              <a:t> subjective; depends on the expert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APPROACH 2 OF 5 · WORK BREAKDOWN STRUCTURE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Break it down, estimate each piece, add up</a:t>
            </a:r>
            <a:endParaRPr lang="en-US" sz="3200" dirty="0"/>
          </a:p>
        </p:txBody>
      </p:sp>
      <p:sp>
        <p:nvSpPr>
          <p:cNvPr id="4" name="Shape 2"/>
          <p:cNvSpPr/>
          <p:nvPr/>
        </p:nvSpPr>
        <p:spPr>
          <a:xfrm>
            <a:off x="812800" y="1803335"/>
            <a:ext cx="6350000" cy="3499644"/>
          </a:xfrm>
          <a:prstGeom prst="roundRect">
            <a:avLst>
              <a:gd name="adj" fmla="val 2903"/>
            </a:avLst>
          </a:prstGeom>
          <a:solidFill>
            <a:srgbClr val="EEF2F7"/>
          </a:solidFill>
          <a:ln/>
        </p:spPr>
      </p:sp>
      <p:sp>
        <p:nvSpPr>
          <p:cNvPr id="5" name="Text 3"/>
          <p:cNvSpPr/>
          <p:nvPr/>
        </p:nvSpPr>
        <p:spPr>
          <a:xfrm>
            <a:off x="1066800" y="2006535"/>
            <a:ext cx="601726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JetBrains Mono" pitchFamily="49" charset="0"/>
                <a:ea typeface="JetBrains Mono" pitchFamily="49" charset="-122"/>
                <a:cs typeface="JetBrains Mono" pitchFamily="49" charset="-120"/>
              </a:rPr>
              <a:t>Test Login Module</a:t>
            </a:r>
            <a:endParaRPr lang="en-US" sz="1200" dirty="0"/>
          </a:p>
        </p:txBody>
      </p:sp>
      <p:sp>
        <p:nvSpPr>
          <p:cNvPr id="6" name="Text 4"/>
          <p:cNvSpPr/>
          <p:nvPr/>
        </p:nvSpPr>
        <p:spPr>
          <a:xfrm>
            <a:off x="1066800" y="2308755"/>
            <a:ext cx="373078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1. Planning &amp; requirement analysis</a:t>
            </a:r>
            <a:endParaRPr lang="en-US" sz="1200" dirty="0"/>
          </a:p>
        </p:txBody>
      </p:sp>
      <p:sp>
        <p:nvSpPr>
          <p:cNvPr id="7" name="Text 5"/>
          <p:cNvSpPr/>
          <p:nvPr/>
        </p:nvSpPr>
        <p:spPr>
          <a:xfrm>
            <a:off x="6579553" y="2308755"/>
            <a:ext cx="32924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3 h</a:t>
            </a:r>
            <a:endParaRPr lang="en-US" sz="1200" dirty="0"/>
          </a:p>
        </p:txBody>
      </p:sp>
      <p:sp>
        <p:nvSpPr>
          <p:cNvPr id="8" name="Text 6"/>
          <p:cNvSpPr/>
          <p:nvPr/>
        </p:nvSpPr>
        <p:spPr>
          <a:xfrm>
            <a:off x="1066800" y="2560176"/>
            <a:ext cx="60172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2. Test design</a:t>
            </a:r>
            <a:endParaRPr lang="en-US" sz="1200" dirty="0"/>
          </a:p>
        </p:txBody>
      </p:sp>
      <p:sp>
        <p:nvSpPr>
          <p:cNvPr id="9" name="Text 7"/>
          <p:cNvSpPr/>
          <p:nvPr/>
        </p:nvSpPr>
        <p:spPr>
          <a:xfrm>
            <a:off x="1371600" y="2811596"/>
            <a:ext cx="208486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2.1 Write scenarios</a:t>
            </a:r>
            <a:endParaRPr lang="en-US" sz="1200" dirty="0"/>
          </a:p>
        </p:txBody>
      </p:sp>
      <p:sp>
        <p:nvSpPr>
          <p:cNvPr id="10" name="Text 8"/>
          <p:cNvSpPr/>
          <p:nvPr/>
        </p:nvSpPr>
        <p:spPr>
          <a:xfrm>
            <a:off x="6579553" y="2811596"/>
            <a:ext cx="32924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2 h</a:t>
            </a:r>
            <a:endParaRPr lang="en-US" sz="1200" dirty="0"/>
          </a:p>
        </p:txBody>
      </p:sp>
      <p:sp>
        <p:nvSpPr>
          <p:cNvPr id="11" name="Text 9"/>
          <p:cNvSpPr/>
          <p:nvPr/>
        </p:nvSpPr>
        <p:spPr>
          <a:xfrm>
            <a:off x="1371600" y="3063016"/>
            <a:ext cx="21945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2.2 Write test cases</a:t>
            </a:r>
            <a:endParaRPr lang="en-US" sz="1200" dirty="0"/>
          </a:p>
        </p:txBody>
      </p:sp>
      <p:sp>
        <p:nvSpPr>
          <p:cNvPr id="12" name="Text 10"/>
          <p:cNvSpPr/>
          <p:nvPr/>
        </p:nvSpPr>
        <p:spPr>
          <a:xfrm>
            <a:off x="6469857" y="3063016"/>
            <a:ext cx="438944"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10 h</a:t>
            </a:r>
            <a:endParaRPr lang="en-US" sz="1200" dirty="0"/>
          </a:p>
        </p:txBody>
      </p:sp>
      <p:sp>
        <p:nvSpPr>
          <p:cNvPr id="13" name="Text 11"/>
          <p:cNvSpPr/>
          <p:nvPr/>
        </p:nvSpPr>
        <p:spPr>
          <a:xfrm>
            <a:off x="1371600" y="3314436"/>
            <a:ext cx="230433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2.3 Review test cases</a:t>
            </a:r>
            <a:endParaRPr lang="en-US" sz="1200" dirty="0"/>
          </a:p>
        </p:txBody>
      </p:sp>
      <p:sp>
        <p:nvSpPr>
          <p:cNvPr id="14" name="Text 12"/>
          <p:cNvSpPr/>
          <p:nvPr/>
        </p:nvSpPr>
        <p:spPr>
          <a:xfrm>
            <a:off x="6579553" y="3314436"/>
            <a:ext cx="32924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2 h</a:t>
            </a:r>
            <a:endParaRPr lang="en-US" sz="1200" dirty="0"/>
          </a:p>
        </p:txBody>
      </p:sp>
      <p:sp>
        <p:nvSpPr>
          <p:cNvPr id="15" name="Text 13"/>
          <p:cNvSpPr/>
          <p:nvPr/>
        </p:nvSpPr>
        <p:spPr>
          <a:xfrm>
            <a:off x="1066800" y="3565857"/>
            <a:ext cx="35113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14F0A"/>
                </a:solidFill>
                <a:latin typeface="JetBrains Mono" pitchFamily="49" charset="0"/>
                <a:ea typeface="JetBrains Mono" pitchFamily="49" charset="-122"/>
                <a:cs typeface="JetBrains Mono" pitchFamily="49" charset="-120"/>
              </a:rPr>
              <a:t>3. Test data &amp; environment setup</a:t>
            </a:r>
            <a:endParaRPr lang="en-US" sz="1200" dirty="0"/>
          </a:p>
        </p:txBody>
      </p:sp>
      <p:sp>
        <p:nvSpPr>
          <p:cNvPr id="16" name="Text 14"/>
          <p:cNvSpPr/>
          <p:nvPr/>
        </p:nvSpPr>
        <p:spPr>
          <a:xfrm>
            <a:off x="6579553" y="3565857"/>
            <a:ext cx="32924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4 h</a:t>
            </a:r>
            <a:endParaRPr lang="en-US" sz="1200" dirty="0"/>
          </a:p>
        </p:txBody>
      </p:sp>
      <p:sp>
        <p:nvSpPr>
          <p:cNvPr id="17" name="Text 15"/>
          <p:cNvSpPr/>
          <p:nvPr/>
        </p:nvSpPr>
        <p:spPr>
          <a:xfrm>
            <a:off x="1066800" y="3817277"/>
            <a:ext cx="29626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4. Test execution (cycle 1)</a:t>
            </a:r>
            <a:endParaRPr lang="en-US" sz="1200" dirty="0"/>
          </a:p>
        </p:txBody>
      </p:sp>
      <p:sp>
        <p:nvSpPr>
          <p:cNvPr id="18" name="Text 16"/>
          <p:cNvSpPr/>
          <p:nvPr/>
        </p:nvSpPr>
        <p:spPr>
          <a:xfrm>
            <a:off x="6579553" y="3817277"/>
            <a:ext cx="32924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8 h</a:t>
            </a:r>
            <a:endParaRPr lang="en-US" sz="1200" dirty="0"/>
          </a:p>
        </p:txBody>
      </p:sp>
      <p:sp>
        <p:nvSpPr>
          <p:cNvPr id="19" name="Text 17"/>
          <p:cNvSpPr/>
          <p:nvPr/>
        </p:nvSpPr>
        <p:spPr>
          <a:xfrm>
            <a:off x="1066800" y="4068697"/>
            <a:ext cx="34016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5. Defect reporting &amp; retesting</a:t>
            </a:r>
            <a:endParaRPr lang="en-US" sz="1200" dirty="0"/>
          </a:p>
        </p:txBody>
      </p:sp>
      <p:sp>
        <p:nvSpPr>
          <p:cNvPr id="20" name="Text 18"/>
          <p:cNvSpPr/>
          <p:nvPr/>
        </p:nvSpPr>
        <p:spPr>
          <a:xfrm>
            <a:off x="6579553" y="4068697"/>
            <a:ext cx="32924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4 h</a:t>
            </a:r>
            <a:endParaRPr lang="en-US" sz="1200" dirty="0"/>
          </a:p>
        </p:txBody>
      </p:sp>
      <p:sp>
        <p:nvSpPr>
          <p:cNvPr id="21" name="Text 19"/>
          <p:cNvSpPr/>
          <p:nvPr/>
        </p:nvSpPr>
        <p:spPr>
          <a:xfrm>
            <a:off x="1066800" y="4320118"/>
            <a:ext cx="252380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6. Regression (cycle 2)</a:t>
            </a:r>
            <a:endParaRPr lang="en-US" sz="1200" dirty="0"/>
          </a:p>
        </p:txBody>
      </p:sp>
      <p:sp>
        <p:nvSpPr>
          <p:cNvPr id="22" name="Text 20"/>
          <p:cNvSpPr/>
          <p:nvPr/>
        </p:nvSpPr>
        <p:spPr>
          <a:xfrm>
            <a:off x="6579553" y="4320118"/>
            <a:ext cx="32924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4 h</a:t>
            </a:r>
            <a:endParaRPr lang="en-US" sz="1200" dirty="0"/>
          </a:p>
        </p:txBody>
      </p:sp>
      <p:sp>
        <p:nvSpPr>
          <p:cNvPr id="23" name="Text 21"/>
          <p:cNvSpPr/>
          <p:nvPr/>
        </p:nvSpPr>
        <p:spPr>
          <a:xfrm>
            <a:off x="1066800" y="4571538"/>
            <a:ext cx="24140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A14F0A"/>
                </a:solidFill>
                <a:latin typeface="JetBrains Mono" pitchFamily="49" charset="0"/>
                <a:ea typeface="JetBrains Mono" pitchFamily="49" charset="-122"/>
                <a:cs typeface="JetBrains Mono" pitchFamily="49" charset="-120"/>
              </a:rPr>
              <a:t>7. Test summary report</a:t>
            </a:r>
            <a:endParaRPr lang="en-US" sz="1200" dirty="0"/>
          </a:p>
        </p:txBody>
      </p:sp>
      <p:sp>
        <p:nvSpPr>
          <p:cNvPr id="24" name="Text 22"/>
          <p:cNvSpPr/>
          <p:nvPr/>
        </p:nvSpPr>
        <p:spPr>
          <a:xfrm>
            <a:off x="6579553" y="4571538"/>
            <a:ext cx="329248"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2 h</a:t>
            </a:r>
            <a:endParaRPr lang="en-US" sz="1200" dirty="0"/>
          </a:p>
        </p:txBody>
      </p:sp>
      <p:sp>
        <p:nvSpPr>
          <p:cNvPr id="25" name="Shape 23"/>
          <p:cNvSpPr/>
          <p:nvPr/>
        </p:nvSpPr>
        <p:spPr>
          <a:xfrm>
            <a:off x="1066800" y="4829308"/>
            <a:ext cx="5842000" cy="0"/>
          </a:xfrm>
          <a:prstGeom prst="line">
            <a:avLst/>
          </a:prstGeom>
          <a:noFill/>
          <a:ln w="12700">
            <a:solidFill>
              <a:srgbClr val="14213D"/>
            </a:solidFill>
            <a:prstDash val="solid"/>
          </a:ln>
        </p:spPr>
      </p:sp>
      <p:sp>
        <p:nvSpPr>
          <p:cNvPr id="26" name="Text 24"/>
          <p:cNvSpPr/>
          <p:nvPr/>
        </p:nvSpPr>
        <p:spPr>
          <a:xfrm>
            <a:off x="1066800" y="4886458"/>
            <a:ext cx="54864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JetBrains Mono" pitchFamily="49" charset="0"/>
                <a:ea typeface="JetBrains Mono" pitchFamily="49" charset="-122"/>
                <a:cs typeface="JetBrains Mono" pitchFamily="49" charset="-120"/>
              </a:rPr>
              <a:t>TOTAL</a:t>
            </a:r>
            <a:endParaRPr lang="en-US" sz="1200" dirty="0"/>
          </a:p>
        </p:txBody>
      </p:sp>
      <p:sp>
        <p:nvSpPr>
          <p:cNvPr id="27" name="Text 25"/>
          <p:cNvSpPr/>
          <p:nvPr/>
        </p:nvSpPr>
        <p:spPr>
          <a:xfrm>
            <a:off x="6250384" y="4886458"/>
            <a:ext cx="658416" cy="23872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A14F0A"/>
                </a:solidFill>
                <a:latin typeface="JetBrains Mono" pitchFamily="49" charset="0"/>
                <a:ea typeface="JetBrains Mono" pitchFamily="49" charset="-122"/>
                <a:cs typeface="JetBrains Mono" pitchFamily="49" charset="-120"/>
              </a:rPr>
              <a:t>≈ 39 h</a:t>
            </a:r>
            <a:endParaRPr lang="en-US" sz="1200" dirty="0"/>
          </a:p>
        </p:txBody>
      </p:sp>
      <p:sp>
        <p:nvSpPr>
          <p:cNvPr id="28" name="Text 26"/>
          <p:cNvSpPr/>
          <p:nvPr/>
        </p:nvSpPr>
        <p:spPr>
          <a:xfrm>
            <a:off x="7467600" y="1803335"/>
            <a:ext cx="402894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B5C9E"/>
                </a:solidFill>
                <a:latin typeface="Nunito Sans" pitchFamily="34" charset="0"/>
                <a:ea typeface="Nunito Sans" pitchFamily="34" charset="-122"/>
                <a:cs typeface="Nunito Sans" pitchFamily="34" charset="-120"/>
              </a:rPr>
              <a:t>Pro</a:t>
            </a:r>
            <a:endParaRPr lang="en-US" sz="1300" dirty="0"/>
          </a:p>
        </p:txBody>
      </p:sp>
      <p:sp>
        <p:nvSpPr>
          <p:cNvPr id="29" name="Text 27"/>
          <p:cNvSpPr/>
          <p:nvPr/>
        </p:nvSpPr>
        <p:spPr>
          <a:xfrm>
            <a:off x="7467600" y="2085249"/>
            <a:ext cx="4028948"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Thorough. Reveals forgotten tasks like </a:t>
            </a:r>
            <a:r>
              <a:rPr lang="en-US" sz="1400" b="1" dirty="0">
                <a:solidFill>
                  <a:srgbClr val="A14F0A"/>
                </a:solidFill>
                <a:latin typeface="Nunito Sans" pitchFamily="34" charset="0"/>
                <a:ea typeface="Nunito Sans" pitchFamily="34" charset="-122"/>
                <a:cs typeface="Nunito Sans" pitchFamily="34" charset="-120"/>
              </a:rPr>
              <a:t>test data</a:t>
            </a:r>
            <a:r>
              <a:rPr lang="en-US" sz="1400" dirty="0">
                <a:solidFill>
                  <a:srgbClr val="3D4A5C"/>
                </a:solidFill>
                <a:latin typeface="Nunito Sans" pitchFamily="34" charset="0"/>
                <a:ea typeface="Nunito Sans" pitchFamily="34" charset="-122"/>
                <a:cs typeface="Nunito Sans" pitchFamily="34" charset="-120"/>
              </a:rPr>
              <a:t> and </a:t>
            </a:r>
            <a:r>
              <a:rPr lang="en-US" sz="1400" b="1" dirty="0">
                <a:solidFill>
                  <a:srgbClr val="A14F0A"/>
                </a:solidFill>
                <a:latin typeface="Nunito Sans" pitchFamily="34" charset="0"/>
                <a:ea typeface="Nunito Sans" pitchFamily="34" charset="-122"/>
                <a:cs typeface="Nunito Sans" pitchFamily="34" charset="-120"/>
              </a:rPr>
              <a:t>reporting</a:t>
            </a:r>
            <a:r>
              <a:rPr lang="en-US" sz="1400" dirty="0">
                <a:solidFill>
                  <a:srgbClr val="3D4A5C"/>
                </a:solidFill>
                <a:latin typeface="Nunito Sans" pitchFamily="34" charset="0"/>
                <a:ea typeface="Nunito Sans" pitchFamily="34" charset="-122"/>
                <a:cs typeface="Nunito Sans" pitchFamily="34" charset="-120"/>
              </a:rPr>
              <a:t>.</a:t>
            </a:r>
            <a:endParaRPr lang="en-US" sz="1400" dirty="0"/>
          </a:p>
        </p:txBody>
      </p:sp>
      <p:sp>
        <p:nvSpPr>
          <p:cNvPr id="30" name="Text 28"/>
          <p:cNvSpPr/>
          <p:nvPr/>
        </p:nvSpPr>
        <p:spPr>
          <a:xfrm>
            <a:off x="7467600" y="2735461"/>
            <a:ext cx="4028948"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A14F0A"/>
                </a:solidFill>
                <a:latin typeface="Nunito Sans" pitchFamily="34" charset="0"/>
                <a:ea typeface="Nunito Sans" pitchFamily="34" charset="-122"/>
                <a:cs typeface="Nunito Sans" pitchFamily="34" charset="-120"/>
              </a:rPr>
              <a:t>Con</a:t>
            </a:r>
            <a:endParaRPr lang="en-US" sz="1300" dirty="0"/>
          </a:p>
        </p:txBody>
      </p:sp>
      <p:sp>
        <p:nvSpPr>
          <p:cNvPr id="31" name="Text 29"/>
          <p:cNvSpPr/>
          <p:nvPr/>
        </p:nvSpPr>
        <p:spPr>
          <a:xfrm>
            <a:off x="7467600" y="3017376"/>
            <a:ext cx="40289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Takes time, and needs a clear scope.</a:t>
            </a:r>
            <a:endParaRPr lang="en-US" sz="1400" dirty="0"/>
          </a:p>
        </p:txBody>
      </p:sp>
      <p:sp>
        <p:nvSpPr>
          <p:cNvPr id="32" name="Shape 30"/>
          <p:cNvSpPr/>
          <p:nvPr/>
        </p:nvSpPr>
        <p:spPr>
          <a:xfrm>
            <a:off x="7486650" y="3418681"/>
            <a:ext cx="0" cy="548614"/>
          </a:xfrm>
          <a:prstGeom prst="line">
            <a:avLst/>
          </a:prstGeom>
          <a:noFill/>
          <a:ln w="38100">
            <a:solidFill>
              <a:srgbClr val="A14F0A"/>
            </a:solidFill>
            <a:prstDash val="solid"/>
          </a:ln>
        </p:spPr>
      </p:sp>
      <p:sp>
        <p:nvSpPr>
          <p:cNvPr id="33" name="Text 31"/>
          <p:cNvSpPr/>
          <p:nvPr/>
        </p:nvSpPr>
        <p:spPr>
          <a:xfrm>
            <a:off x="7658100" y="3444081"/>
            <a:ext cx="3832733"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Small tasks are easier to estimate accurately than one big one.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APPROACH 3 OF 5 · TEST-CASE-BASED</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Count, classify, multiply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1929805"/>
        </p:xfrm>
        <a:graphic>
          <a:graphicData uri="http://schemas.openxmlformats.org/drawingml/2006/table">
            <a:tbl>
              <a:tblPr/>
              <a:tblGrid>
                <a:gridCol w="1899666">
                  <a:extLst>
                    <a:ext uri="{9D8B030D-6E8A-4147-A177-3AD203B41FA5}">
                      <a16:colId xmlns:a16="http://schemas.microsoft.com/office/drawing/2014/main" val="20000"/>
                    </a:ext>
                  </a:extLst>
                </a:gridCol>
                <a:gridCol w="1266444">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gridCol w="2110740">
                  <a:extLst>
                    <a:ext uri="{9D8B030D-6E8A-4147-A177-3AD203B41FA5}">
                      <a16:colId xmlns:a16="http://schemas.microsoft.com/office/drawing/2014/main" val="20003"/>
                    </a:ext>
                  </a:extLst>
                </a:gridCol>
                <a:gridCol w="3377184">
                  <a:extLst>
                    <a:ext uri="{9D8B030D-6E8A-4147-A177-3AD203B41FA5}">
                      <a16:colId xmlns:a16="http://schemas.microsoft.com/office/drawing/2014/main" val="20004"/>
                    </a:ext>
                  </a:extLst>
                </a:gridCol>
              </a:tblGrid>
              <a:tr h="385961">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Complexity</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Count</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Design / TC</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Execution / TC</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Total</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Simple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20</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10 min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5 min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20 × 15 min = 5.0 h</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Medium</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15</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20 min</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10 min</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15 × 30 min = 7.5 h</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Complex</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5</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40 min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20 min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5 × 60 min = 5.0 h</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Total</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40</a:t>
                      </a:r>
                      <a:endParaRPr lang="en-US" sz="1400" dirty="0">
                        <a:latin typeface="Nunito Sans" charset="0"/>
                        <a:ea typeface="Nunito Sans" charset="0"/>
                        <a:cs typeface="Nunito Sans" charset="0"/>
                      </a:endParaRPr>
                    </a:p>
                  </a:txBody>
                  <a:tcPr marL="62230" marR="62230" marT="62230" marB="6223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960"/>
                        </a:lnSpc>
                        <a:buNone/>
                      </a:pPr>
                      <a:endParaRPr lang="en-US" sz="1400" dirty="0">
                        <a:latin typeface="Nunito Sans" charset="0"/>
                        <a:ea typeface="Nunito Sans" charset="0"/>
                        <a:cs typeface="Nunito Sans" charset="0"/>
                      </a:endParaRPr>
                    </a:p>
                  </a:txBody>
                  <a:tcPr marL="62230" marR="62230" marT="62230" marB="6223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960"/>
                        </a:lnSpc>
                        <a:buNone/>
                      </a:pPr>
                      <a:endParaRPr lang="en-US" sz="1400" dirty="0">
                        <a:latin typeface="Nunito Sans" charset="0"/>
                        <a:ea typeface="Nunito Sans" charset="0"/>
                        <a:cs typeface="Nunito Sans" charset="0"/>
                      </a:endParaRPr>
                    </a:p>
                  </a:txBody>
                  <a:tcPr marL="62230" marR="62230" marT="62230" marB="6223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960"/>
                        </a:lnSpc>
                        <a:buNone/>
                      </a:pPr>
                      <a:r>
                        <a:rPr lang="en-US" sz="1400" dirty="0">
                          <a:solidFill>
                            <a:srgbClr val="A14F0A"/>
                          </a:solidFill>
                          <a:latin typeface="Nunito Sans" pitchFamily="34" charset="0"/>
                          <a:ea typeface="Nunito Sans" pitchFamily="34" charset="-122"/>
                          <a:cs typeface="Nunito Sans" pitchFamily="34" charset="-120"/>
                        </a:rPr>
                        <a:t>17.5 h (design + 1 run)</a:t>
                      </a:r>
                      <a:endParaRPr lang="en-US" sz="1400" dirty="0">
                        <a:latin typeface="Nunito Sans" charset="0"/>
                        <a:ea typeface="Nunito Sans" charset="0"/>
                        <a:cs typeface="Nunito Sans" charset="0"/>
                      </a:endParaRPr>
                    </a:p>
                  </a:txBody>
                  <a:tcPr marL="62230" marR="62230" marT="62230" marB="6223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399984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Then add the overheads: </a:t>
            </a:r>
            <a:r>
              <a:rPr lang="en-US" sz="1500" b="1" dirty="0">
                <a:solidFill>
                  <a:srgbClr val="A14F0A"/>
                </a:solidFill>
                <a:latin typeface="Nunito Sans" pitchFamily="34" charset="0"/>
                <a:ea typeface="Nunito Sans" pitchFamily="34" charset="-122"/>
                <a:cs typeface="Nunito Sans" pitchFamily="34" charset="-120"/>
              </a:rPr>
              <a:t>setup, defects, regression, reporting.</a:t>
            </a:r>
            <a:endParaRPr lang="en-US" sz="1500" dirty="0"/>
          </a:p>
        </p:txBody>
      </p:sp>
      <p:pic>
        <p:nvPicPr>
          <p:cNvPr id="6" name="Image 0" descr="CheckCircle"/>
          <p:cNvPicPr>
            <a:picLocks noChangeAspect="1"/>
          </p:cNvPicPr>
          <p:nvPr/>
        </p:nvPicPr>
        <p:blipFill>
          <a:blip r:embed="rId3"/>
          <a:srcRect/>
          <a:stretch/>
        </p:blipFill>
        <p:spPr>
          <a:xfrm>
            <a:off x="812800" y="4530663"/>
            <a:ext cx="228600" cy="228600"/>
          </a:xfrm>
          <a:prstGeom prst="rect">
            <a:avLst/>
          </a:prstGeom>
        </p:spPr>
      </p:pic>
      <p:sp>
        <p:nvSpPr>
          <p:cNvPr id="7" name="Text 3"/>
          <p:cNvSpPr/>
          <p:nvPr/>
        </p:nvSpPr>
        <p:spPr>
          <a:xfrm>
            <a:off x="1143000" y="4520543"/>
            <a:ext cx="2671035"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5C9E"/>
                </a:solidFill>
                <a:latin typeface="Nunito Sans" pitchFamily="34" charset="0"/>
                <a:ea typeface="Nunito Sans" pitchFamily="34" charset="-122"/>
                <a:cs typeface="Nunito Sans" pitchFamily="34" charset="-120"/>
              </a:rPr>
              <a:t>Pro:</a:t>
            </a:r>
            <a:r>
              <a:rPr lang="en-US" sz="1400" dirty="0">
                <a:solidFill>
                  <a:srgbClr val="3D4A5C"/>
                </a:solidFill>
                <a:latin typeface="Nunito Sans" pitchFamily="34" charset="0"/>
                <a:ea typeface="Nunito Sans" pitchFamily="34" charset="-122"/>
                <a:cs typeface="Nunito Sans" pitchFamily="34" charset="-120"/>
              </a:rPr>
              <a:t> objective, easy to explain</a:t>
            </a:r>
            <a:endParaRPr lang="en-US" sz="1400" dirty="0"/>
          </a:p>
        </p:txBody>
      </p:sp>
      <p:pic>
        <p:nvPicPr>
          <p:cNvPr id="8" name="Image 1" descr="Warning"/>
          <p:cNvPicPr>
            <a:picLocks noChangeAspect="1"/>
          </p:cNvPicPr>
          <p:nvPr/>
        </p:nvPicPr>
        <p:blipFill>
          <a:blip r:embed="rId4"/>
          <a:srcRect/>
          <a:stretch/>
        </p:blipFill>
        <p:spPr>
          <a:xfrm>
            <a:off x="3814035" y="4530663"/>
            <a:ext cx="228600" cy="228600"/>
          </a:xfrm>
          <a:prstGeom prst="rect">
            <a:avLst/>
          </a:prstGeom>
        </p:spPr>
      </p:pic>
      <p:sp>
        <p:nvSpPr>
          <p:cNvPr id="9" name="Text 4"/>
          <p:cNvSpPr/>
          <p:nvPr/>
        </p:nvSpPr>
        <p:spPr>
          <a:xfrm>
            <a:off x="4144235" y="4520543"/>
            <a:ext cx="3572828"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Con:</a:t>
            </a:r>
            <a:r>
              <a:rPr lang="en-US" sz="1400" dirty="0">
                <a:solidFill>
                  <a:srgbClr val="3D4A5C"/>
                </a:solidFill>
                <a:latin typeface="Nunito Sans" pitchFamily="34" charset="0"/>
                <a:ea typeface="Nunito Sans" pitchFamily="34" charset="-122"/>
                <a:cs typeface="Nunito Sans" pitchFamily="34" charset="-120"/>
              </a:rPr>
              <a:t> needs a test-case count up front</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APPROACH 4 OF 5 · THREE-POINT (PERT)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Build the uncertainty into the number</a:t>
            </a:r>
            <a:endParaRPr lang="en-US" sz="3200" dirty="0"/>
          </a:p>
        </p:txBody>
      </p:sp>
      <p:sp>
        <p:nvSpPr>
          <p:cNvPr id="4" name="Shape 2"/>
          <p:cNvSpPr/>
          <p:nvPr/>
        </p:nvSpPr>
        <p:spPr>
          <a:xfrm>
            <a:off x="812800" y="1854138"/>
            <a:ext cx="3378200" cy="1579827"/>
          </a:xfrm>
          <a:prstGeom prst="roundRect">
            <a:avLst>
              <a:gd name="adj" fmla="val 6431"/>
            </a:avLst>
          </a:prstGeom>
          <a:solidFill>
            <a:srgbClr val="24345A"/>
          </a:solidFill>
          <a:ln/>
        </p:spPr>
      </p:sp>
      <p:sp>
        <p:nvSpPr>
          <p:cNvPr id="5" name="Text 3"/>
          <p:cNvSpPr/>
          <p:nvPr/>
        </p:nvSpPr>
        <p:spPr>
          <a:xfrm>
            <a:off x="1066800" y="2057338"/>
            <a:ext cx="2956306"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9D3E3"/>
                </a:solidFill>
                <a:latin typeface="Domine" pitchFamily="18" charset="0"/>
                <a:ea typeface="Domine" pitchFamily="18" charset="-122"/>
                <a:cs typeface="Domine" pitchFamily="18" charset="-120"/>
              </a:rPr>
              <a:t>O</a:t>
            </a:r>
            <a:endParaRPr lang="en-US" sz="2800" dirty="0"/>
          </a:p>
        </p:txBody>
      </p:sp>
      <p:sp>
        <p:nvSpPr>
          <p:cNvPr id="6" name="Text 4"/>
          <p:cNvSpPr/>
          <p:nvPr/>
        </p:nvSpPr>
        <p:spPr>
          <a:xfrm>
            <a:off x="1066800" y="2631349"/>
            <a:ext cx="295630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BF8"/>
                </a:solidFill>
                <a:latin typeface="Nunito Sans" pitchFamily="34" charset="0"/>
                <a:ea typeface="Nunito Sans" pitchFamily="34" charset="-122"/>
                <a:cs typeface="Nunito Sans" pitchFamily="34" charset="-120"/>
              </a:rPr>
              <a:t>Optimistic</a:t>
            </a:r>
            <a:endParaRPr lang="en-US" sz="1500" dirty="0"/>
          </a:p>
        </p:txBody>
      </p:sp>
      <p:sp>
        <p:nvSpPr>
          <p:cNvPr id="7" name="Text 5"/>
          <p:cNvSpPr/>
          <p:nvPr/>
        </p:nvSpPr>
        <p:spPr>
          <a:xfrm>
            <a:off x="1066800" y="2974249"/>
            <a:ext cx="295630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Everything goes well</a:t>
            </a:r>
            <a:endParaRPr lang="en-US" sz="1300" dirty="0"/>
          </a:p>
        </p:txBody>
      </p:sp>
      <p:sp>
        <p:nvSpPr>
          <p:cNvPr id="8" name="Shape 6"/>
          <p:cNvSpPr/>
          <p:nvPr/>
        </p:nvSpPr>
        <p:spPr>
          <a:xfrm>
            <a:off x="4400550" y="1860488"/>
            <a:ext cx="3390900" cy="1567127"/>
          </a:xfrm>
          <a:prstGeom prst="roundRect">
            <a:avLst>
              <a:gd name="adj" fmla="val 6078"/>
            </a:avLst>
          </a:prstGeom>
          <a:solidFill>
            <a:srgbClr val="24345A"/>
          </a:solidFill>
          <a:ln w="12700">
            <a:solidFill>
              <a:srgbClr val="F0A04B"/>
            </a:solidFill>
            <a:prstDash val="solid"/>
          </a:ln>
        </p:spPr>
      </p:sp>
      <p:sp>
        <p:nvSpPr>
          <p:cNvPr id="9" name="Text 7"/>
          <p:cNvSpPr/>
          <p:nvPr/>
        </p:nvSpPr>
        <p:spPr>
          <a:xfrm>
            <a:off x="4660900" y="2070038"/>
            <a:ext cx="2956306"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0A04B"/>
                </a:solidFill>
                <a:latin typeface="Domine" pitchFamily="18" charset="0"/>
                <a:ea typeface="Domine" pitchFamily="18" charset="-122"/>
                <a:cs typeface="Domine" pitchFamily="18" charset="-120"/>
              </a:rPr>
              <a:t>M</a:t>
            </a:r>
            <a:endParaRPr lang="en-US" sz="2800" dirty="0"/>
          </a:p>
        </p:txBody>
      </p:sp>
      <p:sp>
        <p:nvSpPr>
          <p:cNvPr id="10" name="Text 8"/>
          <p:cNvSpPr/>
          <p:nvPr/>
        </p:nvSpPr>
        <p:spPr>
          <a:xfrm>
            <a:off x="4660900" y="2644049"/>
            <a:ext cx="295630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BF8"/>
                </a:solidFill>
                <a:latin typeface="Nunito Sans" pitchFamily="34" charset="0"/>
                <a:ea typeface="Nunito Sans" pitchFamily="34" charset="-122"/>
                <a:cs typeface="Nunito Sans" pitchFamily="34" charset="-120"/>
              </a:rPr>
              <a:t>Most likely</a:t>
            </a:r>
            <a:endParaRPr lang="en-US" sz="1500" dirty="0"/>
          </a:p>
        </p:txBody>
      </p:sp>
      <p:sp>
        <p:nvSpPr>
          <p:cNvPr id="11" name="Text 9"/>
          <p:cNvSpPr/>
          <p:nvPr/>
        </p:nvSpPr>
        <p:spPr>
          <a:xfrm>
            <a:off x="4660900" y="2986949"/>
            <a:ext cx="295630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Realistic</a:t>
            </a:r>
            <a:endParaRPr lang="en-US" sz="1300" dirty="0"/>
          </a:p>
        </p:txBody>
      </p:sp>
      <p:sp>
        <p:nvSpPr>
          <p:cNvPr id="12" name="Shape 10"/>
          <p:cNvSpPr/>
          <p:nvPr/>
        </p:nvSpPr>
        <p:spPr>
          <a:xfrm>
            <a:off x="8001000" y="1854138"/>
            <a:ext cx="3378200" cy="1579827"/>
          </a:xfrm>
          <a:prstGeom prst="roundRect">
            <a:avLst>
              <a:gd name="adj" fmla="val 6431"/>
            </a:avLst>
          </a:prstGeom>
          <a:solidFill>
            <a:srgbClr val="24345A"/>
          </a:solidFill>
          <a:ln/>
        </p:spPr>
      </p:sp>
      <p:sp>
        <p:nvSpPr>
          <p:cNvPr id="13" name="Text 11"/>
          <p:cNvSpPr/>
          <p:nvPr/>
        </p:nvSpPr>
        <p:spPr>
          <a:xfrm>
            <a:off x="8255000" y="2057338"/>
            <a:ext cx="2956306"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C9D3E3"/>
                </a:solidFill>
                <a:latin typeface="Domine" pitchFamily="18" charset="0"/>
                <a:ea typeface="Domine" pitchFamily="18" charset="-122"/>
                <a:cs typeface="Domine" pitchFamily="18" charset="-120"/>
              </a:rPr>
              <a:t>P</a:t>
            </a:r>
            <a:endParaRPr lang="en-US" sz="2800" dirty="0"/>
          </a:p>
        </p:txBody>
      </p:sp>
      <p:sp>
        <p:nvSpPr>
          <p:cNvPr id="14" name="Text 12"/>
          <p:cNvSpPr/>
          <p:nvPr/>
        </p:nvSpPr>
        <p:spPr>
          <a:xfrm>
            <a:off x="8255000" y="2631349"/>
            <a:ext cx="295630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BFBF8"/>
                </a:solidFill>
                <a:latin typeface="Nunito Sans" pitchFamily="34" charset="0"/>
                <a:ea typeface="Nunito Sans" pitchFamily="34" charset="-122"/>
                <a:cs typeface="Nunito Sans" pitchFamily="34" charset="-120"/>
              </a:rPr>
              <a:t>Pessimistic</a:t>
            </a:r>
            <a:endParaRPr lang="en-US" sz="1500" dirty="0"/>
          </a:p>
        </p:txBody>
      </p:sp>
      <p:sp>
        <p:nvSpPr>
          <p:cNvPr id="15" name="Text 13"/>
          <p:cNvSpPr/>
          <p:nvPr/>
        </p:nvSpPr>
        <p:spPr>
          <a:xfrm>
            <a:off x="8255000" y="2974249"/>
            <a:ext cx="295630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4F0"/>
                </a:solidFill>
                <a:latin typeface="Nunito Sans" pitchFamily="34" charset="0"/>
                <a:ea typeface="Nunito Sans" pitchFamily="34" charset="-122"/>
                <a:cs typeface="Nunito Sans" pitchFamily="34" charset="-120"/>
              </a:rPr>
              <a:t>Unstable builds, many defects</a:t>
            </a:r>
            <a:endParaRPr lang="en-US" sz="1300" dirty="0"/>
          </a:p>
        </p:txBody>
      </p:sp>
      <p:sp>
        <p:nvSpPr>
          <p:cNvPr id="16" name="Text 14"/>
          <p:cNvSpPr/>
          <p:nvPr/>
        </p:nvSpPr>
        <p:spPr>
          <a:xfrm>
            <a:off x="812800" y="3738761"/>
            <a:ext cx="4572000"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0A04B"/>
                </a:solidFill>
                <a:latin typeface="JetBrains Mono" pitchFamily="49" charset="0"/>
                <a:ea typeface="JetBrains Mono" pitchFamily="49" charset="-122"/>
                <a:cs typeface="JetBrains Mono" pitchFamily="49" charset="-120"/>
              </a:rPr>
              <a:t>E = (O + 4M + P) / 6</a:t>
            </a:r>
            <a:endParaRPr lang="en-US" sz="2800" dirty="0"/>
          </a:p>
        </p:txBody>
      </p:sp>
      <p:sp>
        <p:nvSpPr>
          <p:cNvPr id="17" name="Text 15"/>
          <p:cNvSpPr/>
          <p:nvPr/>
        </p:nvSpPr>
        <p:spPr>
          <a:xfrm>
            <a:off x="5384800" y="3845458"/>
            <a:ext cx="234092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JetBrains Mono" pitchFamily="49" charset="0"/>
                <a:ea typeface="JetBrains Mono" pitchFamily="49" charset="-122"/>
                <a:cs typeface="JetBrains Mono" pitchFamily="49" charset="-120"/>
              </a:rPr>
              <a:t>SD = (P − O) / 6</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WORKED EXAMPLE · CHECKOUT TEST EXECUTION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O = 20 h, M = 30 h, P = 52 h</a:t>
            </a:r>
            <a:endParaRPr lang="en-US" sz="3200" dirty="0"/>
          </a:p>
        </p:txBody>
      </p:sp>
      <p:sp>
        <p:nvSpPr>
          <p:cNvPr id="4" name="Shape 2"/>
          <p:cNvSpPr/>
          <p:nvPr/>
        </p:nvSpPr>
        <p:spPr>
          <a:xfrm>
            <a:off x="812800" y="1803338"/>
            <a:ext cx="10566400" cy="571500"/>
          </a:xfrm>
          <a:prstGeom prst="roundRect">
            <a:avLst>
              <a:gd name="adj" fmla="val 13333"/>
            </a:avLst>
          </a:prstGeom>
          <a:solidFill>
            <a:srgbClr val="EEF2F7"/>
          </a:solidFill>
          <a:ln/>
        </p:spPr>
      </p:sp>
      <p:sp>
        <p:nvSpPr>
          <p:cNvPr id="5" name="Text 3"/>
          <p:cNvSpPr/>
          <p:nvPr/>
        </p:nvSpPr>
        <p:spPr>
          <a:xfrm>
            <a:off x="1016000" y="1968438"/>
            <a:ext cx="9398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JetBrains Mono" pitchFamily="49" charset="0"/>
                <a:ea typeface="JetBrains Mono" pitchFamily="49" charset="-122"/>
                <a:cs typeface="JetBrains Mono" pitchFamily="49" charset="-120"/>
              </a:rPr>
              <a:t>E</a:t>
            </a:r>
            <a:endParaRPr lang="en-US" sz="1400" dirty="0"/>
          </a:p>
        </p:txBody>
      </p:sp>
      <p:sp>
        <p:nvSpPr>
          <p:cNvPr id="6" name="Text 4"/>
          <p:cNvSpPr/>
          <p:nvPr/>
        </p:nvSpPr>
        <p:spPr>
          <a:xfrm>
            <a:off x="2108200" y="1955738"/>
            <a:ext cx="507492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JetBrains Mono" pitchFamily="49" charset="0"/>
                <a:ea typeface="JetBrains Mono" pitchFamily="49" charset="-122"/>
                <a:cs typeface="JetBrains Mono" pitchFamily="49" charset="-120"/>
              </a:rPr>
              <a:t>(20 + 4×30 + 52) / 6 = 192 / 6 = </a:t>
            </a:r>
            <a:r>
              <a:rPr lang="en-US" sz="1500" b="1" dirty="0">
                <a:solidFill>
                  <a:srgbClr val="14213D"/>
                </a:solidFill>
                <a:latin typeface="JetBrains Mono" pitchFamily="49" charset="0"/>
                <a:ea typeface="JetBrains Mono" pitchFamily="49" charset="-122"/>
                <a:cs typeface="JetBrains Mono" pitchFamily="49" charset="-120"/>
              </a:rPr>
              <a:t>32 h</a:t>
            </a:r>
            <a:endParaRPr lang="en-US" sz="1500" dirty="0"/>
          </a:p>
        </p:txBody>
      </p:sp>
      <p:sp>
        <p:nvSpPr>
          <p:cNvPr id="7" name="Shape 5"/>
          <p:cNvSpPr/>
          <p:nvPr/>
        </p:nvSpPr>
        <p:spPr>
          <a:xfrm>
            <a:off x="812800" y="2501838"/>
            <a:ext cx="10566400" cy="571500"/>
          </a:xfrm>
          <a:prstGeom prst="roundRect">
            <a:avLst>
              <a:gd name="adj" fmla="val 13333"/>
            </a:avLst>
          </a:prstGeom>
          <a:solidFill>
            <a:srgbClr val="EEF2F7"/>
          </a:solidFill>
          <a:ln/>
        </p:spPr>
      </p:sp>
      <p:sp>
        <p:nvSpPr>
          <p:cNvPr id="8" name="Text 6"/>
          <p:cNvSpPr/>
          <p:nvPr/>
        </p:nvSpPr>
        <p:spPr>
          <a:xfrm>
            <a:off x="1016000" y="2666938"/>
            <a:ext cx="9398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JetBrains Mono" pitchFamily="49" charset="0"/>
                <a:ea typeface="JetBrains Mono" pitchFamily="49" charset="-122"/>
                <a:cs typeface="JetBrains Mono" pitchFamily="49" charset="-120"/>
              </a:rPr>
              <a:t>SD</a:t>
            </a:r>
            <a:endParaRPr lang="en-US" sz="1400" dirty="0"/>
          </a:p>
        </p:txBody>
      </p:sp>
      <p:sp>
        <p:nvSpPr>
          <p:cNvPr id="9" name="Text 7"/>
          <p:cNvSpPr/>
          <p:nvPr/>
        </p:nvSpPr>
        <p:spPr>
          <a:xfrm>
            <a:off x="2108200" y="2654238"/>
            <a:ext cx="411488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JetBrains Mono" pitchFamily="49" charset="0"/>
                <a:ea typeface="JetBrains Mono" pitchFamily="49" charset="-122"/>
                <a:cs typeface="JetBrains Mono" pitchFamily="49" charset="-120"/>
              </a:rPr>
              <a:t>(52 − 20) / 6 = 32 / 6 ≈ </a:t>
            </a:r>
            <a:r>
              <a:rPr lang="en-US" sz="1500" b="1" dirty="0">
                <a:solidFill>
                  <a:srgbClr val="14213D"/>
                </a:solidFill>
                <a:latin typeface="JetBrains Mono" pitchFamily="49" charset="0"/>
                <a:ea typeface="JetBrains Mono" pitchFamily="49" charset="-122"/>
                <a:cs typeface="JetBrains Mono" pitchFamily="49" charset="-120"/>
              </a:rPr>
              <a:t>5.3 h</a:t>
            </a:r>
            <a:endParaRPr lang="en-US" sz="1500" dirty="0"/>
          </a:p>
        </p:txBody>
      </p:sp>
      <p:sp>
        <p:nvSpPr>
          <p:cNvPr id="10" name="Shape 8"/>
          <p:cNvSpPr/>
          <p:nvPr/>
        </p:nvSpPr>
        <p:spPr>
          <a:xfrm>
            <a:off x="812800" y="3200338"/>
            <a:ext cx="10566400" cy="571500"/>
          </a:xfrm>
          <a:prstGeom prst="roundRect">
            <a:avLst>
              <a:gd name="adj" fmla="val 13333"/>
            </a:avLst>
          </a:prstGeom>
          <a:solidFill>
            <a:srgbClr val="EEF2F7"/>
          </a:solidFill>
          <a:ln/>
        </p:spPr>
      </p:sp>
      <p:sp>
        <p:nvSpPr>
          <p:cNvPr id="11" name="Text 9"/>
          <p:cNvSpPr/>
          <p:nvPr/>
        </p:nvSpPr>
        <p:spPr>
          <a:xfrm>
            <a:off x="1016000" y="3365438"/>
            <a:ext cx="93980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JetBrains Mono" pitchFamily="49" charset="0"/>
                <a:ea typeface="JetBrains Mono" pitchFamily="49" charset="-122"/>
                <a:cs typeface="JetBrains Mono" pitchFamily="49" charset="-120"/>
              </a:rPr>
              <a:t>E ± SD</a:t>
            </a:r>
            <a:endParaRPr lang="en-US" sz="1400" dirty="0"/>
          </a:p>
        </p:txBody>
      </p:sp>
      <p:sp>
        <p:nvSpPr>
          <p:cNvPr id="12" name="Text 10"/>
          <p:cNvSpPr/>
          <p:nvPr/>
        </p:nvSpPr>
        <p:spPr>
          <a:xfrm>
            <a:off x="2108200" y="3352738"/>
            <a:ext cx="493784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JetBrains Mono" pitchFamily="49" charset="0"/>
                <a:ea typeface="JetBrains Mono" pitchFamily="49" charset="-122"/>
                <a:cs typeface="JetBrains Mono" pitchFamily="49" charset="-120"/>
              </a:rPr>
              <a:t>32 − 5.3 ≈ 27 h  to  32 + 5.3 ≈ 37 h</a:t>
            </a:r>
            <a:endParaRPr lang="en-US" sz="1500" dirty="0"/>
          </a:p>
        </p:txBody>
      </p:sp>
      <p:sp>
        <p:nvSpPr>
          <p:cNvPr id="13" name="Shape 11"/>
          <p:cNvSpPr/>
          <p:nvPr/>
        </p:nvSpPr>
        <p:spPr>
          <a:xfrm>
            <a:off x="838200" y="4025838"/>
            <a:ext cx="0" cy="623491"/>
          </a:xfrm>
          <a:prstGeom prst="line">
            <a:avLst/>
          </a:prstGeom>
          <a:noFill/>
          <a:ln w="50800">
            <a:solidFill>
              <a:srgbClr val="A14F0A"/>
            </a:solidFill>
            <a:prstDash val="solid"/>
          </a:ln>
        </p:spPr>
      </p:sp>
      <p:sp>
        <p:nvSpPr>
          <p:cNvPr id="14" name="Text 12"/>
          <p:cNvSpPr/>
          <p:nvPr/>
        </p:nvSpPr>
        <p:spPr>
          <a:xfrm>
            <a:off x="1066800" y="4051238"/>
            <a:ext cx="1062177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HOW TO SAY IT</a:t>
            </a:r>
            <a:endParaRPr lang="en-US" sz="1200" dirty="0"/>
          </a:p>
        </p:txBody>
      </p:sp>
      <p:sp>
        <p:nvSpPr>
          <p:cNvPr id="15" name="Text 13"/>
          <p:cNvSpPr/>
          <p:nvPr/>
        </p:nvSpPr>
        <p:spPr>
          <a:xfrm>
            <a:off x="1066800" y="4315358"/>
            <a:ext cx="10621772" cy="33397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4213D"/>
                </a:solidFill>
                <a:latin typeface="Domine" pitchFamily="18" charset="0"/>
                <a:ea typeface="Domine" pitchFamily="18" charset="-122"/>
                <a:cs typeface="Domine" pitchFamily="18" charset="-120"/>
              </a:rPr>
              <a:t>"About 32 hours, likely between 27 and 37."</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APPROACH 5 OF 5 · HISTORICAL</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Let past projects tell you</a:t>
            </a:r>
            <a:endParaRPr lang="en-US" sz="3200" dirty="0"/>
          </a:p>
        </p:txBody>
      </p:sp>
      <p:sp>
        <p:nvSpPr>
          <p:cNvPr id="4" name="Text 2"/>
          <p:cNvSpPr/>
          <p:nvPr/>
        </p:nvSpPr>
        <p:spPr>
          <a:xfrm>
            <a:off x="812800" y="1854138"/>
            <a:ext cx="113792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Last 3 releases: the team averaged </a:t>
            </a:r>
            <a:r>
              <a:rPr lang="en-US" sz="1500" b="1" dirty="0">
                <a:solidFill>
                  <a:srgbClr val="14213D"/>
                </a:solidFill>
                <a:latin typeface="Nunito Sans" pitchFamily="34" charset="0"/>
                <a:ea typeface="Nunito Sans" pitchFamily="34" charset="-122"/>
                <a:cs typeface="Nunito Sans" pitchFamily="34" charset="-120"/>
              </a:rPr>
              <a:t>0.9 h of total testing effort per test case</a:t>
            </a:r>
            <a:r>
              <a:rPr lang="en-US" sz="1500" dirty="0">
                <a:solidFill>
                  <a:srgbClr val="3D4A5C"/>
                </a:solidFill>
                <a:latin typeface="Nunito Sans" pitchFamily="34" charset="0"/>
                <a:ea typeface="Nunito Sans" pitchFamily="34" charset="-122"/>
                <a:cs typeface="Nunito Sans" pitchFamily="34" charset="-120"/>
              </a:rPr>
              <a:t> (design, execution, defects and regression).</a:t>
            </a:r>
            <a:endParaRPr lang="en-US" sz="1500" dirty="0"/>
          </a:p>
        </p:txBody>
      </p:sp>
      <p:sp>
        <p:nvSpPr>
          <p:cNvPr id="5" name="Shape 3"/>
          <p:cNvSpPr/>
          <p:nvPr/>
        </p:nvSpPr>
        <p:spPr>
          <a:xfrm>
            <a:off x="812800" y="2438338"/>
            <a:ext cx="3039533" cy="1186127"/>
          </a:xfrm>
          <a:prstGeom prst="roundRect">
            <a:avLst>
              <a:gd name="adj" fmla="val 8566"/>
            </a:avLst>
          </a:prstGeom>
          <a:solidFill>
            <a:srgbClr val="EEF2F7"/>
          </a:solidFill>
          <a:ln/>
        </p:spPr>
      </p:sp>
      <p:sp>
        <p:nvSpPr>
          <p:cNvPr id="6" name="Text 4"/>
          <p:cNvSpPr/>
          <p:nvPr/>
        </p:nvSpPr>
        <p:spPr>
          <a:xfrm>
            <a:off x="1016000" y="2641538"/>
            <a:ext cx="271212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Domine" pitchFamily="18" charset="0"/>
                <a:ea typeface="Domine" pitchFamily="18" charset="-122"/>
                <a:cs typeface="Domine" pitchFamily="18" charset="-120"/>
              </a:rPr>
              <a:t>60 × 0.9</a:t>
            </a:r>
            <a:endParaRPr lang="en-US" sz="2800" dirty="0"/>
          </a:p>
        </p:txBody>
      </p:sp>
      <p:sp>
        <p:nvSpPr>
          <p:cNvPr id="7" name="Text 5"/>
          <p:cNvSpPr/>
          <p:nvPr/>
        </p:nvSpPr>
        <p:spPr>
          <a:xfrm>
            <a:off x="1016000" y="3190149"/>
            <a:ext cx="27121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new feature, ~60 test cases</a:t>
            </a:r>
            <a:endParaRPr lang="en-US" sz="1300" dirty="0"/>
          </a:p>
        </p:txBody>
      </p:sp>
      <p:pic>
        <p:nvPicPr>
          <p:cNvPr id="8" name="Image 0" descr="arrow-right"/>
          <p:cNvPicPr>
            <a:picLocks noChangeAspect="1"/>
          </p:cNvPicPr>
          <p:nvPr/>
        </p:nvPicPr>
        <p:blipFill>
          <a:blip r:embed="rId3"/>
          <a:srcRect/>
          <a:stretch/>
        </p:blipFill>
        <p:spPr>
          <a:xfrm>
            <a:off x="4004733" y="2929799"/>
            <a:ext cx="406400" cy="203200"/>
          </a:xfrm>
          <a:prstGeom prst="rect">
            <a:avLst/>
          </a:prstGeom>
        </p:spPr>
      </p:pic>
      <p:sp>
        <p:nvSpPr>
          <p:cNvPr id="9" name="Shape 6"/>
          <p:cNvSpPr/>
          <p:nvPr/>
        </p:nvSpPr>
        <p:spPr>
          <a:xfrm>
            <a:off x="4563533" y="2438338"/>
            <a:ext cx="3039533" cy="1186127"/>
          </a:xfrm>
          <a:prstGeom prst="roundRect">
            <a:avLst>
              <a:gd name="adj" fmla="val 8566"/>
            </a:avLst>
          </a:prstGeom>
          <a:solidFill>
            <a:srgbClr val="EEF2F7"/>
          </a:solidFill>
          <a:ln/>
        </p:spPr>
      </p:sp>
      <p:sp>
        <p:nvSpPr>
          <p:cNvPr id="10" name="Text 7"/>
          <p:cNvSpPr/>
          <p:nvPr/>
        </p:nvSpPr>
        <p:spPr>
          <a:xfrm>
            <a:off x="4766733" y="2641538"/>
            <a:ext cx="271212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14213D"/>
                </a:solidFill>
                <a:latin typeface="Domine" pitchFamily="18" charset="0"/>
                <a:ea typeface="Domine" pitchFamily="18" charset="-122"/>
                <a:cs typeface="Domine" pitchFamily="18" charset="-120"/>
              </a:rPr>
              <a:t>54 h</a:t>
            </a:r>
            <a:endParaRPr lang="en-US" sz="2800" dirty="0"/>
          </a:p>
        </p:txBody>
      </p:sp>
      <p:sp>
        <p:nvSpPr>
          <p:cNvPr id="11" name="Text 8"/>
          <p:cNvSpPr/>
          <p:nvPr/>
        </p:nvSpPr>
        <p:spPr>
          <a:xfrm>
            <a:off x="4766733" y="3190149"/>
            <a:ext cx="2712127"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baseline from history</a:t>
            </a:r>
            <a:endParaRPr lang="en-US" sz="1300" dirty="0"/>
          </a:p>
        </p:txBody>
      </p:sp>
      <p:pic>
        <p:nvPicPr>
          <p:cNvPr id="12" name="Image 1" descr="arrow-right"/>
          <p:cNvPicPr>
            <a:picLocks noChangeAspect="1"/>
          </p:cNvPicPr>
          <p:nvPr/>
        </p:nvPicPr>
        <p:blipFill>
          <a:blip r:embed="rId3"/>
          <a:srcRect/>
          <a:stretch/>
        </p:blipFill>
        <p:spPr>
          <a:xfrm>
            <a:off x="7755467" y="2929799"/>
            <a:ext cx="406400" cy="203200"/>
          </a:xfrm>
          <a:prstGeom prst="rect">
            <a:avLst/>
          </a:prstGeom>
        </p:spPr>
      </p:pic>
      <p:sp>
        <p:nvSpPr>
          <p:cNvPr id="13" name="Shape 9"/>
          <p:cNvSpPr/>
          <p:nvPr/>
        </p:nvSpPr>
        <p:spPr>
          <a:xfrm>
            <a:off x="8320617" y="2431988"/>
            <a:ext cx="3052233" cy="1198827"/>
          </a:xfrm>
          <a:prstGeom prst="roundRect">
            <a:avLst>
              <a:gd name="adj" fmla="val 7945"/>
            </a:avLst>
          </a:prstGeom>
          <a:solidFill>
            <a:srgbClr val="FBEBDD"/>
          </a:solidFill>
          <a:ln w="12700">
            <a:solidFill>
              <a:srgbClr val="A14F0A"/>
            </a:solidFill>
            <a:prstDash val="solid"/>
          </a:ln>
        </p:spPr>
      </p:sp>
      <p:sp>
        <p:nvSpPr>
          <p:cNvPr id="14" name="Text 10"/>
          <p:cNvSpPr/>
          <p:nvPr/>
        </p:nvSpPr>
        <p:spPr>
          <a:xfrm>
            <a:off x="8530167" y="2641538"/>
            <a:ext cx="271212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14F0A"/>
                </a:solidFill>
                <a:latin typeface="Domine" pitchFamily="18" charset="0"/>
                <a:ea typeface="Domine" pitchFamily="18" charset="-122"/>
                <a:cs typeface="Domine" pitchFamily="18" charset="-120"/>
              </a:rPr>
              <a:t>≈ 62 h</a:t>
            </a:r>
            <a:endParaRPr lang="en-US" sz="2800" dirty="0"/>
          </a:p>
        </p:txBody>
      </p:sp>
      <p:sp>
        <p:nvSpPr>
          <p:cNvPr id="15" name="Text 11"/>
          <p:cNvSpPr/>
          <p:nvPr/>
        </p:nvSpPr>
        <p:spPr>
          <a:xfrm>
            <a:off x="8530167" y="3190149"/>
            <a:ext cx="283633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+15% for a new payment gateway</a:t>
            </a:r>
            <a:endParaRPr lang="en-US" sz="1300" dirty="0"/>
          </a:p>
        </p:txBody>
      </p:sp>
      <p:pic>
        <p:nvPicPr>
          <p:cNvPr id="16" name="Image 2" descr="CheckCircle"/>
          <p:cNvPicPr>
            <a:picLocks noChangeAspect="1"/>
          </p:cNvPicPr>
          <p:nvPr/>
        </p:nvPicPr>
        <p:blipFill>
          <a:blip r:embed="rId4"/>
          <a:srcRect/>
          <a:stretch/>
        </p:blipFill>
        <p:spPr>
          <a:xfrm>
            <a:off x="812800" y="3952081"/>
            <a:ext cx="228600" cy="228600"/>
          </a:xfrm>
          <a:prstGeom prst="rect">
            <a:avLst/>
          </a:prstGeom>
        </p:spPr>
      </p:pic>
      <p:sp>
        <p:nvSpPr>
          <p:cNvPr id="17" name="Text 12"/>
          <p:cNvSpPr/>
          <p:nvPr/>
        </p:nvSpPr>
        <p:spPr>
          <a:xfrm>
            <a:off x="1143000" y="3941961"/>
            <a:ext cx="2181291"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B5C9E"/>
                </a:solidFill>
                <a:latin typeface="Nunito Sans" pitchFamily="34" charset="0"/>
                <a:ea typeface="Nunito Sans" pitchFamily="34" charset="-122"/>
                <a:cs typeface="Nunito Sans" pitchFamily="34" charset="-120"/>
              </a:rPr>
              <a:t>Pro:</a:t>
            </a:r>
            <a:r>
              <a:rPr lang="en-US" sz="1400" dirty="0">
                <a:solidFill>
                  <a:srgbClr val="3D4A5C"/>
                </a:solidFill>
                <a:latin typeface="Nunito Sans" pitchFamily="34" charset="0"/>
                <a:ea typeface="Nunito Sans" pitchFamily="34" charset="-122"/>
                <a:cs typeface="Nunito Sans" pitchFamily="34" charset="-120"/>
              </a:rPr>
              <a:t> grounded in reality</a:t>
            </a:r>
            <a:endParaRPr lang="en-US" sz="1400" dirty="0"/>
          </a:p>
        </p:txBody>
      </p:sp>
      <p:pic>
        <p:nvPicPr>
          <p:cNvPr id="18" name="Image 3" descr="Warning"/>
          <p:cNvPicPr>
            <a:picLocks noChangeAspect="1"/>
          </p:cNvPicPr>
          <p:nvPr/>
        </p:nvPicPr>
        <p:blipFill>
          <a:blip r:embed="rId5"/>
          <a:srcRect/>
          <a:stretch/>
        </p:blipFill>
        <p:spPr>
          <a:xfrm>
            <a:off x="3324291" y="3952081"/>
            <a:ext cx="228600" cy="228600"/>
          </a:xfrm>
          <a:prstGeom prst="rect">
            <a:avLst/>
          </a:prstGeom>
        </p:spPr>
      </p:pic>
      <p:sp>
        <p:nvSpPr>
          <p:cNvPr id="19" name="Text 13"/>
          <p:cNvSpPr/>
          <p:nvPr/>
        </p:nvSpPr>
        <p:spPr>
          <a:xfrm>
            <a:off x="3654491" y="3941961"/>
            <a:ext cx="4775359"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Con:</a:t>
            </a:r>
            <a:r>
              <a:rPr lang="en-US" sz="1400" dirty="0">
                <a:solidFill>
                  <a:srgbClr val="3D4A5C"/>
                </a:solidFill>
                <a:latin typeface="Nunito Sans" pitchFamily="34" charset="0"/>
                <a:ea typeface="Nunito Sans" pitchFamily="34" charset="-122"/>
                <a:cs typeface="Nunito Sans" pitchFamily="34" charset="-120"/>
              </a:rPr>
              <a:t> needs good records and comparable projects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COMPARING THE APPROACHES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Each has a sweet spot and a trap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2315766"/>
        </p:xfrm>
        <a:graphic>
          <a:graphicData uri="http://schemas.openxmlformats.org/drawingml/2006/table">
            <a:tbl>
              <a:tblPr/>
              <a:tblGrid>
                <a:gridCol w="2955036">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3377184">
                  <a:extLst>
                    <a:ext uri="{9D8B030D-6E8A-4147-A177-3AD203B41FA5}">
                      <a16:colId xmlns:a16="http://schemas.microsoft.com/office/drawing/2014/main" val="20002"/>
                    </a:ext>
                  </a:extLst>
                </a:gridCol>
              </a:tblGrid>
              <a:tr h="385961">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Approach</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Best when</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Main risk</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Expert judgement</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Early, quick, little data</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Bias, optimism</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WBS</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Scope is clear</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Forgetting tasks</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Test-case-based</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Scenarios or test cases are known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Wrong test-case count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Three-point</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Uncertainty is high</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Garbage in, garbage out</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tcPr>
                </a:tc>
                <a:extLst>
                  <a:ext uri="{0D108BD9-81ED-4DB2-BD59-A6C34878D82A}">
                    <a16:rowId xmlns:a16="http://schemas.microsoft.com/office/drawing/2014/main" val="10004"/>
                  </a:ext>
                </a:extLst>
              </a:tr>
              <a:tr h="385961">
                <a:tc>
                  <a:txBody>
                    <a:bodyPr/>
                    <a:lstStyle/>
                    <a:p>
                      <a:pPr marL="0" indent="0">
                        <a:lnSpc>
                          <a:spcPts val="1960"/>
                        </a:lnSpc>
                        <a:buNone/>
                      </a:pPr>
                      <a:r>
                        <a:rPr lang="en-US" sz="1400" dirty="0">
                          <a:solidFill>
                            <a:srgbClr val="14213D"/>
                          </a:solidFill>
                          <a:latin typeface="Nunito Sans" pitchFamily="34" charset="0"/>
                          <a:ea typeface="Nunito Sans" pitchFamily="34" charset="-122"/>
                          <a:cs typeface="Nunito Sans" pitchFamily="34" charset="-120"/>
                        </a:rPr>
                        <a:t>Historical</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Similar past projects with data</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Projects not comparable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solidFill>
                      <a:srgbClr val="FBFBF8"/>
                    </a:solidFill>
                  </a:tcPr>
                </a:tc>
                <a:extLst>
                  <a:ext uri="{0D108BD9-81ED-4DB2-BD59-A6C34878D82A}">
                    <a16:rowId xmlns:a16="http://schemas.microsoft.com/office/drawing/2014/main" val="10005"/>
                  </a:ext>
                </a:extLst>
              </a:tr>
            </a:tbl>
          </a:graphicData>
        </a:graphic>
      </p:graphicFrame>
      <p:sp>
        <p:nvSpPr>
          <p:cNvPr id="5" name="Text 2"/>
          <p:cNvSpPr/>
          <p:nvPr/>
        </p:nvSpPr>
        <p:spPr>
          <a:xfrm>
            <a:off x="812800" y="4385804"/>
            <a:ext cx="10566400" cy="838200"/>
          </a:xfrm>
          <a:prstGeom prst="roundRect">
            <a:avLst>
              <a:gd name="adj" fmla="val 9091"/>
            </a:avLst>
          </a:prstGeom>
          <a:solidFill>
            <a:srgbClr val="FBEBDD"/>
          </a:solidFill>
          <a:ln/>
        </p:spPr>
        <p:txBody>
          <a:bodyPr wrap="square" lIns="180882" tIns="130082" rIns="0" bIns="104682" rtlCol="0" anchor="t">
            <a:normAutofit/>
          </a:bodyPr>
          <a:lstStyle/>
          <a:p>
            <a:pPr marL="0" indent="0" algn="l">
              <a:lnSpc>
                <a:spcPts val="2100"/>
              </a:lnSpc>
              <a:buNone/>
            </a:pPr>
            <a:r>
              <a:rPr lang="en-US" sz="1500" b="1" dirty="0">
                <a:solidFill>
                  <a:srgbClr val="A14F0A"/>
                </a:solidFill>
                <a:latin typeface="Nunito Sans" pitchFamily="34" charset="0"/>
                <a:ea typeface="Nunito Sans" pitchFamily="34" charset="-122"/>
                <a:cs typeface="Nunito Sans" pitchFamily="34" charset="-120"/>
              </a:rPr>
              <a:t>In practice, combine them:</a:t>
            </a:r>
            <a:r>
              <a:rPr lang="en-US" sz="1500" dirty="0">
                <a:solidFill>
                  <a:srgbClr val="14213D"/>
                </a:solidFill>
                <a:latin typeface="Nunito Sans" pitchFamily="34" charset="0"/>
                <a:ea typeface="Nunito Sans" pitchFamily="34" charset="-122"/>
                <a:cs typeface="Nunito Sans" pitchFamily="34" charset="-120"/>
              </a:rPr>
              <a:t> build a WBS, estimate each task with three-point, then sanity-check against history and expert opinion.</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FROM EFFORT TO SCHEDULE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Person-hours are not calendar days</a:t>
            </a:r>
            <a:endParaRPr lang="en-US" sz="3200" dirty="0"/>
          </a:p>
        </p:txBody>
      </p:sp>
      <p:sp>
        <p:nvSpPr>
          <p:cNvPr id="4" name="Shape 2"/>
          <p:cNvSpPr/>
          <p:nvPr/>
        </p:nvSpPr>
        <p:spPr>
          <a:xfrm>
            <a:off x="812800" y="1854138"/>
            <a:ext cx="10566400" cy="1229254"/>
          </a:xfrm>
          <a:prstGeom prst="roundRect">
            <a:avLst>
              <a:gd name="adj" fmla="val 8265"/>
            </a:avLst>
          </a:prstGeom>
          <a:solidFill>
            <a:srgbClr val="24345A"/>
          </a:solidFill>
          <a:ln/>
        </p:spPr>
      </p:sp>
      <p:sp>
        <p:nvSpPr>
          <p:cNvPr id="5" name="Text 3"/>
          <p:cNvSpPr/>
          <p:nvPr/>
        </p:nvSpPr>
        <p:spPr>
          <a:xfrm>
            <a:off x="1066800" y="2108138"/>
            <a:ext cx="1036015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BF8"/>
                </a:solidFill>
                <a:latin typeface="JetBrains Mono" pitchFamily="49" charset="0"/>
                <a:ea typeface="JetBrains Mono" pitchFamily="49" charset="-122"/>
                <a:cs typeface="JetBrains Mono" pitchFamily="49" charset="-120"/>
              </a:rPr>
              <a:t>Duration (days) = Effort (h) ÷ (Testers × Productive h per day)</a:t>
            </a:r>
            <a:endParaRPr lang="en-US" sz="1600" dirty="0"/>
          </a:p>
        </p:txBody>
      </p:sp>
      <p:sp>
        <p:nvSpPr>
          <p:cNvPr id="6" name="Text 4"/>
          <p:cNvSpPr/>
          <p:nvPr/>
        </p:nvSpPr>
        <p:spPr>
          <a:xfrm>
            <a:off x="1066800" y="2544961"/>
            <a:ext cx="1036015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DCE4F0"/>
                </a:solidFill>
                <a:latin typeface="JetBrains Mono" pitchFamily="49" charset="0"/>
                <a:ea typeface="JetBrains Mono" pitchFamily="49" charset="-122"/>
                <a:cs typeface="JetBrains Mono" pitchFamily="49" charset="-120"/>
              </a:rPr>
              <a:t>60 h ÷ (2 × 6 h/day) = 60 ÷ 12 = </a:t>
            </a:r>
            <a:r>
              <a:rPr lang="en-US" sz="1600" b="1" dirty="0">
                <a:solidFill>
                  <a:srgbClr val="F0A04B"/>
                </a:solidFill>
                <a:latin typeface="JetBrains Mono" pitchFamily="49" charset="0"/>
                <a:ea typeface="JetBrains Mono" pitchFamily="49" charset="-122"/>
                <a:cs typeface="JetBrains Mono" pitchFamily="49" charset="-120"/>
              </a:rPr>
              <a:t>5 working days</a:t>
            </a:r>
            <a:endParaRPr lang="en-US" sz="1600" dirty="0"/>
          </a:p>
        </p:txBody>
      </p:sp>
      <p:sp>
        <p:nvSpPr>
          <p:cNvPr id="7" name="Text 5"/>
          <p:cNvSpPr/>
          <p:nvPr/>
        </p:nvSpPr>
        <p:spPr>
          <a:xfrm>
            <a:off x="812800" y="338819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WATCH OUT FOR</a:t>
            </a:r>
            <a:endParaRPr lang="en-US" sz="1200" dirty="0"/>
          </a:p>
        </p:txBody>
      </p:sp>
      <p:pic>
        <p:nvPicPr>
          <p:cNvPr id="8" name="Image 0" descr="Clock"/>
          <p:cNvPicPr>
            <a:picLocks noChangeAspect="1"/>
          </p:cNvPicPr>
          <p:nvPr/>
        </p:nvPicPr>
        <p:blipFill>
          <a:blip r:embed="rId3"/>
          <a:srcRect l="-614" r="-614"/>
          <a:stretch/>
        </p:blipFill>
        <p:spPr>
          <a:xfrm>
            <a:off x="812800" y="3837719"/>
            <a:ext cx="179983" cy="228600"/>
          </a:xfrm>
          <a:prstGeom prst="rect">
            <a:avLst/>
          </a:prstGeom>
        </p:spPr>
      </p:pic>
      <p:sp>
        <p:nvSpPr>
          <p:cNvPr id="9" name="Text 6"/>
          <p:cNvSpPr/>
          <p:nvPr/>
        </p:nvSpPr>
        <p:spPr>
          <a:xfrm>
            <a:off x="1094383" y="3703110"/>
            <a:ext cx="3198236" cy="523214"/>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Waiting for builds and fixes (can't be parallelised)</a:t>
            </a:r>
            <a:endParaRPr lang="en-US" sz="1400" dirty="0"/>
          </a:p>
        </p:txBody>
      </p:sp>
      <p:pic>
        <p:nvPicPr>
          <p:cNvPr id="10" name="Image 1" descr="Users"/>
          <p:cNvPicPr>
            <a:picLocks noChangeAspect="1"/>
          </p:cNvPicPr>
          <p:nvPr/>
        </p:nvPicPr>
        <p:blipFill>
          <a:blip r:embed="rId4"/>
          <a:srcRect/>
          <a:stretch/>
        </p:blipFill>
        <p:spPr>
          <a:xfrm>
            <a:off x="4402667" y="3837719"/>
            <a:ext cx="228600" cy="228600"/>
          </a:xfrm>
          <a:prstGeom prst="rect">
            <a:avLst/>
          </a:prstGeom>
        </p:spPr>
      </p:pic>
      <p:sp>
        <p:nvSpPr>
          <p:cNvPr id="11" name="Text 7"/>
          <p:cNvSpPr/>
          <p:nvPr/>
        </p:nvSpPr>
        <p:spPr>
          <a:xfrm>
            <a:off x="4732867" y="3827531"/>
            <a:ext cx="181800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Holidays and leave</a:t>
            </a:r>
            <a:endParaRPr lang="en-US" sz="1400" dirty="0"/>
          </a:p>
        </p:txBody>
      </p:sp>
      <p:pic>
        <p:nvPicPr>
          <p:cNvPr id="12" name="Image 2" descr="Link"/>
          <p:cNvPicPr>
            <a:picLocks noChangeAspect="1"/>
          </p:cNvPicPr>
          <p:nvPr/>
        </p:nvPicPr>
        <p:blipFill>
          <a:blip r:embed="rId5"/>
          <a:srcRect/>
          <a:stretch/>
        </p:blipFill>
        <p:spPr>
          <a:xfrm>
            <a:off x="7992534" y="3837719"/>
            <a:ext cx="228600" cy="228600"/>
          </a:xfrm>
          <a:prstGeom prst="rect">
            <a:avLst/>
          </a:prstGeom>
        </p:spPr>
      </p:pic>
      <p:sp>
        <p:nvSpPr>
          <p:cNvPr id="13" name="Text 8"/>
          <p:cNvSpPr/>
          <p:nvPr/>
        </p:nvSpPr>
        <p:spPr>
          <a:xfrm>
            <a:off x="8322734" y="3827531"/>
            <a:ext cx="284757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Dependencies on other teams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ALWAYS STATE YOUR ASSUMPTIONS</a:t>
            </a:r>
            <a:endParaRPr lang="en-US" sz="1200" dirty="0"/>
          </a:p>
        </p:txBody>
      </p:sp>
      <p:sp>
        <p:nvSpPr>
          <p:cNvPr id="3" name="Text 1"/>
          <p:cNvSpPr>
            <a:spLocks noGrp="1"/>
          </p:cNvSpPr>
          <p:nvPr>
            <p:ph type="title"/>
          </p:nvPr>
        </p:nvSpPr>
        <p:spPr>
          <a:xfrm>
            <a:off x="812800" y="1102320"/>
            <a:ext cx="11379200"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An estimate without assumptions can't be defended</a:t>
            </a:r>
            <a:endParaRPr lang="en-US" sz="3200" dirty="0"/>
          </a:p>
        </p:txBody>
      </p:sp>
      <p:pic>
        <p:nvPicPr>
          <p:cNvPr id="4" name="Image 0" descr="Check"/>
          <p:cNvPicPr>
            <a:picLocks noChangeAspect="1"/>
          </p:cNvPicPr>
          <p:nvPr/>
        </p:nvPicPr>
        <p:blipFill>
          <a:blip r:embed="rId3"/>
          <a:srcRect/>
          <a:stretch/>
        </p:blipFill>
        <p:spPr>
          <a:xfrm>
            <a:off x="812800" y="1826158"/>
            <a:ext cx="203200" cy="203200"/>
          </a:xfrm>
          <a:prstGeom prst="rect">
            <a:avLst/>
          </a:prstGeom>
        </p:spPr>
      </p:pic>
      <p:sp>
        <p:nvSpPr>
          <p:cNvPr id="5" name="Text 2"/>
          <p:cNvSpPr/>
          <p:nvPr/>
        </p:nvSpPr>
        <p:spPr>
          <a:xfrm>
            <a:off x="1143000" y="1803338"/>
            <a:ext cx="487243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Requirements are stable; changes are re-estimated</a:t>
            </a:r>
            <a:endParaRPr lang="en-US" sz="1400" dirty="0"/>
          </a:p>
        </p:txBody>
      </p:sp>
      <p:pic>
        <p:nvPicPr>
          <p:cNvPr id="6" name="Image 1" descr="Check"/>
          <p:cNvPicPr>
            <a:picLocks noChangeAspect="1"/>
          </p:cNvPicPr>
          <p:nvPr/>
        </p:nvPicPr>
        <p:blipFill>
          <a:blip r:embed="rId3"/>
          <a:srcRect/>
          <a:stretch/>
        </p:blipFill>
        <p:spPr>
          <a:xfrm>
            <a:off x="6096000" y="1826158"/>
            <a:ext cx="203200" cy="203200"/>
          </a:xfrm>
          <a:prstGeom prst="rect">
            <a:avLst/>
          </a:prstGeom>
        </p:spPr>
      </p:pic>
      <p:sp>
        <p:nvSpPr>
          <p:cNvPr id="7" name="Text 3"/>
          <p:cNvSpPr/>
          <p:nvPr/>
        </p:nvSpPr>
        <p:spPr>
          <a:xfrm>
            <a:off x="6426200" y="1803338"/>
            <a:ext cx="430164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Environment available and stable from Day 1</a:t>
            </a:r>
            <a:endParaRPr lang="en-US" sz="1400" dirty="0"/>
          </a:p>
        </p:txBody>
      </p:sp>
      <p:pic>
        <p:nvPicPr>
          <p:cNvPr id="8" name="Image 2" descr="Check"/>
          <p:cNvPicPr>
            <a:picLocks noChangeAspect="1"/>
          </p:cNvPicPr>
          <p:nvPr/>
        </p:nvPicPr>
        <p:blipFill>
          <a:blip r:embed="rId3"/>
          <a:srcRect/>
          <a:stretch/>
        </p:blipFill>
        <p:spPr>
          <a:xfrm>
            <a:off x="812800" y="2075061"/>
            <a:ext cx="203200" cy="203200"/>
          </a:xfrm>
          <a:prstGeom prst="rect">
            <a:avLst/>
          </a:prstGeom>
        </p:spPr>
      </p:pic>
      <p:sp>
        <p:nvSpPr>
          <p:cNvPr id="9" name="Text 4"/>
          <p:cNvSpPr/>
          <p:nvPr/>
        </p:nvSpPr>
        <p:spPr>
          <a:xfrm>
            <a:off x="1143000" y="2052241"/>
            <a:ext cx="2558733"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Builds pass the smoke test</a:t>
            </a:r>
            <a:endParaRPr lang="en-US" sz="1400" dirty="0"/>
          </a:p>
        </p:txBody>
      </p:sp>
      <p:pic>
        <p:nvPicPr>
          <p:cNvPr id="10" name="Image 3" descr="Check"/>
          <p:cNvPicPr>
            <a:picLocks noChangeAspect="1"/>
          </p:cNvPicPr>
          <p:nvPr/>
        </p:nvPicPr>
        <p:blipFill>
          <a:blip r:embed="rId3"/>
          <a:srcRect/>
          <a:stretch/>
        </p:blipFill>
        <p:spPr>
          <a:xfrm>
            <a:off x="6096000" y="2075061"/>
            <a:ext cx="203200" cy="203200"/>
          </a:xfrm>
          <a:prstGeom prst="rect">
            <a:avLst/>
          </a:prstGeom>
        </p:spPr>
      </p:pic>
      <p:sp>
        <p:nvSpPr>
          <p:cNvPr id="11" name="Text 5"/>
          <p:cNvSpPr/>
          <p:nvPr/>
        </p:nvSpPr>
        <p:spPr>
          <a:xfrm>
            <a:off x="6426200" y="2052241"/>
            <a:ext cx="410027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Critical and High defects fixed within 1 day</a:t>
            </a:r>
            <a:endParaRPr lang="en-US" sz="1400" dirty="0"/>
          </a:p>
        </p:txBody>
      </p:sp>
      <p:pic>
        <p:nvPicPr>
          <p:cNvPr id="12" name="Image 4" descr="Check"/>
          <p:cNvPicPr>
            <a:picLocks noChangeAspect="1"/>
          </p:cNvPicPr>
          <p:nvPr/>
        </p:nvPicPr>
        <p:blipFill>
          <a:blip r:embed="rId3"/>
          <a:srcRect/>
          <a:stretch/>
        </p:blipFill>
        <p:spPr>
          <a:xfrm>
            <a:off x="812800" y="2323970"/>
            <a:ext cx="203200" cy="203200"/>
          </a:xfrm>
          <a:prstGeom prst="rect">
            <a:avLst/>
          </a:prstGeom>
        </p:spPr>
      </p:pic>
      <p:sp>
        <p:nvSpPr>
          <p:cNvPr id="13" name="Text 6"/>
          <p:cNvSpPr/>
          <p:nvPr/>
        </p:nvSpPr>
        <p:spPr>
          <a:xfrm>
            <a:off x="1143000" y="2301149"/>
            <a:ext cx="413877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Test data provided by dev or created by QA</a:t>
            </a:r>
            <a:endParaRPr lang="en-US" sz="1400" dirty="0"/>
          </a:p>
        </p:txBody>
      </p:sp>
      <p:pic>
        <p:nvPicPr>
          <p:cNvPr id="14" name="Image 5" descr="Check"/>
          <p:cNvPicPr>
            <a:picLocks noChangeAspect="1"/>
          </p:cNvPicPr>
          <p:nvPr/>
        </p:nvPicPr>
        <p:blipFill>
          <a:blip r:embed="rId3"/>
          <a:srcRect/>
          <a:stretch/>
        </p:blipFill>
        <p:spPr>
          <a:xfrm>
            <a:off x="6096000" y="2323970"/>
            <a:ext cx="203200" cy="203200"/>
          </a:xfrm>
          <a:prstGeom prst="rect">
            <a:avLst/>
          </a:prstGeom>
        </p:spPr>
      </p:pic>
      <p:sp>
        <p:nvSpPr>
          <p:cNvPr id="15" name="Text 7"/>
          <p:cNvSpPr/>
          <p:nvPr/>
        </p:nvSpPr>
        <p:spPr>
          <a:xfrm>
            <a:off x="6426200" y="2301149"/>
            <a:ext cx="44313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2 testers, 6 productive h/day, no planned leave</a:t>
            </a:r>
            <a:endParaRPr lang="en-US" sz="1400" dirty="0"/>
          </a:p>
        </p:txBody>
      </p:sp>
      <p:pic>
        <p:nvPicPr>
          <p:cNvPr id="16" name="Image 6" descr="Check"/>
          <p:cNvPicPr>
            <a:picLocks noChangeAspect="1"/>
          </p:cNvPicPr>
          <p:nvPr/>
        </p:nvPicPr>
        <p:blipFill>
          <a:blip r:embed="rId3"/>
          <a:srcRect/>
          <a:stretch/>
        </p:blipFill>
        <p:spPr>
          <a:xfrm>
            <a:off x="812800" y="2572879"/>
            <a:ext cx="203200" cy="203200"/>
          </a:xfrm>
          <a:prstGeom prst="rect">
            <a:avLst/>
          </a:prstGeom>
        </p:spPr>
      </p:pic>
      <p:sp>
        <p:nvSpPr>
          <p:cNvPr id="17" name="Text 8"/>
          <p:cNvSpPr/>
          <p:nvPr/>
        </p:nvSpPr>
        <p:spPr>
          <a:xfrm>
            <a:off x="1143000" y="2550058"/>
            <a:ext cx="3305731"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Payment sandbox access available</a:t>
            </a:r>
            <a:endParaRPr lang="en-US" sz="1400" dirty="0"/>
          </a:p>
        </p:txBody>
      </p:sp>
      <p:sp>
        <p:nvSpPr>
          <p:cNvPr id="18" name="Text 9"/>
          <p:cNvSpPr/>
          <p:nvPr/>
        </p:nvSpPr>
        <p:spPr>
          <a:xfrm>
            <a:off x="812800" y="3052961"/>
            <a:ext cx="10566400" cy="571500"/>
          </a:xfrm>
          <a:prstGeom prst="roundRect">
            <a:avLst>
              <a:gd name="adj" fmla="val 13333"/>
            </a:avLst>
          </a:prstGeom>
          <a:solidFill>
            <a:srgbClr val="FBEBDD"/>
          </a:solidFill>
          <a:ln/>
        </p:spPr>
        <p:txBody>
          <a:bodyPr wrap="square" lIns="180882" tIns="130082" rIns="0" bIns="104682"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Also list what is </a:t>
            </a:r>
            <a:r>
              <a:rPr lang="en-US" sz="1500" b="1" dirty="0">
                <a:solidFill>
                  <a:srgbClr val="A14F0A"/>
                </a:solidFill>
                <a:latin typeface="Nunito Sans" pitchFamily="34" charset="0"/>
                <a:ea typeface="Nunito Sans" pitchFamily="34" charset="-122"/>
                <a:cs typeface="Nunito Sans" pitchFamily="34" charset="-120"/>
              </a:rPr>
              <a:t>out of scope</a:t>
            </a:r>
            <a:r>
              <a:rPr lang="en-US" sz="1500" dirty="0">
                <a:solidFill>
                  <a:srgbClr val="14213D"/>
                </a:solidFill>
                <a:latin typeface="Nunito Sans" pitchFamily="34" charset="0"/>
                <a:ea typeface="Nunito Sans" pitchFamily="34" charset="-122"/>
                <a:cs typeface="Nunito Sans" pitchFamily="34" charset="-120"/>
              </a:rPr>
              <a:t>, e.g. "Performance and security penetration testing are not included."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COMMON BEGINNER MISTAKES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ways an estimate goes wrong</a:t>
            </a:r>
            <a:endParaRPr lang="en-US" sz="3200" dirty="0"/>
          </a:p>
        </p:txBody>
      </p:sp>
      <p:pic>
        <p:nvPicPr>
          <p:cNvPr id="4" name="Image 0" descr="Warning"/>
          <p:cNvPicPr>
            <a:picLocks noChangeAspect="1"/>
          </p:cNvPicPr>
          <p:nvPr/>
        </p:nvPicPr>
        <p:blipFill>
          <a:blip r:embed="rId3"/>
          <a:srcRect/>
          <a:stretch/>
        </p:blipFill>
        <p:spPr>
          <a:xfrm>
            <a:off x="812800" y="1860488"/>
            <a:ext cx="254000" cy="254000"/>
          </a:xfrm>
          <a:prstGeom prst="rect">
            <a:avLst/>
          </a:prstGeom>
        </p:spPr>
      </p:pic>
      <p:sp>
        <p:nvSpPr>
          <p:cNvPr id="5" name="Text 2"/>
          <p:cNvSpPr/>
          <p:nvPr/>
        </p:nvSpPr>
        <p:spPr>
          <a:xfrm>
            <a:off x="1219200" y="1854138"/>
            <a:ext cx="957000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Estimating only execution time.</a:t>
            </a:r>
            <a:r>
              <a:rPr lang="en-US" sz="1500" dirty="0">
                <a:solidFill>
                  <a:srgbClr val="3D4A5C"/>
                </a:solidFill>
                <a:latin typeface="Nunito Sans" pitchFamily="34" charset="0"/>
                <a:ea typeface="Nunito Sans" pitchFamily="34" charset="-122"/>
                <a:cs typeface="Nunito Sans" pitchFamily="34" charset="-120"/>
              </a:rPr>
              <a:t> Forgetting design, data, setup, defects, regression, reporting.</a:t>
            </a:r>
            <a:endParaRPr lang="en-US" sz="1500" dirty="0"/>
          </a:p>
        </p:txBody>
      </p:sp>
      <p:pic>
        <p:nvPicPr>
          <p:cNvPr id="6" name="Image 1" descr="Warning"/>
          <p:cNvPicPr>
            <a:picLocks noChangeAspect="1"/>
          </p:cNvPicPr>
          <p:nvPr/>
        </p:nvPicPr>
        <p:blipFill>
          <a:blip r:embed="rId3"/>
          <a:srcRect/>
          <a:stretch/>
        </p:blipFill>
        <p:spPr>
          <a:xfrm>
            <a:off x="812800" y="2304988"/>
            <a:ext cx="254000" cy="254000"/>
          </a:xfrm>
          <a:prstGeom prst="rect">
            <a:avLst/>
          </a:prstGeom>
        </p:spPr>
      </p:pic>
      <p:sp>
        <p:nvSpPr>
          <p:cNvPr id="7" name="Text 3"/>
          <p:cNvSpPr/>
          <p:nvPr/>
        </p:nvSpPr>
        <p:spPr>
          <a:xfrm>
            <a:off x="1219200" y="2298638"/>
            <a:ext cx="377261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Assuming 8 productive hours a day.</a:t>
            </a:r>
            <a:endParaRPr lang="en-US" sz="1500" dirty="0"/>
          </a:p>
        </p:txBody>
      </p:sp>
      <p:pic>
        <p:nvPicPr>
          <p:cNvPr id="8" name="Image 2" descr="Warning"/>
          <p:cNvPicPr>
            <a:picLocks noChangeAspect="1"/>
          </p:cNvPicPr>
          <p:nvPr/>
        </p:nvPicPr>
        <p:blipFill>
          <a:blip r:embed="rId3"/>
          <a:srcRect/>
          <a:stretch/>
        </p:blipFill>
        <p:spPr>
          <a:xfrm>
            <a:off x="812800" y="2749488"/>
            <a:ext cx="254000" cy="254000"/>
          </a:xfrm>
          <a:prstGeom prst="rect">
            <a:avLst/>
          </a:prstGeom>
        </p:spPr>
      </p:pic>
      <p:sp>
        <p:nvSpPr>
          <p:cNvPr id="9" name="Text 4"/>
          <p:cNvSpPr/>
          <p:nvPr/>
        </p:nvSpPr>
        <p:spPr>
          <a:xfrm>
            <a:off x="1219200" y="2743138"/>
            <a:ext cx="594264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No contingency</a:t>
            </a:r>
            <a:r>
              <a:rPr lang="en-US" sz="1500" dirty="0">
                <a:solidFill>
                  <a:srgbClr val="3D4A5C"/>
                </a:solidFill>
                <a:latin typeface="Nunito Sans" pitchFamily="34" charset="0"/>
                <a:ea typeface="Nunito Sans" pitchFamily="34" charset="-122"/>
                <a:cs typeface="Nunito Sans" pitchFamily="34" charset="-120"/>
              </a:rPr>
              <a:t> for unstable builds or a high defect count.</a:t>
            </a:r>
            <a:endParaRPr lang="en-US" sz="1500" dirty="0"/>
          </a:p>
        </p:txBody>
      </p:sp>
      <p:pic>
        <p:nvPicPr>
          <p:cNvPr id="10" name="Image 3" descr="Warning"/>
          <p:cNvPicPr>
            <a:picLocks noChangeAspect="1"/>
          </p:cNvPicPr>
          <p:nvPr/>
        </p:nvPicPr>
        <p:blipFill>
          <a:blip r:embed="rId3"/>
          <a:srcRect/>
          <a:stretch/>
        </p:blipFill>
        <p:spPr>
          <a:xfrm>
            <a:off x="812800" y="3193988"/>
            <a:ext cx="254000" cy="254000"/>
          </a:xfrm>
          <a:prstGeom prst="rect">
            <a:avLst/>
          </a:prstGeom>
        </p:spPr>
      </p:pic>
      <p:sp>
        <p:nvSpPr>
          <p:cNvPr id="11" name="Text 5"/>
          <p:cNvSpPr/>
          <p:nvPr/>
        </p:nvSpPr>
        <p:spPr>
          <a:xfrm>
            <a:off x="1219200" y="3187638"/>
            <a:ext cx="3151981"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One number, no assumptions.</a:t>
            </a:r>
            <a:endParaRPr lang="en-US" sz="1500" dirty="0"/>
          </a:p>
        </p:txBody>
      </p:sp>
      <p:pic>
        <p:nvPicPr>
          <p:cNvPr id="12" name="Image 4" descr="Warning"/>
          <p:cNvPicPr>
            <a:picLocks noChangeAspect="1"/>
          </p:cNvPicPr>
          <p:nvPr/>
        </p:nvPicPr>
        <p:blipFill>
          <a:blip r:embed="rId3"/>
          <a:srcRect/>
          <a:stretch/>
        </p:blipFill>
        <p:spPr>
          <a:xfrm>
            <a:off x="812800" y="3638488"/>
            <a:ext cx="254000" cy="254000"/>
          </a:xfrm>
          <a:prstGeom prst="rect">
            <a:avLst/>
          </a:prstGeom>
        </p:spPr>
      </p:pic>
      <p:sp>
        <p:nvSpPr>
          <p:cNvPr id="13" name="Text 6"/>
          <p:cNvSpPr/>
          <p:nvPr/>
        </p:nvSpPr>
        <p:spPr>
          <a:xfrm>
            <a:off x="1219200" y="3632138"/>
            <a:ext cx="6806645"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Nunito Sans" pitchFamily="34" charset="0"/>
                <a:ea typeface="Nunito Sans" pitchFamily="34" charset="-122"/>
                <a:cs typeface="Nunito Sans" pitchFamily="34" charset="-120"/>
              </a:rPr>
              <a:t>Never comparing estimate vs. actual</a:t>
            </a:r>
            <a:r>
              <a:rPr lang="en-US" sz="1500" dirty="0">
                <a:solidFill>
                  <a:srgbClr val="3D4A5C"/>
                </a:solidFill>
                <a:latin typeface="Nunito Sans" pitchFamily="34" charset="0"/>
                <a:ea typeface="Nunito Sans" pitchFamily="34" charset="-122"/>
                <a:cs typeface="Nunito Sans" pitchFamily="34" charset="-120"/>
              </a:rPr>
              <a:t>, so estimates never improve.</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 9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Estimate testing for a login module</a:t>
            </a:r>
            <a:endParaRPr lang="en-US" sz="3200" dirty="0"/>
          </a:p>
        </p:txBody>
      </p:sp>
      <p:sp>
        <p:nvSpPr>
          <p:cNvPr id="4" name="Shape 2"/>
          <p:cNvSpPr/>
          <p:nvPr/>
        </p:nvSpPr>
        <p:spPr>
          <a:xfrm>
            <a:off x="812800" y="1854138"/>
            <a:ext cx="3420533" cy="1056614"/>
          </a:xfrm>
          <a:prstGeom prst="roundRect">
            <a:avLst>
              <a:gd name="adj" fmla="val 7212"/>
            </a:avLst>
          </a:prstGeom>
          <a:solidFill>
            <a:srgbClr val="24345A"/>
          </a:solidFill>
          <a:ln/>
        </p:spPr>
      </p:sp>
      <p:sp>
        <p:nvSpPr>
          <p:cNvPr id="5" name="Text 3"/>
          <p:cNvSpPr/>
          <p:nvPr/>
        </p:nvSpPr>
        <p:spPr>
          <a:xfrm>
            <a:off x="1016000" y="2031938"/>
            <a:ext cx="3104557" cy="452107"/>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04B"/>
                </a:solidFill>
                <a:latin typeface="Domine" pitchFamily="18" charset="0"/>
                <a:ea typeface="Domine" pitchFamily="18" charset="-122"/>
                <a:cs typeface="Domine" pitchFamily="18" charset="-120"/>
              </a:rPr>
              <a:t>20</a:t>
            </a:r>
            <a:endParaRPr lang="en-US" sz="2400" dirty="0"/>
          </a:p>
        </p:txBody>
      </p:sp>
      <p:sp>
        <p:nvSpPr>
          <p:cNvPr id="6" name="Text 4"/>
          <p:cNvSpPr/>
          <p:nvPr/>
        </p:nvSpPr>
        <p:spPr>
          <a:xfrm>
            <a:off x="1016000" y="2484041"/>
            <a:ext cx="310455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functional scenarios</a:t>
            </a:r>
            <a:endParaRPr lang="en-US" sz="1400" dirty="0"/>
          </a:p>
        </p:txBody>
      </p:sp>
      <p:sp>
        <p:nvSpPr>
          <p:cNvPr id="7" name="Shape 5"/>
          <p:cNvSpPr/>
          <p:nvPr/>
        </p:nvSpPr>
        <p:spPr>
          <a:xfrm>
            <a:off x="4385733" y="1854138"/>
            <a:ext cx="3420533" cy="1056614"/>
          </a:xfrm>
          <a:prstGeom prst="roundRect">
            <a:avLst>
              <a:gd name="adj" fmla="val 7212"/>
            </a:avLst>
          </a:prstGeom>
          <a:solidFill>
            <a:srgbClr val="24345A"/>
          </a:solidFill>
          <a:ln/>
        </p:spPr>
      </p:sp>
      <p:sp>
        <p:nvSpPr>
          <p:cNvPr id="8" name="Text 6"/>
          <p:cNvSpPr/>
          <p:nvPr/>
        </p:nvSpPr>
        <p:spPr>
          <a:xfrm>
            <a:off x="4588933" y="2031938"/>
            <a:ext cx="3104557" cy="452107"/>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04B"/>
                </a:solidFill>
                <a:latin typeface="Domine" pitchFamily="18" charset="0"/>
                <a:ea typeface="Domine" pitchFamily="18" charset="-122"/>
                <a:cs typeface="Domine" pitchFamily="18" charset="-120"/>
              </a:rPr>
              <a:t>40</a:t>
            </a:r>
            <a:endParaRPr lang="en-US" sz="2400" dirty="0"/>
          </a:p>
        </p:txBody>
      </p:sp>
      <p:sp>
        <p:nvSpPr>
          <p:cNvPr id="9" name="Text 7"/>
          <p:cNvSpPr/>
          <p:nvPr/>
        </p:nvSpPr>
        <p:spPr>
          <a:xfrm>
            <a:off x="4588933" y="2484041"/>
            <a:ext cx="310455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test cases</a:t>
            </a:r>
            <a:endParaRPr lang="en-US" sz="1400" dirty="0"/>
          </a:p>
        </p:txBody>
      </p:sp>
      <p:sp>
        <p:nvSpPr>
          <p:cNvPr id="10" name="Shape 8"/>
          <p:cNvSpPr/>
          <p:nvPr/>
        </p:nvSpPr>
        <p:spPr>
          <a:xfrm>
            <a:off x="7958667" y="1854138"/>
            <a:ext cx="3420533" cy="1056614"/>
          </a:xfrm>
          <a:prstGeom prst="roundRect">
            <a:avLst>
              <a:gd name="adj" fmla="val 7212"/>
            </a:avLst>
          </a:prstGeom>
          <a:solidFill>
            <a:srgbClr val="24345A"/>
          </a:solidFill>
          <a:ln/>
        </p:spPr>
      </p:sp>
      <p:sp>
        <p:nvSpPr>
          <p:cNvPr id="11" name="Text 9"/>
          <p:cNvSpPr/>
          <p:nvPr/>
        </p:nvSpPr>
        <p:spPr>
          <a:xfrm>
            <a:off x="8161867" y="2031938"/>
            <a:ext cx="3104557" cy="452107"/>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04B"/>
                </a:solidFill>
                <a:latin typeface="Domine" pitchFamily="18" charset="0"/>
                <a:ea typeface="Domine" pitchFamily="18" charset="-122"/>
                <a:cs typeface="Domine" pitchFamily="18" charset="-120"/>
              </a:rPr>
              <a:t>5</a:t>
            </a:r>
            <a:endParaRPr lang="en-US" sz="2400" dirty="0"/>
          </a:p>
        </p:txBody>
      </p:sp>
      <p:sp>
        <p:nvSpPr>
          <p:cNvPr id="12" name="Text 10"/>
          <p:cNvSpPr/>
          <p:nvPr/>
        </p:nvSpPr>
        <p:spPr>
          <a:xfrm>
            <a:off x="8161867" y="2484041"/>
            <a:ext cx="310455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browsers</a:t>
            </a:r>
            <a:endParaRPr lang="en-US" sz="1400" dirty="0"/>
          </a:p>
        </p:txBody>
      </p:sp>
      <p:sp>
        <p:nvSpPr>
          <p:cNvPr id="13" name="Shape 11"/>
          <p:cNvSpPr/>
          <p:nvPr/>
        </p:nvSpPr>
        <p:spPr>
          <a:xfrm>
            <a:off x="812800" y="3063156"/>
            <a:ext cx="3420533" cy="1056614"/>
          </a:xfrm>
          <a:prstGeom prst="roundRect">
            <a:avLst>
              <a:gd name="adj" fmla="val 7212"/>
            </a:avLst>
          </a:prstGeom>
          <a:solidFill>
            <a:srgbClr val="24345A"/>
          </a:solidFill>
          <a:ln/>
        </p:spPr>
      </p:sp>
      <p:sp>
        <p:nvSpPr>
          <p:cNvPr id="14" name="Text 12"/>
          <p:cNvSpPr/>
          <p:nvPr/>
        </p:nvSpPr>
        <p:spPr>
          <a:xfrm>
            <a:off x="1016000" y="3240956"/>
            <a:ext cx="3104557" cy="452107"/>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04B"/>
                </a:solidFill>
                <a:latin typeface="Domine" pitchFamily="18" charset="0"/>
                <a:ea typeface="Domine" pitchFamily="18" charset="-122"/>
                <a:cs typeface="Domine" pitchFamily="18" charset="-120"/>
              </a:rPr>
              <a:t>2</a:t>
            </a:r>
            <a:endParaRPr lang="en-US" sz="2400" dirty="0"/>
          </a:p>
        </p:txBody>
      </p:sp>
      <p:sp>
        <p:nvSpPr>
          <p:cNvPr id="15" name="Text 13"/>
          <p:cNvSpPr/>
          <p:nvPr/>
        </p:nvSpPr>
        <p:spPr>
          <a:xfrm>
            <a:off x="1016000" y="3693058"/>
            <a:ext cx="310455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testers</a:t>
            </a:r>
            <a:endParaRPr lang="en-US" sz="1400" dirty="0"/>
          </a:p>
        </p:txBody>
      </p:sp>
      <p:sp>
        <p:nvSpPr>
          <p:cNvPr id="16" name="Shape 14"/>
          <p:cNvSpPr/>
          <p:nvPr/>
        </p:nvSpPr>
        <p:spPr>
          <a:xfrm>
            <a:off x="4385733" y="3063156"/>
            <a:ext cx="3420533" cy="1056614"/>
          </a:xfrm>
          <a:prstGeom prst="roundRect">
            <a:avLst>
              <a:gd name="adj" fmla="val 7212"/>
            </a:avLst>
          </a:prstGeom>
          <a:solidFill>
            <a:srgbClr val="24345A"/>
          </a:solidFill>
          <a:ln/>
        </p:spPr>
      </p:sp>
      <p:sp>
        <p:nvSpPr>
          <p:cNvPr id="17" name="Text 15"/>
          <p:cNvSpPr/>
          <p:nvPr/>
        </p:nvSpPr>
        <p:spPr>
          <a:xfrm>
            <a:off x="4588933" y="3240956"/>
            <a:ext cx="3104557" cy="452107"/>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04B"/>
                </a:solidFill>
                <a:latin typeface="Domine" pitchFamily="18" charset="0"/>
                <a:ea typeface="Domine" pitchFamily="18" charset="-122"/>
                <a:cs typeface="Domine" pitchFamily="18" charset="-120"/>
              </a:rPr>
              <a:t>Yes</a:t>
            </a:r>
            <a:endParaRPr lang="en-US" sz="2400" dirty="0"/>
          </a:p>
        </p:txBody>
      </p:sp>
      <p:sp>
        <p:nvSpPr>
          <p:cNvPr id="18" name="Text 16"/>
          <p:cNvSpPr/>
          <p:nvPr/>
        </p:nvSpPr>
        <p:spPr>
          <a:xfrm>
            <a:off x="4588933" y="3693058"/>
            <a:ext cx="310455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regression required</a:t>
            </a:r>
            <a:endParaRPr lang="en-US" sz="1400" dirty="0"/>
          </a:p>
        </p:txBody>
      </p:sp>
      <p:sp>
        <p:nvSpPr>
          <p:cNvPr id="19" name="Shape 17"/>
          <p:cNvSpPr/>
          <p:nvPr/>
        </p:nvSpPr>
        <p:spPr>
          <a:xfrm>
            <a:off x="7958667" y="3063156"/>
            <a:ext cx="3420533" cy="1056614"/>
          </a:xfrm>
          <a:prstGeom prst="roundRect">
            <a:avLst>
              <a:gd name="adj" fmla="val 7212"/>
            </a:avLst>
          </a:prstGeom>
          <a:solidFill>
            <a:srgbClr val="24345A"/>
          </a:solidFill>
          <a:ln/>
        </p:spPr>
      </p:sp>
      <p:sp>
        <p:nvSpPr>
          <p:cNvPr id="20" name="Text 18"/>
          <p:cNvSpPr/>
          <p:nvPr/>
        </p:nvSpPr>
        <p:spPr>
          <a:xfrm>
            <a:off x="8161867" y="3240956"/>
            <a:ext cx="3104557" cy="452107"/>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0A04B"/>
                </a:solidFill>
                <a:latin typeface="Domine" pitchFamily="18" charset="0"/>
                <a:ea typeface="Domine" pitchFamily="18" charset="-122"/>
                <a:cs typeface="Domine" pitchFamily="18" charset="-120"/>
              </a:rPr>
              <a:t>Some</a:t>
            </a:r>
            <a:endParaRPr lang="en-US" sz="2400" dirty="0"/>
          </a:p>
        </p:txBody>
      </p:sp>
      <p:sp>
        <p:nvSpPr>
          <p:cNvPr id="21" name="Text 19"/>
          <p:cNvSpPr/>
          <p:nvPr/>
        </p:nvSpPr>
        <p:spPr>
          <a:xfrm>
            <a:off x="8161867" y="3693058"/>
            <a:ext cx="310455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automation required</a:t>
            </a:r>
            <a:endParaRPr lang="en-US" sz="1400" dirty="0"/>
          </a:p>
        </p:txBody>
      </p:sp>
      <p:sp>
        <p:nvSpPr>
          <p:cNvPr id="22" name="Text 20"/>
          <p:cNvSpPr/>
          <p:nvPr/>
        </p:nvSpPr>
        <p:spPr>
          <a:xfrm>
            <a:off x="812800" y="4424561"/>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BFBF8"/>
                </a:solidFill>
                <a:latin typeface="Nunito Sans" pitchFamily="34" charset="0"/>
                <a:ea typeface="Nunito Sans" pitchFamily="34" charset="-122"/>
                <a:cs typeface="Nunito Sans" pitchFamily="34" charset="-120"/>
              </a:rPr>
              <a:t>Calculate the </a:t>
            </a:r>
            <a:r>
              <a:rPr lang="en-US" sz="1600" b="1" dirty="0">
                <a:solidFill>
                  <a:srgbClr val="FBFBF8"/>
                </a:solidFill>
                <a:latin typeface="Nunito Sans" pitchFamily="34" charset="0"/>
                <a:ea typeface="Nunito Sans" pitchFamily="34" charset="-122"/>
                <a:cs typeface="Nunito Sans" pitchFamily="34" charset="-120"/>
              </a:rPr>
              <a:t>effort</a:t>
            </a:r>
            <a:r>
              <a:rPr lang="en-US" sz="1600" dirty="0">
                <a:solidFill>
                  <a:srgbClr val="FBFBF8"/>
                </a:solidFill>
                <a:latin typeface="Nunito Sans" pitchFamily="34" charset="0"/>
                <a:ea typeface="Nunito Sans" pitchFamily="34" charset="-122"/>
                <a:cs typeface="Nunito Sans" pitchFamily="34" charset="-120"/>
              </a:rPr>
              <a:t>, convert it to a </a:t>
            </a:r>
            <a:r>
              <a:rPr lang="en-US" sz="1600" b="1" dirty="0">
                <a:solidFill>
                  <a:srgbClr val="FBFBF8"/>
                </a:solidFill>
                <a:latin typeface="Nunito Sans" pitchFamily="34" charset="0"/>
                <a:ea typeface="Nunito Sans" pitchFamily="34" charset="-122"/>
                <a:cs typeface="Nunito Sans" pitchFamily="34" charset="-120"/>
              </a:rPr>
              <a:t>schedule</a:t>
            </a:r>
            <a:r>
              <a:rPr lang="en-US" sz="1600" dirty="0">
                <a:solidFill>
                  <a:srgbClr val="FBFBF8"/>
                </a:solidFill>
                <a:latin typeface="Nunito Sans" pitchFamily="34" charset="0"/>
                <a:ea typeface="Nunito Sans" pitchFamily="34" charset="-122"/>
                <a:cs typeface="Nunito Sans" pitchFamily="34" charset="-120"/>
              </a:rPr>
              <a:t>, and </a:t>
            </a:r>
            <a:r>
              <a:rPr lang="en-US" sz="1600" b="1" dirty="0">
                <a:solidFill>
                  <a:srgbClr val="F0A04B"/>
                </a:solidFill>
                <a:latin typeface="Nunito Sans" pitchFamily="34" charset="0"/>
                <a:ea typeface="Nunito Sans" pitchFamily="34" charset="-122"/>
                <a:cs typeface="Nunito Sans" pitchFamily="34" charset="-120"/>
              </a:rPr>
              <a:t>list your assumptions</a:t>
            </a:r>
            <a:r>
              <a:rPr lang="en-US" sz="1600" dirty="0">
                <a:solidFill>
                  <a:srgbClr val="FBFBF8"/>
                </a:solidFill>
                <a:latin typeface="Nunito Sans" pitchFamily="34" charset="0"/>
                <a:ea typeface="Nunito Sans" pitchFamily="34" charset="-122"/>
                <a:cs typeface="Nunito Sans" pitchFamily="34" charset="-120"/>
              </a:rPr>
              <a: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1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Start with the assumptions</a:t>
            </a:r>
            <a:endParaRPr lang="en-US" sz="3200" dirty="0"/>
          </a:p>
        </p:txBody>
      </p:sp>
      <p:sp>
        <p:nvSpPr>
          <p:cNvPr id="4" name="Text 2"/>
          <p:cNvSpPr/>
          <p:nvPr/>
        </p:nvSpPr>
        <p:spPr>
          <a:xfrm>
            <a:off x="812800" y="1803338"/>
            <a:ext cx="304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1</a:t>
            </a:r>
            <a:endParaRPr lang="en-US" sz="1600" dirty="0"/>
          </a:p>
        </p:txBody>
      </p:sp>
      <p:sp>
        <p:nvSpPr>
          <p:cNvPr id="5" name="Text 3"/>
          <p:cNvSpPr/>
          <p:nvPr/>
        </p:nvSpPr>
        <p:spPr>
          <a:xfrm>
            <a:off x="1244600" y="1832967"/>
            <a:ext cx="781732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Design </a:t>
            </a:r>
            <a:r>
              <a:rPr lang="en-US" sz="1400" b="1" dirty="0">
                <a:solidFill>
                  <a:srgbClr val="3D4A5C"/>
                </a:solidFill>
                <a:latin typeface="Nunito Sans" pitchFamily="34" charset="0"/>
                <a:ea typeface="Nunito Sans" pitchFamily="34" charset="-122"/>
                <a:cs typeface="Nunito Sans" pitchFamily="34" charset="-120"/>
              </a:rPr>
              <a:t>15 min</a:t>
            </a:r>
            <a:r>
              <a:rPr lang="en-US" sz="1400" dirty="0">
                <a:solidFill>
                  <a:srgbClr val="3D4A5C"/>
                </a:solidFill>
                <a:latin typeface="Nunito Sans" pitchFamily="34" charset="0"/>
                <a:ea typeface="Nunito Sans" pitchFamily="34" charset="-122"/>
                <a:cs typeface="Nunito Sans" pitchFamily="34" charset="-120"/>
              </a:rPr>
              <a:t> per TC; execution </a:t>
            </a:r>
            <a:r>
              <a:rPr lang="en-US" sz="1400" b="1" dirty="0">
                <a:solidFill>
                  <a:srgbClr val="3D4A5C"/>
                </a:solidFill>
                <a:latin typeface="Nunito Sans" pitchFamily="34" charset="0"/>
                <a:ea typeface="Nunito Sans" pitchFamily="34" charset="-122"/>
                <a:cs typeface="Nunito Sans" pitchFamily="34" charset="-120"/>
              </a:rPr>
              <a:t>12 min</a:t>
            </a:r>
            <a:r>
              <a:rPr lang="en-US" sz="1400" dirty="0">
                <a:solidFill>
                  <a:srgbClr val="3D4A5C"/>
                </a:solidFill>
                <a:latin typeface="Nunito Sans" pitchFamily="34" charset="0"/>
                <a:ea typeface="Nunito Sans" pitchFamily="34" charset="-122"/>
                <a:cs typeface="Nunito Sans" pitchFamily="34" charset="-120"/>
              </a:rPr>
              <a:t> per TC on the primary browser (Chrome).</a:t>
            </a:r>
            <a:endParaRPr lang="en-US" sz="1400" dirty="0"/>
          </a:p>
        </p:txBody>
      </p:sp>
      <p:sp>
        <p:nvSpPr>
          <p:cNvPr id="6" name="Text 4"/>
          <p:cNvSpPr/>
          <p:nvPr/>
        </p:nvSpPr>
        <p:spPr>
          <a:xfrm>
            <a:off x="812800" y="2214761"/>
            <a:ext cx="304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2</a:t>
            </a:r>
            <a:endParaRPr lang="en-US" sz="1600" dirty="0"/>
          </a:p>
        </p:txBody>
      </p:sp>
      <p:sp>
        <p:nvSpPr>
          <p:cNvPr id="7" name="Text 5"/>
          <p:cNvSpPr/>
          <p:nvPr/>
        </p:nvSpPr>
        <p:spPr>
          <a:xfrm>
            <a:off x="1244600" y="2244403"/>
            <a:ext cx="885269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A </a:t>
            </a:r>
            <a:r>
              <a:rPr lang="en-US" sz="1400" b="1" dirty="0">
                <a:solidFill>
                  <a:srgbClr val="14213D"/>
                </a:solidFill>
                <a:latin typeface="Nunito Sans" pitchFamily="34" charset="0"/>
                <a:ea typeface="Nunito Sans" pitchFamily="34" charset="-122"/>
                <a:cs typeface="Nunito Sans" pitchFamily="34" charset="-120"/>
              </a:rPr>
              <a:t>cross-browser subset of 15 UI-relevant TCs</a:t>
            </a:r>
            <a:r>
              <a:rPr lang="en-US" sz="1400" dirty="0">
                <a:solidFill>
                  <a:srgbClr val="3D4A5C"/>
                </a:solidFill>
                <a:latin typeface="Nunito Sans" pitchFamily="34" charset="0"/>
                <a:ea typeface="Nunito Sans" pitchFamily="34" charset="-122"/>
                <a:cs typeface="Nunito Sans" pitchFamily="34" charset="-120"/>
              </a:rPr>
              <a:t> runs on the other 4 browsers at ~8 min each.</a:t>
            </a:r>
            <a:endParaRPr lang="en-US" sz="1400" dirty="0"/>
          </a:p>
        </p:txBody>
      </p:sp>
      <p:sp>
        <p:nvSpPr>
          <p:cNvPr id="8" name="Text 6"/>
          <p:cNvSpPr/>
          <p:nvPr/>
        </p:nvSpPr>
        <p:spPr>
          <a:xfrm>
            <a:off x="812800" y="2626196"/>
            <a:ext cx="304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3</a:t>
            </a:r>
            <a:endParaRPr lang="en-US" sz="1600" dirty="0"/>
          </a:p>
        </p:txBody>
      </p:sp>
      <p:sp>
        <p:nvSpPr>
          <p:cNvPr id="9" name="Text 7"/>
          <p:cNvSpPr/>
          <p:nvPr/>
        </p:nvSpPr>
        <p:spPr>
          <a:xfrm>
            <a:off x="1244600" y="2655825"/>
            <a:ext cx="5731669"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10 TCs</a:t>
            </a:r>
            <a:r>
              <a:rPr lang="en-US" sz="1400" dirty="0">
                <a:solidFill>
                  <a:srgbClr val="3D4A5C"/>
                </a:solidFill>
                <a:latin typeface="Nunito Sans" pitchFamily="34" charset="0"/>
                <a:ea typeface="Nunito Sans" pitchFamily="34" charset="-122"/>
                <a:cs typeface="Nunito Sans" pitchFamily="34" charset="-120"/>
              </a:rPr>
              <a:t> (smoke + core regression) automated at ~1.5 h each.</a:t>
            </a:r>
            <a:endParaRPr lang="en-US" sz="1400" dirty="0"/>
          </a:p>
        </p:txBody>
      </p:sp>
      <p:sp>
        <p:nvSpPr>
          <p:cNvPr id="10" name="Text 8"/>
          <p:cNvSpPr/>
          <p:nvPr/>
        </p:nvSpPr>
        <p:spPr>
          <a:xfrm>
            <a:off x="812800" y="3037619"/>
            <a:ext cx="304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4</a:t>
            </a:r>
            <a:endParaRPr lang="en-US" sz="1600" dirty="0"/>
          </a:p>
        </p:txBody>
      </p:sp>
      <p:sp>
        <p:nvSpPr>
          <p:cNvPr id="11" name="Text 9"/>
          <p:cNvSpPr/>
          <p:nvPr/>
        </p:nvSpPr>
        <p:spPr>
          <a:xfrm>
            <a:off x="1244600" y="3067248"/>
            <a:ext cx="467360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Defect logging and retesting ≈ </a:t>
            </a:r>
            <a:r>
              <a:rPr lang="en-US" sz="1400" b="1" dirty="0">
                <a:solidFill>
                  <a:srgbClr val="3D4A5C"/>
                </a:solidFill>
                <a:latin typeface="Nunito Sans" pitchFamily="34" charset="0"/>
                <a:ea typeface="Nunito Sans" pitchFamily="34" charset="-122"/>
                <a:cs typeface="Nunito Sans" pitchFamily="34" charset="-120"/>
              </a:rPr>
              <a:t>25%</a:t>
            </a:r>
            <a:r>
              <a:rPr lang="en-US" sz="1400" dirty="0">
                <a:solidFill>
                  <a:srgbClr val="3D4A5C"/>
                </a:solidFill>
                <a:latin typeface="Nunito Sans" pitchFamily="34" charset="0"/>
                <a:ea typeface="Nunito Sans" pitchFamily="34" charset="-122"/>
                <a:cs typeface="Nunito Sans" pitchFamily="34" charset="-120"/>
              </a:rPr>
              <a:t> of execution.</a:t>
            </a:r>
            <a:endParaRPr lang="en-US" sz="1400" dirty="0"/>
          </a:p>
        </p:txBody>
      </p:sp>
      <p:sp>
        <p:nvSpPr>
          <p:cNvPr id="12" name="Text 10"/>
          <p:cNvSpPr/>
          <p:nvPr/>
        </p:nvSpPr>
        <p:spPr>
          <a:xfrm>
            <a:off x="812800" y="3449042"/>
            <a:ext cx="304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5</a:t>
            </a:r>
            <a:endParaRPr lang="en-US" sz="1600" dirty="0"/>
          </a:p>
        </p:txBody>
      </p:sp>
      <p:sp>
        <p:nvSpPr>
          <p:cNvPr id="13" name="Text 11"/>
          <p:cNvSpPr/>
          <p:nvPr/>
        </p:nvSpPr>
        <p:spPr>
          <a:xfrm>
            <a:off x="1244600" y="3478684"/>
            <a:ext cx="704381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2 regression cycles</a:t>
            </a:r>
            <a:r>
              <a:rPr lang="en-US" sz="1400" dirty="0">
                <a:solidFill>
                  <a:srgbClr val="3D4A5C"/>
                </a:solidFill>
                <a:latin typeface="Nunito Sans" pitchFamily="34" charset="0"/>
                <a:ea typeface="Nunito Sans" pitchFamily="34" charset="-122"/>
                <a:cs typeface="Nunito Sans" pitchFamily="34" charset="-120"/>
              </a:rPr>
              <a:t> of ~4 h manual each; automated runs are unattended.</a:t>
            </a:r>
            <a:endParaRPr lang="en-US" sz="1400" dirty="0"/>
          </a:p>
        </p:txBody>
      </p:sp>
      <p:sp>
        <p:nvSpPr>
          <p:cNvPr id="14" name="Text 12"/>
          <p:cNvSpPr/>
          <p:nvPr/>
        </p:nvSpPr>
        <p:spPr>
          <a:xfrm>
            <a:off x="812800" y="3860478"/>
            <a:ext cx="304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6</a:t>
            </a:r>
            <a:endParaRPr lang="en-US" sz="1600" dirty="0"/>
          </a:p>
        </p:txBody>
      </p:sp>
      <p:sp>
        <p:nvSpPr>
          <p:cNvPr id="15" name="Text 13"/>
          <p:cNvSpPr/>
          <p:nvPr/>
        </p:nvSpPr>
        <p:spPr>
          <a:xfrm>
            <a:off x="1244600" y="3890107"/>
            <a:ext cx="527700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Management, meetings and reporting ≈ </a:t>
            </a:r>
            <a:r>
              <a:rPr lang="en-US" sz="1400" b="1" dirty="0">
                <a:solidFill>
                  <a:srgbClr val="3D4A5C"/>
                </a:solidFill>
                <a:latin typeface="Nunito Sans" pitchFamily="34" charset="0"/>
                <a:ea typeface="Nunito Sans" pitchFamily="34" charset="-122"/>
                <a:cs typeface="Nunito Sans" pitchFamily="34" charset="-120"/>
              </a:rPr>
              <a:t>10%</a:t>
            </a:r>
            <a:r>
              <a:rPr lang="en-US" sz="1400" dirty="0">
                <a:solidFill>
                  <a:srgbClr val="3D4A5C"/>
                </a:solidFill>
                <a:latin typeface="Nunito Sans" pitchFamily="34" charset="0"/>
                <a:ea typeface="Nunito Sans" pitchFamily="34" charset="-122"/>
                <a:cs typeface="Nunito Sans" pitchFamily="34" charset="-120"/>
              </a:rPr>
              <a:t> overhead.</a:t>
            </a:r>
            <a:endParaRPr lang="en-US" sz="1400" dirty="0"/>
          </a:p>
        </p:txBody>
      </p:sp>
      <p:sp>
        <p:nvSpPr>
          <p:cNvPr id="16" name="Text 14"/>
          <p:cNvSpPr/>
          <p:nvPr/>
        </p:nvSpPr>
        <p:spPr>
          <a:xfrm>
            <a:off x="812800" y="4271900"/>
            <a:ext cx="304800"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14F0A"/>
                </a:solidFill>
                <a:latin typeface="Domine" pitchFamily="18" charset="0"/>
                <a:ea typeface="Domine" pitchFamily="18" charset="-122"/>
                <a:cs typeface="Domine" pitchFamily="18" charset="-120"/>
              </a:rPr>
              <a:t>7</a:t>
            </a:r>
            <a:endParaRPr lang="en-US" sz="1600" dirty="0"/>
          </a:p>
        </p:txBody>
      </p:sp>
      <p:sp>
        <p:nvSpPr>
          <p:cNvPr id="17" name="Text 15"/>
          <p:cNvSpPr/>
          <p:nvPr/>
        </p:nvSpPr>
        <p:spPr>
          <a:xfrm>
            <a:off x="1244600" y="4301530"/>
            <a:ext cx="583350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A5C"/>
                </a:solidFill>
                <a:latin typeface="Nunito Sans" pitchFamily="34" charset="0"/>
                <a:ea typeface="Nunito Sans" pitchFamily="34" charset="-122"/>
                <a:cs typeface="Nunito Sans" pitchFamily="34" charset="-120"/>
              </a:rPr>
              <a:t>2 testers, </a:t>
            </a:r>
            <a:r>
              <a:rPr lang="en-US" sz="1400" b="1" dirty="0">
                <a:solidFill>
                  <a:srgbClr val="3D4A5C"/>
                </a:solidFill>
                <a:latin typeface="Nunito Sans" pitchFamily="34" charset="0"/>
                <a:ea typeface="Nunito Sans" pitchFamily="34" charset="-122"/>
                <a:cs typeface="Nunito Sans" pitchFamily="34" charset="-120"/>
              </a:rPr>
              <a:t>6 productive h/day</a:t>
            </a:r>
            <a:r>
              <a:rPr lang="en-US" sz="1400" dirty="0">
                <a:solidFill>
                  <a:srgbClr val="3D4A5C"/>
                </a:solidFill>
                <a:latin typeface="Nunito Sans" pitchFamily="34" charset="0"/>
                <a:ea typeface="Nunito Sans" pitchFamily="34" charset="-122"/>
                <a:cs typeface="Nunito Sans" pitchFamily="34" charset="-120"/>
              </a:rPr>
              <a:t> each; the environment is stable.</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6604"/>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A14F0A"/>
                </a:solidFill>
                <a:latin typeface="Nunito Sans" pitchFamily="34" charset="0"/>
                <a:ea typeface="Nunito Sans" pitchFamily="34" charset="-122"/>
                <a:cs typeface="Nunito Sans" pitchFamily="34" charset="-120"/>
              </a:rPr>
              <a:t>MODEL ANSWER · 2 OF 3</a:t>
            </a:r>
            <a:endParaRPr lang="en-US" sz="1196" dirty="0"/>
          </a:p>
        </p:txBody>
      </p:sp>
      <p:sp>
        <p:nvSpPr>
          <p:cNvPr id="3" name="Text 1"/>
          <p:cNvSpPr>
            <a:spLocks noGrp="1"/>
          </p:cNvSpPr>
          <p:nvPr>
            <p:ph type="title"/>
          </p:nvPr>
        </p:nvSpPr>
        <p:spPr>
          <a:xfrm>
            <a:off x="812800" y="1100212"/>
            <a:ext cx="10883392" cy="468048"/>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WBS plus test-case counts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58752"/>
          <a:ext cx="10553700" cy="4286449"/>
        </p:xfrm>
        <a:graphic>
          <a:graphicData uri="http://schemas.openxmlformats.org/drawingml/2006/table">
            <a:tbl>
              <a:tblPr/>
              <a:tblGrid>
                <a:gridCol w="4854702">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1477518">
                  <a:extLst>
                    <a:ext uri="{9D8B030D-6E8A-4147-A177-3AD203B41FA5}">
                      <a16:colId xmlns:a16="http://schemas.microsoft.com/office/drawing/2014/main" val="20002"/>
                    </a:ext>
                  </a:extLst>
                </a:gridCol>
              </a:tblGrid>
              <a:tr h="329671">
                <a:tc>
                  <a:txBody>
                    <a:bodyPr/>
                    <a:lstStyle/>
                    <a:p>
                      <a:pPr marL="0" indent="0">
                        <a:lnSpc>
                          <a:spcPts val="1664"/>
                        </a:lnSpc>
                        <a:buNone/>
                      </a:pPr>
                      <a:r>
                        <a:rPr lang="en-US" sz="1189" b="1" dirty="0">
                          <a:solidFill>
                            <a:srgbClr val="FBFBF8"/>
                          </a:solidFill>
                          <a:latin typeface="Nunito Sans" pitchFamily="34" charset="0"/>
                          <a:ea typeface="Nunito Sans" pitchFamily="34" charset="-122"/>
                          <a:cs typeface="Nunito Sans" pitchFamily="34" charset="-120"/>
                        </a:rPr>
                        <a:t>Task</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64"/>
                        </a:lnSpc>
                        <a:buNone/>
                      </a:pPr>
                      <a:r>
                        <a:rPr lang="en-US" sz="1189" b="1" dirty="0">
                          <a:solidFill>
                            <a:srgbClr val="FBFBF8"/>
                          </a:solidFill>
                          <a:latin typeface="Nunito Sans" pitchFamily="34" charset="0"/>
                          <a:ea typeface="Nunito Sans" pitchFamily="34" charset="-122"/>
                          <a:cs typeface="Nunito Sans" pitchFamily="34" charset="-120"/>
                        </a:rPr>
                        <a:t>Calculation</a:t>
                      </a:r>
                      <a:endParaRPr lang="en-US" sz="1189" dirty="0">
                        <a:latin typeface="Nunito Sans" charset="0"/>
                        <a:ea typeface="Nunito Sans" charset="0"/>
                        <a:cs typeface="Nunito Sans" charset="0"/>
                      </a:endParaRPr>
                    </a:p>
                  </a:txBody>
                  <a:tcPr marL="52840" marR="52840" marT="52840" marB="528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gn="r">
                        <a:lnSpc>
                          <a:spcPts val="1664"/>
                        </a:lnSpc>
                        <a:buNone/>
                      </a:pPr>
                      <a:r>
                        <a:rPr lang="en-US" sz="1189" b="1" dirty="0">
                          <a:solidFill>
                            <a:srgbClr val="FBFBF8"/>
                          </a:solidFill>
                          <a:latin typeface="Nunito Sans" pitchFamily="34" charset="0"/>
                          <a:ea typeface="Nunito Sans" pitchFamily="34" charset="-122"/>
                          <a:cs typeface="Nunito Sans" pitchFamily="34" charset="-120"/>
                        </a:rPr>
                        <a:t>Hours</a:t>
                      </a:r>
                      <a:endParaRPr lang="en-US" sz="1189" dirty="0">
                        <a:latin typeface="Nunito Sans" charset="0"/>
                        <a:ea typeface="Nunito Sans" charset="0"/>
                        <a:cs typeface="Nunito Sans" charset="0"/>
                      </a:endParaRPr>
                    </a:p>
                  </a:txBody>
                  <a:tcPr marL="52840" marR="52840" marT="52840" marB="528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29671">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Requirement analysis &amp; scenario review</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64"/>
                        </a:lnSpc>
                        <a:buNone/>
                      </a:pP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2</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29737">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Test case design</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40 × 15 min</a:t>
                      </a: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10</a:t>
                      </a: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29737">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Test case review</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64"/>
                        </a:lnSpc>
                        <a:buNone/>
                      </a:pP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2</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29737">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Test data &amp; environment (5 browsers)</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64"/>
                        </a:lnSpc>
                        <a:buNone/>
                      </a:pP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4</a:t>
                      </a: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29737">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Execution: primary browser</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40 × 12 min</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8</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29737">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Execution: 4 other browsers</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15 × 4 × 8 min</a:t>
                      </a: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8</a:t>
                      </a: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29737">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Defect logging &amp; retesting</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25% × (8 + 8)</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4</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r h="329737">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Automation (10 TCs)</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10 × 1.5 h</a:t>
                      </a: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15</a:t>
                      </a: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8"/>
                  </a:ext>
                </a:extLst>
              </a:tr>
              <a:tr h="329737">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Regression</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2 cycles × 4 h</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8</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9"/>
                  </a:ext>
                </a:extLst>
              </a:tr>
              <a:tr h="329737">
                <a:tc>
                  <a:txBody>
                    <a:bodyPr/>
                    <a:lstStyle/>
                    <a:p>
                      <a:pPr marL="0" indent="0">
                        <a:lnSpc>
                          <a:spcPts val="1664"/>
                        </a:lnSpc>
                        <a:buNone/>
                      </a:pPr>
                      <a:r>
                        <a:rPr lang="en-US" sz="1189" dirty="0">
                          <a:solidFill>
                            <a:srgbClr val="14213D"/>
                          </a:solidFill>
                          <a:latin typeface="Nunito Sans" pitchFamily="34" charset="0"/>
                          <a:ea typeface="Nunito Sans" pitchFamily="34" charset="-122"/>
                          <a:cs typeface="Nunito Sans" pitchFamily="34" charset="-120"/>
                        </a:rPr>
                        <a:t>Subtotal</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64"/>
                        </a:lnSpc>
                        <a:buNone/>
                      </a:pP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gn="r">
                        <a:lnSpc>
                          <a:spcPts val="1664"/>
                        </a:lnSpc>
                        <a:buNone/>
                      </a:pPr>
                      <a:r>
                        <a:rPr lang="en-US" sz="1189" dirty="0">
                          <a:solidFill>
                            <a:srgbClr val="14213D"/>
                          </a:solidFill>
                          <a:latin typeface="Nunito Sans" pitchFamily="34" charset="0"/>
                          <a:ea typeface="Nunito Sans" pitchFamily="34" charset="-122"/>
                          <a:cs typeface="Nunito Sans" pitchFamily="34" charset="-120"/>
                        </a:rPr>
                        <a:t>61</a:t>
                      </a:r>
                      <a:endParaRPr lang="en-US" sz="1189" dirty="0">
                        <a:latin typeface="Nunito Sans" charset="0"/>
                        <a:ea typeface="Nunito Sans" charset="0"/>
                        <a:cs typeface="Nunito Sans" charset="0"/>
                      </a:endParaRPr>
                    </a:p>
                  </a:txBody>
                  <a:tcPr marL="52840" marR="52840" marT="52840" marB="528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10"/>
                  </a:ext>
                </a:extLst>
              </a:tr>
              <a:tr h="329737">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Management &amp; reporting</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64"/>
                        </a:lnSpc>
                        <a:buNone/>
                      </a:pPr>
                      <a:r>
                        <a:rPr lang="en-US" sz="1189" dirty="0">
                          <a:solidFill>
                            <a:srgbClr val="3D4A5C"/>
                          </a:solidFill>
                          <a:latin typeface="Nunito Sans" pitchFamily="34" charset="0"/>
                          <a:ea typeface="Nunito Sans" pitchFamily="34" charset="-122"/>
                          <a:cs typeface="Nunito Sans" pitchFamily="34" charset="-120"/>
                        </a:rPr>
                        <a:t>10% × 61 ≈ 6.1</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1664"/>
                        </a:lnSpc>
                        <a:buNone/>
                      </a:pPr>
                      <a:r>
                        <a:rPr lang="en-US" sz="1189" dirty="0">
                          <a:solidFill>
                            <a:srgbClr val="3D4A5C"/>
                          </a:solidFill>
                          <a:latin typeface="Nunito Sans" pitchFamily="34" charset="0"/>
                          <a:ea typeface="Nunito Sans" pitchFamily="34" charset="-122"/>
                          <a:cs typeface="Nunito Sans" pitchFamily="34" charset="-120"/>
                        </a:rPr>
                        <a:t>6</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11"/>
                  </a:ext>
                </a:extLst>
              </a:tr>
              <a:tr h="329737">
                <a:tc>
                  <a:txBody>
                    <a:bodyPr/>
                    <a:lstStyle/>
                    <a:p>
                      <a:pPr marL="0" indent="0">
                        <a:lnSpc>
                          <a:spcPts val="1664"/>
                        </a:lnSpc>
                        <a:buNone/>
                      </a:pPr>
                      <a:r>
                        <a:rPr lang="en-US" sz="1189" dirty="0">
                          <a:solidFill>
                            <a:srgbClr val="14213D"/>
                          </a:solidFill>
                          <a:latin typeface="Nunito Sans" pitchFamily="34" charset="0"/>
                          <a:ea typeface="Nunito Sans" pitchFamily="34" charset="-122"/>
                          <a:cs typeface="Nunito Sans" pitchFamily="34" charset="-120"/>
                        </a:rPr>
                        <a:t>Most likely total (M)</a:t>
                      </a:r>
                      <a:endParaRPr lang="en-US" sz="1189" dirty="0">
                        <a:latin typeface="Nunito Sans" charset="0"/>
                        <a:ea typeface="Nunito Sans" charset="0"/>
                        <a:cs typeface="Nunito Sans" charset="0"/>
                      </a:endParaRPr>
                    </a:p>
                  </a:txBody>
                  <a:tcPr marL="52840" marR="52840" marT="52840" marB="52840">
                    <a:lnL w="12700" cap="flat" cmpd="sng" algn="ctr">
                      <a:solidFill>
                        <a:srgbClr val="C8C8C6"/>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nSpc>
                          <a:spcPts val="1664"/>
                        </a:lnSpc>
                        <a:buNone/>
                      </a:pPr>
                      <a:endParaRPr lang="en-US" sz="1189" dirty="0">
                        <a:latin typeface="Nunito Sans" charset="0"/>
                        <a:ea typeface="Nunito Sans" charset="0"/>
                        <a:cs typeface="Nunito Sans" charset="0"/>
                      </a:endParaRPr>
                    </a:p>
                  </a:txBody>
                  <a:tcPr marL="52840" marR="52840" marT="52840" marB="528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tc>
                  <a:txBody>
                    <a:bodyPr/>
                    <a:lstStyle/>
                    <a:p>
                      <a:pPr marL="0" indent="0" algn="r">
                        <a:lnSpc>
                          <a:spcPts val="1664"/>
                        </a:lnSpc>
                        <a:buNone/>
                      </a:pPr>
                      <a:r>
                        <a:rPr lang="en-US" sz="1189" dirty="0">
                          <a:solidFill>
                            <a:srgbClr val="A14F0A"/>
                          </a:solidFill>
                          <a:latin typeface="Nunito Sans" pitchFamily="34" charset="0"/>
                          <a:ea typeface="Nunito Sans" pitchFamily="34" charset="-122"/>
                          <a:cs typeface="Nunito Sans" pitchFamily="34" charset="-120"/>
                        </a:rPr>
                        <a:t>≈ 67</a:t>
                      </a:r>
                      <a:endParaRPr lang="en-US" sz="1189" dirty="0">
                        <a:latin typeface="Nunito Sans" charset="0"/>
                        <a:ea typeface="Nunito Sans" charset="0"/>
                        <a:cs typeface="Nunito Sans" charset="0"/>
                      </a:endParaRPr>
                    </a:p>
                  </a:txBody>
                  <a:tcPr marL="52840" marR="52840" marT="52840" marB="52840">
                    <a:lnL w="12700" cap="flat" cmpd="sng" algn="ctr">
                      <a:solidFill>
                        <a:srgbClr val="C8BCB1"/>
                      </a:solidFill>
                      <a:prstDash val="solid"/>
                      <a:round/>
                      <a:headEnd type="none" w="med" len="med"/>
                      <a:tailEnd type="none" w="med" len="med"/>
                    </a:lnL>
                    <a:lnR w="12700" cap="flat" cmpd="sng" algn="ctr">
                      <a:solidFill>
                        <a:srgbClr val="C8BCB1"/>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BCB1"/>
                      </a:solidFill>
                      <a:prstDash val="solid"/>
                      <a:round/>
                      <a:headEnd type="none" w="med" len="med"/>
                      <a:tailEnd type="none" w="med" len="med"/>
                    </a:lnB>
                    <a:solidFill>
                      <a:srgbClr val="FBEBDD"/>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3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Three-point, schedule, and how to say it</a:t>
            </a:r>
            <a:endParaRPr lang="en-US" sz="3200" dirty="0"/>
          </a:p>
        </p:txBody>
      </p:sp>
      <p:sp>
        <p:nvSpPr>
          <p:cNvPr id="4" name="Shape 2"/>
          <p:cNvSpPr/>
          <p:nvPr/>
        </p:nvSpPr>
        <p:spPr>
          <a:xfrm>
            <a:off x="812800" y="1752538"/>
            <a:ext cx="6126493" cy="1625402"/>
          </a:xfrm>
          <a:prstGeom prst="roundRect">
            <a:avLst>
              <a:gd name="adj" fmla="val 6251"/>
            </a:avLst>
          </a:prstGeom>
          <a:solidFill>
            <a:srgbClr val="EEF2F7"/>
          </a:solidFill>
          <a:ln/>
        </p:spPr>
      </p:sp>
      <p:sp>
        <p:nvSpPr>
          <p:cNvPr id="5" name="Text 3"/>
          <p:cNvSpPr/>
          <p:nvPr/>
        </p:nvSpPr>
        <p:spPr>
          <a:xfrm>
            <a:off x="1041400" y="1930338"/>
            <a:ext cx="58393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O = 55 h (few defects, stable builds)</a:t>
            </a:r>
            <a:endParaRPr lang="en-US" sz="1200" dirty="0"/>
          </a:p>
        </p:txBody>
      </p:sp>
      <p:sp>
        <p:nvSpPr>
          <p:cNvPr id="6" name="Text 4"/>
          <p:cNvSpPr/>
          <p:nvPr/>
        </p:nvSpPr>
        <p:spPr>
          <a:xfrm>
            <a:off x="1041400" y="2194458"/>
            <a:ext cx="58393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M = 67 h</a:t>
            </a:r>
            <a:endParaRPr lang="en-US" sz="1200" dirty="0"/>
          </a:p>
        </p:txBody>
      </p:sp>
      <p:sp>
        <p:nvSpPr>
          <p:cNvPr id="7" name="Text 5"/>
          <p:cNvSpPr/>
          <p:nvPr/>
        </p:nvSpPr>
        <p:spPr>
          <a:xfrm>
            <a:off x="1041400" y="2458579"/>
            <a:ext cx="58393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P = 95 h (unstable builds, flaky automation)</a:t>
            </a:r>
            <a:endParaRPr lang="en-US" sz="1200" dirty="0"/>
          </a:p>
        </p:txBody>
      </p:sp>
      <p:sp>
        <p:nvSpPr>
          <p:cNvPr id="8" name="Text 6"/>
          <p:cNvSpPr/>
          <p:nvPr/>
        </p:nvSpPr>
        <p:spPr>
          <a:xfrm>
            <a:off x="1041400" y="2722699"/>
            <a:ext cx="58393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E = (55 + 268 + 95) / 6 = 418 / 6 ≈ </a:t>
            </a:r>
            <a:r>
              <a:rPr lang="en-US" sz="1200" b="1" dirty="0">
                <a:solidFill>
                  <a:srgbClr val="A14F0A"/>
                </a:solidFill>
                <a:latin typeface="JetBrains Mono" pitchFamily="49" charset="0"/>
                <a:ea typeface="JetBrains Mono" pitchFamily="49" charset="-122"/>
                <a:cs typeface="JetBrains Mono" pitchFamily="49" charset="-120"/>
              </a:rPr>
              <a:t>70 h</a:t>
            </a:r>
            <a:endParaRPr lang="en-US" sz="1200" dirty="0"/>
          </a:p>
        </p:txBody>
      </p:sp>
      <p:sp>
        <p:nvSpPr>
          <p:cNvPr id="9" name="Text 7"/>
          <p:cNvSpPr/>
          <p:nvPr/>
        </p:nvSpPr>
        <p:spPr>
          <a:xfrm>
            <a:off x="1041400" y="2986819"/>
            <a:ext cx="583937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SD = (95 − 55) / 6 ≈ 6.7 h</a:t>
            </a:r>
            <a:endParaRPr lang="en-US" sz="1200" dirty="0"/>
          </a:p>
        </p:txBody>
      </p:sp>
      <p:sp>
        <p:nvSpPr>
          <p:cNvPr id="10" name="Shape 8"/>
          <p:cNvSpPr/>
          <p:nvPr/>
        </p:nvSpPr>
        <p:spPr>
          <a:xfrm>
            <a:off x="7142493" y="1752538"/>
            <a:ext cx="4236707" cy="1625402"/>
          </a:xfrm>
          <a:prstGeom prst="roundRect">
            <a:avLst>
              <a:gd name="adj" fmla="val 6251"/>
            </a:avLst>
          </a:prstGeom>
          <a:solidFill>
            <a:srgbClr val="EEF2F7"/>
          </a:solidFill>
          <a:ln/>
        </p:spPr>
      </p:sp>
      <p:sp>
        <p:nvSpPr>
          <p:cNvPr id="11" name="Text 9"/>
          <p:cNvSpPr/>
          <p:nvPr/>
        </p:nvSpPr>
        <p:spPr>
          <a:xfrm>
            <a:off x="7371093" y="1930338"/>
            <a:ext cx="38928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JetBrains Mono" pitchFamily="49" charset="0"/>
                <a:ea typeface="JetBrains Mono" pitchFamily="49" charset="-122"/>
                <a:cs typeface="JetBrains Mono" pitchFamily="49" charset="-120"/>
              </a:rPr>
              <a:t>Capacity = 2 × 6 = 12 h/day</a:t>
            </a:r>
            <a:endParaRPr lang="en-US" sz="1200" dirty="0"/>
          </a:p>
        </p:txBody>
      </p:sp>
      <p:sp>
        <p:nvSpPr>
          <p:cNvPr id="12" name="Text 10"/>
          <p:cNvSpPr/>
          <p:nvPr/>
        </p:nvSpPr>
        <p:spPr>
          <a:xfrm>
            <a:off x="7371093" y="2194458"/>
            <a:ext cx="38928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JetBrains Mono" pitchFamily="49" charset="0"/>
                <a:ea typeface="JetBrains Mono" pitchFamily="49" charset="-122"/>
                <a:cs typeface="JetBrains Mono" pitchFamily="49" charset="-120"/>
              </a:rPr>
              <a:t>70 ÷ 12 ≈ 5.8</a:t>
            </a:r>
            <a:endParaRPr lang="en-US" sz="1200" dirty="0"/>
          </a:p>
        </p:txBody>
      </p:sp>
      <p:sp>
        <p:nvSpPr>
          <p:cNvPr id="13" name="Text 11"/>
          <p:cNvSpPr/>
          <p:nvPr/>
        </p:nvSpPr>
        <p:spPr>
          <a:xfrm>
            <a:off x="7371093" y="2458579"/>
            <a:ext cx="38928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14F0A"/>
                </a:solidFill>
                <a:latin typeface="Domine" pitchFamily="18" charset="0"/>
                <a:ea typeface="Domine" pitchFamily="18" charset="-122"/>
                <a:cs typeface="Domine" pitchFamily="18" charset="-120"/>
              </a:rPr>
              <a:t>6 working days</a:t>
            </a:r>
            <a:endParaRPr lang="en-US" sz="2200" dirty="0"/>
          </a:p>
        </p:txBody>
      </p:sp>
      <p:sp>
        <p:nvSpPr>
          <p:cNvPr id="14" name="Shape 12"/>
          <p:cNvSpPr/>
          <p:nvPr/>
        </p:nvSpPr>
        <p:spPr>
          <a:xfrm>
            <a:off x="838200" y="3581140"/>
            <a:ext cx="0" cy="824111"/>
          </a:xfrm>
          <a:prstGeom prst="line">
            <a:avLst/>
          </a:prstGeom>
          <a:noFill/>
          <a:ln w="50800">
            <a:solidFill>
              <a:srgbClr val="A14F0A"/>
            </a:solidFill>
            <a:prstDash val="solid"/>
          </a:ln>
        </p:spPr>
      </p:sp>
      <p:sp>
        <p:nvSpPr>
          <p:cNvPr id="15" name="Text 13"/>
          <p:cNvSpPr/>
          <p:nvPr/>
        </p:nvSpPr>
        <p:spPr>
          <a:xfrm>
            <a:off x="1066800" y="3606540"/>
            <a:ext cx="10621772"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4213D"/>
                </a:solidFill>
                <a:latin typeface="Domine" pitchFamily="18" charset="0"/>
                <a:ea typeface="Domine" pitchFamily="18" charset="-122"/>
                <a:cs typeface="Domine" pitchFamily="18" charset="-120"/>
              </a:rPr>
              <a:t>"About </a:t>
            </a:r>
            <a:r>
              <a:rPr lang="en-US" sz="1400" b="1" dirty="0">
                <a:solidFill>
                  <a:srgbClr val="14213D"/>
                </a:solidFill>
                <a:latin typeface="Domine" pitchFamily="18" charset="0"/>
                <a:ea typeface="Domine" pitchFamily="18" charset="-122"/>
                <a:cs typeface="Domine" pitchFamily="18" charset="-120"/>
              </a:rPr>
              <a:t>70 person-hours, ~6 working days with 2 testers</a:t>
            </a:r>
            <a:r>
              <a:rPr lang="en-US" sz="1400" dirty="0">
                <a:solidFill>
                  <a:srgbClr val="14213D"/>
                </a:solidFill>
                <a:latin typeface="Domine" pitchFamily="18" charset="0"/>
                <a:ea typeface="Domine" pitchFamily="18" charset="-122"/>
                <a:cs typeface="Domine" pitchFamily="18" charset="-120"/>
              </a:rPr>
              <a:t>, likely between 63 and 76 hours. Assumes a stable environment, 15 cross-browser TCs, 10 automated tests and 2 regression cycles. If all 40 tests must run on all 5 browsers, add ~13 hours."</a:t>
            </a:r>
            <a:endParaRPr lang="en-US" sz="1400" dirty="0"/>
          </a:p>
        </p:txBody>
      </p:sp>
      <p:sp>
        <p:nvSpPr>
          <p:cNvPr id="16" name="Text 14"/>
          <p:cNvSpPr/>
          <p:nvPr/>
        </p:nvSpPr>
        <p:spPr>
          <a:xfrm>
            <a:off x="812800" y="4608450"/>
            <a:ext cx="10566400" cy="716227"/>
          </a:xfrm>
          <a:prstGeom prst="roundRect">
            <a:avLst>
              <a:gd name="adj" fmla="val 10639"/>
            </a:avLst>
          </a:prstGeom>
          <a:solidFill>
            <a:srgbClr val="FBEBDD"/>
          </a:solidFill>
          <a:ln/>
        </p:spPr>
        <p:txBody>
          <a:bodyPr wrap="square" lIns="180882" tIns="104682" rIns="0" bIns="79282"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Where ~13 h comes from:</a:t>
            </a:r>
            <a:r>
              <a:rPr lang="en-US" sz="1300" dirty="0">
                <a:solidFill>
                  <a:srgbClr val="3D4A5C"/>
                </a:solidFill>
                <a:latin typeface="Nunito Sans" pitchFamily="34" charset="0"/>
                <a:ea typeface="Nunito Sans" pitchFamily="34" charset="-122"/>
                <a:cs typeface="Nunito Sans" pitchFamily="34" charset="-120"/>
              </a:rPr>
              <a:t> 40 × 4 × 8 min = 1,280 min ≈ 21.3 h, minus the 8 h already planned ≈ 13.3 h. Show the impact of changing an assumption.</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QUICK CHECK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questions</a:t>
            </a:r>
            <a:endParaRPr lang="en-US" sz="3200" dirty="0"/>
          </a:p>
        </p:txBody>
      </p:sp>
      <p:sp>
        <p:nvSpPr>
          <p:cNvPr id="4" name="Text 2"/>
          <p:cNvSpPr/>
          <p:nvPr/>
        </p:nvSpPr>
        <p:spPr>
          <a:xfrm>
            <a:off x="812800" y="1854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21867"/>
            <a:ext cx="386167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Write the three-point (PERT) formula.</a:t>
            </a:r>
            <a:endParaRPr lang="en-US" sz="1500" dirty="0"/>
          </a:p>
        </p:txBody>
      </p:sp>
      <p:sp>
        <p:nvSpPr>
          <p:cNvPr id="6" name="Text 4"/>
          <p:cNvSpPr/>
          <p:nvPr/>
        </p:nvSpPr>
        <p:spPr>
          <a:xfrm>
            <a:off x="812800" y="23748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42567"/>
            <a:ext cx="3534093"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O = 10, M = 16, P = 28. What is E?</a:t>
            </a:r>
            <a:endParaRPr lang="en-US" sz="1500" dirty="0"/>
          </a:p>
        </p:txBody>
      </p:sp>
      <p:sp>
        <p:nvSpPr>
          <p:cNvPr id="8" name="Text 6"/>
          <p:cNvSpPr/>
          <p:nvPr/>
        </p:nvSpPr>
        <p:spPr>
          <a:xfrm>
            <a:off x="812800" y="28955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63267"/>
            <a:ext cx="806632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Name four factors that contribute to testing effort besides executing test cases.</a:t>
            </a:r>
            <a:endParaRPr lang="en-US" sz="1500" dirty="0"/>
          </a:p>
        </p:txBody>
      </p:sp>
      <p:sp>
        <p:nvSpPr>
          <p:cNvPr id="10" name="Text 8"/>
          <p:cNvSpPr/>
          <p:nvPr/>
        </p:nvSpPr>
        <p:spPr>
          <a:xfrm>
            <a:off x="812800" y="34162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483967"/>
            <a:ext cx="664495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48 hours of effort, 2 testers, 6 productive h/day. How many days?</a:t>
            </a:r>
            <a:endParaRPr lang="en-US" sz="1500" dirty="0"/>
          </a:p>
        </p:txBody>
      </p:sp>
      <p:sp>
        <p:nvSpPr>
          <p:cNvPr id="12" name="Text 10"/>
          <p:cNvSpPr/>
          <p:nvPr/>
        </p:nvSpPr>
        <p:spPr>
          <a:xfrm>
            <a:off x="812800" y="39369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4004667"/>
            <a:ext cx="4571841"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D4A5C"/>
                </a:solidFill>
                <a:latin typeface="Nunito Sans" pitchFamily="34" charset="0"/>
                <a:ea typeface="Nunito Sans" pitchFamily="34" charset="-122"/>
                <a:cs typeface="Nunito Sans" pitchFamily="34" charset="-120"/>
              </a:rPr>
              <a:t>Why must an estimate include assumptions?</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KEY TAKEAWAYS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A prediction, </a:t>
            </a:r>
            <a:r>
              <a:rPr lang="en-US" sz="3200" b="1" i="0" dirty="0">
                <a:solidFill>
                  <a:srgbClr val="F0A04B"/>
                </a:solidFill>
                <a:latin typeface="Domine" pitchFamily="18" charset="0"/>
                <a:ea typeface="Domine" pitchFamily="18" charset="-122"/>
                <a:cs typeface="Domine" pitchFamily="18" charset="-120"/>
              </a:rPr>
              <a:t>with its assumptions</a:t>
            </a:r>
            <a:endParaRPr lang="en-US" sz="3200" dirty="0"/>
          </a:p>
        </p:txBody>
      </p:sp>
      <p:pic>
        <p:nvPicPr>
          <p:cNvPr id="4" name="Image 0" descr="CheckCircle"/>
          <p:cNvPicPr>
            <a:picLocks noChangeAspect="1"/>
          </p:cNvPicPr>
          <p:nvPr/>
        </p:nvPicPr>
        <p:blipFill>
          <a:blip r:embed="rId3"/>
          <a:srcRect/>
          <a:stretch/>
        </p:blipFill>
        <p:spPr>
          <a:xfrm>
            <a:off x="812800" y="1864258"/>
            <a:ext cx="228600" cy="228600"/>
          </a:xfrm>
          <a:prstGeom prst="rect">
            <a:avLst/>
          </a:prstGeom>
        </p:spPr>
      </p:pic>
      <p:sp>
        <p:nvSpPr>
          <p:cNvPr id="5" name="Text 2"/>
          <p:cNvSpPr/>
          <p:nvPr/>
        </p:nvSpPr>
        <p:spPr>
          <a:xfrm>
            <a:off x="1193800" y="1854138"/>
            <a:ext cx="730067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Estimation supports planning, resourcing and negotiation. It is not a promise.</a:t>
            </a:r>
            <a:endParaRPr lang="en-US" sz="1400" dirty="0"/>
          </a:p>
        </p:txBody>
      </p:sp>
      <p:pic>
        <p:nvPicPr>
          <p:cNvPr id="6" name="Image 1" descr="CheckCircle"/>
          <p:cNvPicPr>
            <a:picLocks noChangeAspect="1"/>
          </p:cNvPicPr>
          <p:nvPr/>
        </p:nvPicPr>
        <p:blipFill>
          <a:blip r:embed="rId3"/>
          <a:srcRect/>
          <a:stretch/>
        </p:blipFill>
        <p:spPr>
          <a:xfrm>
            <a:off x="812800" y="2265561"/>
            <a:ext cx="228600" cy="228600"/>
          </a:xfrm>
          <a:prstGeom prst="rect">
            <a:avLst/>
          </a:prstGeom>
        </p:spPr>
      </p:pic>
      <p:sp>
        <p:nvSpPr>
          <p:cNvPr id="7" name="Text 3"/>
          <p:cNvSpPr/>
          <p:nvPr/>
        </p:nvSpPr>
        <p:spPr>
          <a:xfrm>
            <a:off x="1193800" y="2255441"/>
            <a:ext cx="1099820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Effort comes from scope, complexity, test cases, data, environments, automation, regression, defects, capacity and risk.</a:t>
            </a:r>
            <a:endParaRPr lang="en-US" sz="1400" dirty="0"/>
          </a:p>
        </p:txBody>
      </p:sp>
      <p:pic>
        <p:nvPicPr>
          <p:cNvPr id="8" name="Image 2" descr="CheckCircle"/>
          <p:cNvPicPr>
            <a:picLocks noChangeAspect="1"/>
          </p:cNvPicPr>
          <p:nvPr/>
        </p:nvPicPr>
        <p:blipFill>
          <a:blip r:embed="rId3"/>
          <a:srcRect/>
          <a:stretch/>
        </p:blipFill>
        <p:spPr>
          <a:xfrm>
            <a:off x="812800" y="2666876"/>
            <a:ext cx="228600" cy="228600"/>
          </a:xfrm>
          <a:prstGeom prst="rect">
            <a:avLst/>
          </a:prstGeom>
        </p:spPr>
      </p:pic>
      <p:sp>
        <p:nvSpPr>
          <p:cNvPr id="9" name="Text 4"/>
          <p:cNvSpPr/>
          <p:nvPr/>
        </p:nvSpPr>
        <p:spPr>
          <a:xfrm>
            <a:off x="1193800" y="2656756"/>
            <a:ext cx="1021492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WBS so nothing is forgotten, test-case-based for objectivity, three-point for uncertainty, history for realism.</a:t>
            </a:r>
            <a:endParaRPr lang="en-US" sz="1400" dirty="0"/>
          </a:p>
        </p:txBody>
      </p:sp>
      <p:pic>
        <p:nvPicPr>
          <p:cNvPr id="10" name="Image 3" descr="CheckCircle"/>
          <p:cNvPicPr>
            <a:picLocks noChangeAspect="1"/>
          </p:cNvPicPr>
          <p:nvPr/>
        </p:nvPicPr>
        <p:blipFill>
          <a:blip r:embed="rId3"/>
          <a:srcRect/>
          <a:stretch/>
        </p:blipFill>
        <p:spPr>
          <a:xfrm>
            <a:off x="812800" y="3068179"/>
            <a:ext cx="228600" cy="228600"/>
          </a:xfrm>
          <a:prstGeom prst="rect">
            <a:avLst/>
          </a:prstGeom>
        </p:spPr>
      </p:pic>
      <p:sp>
        <p:nvSpPr>
          <p:cNvPr id="11" name="Text 5"/>
          <p:cNvSpPr/>
          <p:nvPr/>
        </p:nvSpPr>
        <p:spPr>
          <a:xfrm>
            <a:off x="1193800" y="3058058"/>
            <a:ext cx="193587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BFBF8"/>
                </a:solidFill>
                <a:latin typeface="Nunito Sans" pitchFamily="34" charset="0"/>
                <a:ea typeface="Nunito Sans" pitchFamily="34" charset="-122"/>
                <a:cs typeface="Nunito Sans" pitchFamily="34" charset="-120"/>
              </a:rPr>
              <a:t>E = (O + 4M + P) / 6</a:t>
            </a:r>
            <a:endParaRPr lang="en-US" sz="1400" dirty="0"/>
          </a:p>
        </p:txBody>
      </p:sp>
      <p:pic>
        <p:nvPicPr>
          <p:cNvPr id="12" name="Image 4" descr="CheckCircle"/>
          <p:cNvPicPr>
            <a:picLocks noChangeAspect="1"/>
          </p:cNvPicPr>
          <p:nvPr/>
        </p:nvPicPr>
        <p:blipFill>
          <a:blip r:embed="rId3"/>
          <a:srcRect/>
          <a:stretch/>
        </p:blipFill>
        <p:spPr>
          <a:xfrm>
            <a:off x="812800" y="3469481"/>
            <a:ext cx="228600" cy="228600"/>
          </a:xfrm>
          <a:prstGeom prst="rect">
            <a:avLst/>
          </a:prstGeom>
        </p:spPr>
      </p:pic>
      <p:sp>
        <p:nvSpPr>
          <p:cNvPr id="13" name="Text 6"/>
          <p:cNvSpPr/>
          <p:nvPr/>
        </p:nvSpPr>
        <p:spPr>
          <a:xfrm>
            <a:off x="1193800" y="3459361"/>
            <a:ext cx="75732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DCE4F0"/>
                </a:solidFill>
                <a:latin typeface="Nunito Sans" pitchFamily="34" charset="0"/>
                <a:ea typeface="Nunito Sans" pitchFamily="34" charset="-122"/>
                <a:cs typeface="Nunito Sans" pitchFamily="34" charset="-120"/>
              </a:rPr>
              <a:t>Effort ÷ (testers × productive hours) = duration. Always state your assumptions.</a:t>
            </a:r>
            <a:endParaRPr lang="en-US" sz="1400" dirty="0"/>
          </a:p>
        </p:txBody>
      </p:sp>
      <p:sp>
        <p:nvSpPr>
          <p:cNvPr id="14" name="Text 7"/>
          <p:cNvSpPr/>
          <p:nvPr/>
        </p:nvSpPr>
        <p:spPr>
          <a:xfrm>
            <a:off x="812800" y="4013076"/>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Next: Unit 10, Capstone: putting everything together on an e-commerce checkout.</a:t>
            </a:r>
            <a:endParaRPr lang="en-US" sz="1400" dirty="0"/>
          </a:p>
        </p:txBody>
      </p:sp>
    </p:spTree>
  </p:cSld>
  <p:clrMapOvr>
    <a:masterClrMapping/>
  </p:clrMapOvr>
</p:sld>
</file>

<file path=ppt/theme/theme1.xml><?xml version="1.0" encoding="utf-8"?>
<a:theme xmlns:a="http://schemas.openxmlformats.org/drawingml/2006/main" name="Test Estimation">
  <a:themeElements>
    <a:clrScheme name="Test Estimation">
      <a:dk1>
        <a:srgbClr val="14213D"/>
      </a:dk1>
      <a:lt1>
        <a:srgbClr val="FBFBF8"/>
      </a:lt1>
      <a:dk2>
        <a:srgbClr val="4E586C"/>
      </a:dk2>
      <a:lt2>
        <a:srgbClr val="E4E5E5"/>
      </a:lt2>
      <a:accent1>
        <a:srgbClr val="A14F0A"/>
      </a:accent1>
      <a:accent2>
        <a:srgbClr val="F0A04B"/>
      </a:accent2>
      <a:accent3>
        <a:srgbClr val="24345A"/>
      </a:accent3>
      <a:accent4>
        <a:srgbClr val="2B5C9E"/>
      </a:accent4>
      <a:accent5>
        <a:srgbClr val="3D4A5C"/>
      </a:accent5>
      <a:accent6>
        <a:srgbClr val="DCE4F0"/>
      </a:accent6>
      <a:hlink>
        <a:srgbClr val="0563C1"/>
      </a:hlink>
      <a:folHlink>
        <a:srgbClr val="954F72"/>
      </a:folHlink>
    </a:clrScheme>
    <a:fontScheme name="Test Estimation">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2997</Words>
  <Application>Microsoft Office PowerPoint</Application>
  <PresentationFormat>Widescreen</PresentationFormat>
  <Paragraphs>355</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Domine</vt:lpstr>
      <vt:lpstr>JetBrains Mono</vt:lpstr>
      <vt:lpstr>Nunito Sans</vt:lpstr>
      <vt:lpstr>Test Estimation</vt:lpstr>
      <vt:lpstr>Test Estimation</vt:lpstr>
      <vt:lpstr>What this unit covers:</vt:lpstr>
      <vt:lpstr>Five jobs an estimate does</vt:lpstr>
      <vt:lpstr>The work itself</vt:lpstr>
      <vt:lpstr>The work around the work</vt:lpstr>
      <vt:lpstr>Ask the people who've done it before</vt:lpstr>
      <vt:lpstr>Break it down, estimate each piece, add up</vt:lpstr>
      <vt:lpstr>Count, classify, multiply</vt:lpstr>
      <vt:lpstr>Build the uncertainty into the number</vt:lpstr>
      <vt:lpstr>O = 20 h, M = 30 h, P = 52 h</vt:lpstr>
      <vt:lpstr>Let past projects tell you</vt:lpstr>
      <vt:lpstr>Each has a sweet spot and a trap</vt:lpstr>
      <vt:lpstr>Person-hours are not calendar days</vt:lpstr>
      <vt:lpstr>An estimate without assumptions can't be defended</vt:lpstr>
      <vt:lpstr>Five ways an estimate goes wrong</vt:lpstr>
      <vt:lpstr>Estimate testing for a login module</vt:lpstr>
      <vt:lpstr>Start with the assumptions</vt:lpstr>
      <vt:lpstr>WBS plus test-case counts</vt:lpstr>
      <vt:lpstr>Three-point, schedule, and how to say it</vt:lpstr>
      <vt:lpstr>Five questions</vt:lpstr>
      <vt:lpstr>A prediction, with its assumptions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 Estimation</dc:title>
  <dc:subject/>
  <dc:creator/>
  <cp:lastModifiedBy>Saurabh Kamath</cp:lastModifiedBy>
  <cp:revision>4</cp:revision>
  <dcterms:created xsi:type="dcterms:W3CDTF">2026-10-06T17:44:06Z</dcterms:created>
  <dcterms:modified xsi:type="dcterms:W3CDTF">2026-10-06T18:22:52Z</dcterms:modified>
</cp:coreProperties>
</file>