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379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one. Before we can plan testing or design test cases, we need the vocabulary QA teams use every day: smoke, sanity, regression, system testing and so on. By the end of these 20 minutes you will be able to describe any testing activity precisely and choose the right testing types for a real feature.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for this chapter. Notice the last one: the goal is not to memorise definitions but to be able to look at a real feature, such as login or checkout, and decide which kinds of testing it needs.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in the chapter. Beginners think each testing term is a separate, competing activity. They are not. "System + Functional + Regression testing" means: we test the fully integrated application (level), we check that features behave correctly (type), and we are confirming that existing features still work after a change (purpose). Like a car that is red, electric and a sedan all at once.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dimensions. Any testing activity can be described by picking one option from several rows. Non-functional includes performance, security, usability, compatibility and reliability. We will go through each pair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if a requirement can be phrased as "The system shall do X", it is functional. If it is phrased as "The system shall be fast, secure, easy or available", it is non-functional. Same login feature, two very different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does not replace manual testers. A script will happily pass a page where the button is invisible, as long as it can still click it. Humans notice that. Use automation for things you run again and again; use people for judgement.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testing example: reading a user story and noticing it never says what happens when a payment fails. Nothing has been built yet, so the fix costs almost nothing. Black-box techniques such as boundary values and decision tables come in Chapter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levels follow the order in which software is built. Unit tests are fast and cheap and catch logic errors early. Integration tests catch wrong data formats, missing fields and mismatched API contracts. System testing is where most manual testers spend their time. Acceptance testing confirms the product is ready for release: user acceptance testing, alpha with internal users, beta with a limited set of real users.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is a purpose, not a level. You can run regression at the unit level, the system level, anywhere. Every time a defect is fixed, add a test for it to the regression suite so it can never silently come 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get confused constantly. Memory aid: smoke is broad and shallow on a new build, like checking every room of a house has power. Sanity is narrow and deep after a small fix, like checking the one socket the electrician just repaired. Smoke is sometimes called a build verification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testing is not random clicking. It has a mission (the charter) and a time limit. We go deeper into how to run sessions in Chapter 2 on strategy and Chapter 7 on test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sub-types: load is expected traffic, stress is beyond expected until it breaks, spike is a sudden surge like a flash sale, and soak or endurance is long periods to catch memory leaks. A checkout that works but takes 30 seconds will still lose customers, so never skip non-functional testing.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left to right and notice that every activity carries several labels at once. Performance is a non-functional characteristic. "Either" means the regression run can be manual or automated depending on the team. This is the same idea as "System + Functional + Regression" from earlier.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traps that show up in interviews and on the job. If you remember only one, remember the first: levels and types are dimensions, not alternatives.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eight minutes. Encourage them to think across dimensions: functional and non-functional, which levels, and which purposes such as smoke or regression. The next slide shows a model answer.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your answer. Exact lists can differ; what matters is that each feature has several types and a reason for each. Payment, for example, also involves PCI-DSS compliance and encrypted card data, which is why security is critical there.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Static, because no code was executed. 2. Smoke testing. 3. False: regression is a type or purpose, and it can happen at any level. 4. Unit testing. 5. Compatibility testing, which is non-functional.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In the next chapter we move from vocabulary to decision-making: there is never time to test everything, so how do we choose?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Unit 1</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Testing Types</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The shared vocabulary every QA team uses, and how to choose the right kinds of testing for a feature</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a:t>
            </a:r>
            <a:r>
              <a:rPr lang="en-US" sz="1400">
                <a:solidFill>
                  <a:srgbClr val="C9D3E3"/>
                </a:solidFill>
                <a:latin typeface="Nunito Sans" pitchFamily="34" charset="0"/>
                <a:ea typeface="Nunito Sans" pitchFamily="34" charset="-122"/>
                <a:cs typeface="Nunito Sans" pitchFamily="34" charset="-120"/>
              </a:rPr>
              <a:t>0 </a:t>
            </a:r>
            <a:r>
              <a:rPr lang="en-US" sz="1400" dirty="0">
                <a:solidFill>
                  <a:srgbClr val="C9D3E3"/>
                </a:solidFill>
                <a:latin typeface="Nunito Sans" pitchFamily="34" charset="0"/>
                <a:ea typeface="Nunito Sans" pitchFamily="34" charset="-122"/>
                <a:cs typeface="Nunito Sans" pitchFamily="34" charset="-120"/>
              </a:rPr>
              <a:t>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904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59967"/>
            <a:ext cx="712271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the difference between a </a:t>
            </a:r>
            <a:r>
              <a:rPr lang="en-US" sz="1600" b="1" dirty="0">
                <a:solidFill>
                  <a:srgbClr val="3D4A5C"/>
                </a:solidFill>
                <a:latin typeface="Nunito Sans" pitchFamily="34" charset="0"/>
                <a:ea typeface="Nunito Sans" pitchFamily="34" charset="-122"/>
                <a:cs typeface="Nunito Sans" pitchFamily="34" charset="-120"/>
              </a:rPr>
              <a:t>testing level</a:t>
            </a:r>
            <a:r>
              <a:rPr lang="en-US" sz="1600" dirty="0">
                <a:solidFill>
                  <a:srgbClr val="3D4A5C"/>
                </a:solidFill>
                <a:latin typeface="Nunito Sans" pitchFamily="34" charset="0"/>
                <a:ea typeface="Nunito Sans" pitchFamily="34" charset="-122"/>
                <a:cs typeface="Nunito Sans" pitchFamily="34" charset="-120"/>
              </a:rPr>
              <a:t> and a </a:t>
            </a:r>
            <a:r>
              <a:rPr lang="en-US" sz="1600" b="1" dirty="0">
                <a:solidFill>
                  <a:srgbClr val="3D4A5C"/>
                </a:solidFill>
                <a:latin typeface="Nunito Sans" pitchFamily="34" charset="0"/>
                <a:ea typeface="Nunito Sans" pitchFamily="34" charset="-122"/>
                <a:cs typeface="Nunito Sans" pitchFamily="34" charset="-120"/>
              </a:rPr>
              <a:t>testing type</a:t>
            </a:r>
            <a:endParaRPr lang="en-US" sz="1600" dirty="0"/>
          </a:p>
        </p:txBody>
      </p:sp>
      <p:sp>
        <p:nvSpPr>
          <p:cNvPr id="6" name="Text 4"/>
          <p:cNvSpPr/>
          <p:nvPr/>
        </p:nvSpPr>
        <p:spPr>
          <a:xfrm>
            <a:off x="812800" y="2438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93367"/>
            <a:ext cx="107696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Distinguish functional vs. non-functional, manual vs. automated, static vs. dynamic, black-box vs. white-box</a:t>
            </a:r>
            <a:endParaRPr lang="en-US" sz="16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26767"/>
            <a:ext cx="745958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Describe the four testing levels: unit, integration, system, acceptance</a:t>
            </a:r>
            <a:endParaRPr lang="en-US" sz="1600" dirty="0"/>
          </a:p>
        </p:txBody>
      </p:sp>
      <p:sp>
        <p:nvSpPr>
          <p:cNvPr id="10" name="Text 8"/>
          <p:cNvSpPr/>
          <p:nvPr/>
        </p:nvSpPr>
        <p:spPr>
          <a:xfrm>
            <a:off x="812800" y="3505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60167"/>
            <a:ext cx="10255504"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Know when to use regression, smoke, sanity, exploratory, performance, security, usability and compatibility testing</a:t>
            </a:r>
            <a:endParaRPr lang="en-US" sz="1600" dirty="0"/>
          </a:p>
        </p:txBody>
      </p:sp>
      <p:sp>
        <p:nvSpPr>
          <p:cNvPr id="12" name="Text 10"/>
          <p:cNvSpPr/>
          <p:nvPr/>
        </p:nvSpPr>
        <p:spPr>
          <a:xfrm>
            <a:off x="812800" y="4306822"/>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361855"/>
            <a:ext cx="516199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Choose the right testing types for a real feature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KEY DISTINCTION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Levels and types answer different questions</a:t>
            </a:r>
            <a:endParaRPr lang="en-US" sz="3200" dirty="0"/>
          </a:p>
        </p:txBody>
      </p:sp>
      <p:sp>
        <p:nvSpPr>
          <p:cNvPr id="4" name="Shape 2"/>
          <p:cNvSpPr/>
          <p:nvPr/>
        </p:nvSpPr>
        <p:spPr>
          <a:xfrm>
            <a:off x="815975" y="1857310"/>
            <a:ext cx="5175250" cy="1983184"/>
          </a:xfrm>
          <a:prstGeom prst="roundRect">
            <a:avLst>
              <a:gd name="adj" fmla="val 6244"/>
            </a:avLst>
          </a:prstGeom>
          <a:solidFill>
            <a:srgbClr val="FBFBF8"/>
          </a:solidFill>
          <a:ln w="6350">
            <a:solidFill>
              <a:srgbClr val="D3DBE6"/>
            </a:solidFill>
            <a:prstDash val="solid"/>
          </a:ln>
        </p:spPr>
      </p:sp>
      <p:sp>
        <p:nvSpPr>
          <p:cNvPr id="5" name="Text 3"/>
          <p:cNvSpPr/>
          <p:nvPr/>
        </p:nvSpPr>
        <p:spPr>
          <a:xfrm>
            <a:off x="1121833" y="2163167"/>
            <a:ext cx="4700439"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C9E"/>
                </a:solidFill>
                <a:latin typeface="Nunito Sans" pitchFamily="34" charset="0"/>
                <a:ea typeface="Nunito Sans" pitchFamily="34" charset="-122"/>
                <a:cs typeface="Nunito Sans" pitchFamily="34" charset="-120"/>
              </a:rPr>
              <a:t>TESTING LEVEL</a:t>
            </a:r>
            <a:endParaRPr lang="en-US" sz="1400" dirty="0"/>
          </a:p>
        </p:txBody>
      </p:sp>
      <p:sp>
        <p:nvSpPr>
          <p:cNvPr id="6" name="Text 4"/>
          <p:cNvSpPr/>
          <p:nvPr/>
        </p:nvSpPr>
        <p:spPr>
          <a:xfrm>
            <a:off x="1121833" y="2513674"/>
            <a:ext cx="4700439" cy="360627"/>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4213D"/>
                </a:solidFill>
                <a:latin typeface="Domine" pitchFamily="18" charset="0"/>
                <a:ea typeface="Domine" pitchFamily="18" charset="-122"/>
                <a:cs typeface="Domine" pitchFamily="18" charset="-120"/>
              </a:rPr>
              <a:t>Where are we testing?</a:t>
            </a:r>
            <a:endParaRPr lang="en-US" sz="2200" dirty="0"/>
          </a:p>
        </p:txBody>
      </p:sp>
      <p:sp>
        <p:nvSpPr>
          <p:cNvPr id="7" name="Text 5"/>
          <p:cNvSpPr/>
          <p:nvPr/>
        </p:nvSpPr>
        <p:spPr>
          <a:xfrm>
            <a:off x="1121833" y="2950502"/>
            <a:ext cx="47004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Unit · Integration · System · Acceptance</a:t>
            </a:r>
            <a:endParaRPr lang="en-US" sz="1400" dirty="0"/>
          </a:p>
        </p:txBody>
      </p:sp>
      <p:sp>
        <p:nvSpPr>
          <p:cNvPr id="8" name="Shape 6"/>
          <p:cNvSpPr/>
          <p:nvPr/>
        </p:nvSpPr>
        <p:spPr>
          <a:xfrm>
            <a:off x="6200775" y="1857310"/>
            <a:ext cx="5175250" cy="1983184"/>
          </a:xfrm>
          <a:prstGeom prst="roundRect">
            <a:avLst>
              <a:gd name="adj" fmla="val 6244"/>
            </a:avLst>
          </a:prstGeom>
          <a:solidFill>
            <a:srgbClr val="FBFBF8"/>
          </a:solidFill>
          <a:ln w="6350">
            <a:solidFill>
              <a:srgbClr val="D3DBE6"/>
            </a:solidFill>
            <a:prstDash val="solid"/>
          </a:ln>
        </p:spPr>
      </p:sp>
      <p:sp>
        <p:nvSpPr>
          <p:cNvPr id="9" name="Text 7"/>
          <p:cNvSpPr/>
          <p:nvPr/>
        </p:nvSpPr>
        <p:spPr>
          <a:xfrm>
            <a:off x="6506634" y="2163167"/>
            <a:ext cx="4700439"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A14F0A"/>
                </a:solidFill>
                <a:latin typeface="Nunito Sans" pitchFamily="34" charset="0"/>
                <a:ea typeface="Nunito Sans" pitchFamily="34" charset="-122"/>
                <a:cs typeface="Nunito Sans" pitchFamily="34" charset="-120"/>
              </a:rPr>
              <a:t>TESTING TYPE</a:t>
            </a:r>
            <a:endParaRPr lang="en-US" sz="1400" dirty="0"/>
          </a:p>
        </p:txBody>
      </p:sp>
      <p:sp>
        <p:nvSpPr>
          <p:cNvPr id="10" name="Text 8"/>
          <p:cNvSpPr/>
          <p:nvPr/>
        </p:nvSpPr>
        <p:spPr>
          <a:xfrm>
            <a:off x="6506634" y="2513674"/>
            <a:ext cx="4700439" cy="695854"/>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4213D"/>
                </a:solidFill>
                <a:latin typeface="Domine" pitchFamily="18" charset="0"/>
                <a:ea typeface="Domine" pitchFamily="18" charset="-122"/>
                <a:cs typeface="Domine" pitchFamily="18" charset="-120"/>
              </a:rPr>
              <a:t>What characteristic are we testing?</a:t>
            </a:r>
            <a:endParaRPr lang="en-US" sz="2200" dirty="0"/>
          </a:p>
        </p:txBody>
      </p:sp>
      <p:sp>
        <p:nvSpPr>
          <p:cNvPr id="11" name="Text 9"/>
          <p:cNvSpPr/>
          <p:nvPr/>
        </p:nvSpPr>
        <p:spPr>
          <a:xfrm>
            <a:off x="6506634" y="3285728"/>
            <a:ext cx="47004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Functional · Performance · Security · Usability…</a:t>
            </a:r>
            <a:endParaRPr lang="en-US" sz="1400" dirty="0"/>
          </a:p>
        </p:txBody>
      </p:sp>
      <p:sp>
        <p:nvSpPr>
          <p:cNvPr id="12" name="Text 10"/>
          <p:cNvSpPr/>
          <p:nvPr/>
        </p:nvSpPr>
        <p:spPr>
          <a:xfrm>
            <a:off x="812800" y="4224669"/>
            <a:ext cx="244541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One activity, three labels:</a:t>
            </a:r>
            <a:endParaRPr lang="en-US" sz="1600" dirty="0"/>
          </a:p>
        </p:txBody>
      </p:sp>
      <p:sp>
        <p:nvSpPr>
          <p:cNvPr id="13" name="Text 11"/>
          <p:cNvSpPr/>
          <p:nvPr/>
        </p:nvSpPr>
        <p:spPr>
          <a:xfrm>
            <a:off x="3258212" y="4148469"/>
            <a:ext cx="1050594" cy="436827"/>
          </a:xfrm>
          <a:prstGeom prst="roundRect">
            <a:avLst>
              <a:gd name="adj" fmla="val 50000"/>
            </a:avLst>
          </a:prstGeom>
          <a:solidFill>
            <a:srgbClr val="2B5C9E"/>
          </a:solidFill>
          <a:ln/>
        </p:spPr>
        <p:txBody>
          <a:bodyPr wrap="none" lIns="0" tIns="0" rIns="0" bIns="0" rtlCol="0" anchor="ctr">
            <a:normAutofit/>
          </a:bodyPr>
          <a:lstStyle/>
          <a:p>
            <a:pPr marL="0" indent="0" algn="ctr">
              <a:lnSpc>
                <a:spcPts val="2240"/>
              </a:lnSpc>
              <a:buNone/>
            </a:pPr>
            <a:r>
              <a:rPr lang="en-US" sz="1600" b="1" dirty="0">
                <a:solidFill>
                  <a:srgbClr val="FBFBF8"/>
                </a:solidFill>
                <a:latin typeface="Nunito Sans" pitchFamily="34" charset="0"/>
                <a:ea typeface="Nunito Sans" pitchFamily="34" charset="-122"/>
                <a:cs typeface="Nunito Sans" pitchFamily="34" charset="-120"/>
              </a:rPr>
              <a:t>System</a:t>
            </a:r>
            <a:endParaRPr lang="en-US" sz="1600" dirty="0"/>
          </a:p>
        </p:txBody>
      </p:sp>
      <p:sp>
        <p:nvSpPr>
          <p:cNvPr id="14" name="Text 12"/>
          <p:cNvSpPr/>
          <p:nvPr/>
        </p:nvSpPr>
        <p:spPr>
          <a:xfrm>
            <a:off x="4461206" y="4224669"/>
            <a:ext cx="17277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t>
            </a:r>
            <a:endParaRPr lang="en-US" sz="1600" dirty="0"/>
          </a:p>
        </p:txBody>
      </p:sp>
      <p:sp>
        <p:nvSpPr>
          <p:cNvPr id="15" name="Text 13"/>
          <p:cNvSpPr/>
          <p:nvPr/>
        </p:nvSpPr>
        <p:spPr>
          <a:xfrm>
            <a:off x="4735579" y="4148469"/>
            <a:ext cx="1341768" cy="436827"/>
          </a:xfrm>
          <a:prstGeom prst="roundRect">
            <a:avLst>
              <a:gd name="adj" fmla="val 50000"/>
            </a:avLst>
          </a:prstGeom>
          <a:solidFill>
            <a:srgbClr val="A14F0A"/>
          </a:solidFill>
          <a:ln/>
        </p:spPr>
        <p:txBody>
          <a:bodyPr wrap="none" lIns="0" tIns="0" rIns="0" bIns="0" rtlCol="0" anchor="ctr">
            <a:normAutofit/>
          </a:bodyPr>
          <a:lstStyle/>
          <a:p>
            <a:pPr marL="0" indent="0" algn="ctr">
              <a:lnSpc>
                <a:spcPts val="2240"/>
              </a:lnSpc>
              <a:buNone/>
            </a:pPr>
            <a:r>
              <a:rPr lang="en-US" sz="1600" b="1" dirty="0">
                <a:solidFill>
                  <a:srgbClr val="FBFBF8"/>
                </a:solidFill>
                <a:latin typeface="Nunito Sans" pitchFamily="34" charset="0"/>
                <a:ea typeface="Nunito Sans" pitchFamily="34" charset="-122"/>
                <a:cs typeface="Nunito Sans" pitchFamily="34" charset="-120"/>
              </a:rPr>
              <a:t>Functional</a:t>
            </a:r>
            <a:endParaRPr lang="en-US" sz="1600" dirty="0"/>
          </a:p>
        </p:txBody>
      </p:sp>
      <p:sp>
        <p:nvSpPr>
          <p:cNvPr id="16" name="Text 14"/>
          <p:cNvSpPr/>
          <p:nvPr/>
        </p:nvSpPr>
        <p:spPr>
          <a:xfrm>
            <a:off x="6229747" y="4224669"/>
            <a:ext cx="17277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t>
            </a:r>
            <a:endParaRPr lang="en-US" sz="1600" dirty="0"/>
          </a:p>
        </p:txBody>
      </p:sp>
      <p:sp>
        <p:nvSpPr>
          <p:cNvPr id="17" name="Text 15"/>
          <p:cNvSpPr/>
          <p:nvPr/>
        </p:nvSpPr>
        <p:spPr>
          <a:xfrm>
            <a:off x="6504120" y="4148469"/>
            <a:ext cx="1399447" cy="436827"/>
          </a:xfrm>
          <a:prstGeom prst="roundRect">
            <a:avLst>
              <a:gd name="adj" fmla="val 50000"/>
            </a:avLst>
          </a:prstGeom>
          <a:solidFill>
            <a:srgbClr val="14213D"/>
          </a:solidFill>
          <a:ln/>
        </p:spPr>
        <p:txBody>
          <a:bodyPr wrap="none" lIns="0" tIns="0" rIns="0" bIns="0" rtlCol="0" anchor="ctr">
            <a:normAutofit/>
          </a:bodyPr>
          <a:lstStyle/>
          <a:p>
            <a:pPr marL="0" indent="0" algn="ctr">
              <a:lnSpc>
                <a:spcPts val="2240"/>
              </a:lnSpc>
              <a:buNone/>
            </a:pPr>
            <a:r>
              <a:rPr lang="en-US" sz="1600" b="1" dirty="0">
                <a:solidFill>
                  <a:srgbClr val="FBFBF8"/>
                </a:solidFill>
                <a:latin typeface="Nunito Sans" pitchFamily="34" charset="0"/>
                <a:ea typeface="Nunito Sans" pitchFamily="34" charset="-122"/>
                <a:cs typeface="Nunito Sans" pitchFamily="34" charset="-120"/>
              </a:rPr>
              <a:t>Regression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DIMENSIONS AT A GLANCE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Six ways to describe a testing activity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35"/>
          <a:ext cx="10553700" cy="2701727"/>
        </p:xfrm>
        <a:graphic>
          <a:graphicData uri="http://schemas.openxmlformats.org/drawingml/2006/table">
            <a:tbl>
              <a:tblPr/>
              <a:tblGrid>
                <a:gridCol w="2532888">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464362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Dimension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Question it answers</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Options</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Level</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Where / at what scope?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Unit, Integration, System, Acceptance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Characteristic</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What quality are we checking?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Functional, Non-functional</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Execution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Who or what runs it?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Manual, Automated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Code execution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Is the software running?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Static, Dynamic</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Internals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Can we see the code?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Black-box, White-box, Grey-box</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Purpose / timing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Why are we running it now?</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Smoke, Sanity, Regression, Exploratory</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CHARACTERISTIC</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Functional vs. non-functional</a:t>
            </a:r>
            <a:endParaRPr lang="en-US" sz="3200" dirty="0"/>
          </a:p>
        </p:txBody>
      </p:sp>
      <p:sp>
        <p:nvSpPr>
          <p:cNvPr id="4" name="Shape 2"/>
          <p:cNvSpPr/>
          <p:nvPr/>
        </p:nvSpPr>
        <p:spPr>
          <a:xfrm>
            <a:off x="815975" y="1857310"/>
            <a:ext cx="5175250" cy="2948318"/>
          </a:xfrm>
          <a:prstGeom prst="roundRect">
            <a:avLst>
              <a:gd name="adj" fmla="val 3338"/>
            </a:avLst>
          </a:prstGeom>
          <a:solidFill>
            <a:srgbClr val="FFFDF9"/>
          </a:solidFill>
          <a:ln w="6350">
            <a:solidFill>
              <a:srgbClr val="D3DBE6"/>
            </a:solidFill>
            <a:prstDash val="solid"/>
          </a:ln>
        </p:spPr>
      </p:sp>
      <p:sp>
        <p:nvSpPr>
          <p:cNvPr id="5" name="Text 3"/>
          <p:cNvSpPr/>
          <p:nvPr/>
        </p:nvSpPr>
        <p:spPr>
          <a:xfrm>
            <a:off x="1121833" y="2163167"/>
            <a:ext cx="4700439"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omine" pitchFamily="18" charset="0"/>
                <a:ea typeface="Domine" pitchFamily="18" charset="-122"/>
                <a:cs typeface="Domine" pitchFamily="18" charset="-120"/>
              </a:rPr>
              <a:t>Functional</a:t>
            </a:r>
            <a:endParaRPr lang="en-US" sz="2200" dirty="0"/>
          </a:p>
        </p:txBody>
      </p:sp>
      <p:sp>
        <p:nvSpPr>
          <p:cNvPr id="6" name="Text 4"/>
          <p:cNvSpPr/>
          <p:nvPr/>
        </p:nvSpPr>
        <p:spPr>
          <a:xfrm>
            <a:off x="1121833" y="2625396"/>
            <a:ext cx="4700439"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4A5C"/>
                </a:solidFill>
                <a:latin typeface="Nunito Sans" pitchFamily="34" charset="0"/>
                <a:ea typeface="Nunito Sans" pitchFamily="34" charset="-122"/>
                <a:cs typeface="Nunito Sans" pitchFamily="34" charset="-120"/>
              </a:rPr>
              <a:t>What</a:t>
            </a:r>
            <a:r>
              <a:rPr lang="en-US" sz="1600" dirty="0">
                <a:solidFill>
                  <a:srgbClr val="3D4A5C"/>
                </a:solidFill>
                <a:latin typeface="Nunito Sans" pitchFamily="34" charset="0"/>
                <a:ea typeface="Nunito Sans" pitchFamily="34" charset="-122"/>
                <a:cs typeface="Nunito Sans" pitchFamily="34" charset="-120"/>
              </a:rPr>
              <a:t> the system does, based on requirements and user stories</a:t>
            </a:r>
            <a:endParaRPr lang="en-US" sz="1600" dirty="0"/>
          </a:p>
        </p:txBody>
      </p:sp>
      <p:sp>
        <p:nvSpPr>
          <p:cNvPr id="7" name="Text 5"/>
          <p:cNvSpPr/>
          <p:nvPr/>
        </p:nvSpPr>
        <p:spPr>
          <a:xfrm>
            <a:off x="1121833" y="3321248"/>
            <a:ext cx="4563533" cy="802614"/>
          </a:xfrm>
          <a:prstGeom prst="roundRect">
            <a:avLst>
              <a:gd name="adj" fmla="val 9494"/>
            </a:avLst>
          </a:prstGeom>
          <a:solidFill>
            <a:srgbClr val="EEF2F7"/>
          </a:solidFill>
          <a:ln/>
        </p:spPr>
        <p:txBody>
          <a:bodyPr wrap="square" lIns="130082" tIns="130082" rIns="2320" bIns="104682"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“Does clicking </a:t>
            </a:r>
            <a:r>
              <a:rPr lang="en-US" sz="1400" i="1" dirty="0">
                <a:solidFill>
                  <a:srgbClr val="3D4A5C"/>
                </a:solidFill>
                <a:latin typeface="Nunito Sans" pitchFamily="34" charset="0"/>
                <a:ea typeface="Nunito Sans" pitchFamily="34" charset="-122"/>
                <a:cs typeface="Nunito Sans" pitchFamily="34" charset="-120"/>
              </a:rPr>
              <a:t>Login</a:t>
            </a:r>
            <a:r>
              <a:rPr lang="en-US" sz="1400" dirty="0">
                <a:solidFill>
                  <a:srgbClr val="3D4A5C"/>
                </a:solidFill>
                <a:latin typeface="Nunito Sans" pitchFamily="34" charset="0"/>
                <a:ea typeface="Nunito Sans" pitchFamily="34" charset="-122"/>
                <a:cs typeface="Nunito Sans" pitchFamily="34" charset="-120"/>
              </a:rPr>
              <a:t> with valid credentials open the dashboard?”</a:t>
            </a:r>
            <a:endParaRPr lang="en-US" sz="1400" dirty="0"/>
          </a:p>
        </p:txBody>
      </p:sp>
      <p:sp>
        <p:nvSpPr>
          <p:cNvPr id="8" name="Text 6"/>
          <p:cNvSpPr/>
          <p:nvPr/>
        </p:nvSpPr>
        <p:spPr>
          <a:xfrm>
            <a:off x="1121833" y="4250863"/>
            <a:ext cx="47004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Login · search · add to cart · checkout</a:t>
            </a:r>
            <a:endParaRPr lang="en-US" sz="1400" dirty="0"/>
          </a:p>
        </p:txBody>
      </p:sp>
      <p:sp>
        <p:nvSpPr>
          <p:cNvPr id="9" name="Shape 7"/>
          <p:cNvSpPr/>
          <p:nvPr/>
        </p:nvSpPr>
        <p:spPr>
          <a:xfrm>
            <a:off x="6200775" y="1857310"/>
            <a:ext cx="5175250" cy="2948318"/>
          </a:xfrm>
          <a:prstGeom prst="roundRect">
            <a:avLst>
              <a:gd name="adj" fmla="val 3338"/>
            </a:avLst>
          </a:prstGeom>
          <a:solidFill>
            <a:srgbClr val="FFFDF9"/>
          </a:solidFill>
          <a:ln w="6350">
            <a:solidFill>
              <a:srgbClr val="D3DBE6"/>
            </a:solidFill>
            <a:prstDash val="solid"/>
          </a:ln>
        </p:spPr>
      </p:sp>
      <p:sp>
        <p:nvSpPr>
          <p:cNvPr id="10" name="Text 8"/>
          <p:cNvSpPr/>
          <p:nvPr/>
        </p:nvSpPr>
        <p:spPr>
          <a:xfrm>
            <a:off x="6506634" y="2163167"/>
            <a:ext cx="4700439"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omine" pitchFamily="18" charset="0"/>
                <a:ea typeface="Domine" pitchFamily="18" charset="-122"/>
                <a:cs typeface="Domine" pitchFamily="18" charset="-120"/>
              </a:rPr>
              <a:t>Non-functional</a:t>
            </a:r>
            <a:endParaRPr lang="en-US" sz="2200" dirty="0"/>
          </a:p>
        </p:txBody>
      </p:sp>
      <p:sp>
        <p:nvSpPr>
          <p:cNvPr id="11" name="Text 9"/>
          <p:cNvSpPr/>
          <p:nvPr/>
        </p:nvSpPr>
        <p:spPr>
          <a:xfrm>
            <a:off x="6506634" y="2625396"/>
            <a:ext cx="4700439"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4A5C"/>
                </a:solidFill>
                <a:latin typeface="Nunito Sans" pitchFamily="34" charset="0"/>
                <a:ea typeface="Nunito Sans" pitchFamily="34" charset="-122"/>
                <a:cs typeface="Nunito Sans" pitchFamily="34" charset="-120"/>
              </a:rPr>
              <a:t>How well</a:t>
            </a:r>
            <a:r>
              <a:rPr lang="en-US" sz="1600" dirty="0">
                <a:solidFill>
                  <a:srgbClr val="3D4A5C"/>
                </a:solidFill>
                <a:latin typeface="Nunito Sans" pitchFamily="34" charset="0"/>
                <a:ea typeface="Nunito Sans" pitchFamily="34" charset="-122"/>
                <a:cs typeface="Nunito Sans" pitchFamily="34" charset="-120"/>
              </a:rPr>
              <a:t> the system does it: speed, security, ease of use</a:t>
            </a:r>
            <a:endParaRPr lang="en-US" sz="1600" dirty="0"/>
          </a:p>
        </p:txBody>
      </p:sp>
      <p:sp>
        <p:nvSpPr>
          <p:cNvPr id="12" name="Text 10"/>
          <p:cNvSpPr/>
          <p:nvPr/>
        </p:nvSpPr>
        <p:spPr>
          <a:xfrm>
            <a:off x="6506634" y="3321248"/>
            <a:ext cx="4563533" cy="802614"/>
          </a:xfrm>
          <a:prstGeom prst="roundRect">
            <a:avLst>
              <a:gd name="adj" fmla="val 9494"/>
            </a:avLst>
          </a:prstGeom>
          <a:solidFill>
            <a:srgbClr val="EEF2F7"/>
          </a:solidFill>
          <a:ln/>
        </p:spPr>
        <p:txBody>
          <a:bodyPr wrap="square" lIns="130082" tIns="130082" rIns="2320" bIns="104682"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“Does login respond within 2 seconds with 1,000 users online?”</a:t>
            </a:r>
            <a:endParaRPr lang="en-US" sz="1400" dirty="0"/>
          </a:p>
        </p:txBody>
      </p:sp>
      <p:sp>
        <p:nvSpPr>
          <p:cNvPr id="13" name="Text 11"/>
          <p:cNvSpPr/>
          <p:nvPr/>
        </p:nvSpPr>
        <p:spPr>
          <a:xfrm>
            <a:off x="6506634" y="4250863"/>
            <a:ext cx="47004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Performance · security · usability · compatibility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EXECUTION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Manual vs. automated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5"/>
          <a:ext cx="10553700" cy="2489862"/>
        </p:xfrm>
        <a:graphic>
          <a:graphicData uri="http://schemas.openxmlformats.org/drawingml/2006/table">
            <a:tbl>
              <a:tblPr/>
              <a:tblGrid>
                <a:gridCol w="211074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Manual</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Automated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Run by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 human tester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 script or tool (Selenium, Playwright, JUnit, Postman…)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Best for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New features, exploratory work, usability, changing UI</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Regression, data-driven tests, smoke tests in CI/CD, load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Strengths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Judgement, intuition, spots visual problems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Fast, repeatable, runs overnight, scales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Weaknesses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Slow, tedious, prone to human error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Costly to build and maintain; checks only what it is told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458295"/>
            <a:ext cx="10566400" cy="553707"/>
          </a:xfrm>
          <a:prstGeom prst="roundRect">
            <a:avLst>
              <a:gd name="adj" fmla="val 13762"/>
            </a:avLst>
          </a:prstGeom>
          <a:solidFill>
            <a:srgbClr val="FBEBDD"/>
          </a:solidFill>
          <a:ln/>
        </p:spPr>
        <p:txBody>
          <a:bodyPr wrap="square" lIns="180882" tIns="130082" rIns="0" bIns="104682"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Automation </a:t>
            </a:r>
            <a:r>
              <a:rPr lang="en-US" sz="1400" b="1" dirty="0">
                <a:solidFill>
                  <a:srgbClr val="14213D"/>
                </a:solidFill>
                <a:latin typeface="Nunito Sans" pitchFamily="34" charset="0"/>
                <a:ea typeface="Nunito Sans" pitchFamily="34" charset="-122"/>
                <a:cs typeface="Nunito Sans" pitchFamily="34" charset="-120"/>
              </a:rPr>
              <a:t>checks</a:t>
            </a:r>
            <a:r>
              <a:rPr lang="en-US" sz="1400" dirty="0">
                <a:solidFill>
                  <a:srgbClr val="14213D"/>
                </a:solidFill>
                <a:latin typeface="Nunito Sans" pitchFamily="34" charset="0"/>
                <a:ea typeface="Nunito Sans" pitchFamily="34" charset="-122"/>
                <a:cs typeface="Nunito Sans" pitchFamily="34" charset="-120"/>
              </a:rPr>
              <a:t> known expectations. Humans </a:t>
            </a:r>
            <a:r>
              <a:rPr lang="en-US" sz="1400" b="1" dirty="0">
                <a:solidFill>
                  <a:srgbClr val="14213D"/>
                </a:solidFill>
                <a:latin typeface="Nunito Sans" pitchFamily="34" charset="0"/>
                <a:ea typeface="Nunito Sans" pitchFamily="34" charset="-122"/>
                <a:cs typeface="Nunito Sans" pitchFamily="34" charset="-120"/>
              </a:rPr>
              <a:t>explore</a:t>
            </a:r>
            <a:r>
              <a:rPr lang="en-US" sz="1400" dirty="0">
                <a:solidFill>
                  <a:srgbClr val="14213D"/>
                </a:solidFill>
                <a:latin typeface="Nunito Sans" pitchFamily="34" charset="0"/>
                <a:ea typeface="Nunito Sans" pitchFamily="34" charset="-122"/>
                <a:cs typeface="Nunito Sans" pitchFamily="34" charset="-120"/>
              </a:rPr>
              <a:t> the unknowns. Most teams use both.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CODE EXECUTION · KNOWLEDGE OF INTERNALS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Static, dynamic, black-box, white-box</a:t>
            </a:r>
            <a:endParaRPr lang="en-US" sz="3200" dirty="0"/>
          </a:p>
        </p:txBody>
      </p:sp>
      <p:sp>
        <p:nvSpPr>
          <p:cNvPr id="4" name="Shape 2"/>
          <p:cNvSpPr/>
          <p:nvPr/>
        </p:nvSpPr>
        <p:spPr>
          <a:xfrm>
            <a:off x="815975" y="1755710"/>
            <a:ext cx="5200650" cy="1307637"/>
          </a:xfrm>
          <a:prstGeom prst="roundRect">
            <a:avLst>
              <a:gd name="adj" fmla="val 7527"/>
            </a:avLst>
          </a:prstGeom>
          <a:solidFill>
            <a:srgbClr val="FFFDF9"/>
          </a:solidFill>
          <a:ln w="6350">
            <a:solidFill>
              <a:srgbClr val="D3DBE6"/>
            </a:solidFill>
            <a:prstDash val="solid"/>
          </a:ln>
        </p:spPr>
      </p:sp>
      <p:sp>
        <p:nvSpPr>
          <p:cNvPr id="5" name="Text 3"/>
          <p:cNvSpPr/>
          <p:nvPr/>
        </p:nvSpPr>
        <p:spPr>
          <a:xfrm>
            <a:off x="1045633" y="1985367"/>
            <a:ext cx="488357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5C9E"/>
                </a:solidFill>
                <a:latin typeface="Nunito Sans" pitchFamily="34" charset="0"/>
                <a:ea typeface="Nunito Sans" pitchFamily="34" charset="-122"/>
                <a:cs typeface="Nunito Sans" pitchFamily="34" charset="-120"/>
              </a:rPr>
              <a:t>Static: code not run</a:t>
            </a:r>
            <a:endParaRPr lang="en-US" sz="1800" dirty="0"/>
          </a:p>
        </p:txBody>
      </p:sp>
      <p:sp>
        <p:nvSpPr>
          <p:cNvPr id="6" name="Text 4"/>
          <p:cNvSpPr/>
          <p:nvPr/>
        </p:nvSpPr>
        <p:spPr>
          <a:xfrm>
            <a:off x="1045633" y="2335876"/>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Reviews, walkthroughs, static analysis of requirements, designs and code. The cheapest place to find defects.</a:t>
            </a:r>
            <a:endParaRPr lang="en-US" sz="1400" dirty="0"/>
          </a:p>
        </p:txBody>
      </p:sp>
      <p:sp>
        <p:nvSpPr>
          <p:cNvPr id="7" name="Shape 5"/>
          <p:cNvSpPr/>
          <p:nvPr/>
        </p:nvSpPr>
        <p:spPr>
          <a:xfrm>
            <a:off x="6175375" y="1755710"/>
            <a:ext cx="5200650" cy="1307637"/>
          </a:xfrm>
          <a:prstGeom prst="roundRect">
            <a:avLst>
              <a:gd name="adj" fmla="val 7527"/>
            </a:avLst>
          </a:prstGeom>
          <a:solidFill>
            <a:srgbClr val="FFFDF9"/>
          </a:solidFill>
          <a:ln w="6350">
            <a:solidFill>
              <a:srgbClr val="D3DBE6"/>
            </a:solidFill>
            <a:prstDash val="solid"/>
          </a:ln>
        </p:spPr>
      </p:sp>
      <p:sp>
        <p:nvSpPr>
          <p:cNvPr id="8" name="Text 6"/>
          <p:cNvSpPr/>
          <p:nvPr/>
        </p:nvSpPr>
        <p:spPr>
          <a:xfrm>
            <a:off x="6405033" y="1985367"/>
            <a:ext cx="488357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5C9E"/>
                </a:solidFill>
                <a:latin typeface="Nunito Sans" pitchFamily="34" charset="0"/>
                <a:ea typeface="Nunito Sans" pitchFamily="34" charset="-122"/>
                <a:cs typeface="Nunito Sans" pitchFamily="34" charset="-120"/>
              </a:rPr>
              <a:t>Dynamic: code is run</a:t>
            </a:r>
            <a:endParaRPr lang="en-US" sz="1800" dirty="0"/>
          </a:p>
        </p:txBody>
      </p:sp>
      <p:sp>
        <p:nvSpPr>
          <p:cNvPr id="9" name="Text 7"/>
          <p:cNvSpPr/>
          <p:nvPr/>
        </p:nvSpPr>
        <p:spPr>
          <a:xfrm>
            <a:off x="6405033" y="2335876"/>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Executing test cases, exploratory sessions and automated runs against the working application.</a:t>
            </a:r>
            <a:endParaRPr lang="en-US" sz="1400" dirty="0"/>
          </a:p>
        </p:txBody>
      </p:sp>
      <p:sp>
        <p:nvSpPr>
          <p:cNvPr id="10" name="Shape 8"/>
          <p:cNvSpPr/>
          <p:nvPr/>
        </p:nvSpPr>
        <p:spPr>
          <a:xfrm>
            <a:off x="815975" y="3222098"/>
            <a:ext cx="5200650" cy="1307637"/>
          </a:xfrm>
          <a:prstGeom prst="roundRect">
            <a:avLst>
              <a:gd name="adj" fmla="val 7527"/>
            </a:avLst>
          </a:prstGeom>
          <a:solidFill>
            <a:srgbClr val="FFFDF9"/>
          </a:solidFill>
          <a:ln w="6350">
            <a:solidFill>
              <a:srgbClr val="D3DBE6"/>
            </a:solidFill>
            <a:prstDash val="solid"/>
          </a:ln>
        </p:spPr>
      </p:sp>
      <p:sp>
        <p:nvSpPr>
          <p:cNvPr id="11" name="Text 9"/>
          <p:cNvSpPr/>
          <p:nvPr/>
        </p:nvSpPr>
        <p:spPr>
          <a:xfrm>
            <a:off x="1045633" y="3451755"/>
            <a:ext cx="488357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14F0A"/>
                </a:solidFill>
                <a:latin typeface="Nunito Sans" pitchFamily="34" charset="0"/>
                <a:ea typeface="Nunito Sans" pitchFamily="34" charset="-122"/>
                <a:cs typeface="Nunito Sans" pitchFamily="34" charset="-120"/>
              </a:rPr>
              <a:t>Black-box: no code view</a:t>
            </a:r>
            <a:endParaRPr lang="en-US" sz="1800" dirty="0"/>
          </a:p>
        </p:txBody>
      </p:sp>
      <p:sp>
        <p:nvSpPr>
          <p:cNvPr id="12" name="Text 10"/>
          <p:cNvSpPr/>
          <p:nvPr/>
        </p:nvSpPr>
        <p:spPr>
          <a:xfrm>
            <a:off x="1045633" y="3802261"/>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Tests designed from requirements, inputs and outputs. Usually QA testers and business users.</a:t>
            </a:r>
            <a:endParaRPr lang="en-US" sz="1400" dirty="0"/>
          </a:p>
        </p:txBody>
      </p:sp>
      <p:sp>
        <p:nvSpPr>
          <p:cNvPr id="13" name="Shape 11"/>
          <p:cNvSpPr/>
          <p:nvPr/>
        </p:nvSpPr>
        <p:spPr>
          <a:xfrm>
            <a:off x="6175375" y="3222098"/>
            <a:ext cx="5200650" cy="1307637"/>
          </a:xfrm>
          <a:prstGeom prst="roundRect">
            <a:avLst>
              <a:gd name="adj" fmla="val 7527"/>
            </a:avLst>
          </a:prstGeom>
          <a:solidFill>
            <a:srgbClr val="FFFDF9"/>
          </a:solidFill>
          <a:ln w="6350">
            <a:solidFill>
              <a:srgbClr val="D3DBE6"/>
            </a:solidFill>
            <a:prstDash val="solid"/>
          </a:ln>
        </p:spPr>
      </p:sp>
      <p:sp>
        <p:nvSpPr>
          <p:cNvPr id="14" name="Text 12"/>
          <p:cNvSpPr/>
          <p:nvPr/>
        </p:nvSpPr>
        <p:spPr>
          <a:xfrm>
            <a:off x="6405033" y="3451755"/>
            <a:ext cx="488357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14F0A"/>
                </a:solidFill>
                <a:latin typeface="Nunito Sans" pitchFamily="34" charset="0"/>
                <a:ea typeface="Nunito Sans" pitchFamily="34" charset="-122"/>
                <a:cs typeface="Nunito Sans" pitchFamily="34" charset="-120"/>
              </a:rPr>
              <a:t>White-box: full code view</a:t>
            </a:r>
            <a:endParaRPr lang="en-US" sz="1800" dirty="0"/>
          </a:p>
        </p:txBody>
      </p:sp>
      <p:sp>
        <p:nvSpPr>
          <p:cNvPr id="15" name="Text 13"/>
          <p:cNvSpPr/>
          <p:nvPr/>
        </p:nvSpPr>
        <p:spPr>
          <a:xfrm>
            <a:off x="6405033" y="3802261"/>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Tests designed from code paths and branches. Usually developers and SDETs.</a:t>
            </a:r>
            <a:endParaRPr lang="en-US" sz="1400" dirty="0"/>
          </a:p>
        </p:txBody>
      </p:sp>
      <p:sp>
        <p:nvSpPr>
          <p:cNvPr id="16" name="Text 14"/>
          <p:cNvSpPr/>
          <p:nvPr/>
        </p:nvSpPr>
        <p:spPr>
          <a:xfrm>
            <a:off x="812800" y="473610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Grey-box</a:t>
            </a:r>
            <a:r>
              <a:rPr lang="en-US" sz="1400" dirty="0">
                <a:solidFill>
                  <a:srgbClr val="3D4A5C"/>
                </a:solidFill>
                <a:latin typeface="Nunito Sans" pitchFamily="34" charset="0"/>
                <a:ea typeface="Nunito Sans" pitchFamily="34" charset="-122"/>
                <a:cs typeface="Nunito Sans" pitchFamily="34" charset="-120"/>
              </a:rPr>
              <a:t> mixes both: place an order in the UI, then check the </a:t>
            </a:r>
            <a:r>
              <a:rPr lang="en-US" sz="1400" i="1" dirty="0">
                <a:solidFill>
                  <a:srgbClr val="3D4A5C"/>
                </a:solidFill>
                <a:latin typeface="Nunito Sans" pitchFamily="34" charset="0"/>
                <a:ea typeface="Nunito Sans" pitchFamily="34" charset="-122"/>
                <a:cs typeface="Nunito Sans" pitchFamily="34" charset="-120"/>
              </a:rPr>
              <a:t>orders</a:t>
            </a:r>
            <a:r>
              <a:rPr lang="en-US" sz="1400" dirty="0">
                <a:solidFill>
                  <a:srgbClr val="3D4A5C"/>
                </a:solidFill>
                <a:latin typeface="Nunito Sans" pitchFamily="34" charset="0"/>
                <a:ea typeface="Nunito Sans" pitchFamily="34" charset="-122"/>
                <a:cs typeface="Nunito Sans" pitchFamily="34" charset="-120"/>
              </a:rPr>
              <a:t> table.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TESTING LEVELS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From the smallest piece to the customer's hands</a:t>
            </a:r>
            <a:endParaRPr lang="en-US" sz="3200" dirty="0"/>
          </a:p>
        </p:txBody>
      </p:sp>
      <p:sp>
        <p:nvSpPr>
          <p:cNvPr id="4" name="Text 2"/>
          <p:cNvSpPr/>
          <p:nvPr/>
        </p:nvSpPr>
        <p:spPr>
          <a:xfrm>
            <a:off x="1574800" y="1854135"/>
            <a:ext cx="2286000" cy="607020"/>
          </a:xfrm>
          <a:prstGeom prst="roundRect">
            <a:avLst>
              <a:gd name="adj" fmla="val 12553"/>
            </a:avLst>
          </a:prstGeom>
          <a:solidFill>
            <a:srgbClr val="14213D"/>
          </a:solidFill>
          <a:ln/>
        </p:spPr>
        <p:txBody>
          <a:bodyPr wrap="square" lIns="100364" tIns="130082" rIns="100364" bIns="104682" rtlCol="0" anchor="t">
            <a:normAutofit/>
          </a:bodyPr>
          <a:lstStyle/>
          <a:p>
            <a:pPr marL="0" indent="0" algn="ctr">
              <a:lnSpc>
                <a:spcPts val="2380"/>
              </a:lnSpc>
              <a:buNone/>
            </a:pPr>
            <a:r>
              <a:rPr lang="en-US" sz="1700" b="1" dirty="0">
                <a:solidFill>
                  <a:srgbClr val="FBFBF8"/>
                </a:solidFill>
                <a:latin typeface="Nunito Sans" pitchFamily="34" charset="0"/>
                <a:ea typeface="Nunito Sans" pitchFamily="34" charset="-122"/>
                <a:cs typeface="Nunito Sans" pitchFamily="34" charset="-120"/>
              </a:rPr>
              <a:t>Acceptance</a:t>
            </a:r>
            <a:endParaRPr lang="en-US" sz="1700" dirty="0"/>
          </a:p>
        </p:txBody>
      </p:sp>
      <p:sp>
        <p:nvSpPr>
          <p:cNvPr id="5" name="Text 3"/>
          <p:cNvSpPr/>
          <p:nvPr/>
        </p:nvSpPr>
        <p:spPr>
          <a:xfrm>
            <a:off x="4876800" y="2033191"/>
            <a:ext cx="669747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Business users / PO.</a:t>
            </a:r>
            <a:r>
              <a:rPr lang="en-US" sz="1400" dirty="0">
                <a:solidFill>
                  <a:srgbClr val="3D4A5C"/>
                </a:solidFill>
                <a:latin typeface="Nunito Sans" pitchFamily="34" charset="0"/>
                <a:ea typeface="Nunito Sans" pitchFamily="34" charset="-122"/>
                <a:cs typeface="Nunito Sans" pitchFamily="34" charset="-120"/>
              </a:rPr>
              <a:t> Does it meet business needs? UAT, alpha, beta.</a:t>
            </a:r>
            <a:endParaRPr lang="en-US" sz="1400" dirty="0"/>
          </a:p>
        </p:txBody>
      </p:sp>
      <p:sp>
        <p:nvSpPr>
          <p:cNvPr id="6" name="Text 4"/>
          <p:cNvSpPr/>
          <p:nvPr/>
        </p:nvSpPr>
        <p:spPr>
          <a:xfrm>
            <a:off x="1320800" y="2562755"/>
            <a:ext cx="2794000" cy="607020"/>
          </a:xfrm>
          <a:prstGeom prst="roundRect">
            <a:avLst>
              <a:gd name="adj" fmla="val 12553"/>
            </a:avLst>
          </a:prstGeom>
          <a:solidFill>
            <a:srgbClr val="2B5C9E"/>
          </a:solidFill>
          <a:ln/>
        </p:spPr>
        <p:txBody>
          <a:bodyPr wrap="square" lIns="92744" tIns="130082" rIns="92744" bIns="104682" rtlCol="0" anchor="t">
            <a:normAutofit/>
          </a:bodyPr>
          <a:lstStyle/>
          <a:p>
            <a:pPr marL="0" indent="0" algn="ctr">
              <a:lnSpc>
                <a:spcPts val="2380"/>
              </a:lnSpc>
              <a:buNone/>
            </a:pPr>
            <a:r>
              <a:rPr lang="en-US" sz="1700" b="1" dirty="0">
                <a:solidFill>
                  <a:srgbClr val="FBFBF8"/>
                </a:solidFill>
                <a:latin typeface="Nunito Sans" pitchFamily="34" charset="0"/>
                <a:ea typeface="Nunito Sans" pitchFamily="34" charset="-122"/>
                <a:cs typeface="Nunito Sans" pitchFamily="34" charset="-120"/>
              </a:rPr>
              <a:t>System</a:t>
            </a:r>
            <a:endParaRPr lang="en-US" sz="1700" dirty="0"/>
          </a:p>
        </p:txBody>
      </p:sp>
      <p:sp>
        <p:nvSpPr>
          <p:cNvPr id="7" name="Text 5"/>
          <p:cNvSpPr/>
          <p:nvPr/>
        </p:nvSpPr>
        <p:spPr>
          <a:xfrm>
            <a:off x="4876800" y="2617326"/>
            <a:ext cx="6697472"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QA team.</a:t>
            </a:r>
            <a:r>
              <a:rPr lang="en-US" sz="1400" dirty="0">
                <a:solidFill>
                  <a:srgbClr val="3D4A5C"/>
                </a:solidFill>
                <a:latin typeface="Nunito Sans" pitchFamily="34" charset="0"/>
                <a:ea typeface="Nunito Sans" pitchFamily="34" charset="-122"/>
                <a:cs typeface="Nunito Sans" pitchFamily="34" charset="-120"/>
              </a:rPr>
              <a:t> Does the complete app work end to end? Search → cart → pay → email.</a:t>
            </a:r>
            <a:endParaRPr lang="en-US" sz="1400" dirty="0"/>
          </a:p>
        </p:txBody>
      </p:sp>
      <p:sp>
        <p:nvSpPr>
          <p:cNvPr id="8" name="Text 6"/>
          <p:cNvSpPr/>
          <p:nvPr/>
        </p:nvSpPr>
        <p:spPr>
          <a:xfrm>
            <a:off x="1066800" y="3271376"/>
            <a:ext cx="3302000" cy="607020"/>
          </a:xfrm>
          <a:prstGeom prst="roundRect">
            <a:avLst>
              <a:gd name="adj" fmla="val 12553"/>
            </a:avLst>
          </a:prstGeom>
          <a:solidFill>
            <a:srgbClr val="4A7BBF"/>
          </a:solidFill>
          <a:ln/>
        </p:spPr>
        <p:txBody>
          <a:bodyPr wrap="square" lIns="85124" tIns="130082" rIns="85124" bIns="104682" rtlCol="0" anchor="t">
            <a:normAutofit/>
          </a:bodyPr>
          <a:lstStyle/>
          <a:p>
            <a:pPr marL="0" indent="0" algn="ctr">
              <a:lnSpc>
                <a:spcPts val="2380"/>
              </a:lnSpc>
              <a:buNone/>
            </a:pPr>
            <a:r>
              <a:rPr lang="en-US" sz="1700" b="1" dirty="0">
                <a:solidFill>
                  <a:srgbClr val="FBFBF8"/>
                </a:solidFill>
                <a:latin typeface="Nunito Sans" pitchFamily="34" charset="0"/>
                <a:ea typeface="Nunito Sans" pitchFamily="34" charset="-122"/>
                <a:cs typeface="Nunito Sans" pitchFamily="34" charset="-120"/>
              </a:rPr>
              <a:t>Integration</a:t>
            </a:r>
            <a:endParaRPr lang="en-US" sz="1700" dirty="0"/>
          </a:p>
        </p:txBody>
      </p:sp>
      <p:sp>
        <p:nvSpPr>
          <p:cNvPr id="9" name="Text 7"/>
          <p:cNvSpPr/>
          <p:nvPr/>
        </p:nvSpPr>
        <p:spPr>
          <a:xfrm>
            <a:off x="4876800" y="3450431"/>
            <a:ext cx="73152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Dev + QA.</a:t>
            </a:r>
            <a:r>
              <a:rPr lang="en-US" sz="1400" dirty="0">
                <a:solidFill>
                  <a:srgbClr val="3D4A5C"/>
                </a:solidFill>
                <a:latin typeface="Nunito Sans" pitchFamily="34" charset="0"/>
                <a:ea typeface="Nunito Sans" pitchFamily="34" charset="-122"/>
                <a:cs typeface="Nunito Sans" pitchFamily="34" charset="-120"/>
              </a:rPr>
              <a:t> Do components work together? Cart sends the right total to Payment.</a:t>
            </a:r>
            <a:endParaRPr lang="en-US" sz="1400" dirty="0"/>
          </a:p>
        </p:txBody>
      </p:sp>
      <p:sp>
        <p:nvSpPr>
          <p:cNvPr id="10" name="Text 8"/>
          <p:cNvSpPr/>
          <p:nvPr/>
        </p:nvSpPr>
        <p:spPr>
          <a:xfrm>
            <a:off x="812800" y="3979996"/>
            <a:ext cx="3810000" cy="607020"/>
          </a:xfrm>
          <a:prstGeom prst="roundRect">
            <a:avLst>
              <a:gd name="adj" fmla="val 12553"/>
            </a:avLst>
          </a:prstGeom>
          <a:solidFill>
            <a:srgbClr val="F0A04B"/>
          </a:solidFill>
          <a:ln/>
        </p:spPr>
        <p:txBody>
          <a:bodyPr wrap="square" lIns="77504" tIns="130082" rIns="77504" bIns="104682" rtlCol="0" anchor="t">
            <a:normAutofit/>
          </a:bodyPr>
          <a:lstStyle/>
          <a:p>
            <a:pPr marL="0" indent="0" algn="ctr">
              <a:lnSpc>
                <a:spcPts val="2380"/>
              </a:lnSpc>
              <a:buNone/>
            </a:pPr>
            <a:r>
              <a:rPr lang="en-US" sz="1700" b="1" dirty="0">
                <a:solidFill>
                  <a:srgbClr val="14213D"/>
                </a:solidFill>
                <a:latin typeface="Nunito Sans" pitchFamily="34" charset="0"/>
                <a:ea typeface="Nunito Sans" pitchFamily="34" charset="-122"/>
                <a:cs typeface="Nunito Sans" pitchFamily="34" charset="-120"/>
              </a:rPr>
              <a:t>Unit</a:t>
            </a:r>
            <a:endParaRPr lang="en-US" sz="1700" dirty="0"/>
          </a:p>
        </p:txBody>
      </p:sp>
      <p:sp>
        <p:nvSpPr>
          <p:cNvPr id="11" name="Text 9"/>
          <p:cNvSpPr/>
          <p:nvPr/>
        </p:nvSpPr>
        <p:spPr>
          <a:xfrm>
            <a:off x="4876800" y="4159052"/>
            <a:ext cx="73152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Developers.</a:t>
            </a:r>
            <a:r>
              <a:rPr lang="en-US" sz="1400" dirty="0">
                <a:solidFill>
                  <a:srgbClr val="3D4A5C"/>
                </a:solidFill>
                <a:latin typeface="Nunito Sans" pitchFamily="34" charset="0"/>
                <a:ea typeface="Nunito Sans" pitchFamily="34" charset="-122"/>
                <a:cs typeface="Nunito Sans" pitchFamily="34" charset="-120"/>
              </a:rPr>
              <a:t> Does each small piece work alone? calculateDiscount(100, 10) = 90.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PURPOSE AND TIMING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Regression testing</a:t>
            </a:r>
            <a:endParaRPr lang="en-US" sz="3200" dirty="0"/>
          </a:p>
        </p:txBody>
      </p:sp>
      <p:sp>
        <p:nvSpPr>
          <p:cNvPr id="4" name="Text 2"/>
          <p:cNvSpPr/>
          <p:nvPr/>
        </p:nvSpPr>
        <p:spPr>
          <a:xfrm>
            <a:off x="812800" y="1854138"/>
            <a:ext cx="6409690" cy="751814"/>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4213D"/>
                </a:solidFill>
                <a:latin typeface="Domine" pitchFamily="18" charset="0"/>
                <a:ea typeface="Domine" pitchFamily="18" charset="-122"/>
                <a:cs typeface="Domine" pitchFamily="18" charset="-120"/>
              </a:rPr>
              <a:t>Re-run existing tests to confirm a change has not broken something that used to work.</a:t>
            </a:r>
            <a:endParaRPr lang="en-US" sz="2200" dirty="0"/>
          </a:p>
        </p:txBody>
      </p:sp>
      <p:sp>
        <p:nvSpPr>
          <p:cNvPr id="5" name="Text 3"/>
          <p:cNvSpPr/>
          <p:nvPr/>
        </p:nvSpPr>
        <p:spPr>
          <a:xfrm>
            <a:off x="812800" y="2783749"/>
            <a:ext cx="640969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Example: a developer changes the discount-code logic, so you re-test the cart total, tax and checkout.</a:t>
            </a:r>
            <a:endParaRPr lang="en-US" sz="1600" dirty="0"/>
          </a:p>
        </p:txBody>
      </p:sp>
      <p:sp>
        <p:nvSpPr>
          <p:cNvPr id="6" name="Shape 4"/>
          <p:cNvSpPr/>
          <p:nvPr/>
        </p:nvSpPr>
        <p:spPr>
          <a:xfrm>
            <a:off x="7442200" y="1854138"/>
            <a:ext cx="3937000" cy="3022534"/>
          </a:xfrm>
          <a:prstGeom prst="roundRect">
            <a:avLst>
              <a:gd name="adj" fmla="val 3361"/>
            </a:avLst>
          </a:prstGeom>
          <a:solidFill>
            <a:srgbClr val="EEF2F7"/>
          </a:solidFill>
          <a:ln/>
        </p:spPr>
      </p:sp>
      <p:sp>
        <p:nvSpPr>
          <p:cNvPr id="7" name="Text 5"/>
          <p:cNvSpPr/>
          <p:nvPr/>
        </p:nvSpPr>
        <p:spPr>
          <a:xfrm>
            <a:off x="7696200" y="2108138"/>
            <a:ext cx="353187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Run it after…</a:t>
            </a:r>
            <a:endParaRPr lang="en-US" sz="1600" dirty="0"/>
          </a:p>
        </p:txBody>
      </p:sp>
      <p:sp>
        <p:nvSpPr>
          <p:cNvPr id="8" name="Text 6"/>
          <p:cNvSpPr/>
          <p:nvPr/>
        </p:nvSpPr>
        <p:spPr>
          <a:xfrm>
            <a:off x="7780782" y="2453549"/>
            <a:ext cx="3439668" cy="10922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Bug fixes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New features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Configuration changes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Upgrades and migrations</a:t>
            </a:r>
            <a:endParaRPr lang="en-US" sz="1400" dirty="0"/>
          </a:p>
        </p:txBody>
      </p:sp>
      <p:sp>
        <p:nvSpPr>
          <p:cNvPr id="9" name="Text 7"/>
          <p:cNvSpPr/>
          <p:nvPr/>
        </p:nvSpPr>
        <p:spPr>
          <a:xfrm>
            <a:off x="7696200" y="3621949"/>
            <a:ext cx="3429000" cy="1000720"/>
          </a:xfrm>
          <a:prstGeom prst="roundRect">
            <a:avLst>
              <a:gd name="adj" fmla="val 7615"/>
            </a:avLst>
          </a:prstGeom>
          <a:solidFill>
            <a:srgbClr val="FBEBDD"/>
          </a:solidFill>
          <a:ln/>
        </p:spPr>
        <p:txBody>
          <a:bodyPr wrap="square" lIns="130082" tIns="104682" rIns="36356" bIns="79282"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Suites grow every release, so regression is the </a:t>
            </a:r>
            <a:r>
              <a:rPr lang="en-US" sz="1400" b="1" dirty="0">
                <a:solidFill>
                  <a:srgbClr val="14213D"/>
                </a:solidFill>
                <a:latin typeface="Nunito Sans" pitchFamily="34" charset="0"/>
                <a:ea typeface="Nunito Sans" pitchFamily="34" charset="-122"/>
                <a:cs typeface="Nunito Sans" pitchFamily="34" charset="-120"/>
              </a:rPr>
              <a:t>#1 candidate for automation</a:t>
            </a:r>
            <a:r>
              <a:rPr lang="en-US" sz="1400" dirty="0">
                <a:solidFill>
                  <a:srgbClr val="14213D"/>
                </a:solidFill>
                <a:latin typeface="Nunito Sans" pitchFamily="34" charset="0"/>
                <a:ea typeface="Nunito Sans" pitchFamily="34" charset="-122"/>
                <a:cs typeface="Nunito Sans" pitchFamily="34" charset="-120"/>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PURPOSE AND TIMING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Smoke vs. sanity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564673"/>
        </p:xfrm>
        <a:graphic>
          <a:graphicData uri="http://schemas.openxmlformats.org/drawingml/2006/table">
            <a:tbl>
              <a:tblPr/>
              <a:tblGrid>
                <a:gridCol w="211074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385961">
                <a:tc>
                  <a:txBody>
                    <a:bodyPr/>
                    <a:lstStyle/>
                    <a:p>
                      <a:pPr marL="0" indent="0">
                        <a:lnSpc>
                          <a:spcPts val="1960"/>
                        </a:lnSpc>
                        <a:buNone/>
                      </a:pP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Smoke</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Sanity</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Scope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Broad and shallow: the whole app</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Narrow and deep: one area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Trigger</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A new build is deployed</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A small fix or change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Question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“Is this build testable?”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“Is this fix working?”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634868">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Example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App launches, login works, home page loads, add to cart works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“Apply Coupon” bug fixed: check that coupons now apply correctly</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If it fails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Reject the build; no deeper testing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Skip full regression until it is fixed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PURPOSE AND TIMING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Exploratory testing</a:t>
            </a:r>
            <a:endParaRPr lang="en-US" sz="3200" dirty="0"/>
          </a:p>
        </p:txBody>
      </p:sp>
      <p:sp>
        <p:nvSpPr>
          <p:cNvPr id="4" name="Text 2"/>
          <p:cNvSpPr/>
          <p:nvPr/>
        </p:nvSpPr>
        <p:spPr>
          <a:xfrm>
            <a:off x="812800" y="1854138"/>
            <a:ext cx="9156700" cy="751814"/>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4213D"/>
                </a:solidFill>
                <a:latin typeface="Domine" pitchFamily="18" charset="0"/>
                <a:ea typeface="Domine" pitchFamily="18" charset="-122"/>
                <a:cs typeface="Domine" pitchFamily="18" charset="-120"/>
              </a:rPr>
              <a:t>Learning, test design and execution happen </a:t>
            </a:r>
            <a:r>
              <a:rPr lang="en-US" sz="2200" dirty="0">
                <a:solidFill>
                  <a:srgbClr val="A14F0A"/>
                </a:solidFill>
                <a:latin typeface="Domine" pitchFamily="18" charset="0"/>
                <a:ea typeface="Domine" pitchFamily="18" charset="-122"/>
                <a:cs typeface="Domine" pitchFamily="18" charset="-120"/>
              </a:rPr>
              <a:t>at the same time</a:t>
            </a:r>
            <a:r>
              <a:rPr lang="en-US" sz="2200" dirty="0">
                <a:solidFill>
                  <a:srgbClr val="14213D"/>
                </a:solidFill>
                <a:latin typeface="Domine" pitchFamily="18" charset="0"/>
                <a:ea typeface="Domine" pitchFamily="18" charset="-122"/>
                <a:cs typeface="Domine" pitchFamily="18" charset="-120"/>
              </a:rPr>
              <a:t>. No pre-written scripts.</a:t>
            </a:r>
            <a:endParaRPr lang="en-US" sz="2200" dirty="0"/>
          </a:p>
        </p:txBody>
      </p:sp>
      <p:sp>
        <p:nvSpPr>
          <p:cNvPr id="5" name="Shape 3"/>
          <p:cNvSpPr/>
          <p:nvPr/>
        </p:nvSpPr>
        <p:spPr>
          <a:xfrm>
            <a:off x="812800" y="2885349"/>
            <a:ext cx="3420533" cy="1523934"/>
          </a:xfrm>
          <a:prstGeom prst="roundRect">
            <a:avLst>
              <a:gd name="adj" fmla="val 6667"/>
            </a:avLst>
          </a:prstGeom>
          <a:solidFill>
            <a:srgbClr val="EEF2F7"/>
          </a:solidFill>
          <a:ln/>
        </p:spPr>
      </p:sp>
      <p:sp>
        <p:nvSpPr>
          <p:cNvPr id="6" name="Text 4"/>
          <p:cNvSpPr/>
          <p:nvPr/>
        </p:nvSpPr>
        <p:spPr>
          <a:xfrm>
            <a:off x="1041400" y="3113949"/>
            <a:ext cx="305223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Charter</a:t>
            </a:r>
            <a:endParaRPr lang="en-US" sz="1600" dirty="0"/>
          </a:p>
        </p:txBody>
      </p:sp>
      <p:sp>
        <p:nvSpPr>
          <p:cNvPr id="7" name="Text 5"/>
          <p:cNvSpPr/>
          <p:nvPr/>
        </p:nvSpPr>
        <p:spPr>
          <a:xfrm>
            <a:off x="1041400" y="3433961"/>
            <a:ext cx="3052233"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“Explore checkout with unusual addresses to discover validation issues.”</a:t>
            </a:r>
            <a:endParaRPr lang="en-US" sz="1400" dirty="0"/>
          </a:p>
        </p:txBody>
      </p:sp>
      <p:sp>
        <p:nvSpPr>
          <p:cNvPr id="8" name="Shape 6"/>
          <p:cNvSpPr/>
          <p:nvPr/>
        </p:nvSpPr>
        <p:spPr>
          <a:xfrm>
            <a:off x="4385733" y="2885349"/>
            <a:ext cx="3420533" cy="1523934"/>
          </a:xfrm>
          <a:prstGeom prst="roundRect">
            <a:avLst>
              <a:gd name="adj" fmla="val 6667"/>
            </a:avLst>
          </a:prstGeom>
          <a:solidFill>
            <a:srgbClr val="EEF2F7"/>
          </a:solidFill>
          <a:ln/>
        </p:spPr>
      </p:sp>
      <p:sp>
        <p:nvSpPr>
          <p:cNvPr id="9" name="Text 7"/>
          <p:cNvSpPr/>
          <p:nvPr/>
        </p:nvSpPr>
        <p:spPr>
          <a:xfrm>
            <a:off x="4614333" y="3113949"/>
            <a:ext cx="305223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Time-box</a:t>
            </a:r>
            <a:endParaRPr lang="en-US" sz="1600" dirty="0"/>
          </a:p>
        </p:txBody>
      </p:sp>
      <p:sp>
        <p:nvSpPr>
          <p:cNvPr id="10" name="Text 8"/>
          <p:cNvSpPr/>
          <p:nvPr/>
        </p:nvSpPr>
        <p:spPr>
          <a:xfrm>
            <a:off x="4614333" y="3433961"/>
            <a:ext cx="3052233"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 focused session, typically 60 minutes, with notes on what you tried and found.</a:t>
            </a:r>
            <a:endParaRPr lang="en-US" sz="1400" dirty="0"/>
          </a:p>
        </p:txBody>
      </p:sp>
      <p:sp>
        <p:nvSpPr>
          <p:cNvPr id="11" name="Shape 9"/>
          <p:cNvSpPr/>
          <p:nvPr/>
        </p:nvSpPr>
        <p:spPr>
          <a:xfrm>
            <a:off x="7958667" y="2885349"/>
            <a:ext cx="3420533" cy="1523934"/>
          </a:xfrm>
          <a:prstGeom prst="roundRect">
            <a:avLst>
              <a:gd name="adj" fmla="val 6667"/>
            </a:avLst>
          </a:prstGeom>
          <a:solidFill>
            <a:srgbClr val="EEF2F7"/>
          </a:solidFill>
          <a:ln/>
        </p:spPr>
      </p:sp>
      <p:sp>
        <p:nvSpPr>
          <p:cNvPr id="12" name="Text 10"/>
          <p:cNvSpPr/>
          <p:nvPr/>
        </p:nvSpPr>
        <p:spPr>
          <a:xfrm>
            <a:off x="8187267" y="3113949"/>
            <a:ext cx="305223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Strength</a:t>
            </a:r>
            <a:endParaRPr lang="en-US" sz="1600" dirty="0"/>
          </a:p>
        </p:txBody>
      </p:sp>
      <p:sp>
        <p:nvSpPr>
          <p:cNvPr id="13" name="Text 11"/>
          <p:cNvSpPr/>
          <p:nvPr/>
        </p:nvSpPr>
        <p:spPr>
          <a:xfrm>
            <a:off x="8187267" y="3433961"/>
            <a:ext cx="305223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Finds the defects that scripted tests miss, using curiosity and experience.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NON-FUNCTIONAL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qualities users notice immediately</a:t>
            </a:r>
            <a:endParaRPr lang="en-US" sz="3200" dirty="0"/>
          </a:p>
        </p:txBody>
      </p:sp>
      <p:sp>
        <p:nvSpPr>
          <p:cNvPr id="4" name="Shape 2"/>
          <p:cNvSpPr/>
          <p:nvPr/>
        </p:nvSpPr>
        <p:spPr>
          <a:xfrm>
            <a:off x="815975" y="1806513"/>
            <a:ext cx="5200650" cy="1307637"/>
          </a:xfrm>
          <a:prstGeom prst="roundRect">
            <a:avLst>
              <a:gd name="adj" fmla="val 7527"/>
            </a:avLst>
          </a:prstGeom>
          <a:solidFill>
            <a:srgbClr val="FBFBF8"/>
          </a:solidFill>
          <a:ln w="6350">
            <a:solidFill>
              <a:srgbClr val="D3DBE6"/>
            </a:solidFill>
            <a:prstDash val="solid"/>
          </a:ln>
        </p:spPr>
      </p:sp>
      <p:pic>
        <p:nvPicPr>
          <p:cNvPr id="5" name="Image 0" descr="Lightning"/>
          <p:cNvPicPr>
            <a:picLocks noChangeAspect="1"/>
          </p:cNvPicPr>
          <p:nvPr/>
        </p:nvPicPr>
        <p:blipFill>
          <a:blip r:embed="rId3"/>
          <a:srcRect/>
          <a:stretch/>
        </p:blipFill>
        <p:spPr>
          <a:xfrm>
            <a:off x="1045633" y="2046288"/>
            <a:ext cx="254000" cy="254000"/>
          </a:xfrm>
          <a:prstGeom prst="rect">
            <a:avLst/>
          </a:prstGeom>
        </p:spPr>
      </p:pic>
      <p:sp>
        <p:nvSpPr>
          <p:cNvPr id="6" name="Text 3"/>
          <p:cNvSpPr/>
          <p:nvPr/>
        </p:nvSpPr>
        <p:spPr>
          <a:xfrm>
            <a:off x="1401233" y="2036167"/>
            <a:ext cx="1661319"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Performance</a:t>
            </a:r>
            <a:endParaRPr lang="en-US" sz="1800" dirty="0"/>
          </a:p>
        </p:txBody>
      </p:sp>
      <p:sp>
        <p:nvSpPr>
          <p:cNvPr id="7" name="Text 4"/>
          <p:cNvSpPr/>
          <p:nvPr/>
        </p:nvSpPr>
        <p:spPr>
          <a:xfrm>
            <a:off x="1045633" y="2386676"/>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Load, stress, spike and soak testing. Search returns results in under 2 s with 5,000 users.</a:t>
            </a:r>
            <a:endParaRPr lang="en-US" sz="1400" dirty="0"/>
          </a:p>
        </p:txBody>
      </p:sp>
      <p:sp>
        <p:nvSpPr>
          <p:cNvPr id="8" name="Shape 5"/>
          <p:cNvSpPr/>
          <p:nvPr/>
        </p:nvSpPr>
        <p:spPr>
          <a:xfrm>
            <a:off x="6175375" y="1806513"/>
            <a:ext cx="5200650" cy="1307637"/>
          </a:xfrm>
          <a:prstGeom prst="roundRect">
            <a:avLst>
              <a:gd name="adj" fmla="val 7527"/>
            </a:avLst>
          </a:prstGeom>
          <a:solidFill>
            <a:srgbClr val="FBFBF8"/>
          </a:solidFill>
          <a:ln w="6350">
            <a:solidFill>
              <a:srgbClr val="D3DBE6"/>
            </a:solidFill>
            <a:prstDash val="solid"/>
          </a:ln>
        </p:spPr>
      </p:sp>
      <p:pic>
        <p:nvPicPr>
          <p:cNvPr id="9" name="Image 1" descr="Lock"/>
          <p:cNvPicPr>
            <a:picLocks noChangeAspect="1"/>
          </p:cNvPicPr>
          <p:nvPr/>
        </p:nvPicPr>
        <p:blipFill>
          <a:blip r:embed="rId4"/>
          <a:srcRect/>
          <a:stretch/>
        </p:blipFill>
        <p:spPr>
          <a:xfrm>
            <a:off x="6405033" y="2046288"/>
            <a:ext cx="254000" cy="254000"/>
          </a:xfrm>
          <a:prstGeom prst="rect">
            <a:avLst/>
          </a:prstGeom>
        </p:spPr>
      </p:pic>
      <p:sp>
        <p:nvSpPr>
          <p:cNvPr id="10" name="Text 6"/>
          <p:cNvSpPr/>
          <p:nvPr/>
        </p:nvSpPr>
        <p:spPr>
          <a:xfrm>
            <a:off x="6760634" y="2036167"/>
            <a:ext cx="106537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Security</a:t>
            </a:r>
            <a:endParaRPr lang="en-US" sz="1800" dirty="0"/>
          </a:p>
        </p:txBody>
      </p:sp>
      <p:sp>
        <p:nvSpPr>
          <p:cNvPr id="11" name="Text 7"/>
          <p:cNvSpPr/>
          <p:nvPr/>
        </p:nvSpPr>
        <p:spPr>
          <a:xfrm>
            <a:off x="6405033" y="2386676"/>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Authentication, authorisation, SQL injection, XSS. After logout, Back must not show the account page.</a:t>
            </a:r>
            <a:endParaRPr lang="en-US" sz="1400" dirty="0"/>
          </a:p>
        </p:txBody>
      </p:sp>
      <p:sp>
        <p:nvSpPr>
          <p:cNvPr id="12" name="Shape 8"/>
          <p:cNvSpPr/>
          <p:nvPr/>
        </p:nvSpPr>
        <p:spPr>
          <a:xfrm>
            <a:off x="815975" y="3272898"/>
            <a:ext cx="5200650" cy="1307637"/>
          </a:xfrm>
          <a:prstGeom prst="roundRect">
            <a:avLst>
              <a:gd name="adj" fmla="val 7527"/>
            </a:avLst>
          </a:prstGeom>
          <a:solidFill>
            <a:srgbClr val="FBFBF8"/>
          </a:solidFill>
          <a:ln w="6350">
            <a:solidFill>
              <a:srgbClr val="D3DBE6"/>
            </a:solidFill>
            <a:prstDash val="solid"/>
          </a:ln>
        </p:spPr>
      </p:sp>
      <p:pic>
        <p:nvPicPr>
          <p:cNvPr id="13" name="Image 2" descr="Users"/>
          <p:cNvPicPr>
            <a:picLocks noChangeAspect="1"/>
          </p:cNvPicPr>
          <p:nvPr/>
        </p:nvPicPr>
        <p:blipFill>
          <a:blip r:embed="rId5"/>
          <a:srcRect/>
          <a:stretch/>
        </p:blipFill>
        <p:spPr>
          <a:xfrm>
            <a:off x="1045633" y="3512679"/>
            <a:ext cx="254000" cy="254000"/>
          </a:xfrm>
          <a:prstGeom prst="rect">
            <a:avLst/>
          </a:prstGeom>
        </p:spPr>
      </p:pic>
      <p:sp>
        <p:nvSpPr>
          <p:cNvPr id="14" name="Text 9"/>
          <p:cNvSpPr/>
          <p:nvPr/>
        </p:nvSpPr>
        <p:spPr>
          <a:xfrm>
            <a:off x="1401233" y="3502558"/>
            <a:ext cx="115673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Usability</a:t>
            </a:r>
            <a:endParaRPr lang="en-US" sz="1800" dirty="0"/>
          </a:p>
        </p:txBody>
      </p:sp>
      <p:sp>
        <p:nvSpPr>
          <p:cNvPr id="15" name="Text 10"/>
          <p:cNvSpPr/>
          <p:nvPr/>
        </p:nvSpPr>
        <p:spPr>
          <a:xfrm>
            <a:off x="1045633" y="3853061"/>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Clear labels, helpful errors, accessibility. A first-time user checks out unaided in under 3 minutes.</a:t>
            </a:r>
            <a:endParaRPr lang="en-US" sz="1400" dirty="0"/>
          </a:p>
        </p:txBody>
      </p:sp>
      <p:sp>
        <p:nvSpPr>
          <p:cNvPr id="16" name="Shape 11"/>
          <p:cNvSpPr/>
          <p:nvPr/>
        </p:nvSpPr>
        <p:spPr>
          <a:xfrm>
            <a:off x="6175375" y="3272898"/>
            <a:ext cx="5200650" cy="1307637"/>
          </a:xfrm>
          <a:prstGeom prst="roundRect">
            <a:avLst>
              <a:gd name="adj" fmla="val 7527"/>
            </a:avLst>
          </a:prstGeom>
          <a:solidFill>
            <a:srgbClr val="FBFBF8"/>
          </a:solidFill>
          <a:ln w="6350">
            <a:solidFill>
              <a:srgbClr val="D3DBE6"/>
            </a:solidFill>
            <a:prstDash val="solid"/>
          </a:ln>
        </p:spPr>
      </p:sp>
      <p:pic>
        <p:nvPicPr>
          <p:cNvPr id="17" name="Image 3" descr="Globe"/>
          <p:cNvPicPr>
            <a:picLocks noChangeAspect="1"/>
          </p:cNvPicPr>
          <p:nvPr/>
        </p:nvPicPr>
        <p:blipFill>
          <a:blip r:embed="rId6"/>
          <a:srcRect/>
          <a:stretch/>
        </p:blipFill>
        <p:spPr>
          <a:xfrm>
            <a:off x="6405033" y="3512679"/>
            <a:ext cx="254000" cy="254000"/>
          </a:xfrm>
          <a:prstGeom prst="rect">
            <a:avLst/>
          </a:prstGeom>
        </p:spPr>
      </p:pic>
      <p:sp>
        <p:nvSpPr>
          <p:cNvPr id="18" name="Text 12"/>
          <p:cNvSpPr/>
          <p:nvPr/>
        </p:nvSpPr>
        <p:spPr>
          <a:xfrm>
            <a:off x="6760634" y="3502558"/>
            <a:ext cx="175283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Compatibility</a:t>
            </a:r>
            <a:endParaRPr lang="en-US" sz="1800" dirty="0"/>
          </a:p>
        </p:txBody>
      </p:sp>
      <p:sp>
        <p:nvSpPr>
          <p:cNvPr id="19" name="Text 13"/>
          <p:cNvSpPr/>
          <p:nvPr/>
        </p:nvSpPr>
        <p:spPr>
          <a:xfrm>
            <a:off x="6405033" y="3853061"/>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Browsers, devices, operating systems, screen sizes. “Place Order” works on Safari on iPhone.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PUTTING IT TOGETHER</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One activity, many labels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328529"/>
        </p:xfrm>
        <a:graphic>
          <a:graphicData uri="http://schemas.openxmlformats.org/drawingml/2006/table">
            <a:tbl>
              <a:tblPr/>
              <a:tblGrid>
                <a:gridCol w="3799332">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2005203">
                  <a:extLst>
                    <a:ext uri="{9D8B030D-6E8A-4147-A177-3AD203B41FA5}">
                      <a16:colId xmlns:a16="http://schemas.microsoft.com/office/drawing/2014/main" val="20002"/>
                    </a:ext>
                  </a:extLst>
                </a:gridCol>
                <a:gridCol w="1583055">
                  <a:extLst>
                    <a:ext uri="{9D8B030D-6E8A-4147-A177-3AD203B41FA5}">
                      <a16:colId xmlns:a16="http://schemas.microsoft.com/office/drawing/2014/main" val="20003"/>
                    </a:ext>
                  </a:extLst>
                </a:gridCol>
                <a:gridCol w="1583055">
                  <a:extLst>
                    <a:ext uri="{9D8B030D-6E8A-4147-A177-3AD203B41FA5}">
                      <a16:colId xmlns:a16="http://schemas.microsoft.com/office/drawing/2014/main" val="20004"/>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Activity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Level</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Characteristic</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Execution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Purpose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Dev tests a tax-calculation function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Unit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Automated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QA re-runs checkout after a bug fix</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System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Either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Regression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QA checks Cart → Payment API total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Integration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Automated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5,000 virtual users search products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System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Performance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Automated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Business users verify invoice format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Acceptance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Manual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60-min session with odd addresses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System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Manual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Exploratory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WATCH 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Common beginner mistakes</a:t>
            </a:r>
            <a:endParaRPr lang="en-US" sz="3200" dirty="0"/>
          </a:p>
        </p:txBody>
      </p:sp>
      <p:sp>
        <p:nvSpPr>
          <p:cNvPr id="4" name="Shape 2"/>
          <p:cNvSpPr/>
          <p:nvPr/>
        </p:nvSpPr>
        <p:spPr>
          <a:xfrm>
            <a:off x="812800" y="1854138"/>
            <a:ext cx="10566400" cy="558800"/>
          </a:xfrm>
          <a:prstGeom prst="roundRect">
            <a:avLst>
              <a:gd name="adj" fmla="val 13636"/>
            </a:avLst>
          </a:prstGeom>
          <a:solidFill>
            <a:srgbClr val="EEF2F7"/>
          </a:solidFill>
          <a:ln/>
        </p:spPr>
      </p:sp>
      <p:pic>
        <p:nvPicPr>
          <p:cNvPr id="5" name="Image 0" descr="Warning"/>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422400" y="2009049"/>
            <a:ext cx="831937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Treating levels and types as alternatives:</a:t>
            </a:r>
            <a:r>
              <a:rPr lang="en-US" sz="1400" dirty="0">
                <a:solidFill>
                  <a:srgbClr val="3D4A5C"/>
                </a:solidFill>
                <a:latin typeface="Nunito Sans" pitchFamily="34" charset="0"/>
                <a:ea typeface="Nunito Sans" pitchFamily="34" charset="-122"/>
                <a:cs typeface="Nunito Sans" pitchFamily="34" charset="-120"/>
              </a:rPr>
              <a:t> “system </a:t>
            </a:r>
            <a:r>
              <a:rPr lang="en-US" sz="1400" i="1" dirty="0">
                <a:solidFill>
                  <a:srgbClr val="3D4A5C"/>
                </a:solidFill>
                <a:latin typeface="Nunito Sans" pitchFamily="34" charset="0"/>
                <a:ea typeface="Nunito Sans" pitchFamily="34" charset="-122"/>
                <a:cs typeface="Nunito Sans" pitchFamily="34" charset="-120"/>
              </a:rPr>
              <a:t>or</a:t>
            </a:r>
            <a:r>
              <a:rPr lang="en-US" sz="1400" dirty="0">
                <a:solidFill>
                  <a:srgbClr val="3D4A5C"/>
                </a:solidFill>
                <a:latin typeface="Nunito Sans" pitchFamily="34" charset="0"/>
                <a:ea typeface="Nunito Sans" pitchFamily="34" charset="-122"/>
                <a:cs typeface="Nunito Sans" pitchFamily="34" charset="-120"/>
              </a:rPr>
              <a:t> regression?” You usually do both.</a:t>
            </a:r>
            <a:endParaRPr lang="en-US" sz="1400" dirty="0"/>
          </a:p>
        </p:txBody>
      </p:sp>
      <p:sp>
        <p:nvSpPr>
          <p:cNvPr id="7" name="Shape 4"/>
          <p:cNvSpPr/>
          <p:nvPr/>
        </p:nvSpPr>
        <p:spPr>
          <a:xfrm>
            <a:off x="812800" y="2539938"/>
            <a:ext cx="10566400" cy="558800"/>
          </a:xfrm>
          <a:prstGeom prst="roundRect">
            <a:avLst>
              <a:gd name="adj" fmla="val 13636"/>
            </a:avLst>
          </a:prstGeom>
          <a:solidFill>
            <a:srgbClr val="EEF2F7"/>
          </a:solidFill>
          <a:ln/>
        </p:spPr>
      </p:sp>
      <p:pic>
        <p:nvPicPr>
          <p:cNvPr id="8" name="Image 1" descr="Warning"/>
          <p:cNvPicPr>
            <a:picLocks noChangeAspect="1"/>
          </p:cNvPicPr>
          <p:nvPr/>
        </p:nvPicPr>
        <p:blipFill>
          <a:blip r:embed="rId3"/>
          <a:srcRect/>
          <a:stretch/>
        </p:blipFill>
        <p:spPr>
          <a:xfrm>
            <a:off x="1016000" y="2692338"/>
            <a:ext cx="254000" cy="254000"/>
          </a:xfrm>
          <a:prstGeom prst="rect">
            <a:avLst/>
          </a:prstGeom>
        </p:spPr>
      </p:pic>
      <p:sp>
        <p:nvSpPr>
          <p:cNvPr id="9" name="Text 5"/>
          <p:cNvSpPr/>
          <p:nvPr/>
        </p:nvSpPr>
        <p:spPr>
          <a:xfrm>
            <a:off x="1422400" y="2694849"/>
            <a:ext cx="815998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Confusing smoke and sanity:</a:t>
            </a:r>
            <a:r>
              <a:rPr lang="en-US" sz="1400" dirty="0">
                <a:solidFill>
                  <a:srgbClr val="3D4A5C"/>
                </a:solidFill>
                <a:latin typeface="Nunito Sans" pitchFamily="34" charset="0"/>
                <a:ea typeface="Nunito Sans" pitchFamily="34" charset="-122"/>
                <a:cs typeface="Nunito Sans" pitchFamily="34" charset="-120"/>
              </a:rPr>
              <a:t> smoke is broad and shallow; sanity is narrow and deep.</a:t>
            </a:r>
            <a:endParaRPr lang="en-US" sz="1400" dirty="0"/>
          </a:p>
        </p:txBody>
      </p:sp>
      <p:sp>
        <p:nvSpPr>
          <p:cNvPr id="10" name="Shape 6"/>
          <p:cNvSpPr/>
          <p:nvPr/>
        </p:nvSpPr>
        <p:spPr>
          <a:xfrm>
            <a:off x="812800" y="3225738"/>
            <a:ext cx="10566400" cy="558800"/>
          </a:xfrm>
          <a:prstGeom prst="roundRect">
            <a:avLst>
              <a:gd name="adj" fmla="val 13636"/>
            </a:avLst>
          </a:prstGeom>
          <a:solidFill>
            <a:srgbClr val="EEF2F7"/>
          </a:solidFill>
          <a:ln/>
        </p:spPr>
      </p:sp>
      <p:pic>
        <p:nvPicPr>
          <p:cNvPr id="11" name="Image 2" descr="Warning"/>
          <p:cNvPicPr>
            <a:picLocks noChangeAspect="1"/>
          </p:cNvPicPr>
          <p:nvPr/>
        </p:nvPicPr>
        <p:blipFill>
          <a:blip r:embed="rId3"/>
          <a:srcRect/>
          <a:stretch/>
        </p:blipFill>
        <p:spPr>
          <a:xfrm>
            <a:off x="1016000" y="3378138"/>
            <a:ext cx="254000" cy="254000"/>
          </a:xfrm>
          <a:prstGeom prst="rect">
            <a:avLst/>
          </a:prstGeom>
        </p:spPr>
      </p:pic>
      <p:sp>
        <p:nvSpPr>
          <p:cNvPr id="12" name="Text 7"/>
          <p:cNvSpPr/>
          <p:nvPr/>
        </p:nvSpPr>
        <p:spPr>
          <a:xfrm>
            <a:off x="1422400" y="3380649"/>
            <a:ext cx="8236665"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Thinking automation removes manual testing:</a:t>
            </a:r>
            <a:r>
              <a:rPr lang="en-US" sz="1400" dirty="0">
                <a:solidFill>
                  <a:srgbClr val="3D4A5C"/>
                </a:solidFill>
                <a:latin typeface="Nunito Sans" pitchFamily="34" charset="0"/>
                <a:ea typeface="Nunito Sans" pitchFamily="34" charset="-122"/>
                <a:cs typeface="Nunito Sans" pitchFamily="34" charset="-120"/>
              </a:rPr>
              <a:t> exploration and usability need people.</a:t>
            </a:r>
            <a:endParaRPr lang="en-US" sz="1400" dirty="0"/>
          </a:p>
        </p:txBody>
      </p:sp>
      <p:sp>
        <p:nvSpPr>
          <p:cNvPr id="13" name="Shape 8"/>
          <p:cNvSpPr/>
          <p:nvPr/>
        </p:nvSpPr>
        <p:spPr>
          <a:xfrm>
            <a:off x="812800" y="3911538"/>
            <a:ext cx="10566400" cy="558800"/>
          </a:xfrm>
          <a:prstGeom prst="roundRect">
            <a:avLst>
              <a:gd name="adj" fmla="val 13636"/>
            </a:avLst>
          </a:prstGeom>
          <a:solidFill>
            <a:srgbClr val="EEF2F7"/>
          </a:solidFill>
          <a:ln/>
        </p:spPr>
      </p:sp>
      <p:pic>
        <p:nvPicPr>
          <p:cNvPr id="14" name="Image 3" descr="Warning"/>
          <p:cNvPicPr>
            <a:picLocks noChangeAspect="1"/>
          </p:cNvPicPr>
          <p:nvPr/>
        </p:nvPicPr>
        <p:blipFill>
          <a:blip r:embed="rId3"/>
          <a:srcRect/>
          <a:stretch/>
        </p:blipFill>
        <p:spPr>
          <a:xfrm>
            <a:off x="1016000" y="4063938"/>
            <a:ext cx="254000" cy="254000"/>
          </a:xfrm>
          <a:prstGeom prst="rect">
            <a:avLst/>
          </a:prstGeom>
        </p:spPr>
      </p:pic>
      <p:sp>
        <p:nvSpPr>
          <p:cNvPr id="15" name="Text 9"/>
          <p:cNvSpPr/>
          <p:nvPr/>
        </p:nvSpPr>
        <p:spPr>
          <a:xfrm>
            <a:off x="1422400" y="4066449"/>
            <a:ext cx="734774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Ignoring non-functional testing:</a:t>
            </a:r>
            <a:r>
              <a:rPr lang="en-US" sz="1400" dirty="0">
                <a:solidFill>
                  <a:srgbClr val="3D4A5C"/>
                </a:solidFill>
                <a:latin typeface="Nunito Sans" pitchFamily="34" charset="0"/>
                <a:ea typeface="Nunito Sans" pitchFamily="34" charset="-122"/>
                <a:cs typeface="Nunito Sans" pitchFamily="34" charset="-120"/>
              </a:rPr>
              <a:t> a 30-second checkout still loses customers.</a:t>
            </a:r>
            <a:endParaRPr lang="en-US" sz="1400" dirty="0"/>
          </a:p>
        </p:txBody>
      </p:sp>
      <p:sp>
        <p:nvSpPr>
          <p:cNvPr id="16" name="Shape 10"/>
          <p:cNvSpPr/>
          <p:nvPr/>
        </p:nvSpPr>
        <p:spPr>
          <a:xfrm>
            <a:off x="812800" y="4597338"/>
            <a:ext cx="10566400" cy="558800"/>
          </a:xfrm>
          <a:prstGeom prst="roundRect">
            <a:avLst>
              <a:gd name="adj" fmla="val 13636"/>
            </a:avLst>
          </a:prstGeom>
          <a:solidFill>
            <a:srgbClr val="EEF2F7"/>
          </a:solidFill>
          <a:ln/>
        </p:spPr>
      </p:sp>
      <p:pic>
        <p:nvPicPr>
          <p:cNvPr id="17" name="Image 4" descr="Warning"/>
          <p:cNvPicPr>
            <a:picLocks noChangeAspect="1"/>
          </p:cNvPicPr>
          <p:nvPr/>
        </p:nvPicPr>
        <p:blipFill>
          <a:blip r:embed="rId3"/>
          <a:srcRect/>
          <a:stretch/>
        </p:blipFill>
        <p:spPr>
          <a:xfrm>
            <a:off x="1016000" y="4749738"/>
            <a:ext cx="254000" cy="254000"/>
          </a:xfrm>
          <a:prstGeom prst="rect">
            <a:avLst/>
          </a:prstGeom>
        </p:spPr>
      </p:pic>
      <p:sp>
        <p:nvSpPr>
          <p:cNvPr id="18" name="Text 11"/>
          <p:cNvSpPr/>
          <p:nvPr/>
        </p:nvSpPr>
        <p:spPr>
          <a:xfrm>
            <a:off x="1422400" y="4752249"/>
            <a:ext cx="790424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Forgetting static testing:</a:t>
            </a:r>
            <a:r>
              <a:rPr lang="en-US" sz="1400" dirty="0">
                <a:solidFill>
                  <a:srgbClr val="3D4A5C"/>
                </a:solidFill>
                <a:latin typeface="Nunito Sans" pitchFamily="34" charset="0"/>
                <a:ea typeface="Nunito Sans" pitchFamily="34" charset="-122"/>
                <a:cs typeface="Nunito Sans" pitchFamily="34" charset="-120"/>
              </a:rPr>
              <a:t> reviewing requirements is testing, and the cheapest kind.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8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Which testing types apply to ShopEasy?</a:t>
            </a:r>
            <a:endParaRPr lang="en-US" sz="3200" dirty="0"/>
          </a:p>
        </p:txBody>
      </p:sp>
      <p:sp>
        <p:nvSpPr>
          <p:cNvPr id="4" name="Text 2"/>
          <p:cNvSpPr/>
          <p:nvPr/>
        </p:nvSpPr>
        <p:spPr>
          <a:xfrm>
            <a:off x="812800" y="1854138"/>
            <a:ext cx="915670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Nunito Sans" pitchFamily="34" charset="0"/>
                <a:ea typeface="Nunito Sans" pitchFamily="34" charset="-122"/>
                <a:cs typeface="Nunito Sans" pitchFamily="34" charset="-120"/>
              </a:rPr>
              <a:t>ShopEasy is an e-commerce web app. For each feature, list the testing types that apply and give one reason for each.</a:t>
            </a:r>
            <a:endParaRPr lang="en-US" sz="1600" dirty="0"/>
          </a:p>
        </p:txBody>
      </p:sp>
      <p:sp>
        <p:nvSpPr>
          <p:cNvPr id="5" name="Text 3"/>
          <p:cNvSpPr/>
          <p:nvPr/>
        </p:nvSpPr>
        <p:spPr>
          <a:xfrm>
            <a:off x="819150" y="2734140"/>
            <a:ext cx="1978620" cy="787400"/>
          </a:xfrm>
          <a:prstGeom prst="roundRect">
            <a:avLst>
              <a:gd name="adj" fmla="val 12097"/>
            </a:avLst>
          </a:prstGeom>
          <a:solidFill>
            <a:srgbClr val="24345A"/>
          </a:solidFill>
          <a:ln w="12700">
            <a:solidFill>
              <a:srgbClr val="F0A04B"/>
            </a:solidFill>
            <a:prstDash val="solid"/>
          </a:ln>
        </p:spPr>
        <p:txBody>
          <a:bodyPr wrap="square" lIns="53611" tIns="232452" rIns="53611" bIns="20705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Login</a:t>
            </a:r>
            <a:endParaRPr lang="en-US" sz="1500" dirty="0"/>
          </a:p>
        </p:txBody>
      </p:sp>
      <p:sp>
        <p:nvSpPr>
          <p:cNvPr id="6" name="Text 4"/>
          <p:cNvSpPr/>
          <p:nvPr/>
        </p:nvSpPr>
        <p:spPr>
          <a:xfrm>
            <a:off x="2962870" y="2734140"/>
            <a:ext cx="1978687" cy="787400"/>
          </a:xfrm>
          <a:prstGeom prst="roundRect">
            <a:avLst>
              <a:gd name="adj" fmla="val 12097"/>
            </a:avLst>
          </a:prstGeom>
          <a:solidFill>
            <a:srgbClr val="24345A"/>
          </a:solidFill>
          <a:ln w="12700">
            <a:solidFill>
              <a:srgbClr val="F0A04B"/>
            </a:solidFill>
            <a:prstDash val="solid"/>
          </a:ln>
        </p:spPr>
        <p:txBody>
          <a:bodyPr wrap="square" lIns="53610" tIns="232452" rIns="53610" bIns="20705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Product search</a:t>
            </a:r>
            <a:endParaRPr lang="en-US" sz="1500" dirty="0"/>
          </a:p>
        </p:txBody>
      </p:sp>
      <p:sp>
        <p:nvSpPr>
          <p:cNvPr id="7" name="Text 5"/>
          <p:cNvSpPr/>
          <p:nvPr/>
        </p:nvSpPr>
        <p:spPr>
          <a:xfrm>
            <a:off x="5106657" y="2734140"/>
            <a:ext cx="1978620" cy="787400"/>
          </a:xfrm>
          <a:prstGeom prst="roundRect">
            <a:avLst>
              <a:gd name="adj" fmla="val 12097"/>
            </a:avLst>
          </a:prstGeom>
          <a:solidFill>
            <a:srgbClr val="24345A"/>
          </a:solidFill>
          <a:ln w="12700">
            <a:solidFill>
              <a:srgbClr val="F0A04B"/>
            </a:solidFill>
            <a:prstDash val="solid"/>
          </a:ln>
        </p:spPr>
        <p:txBody>
          <a:bodyPr wrap="square" lIns="53611" tIns="232452" rIns="53611" bIns="20705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Checkout</a:t>
            </a:r>
            <a:endParaRPr lang="en-US" sz="1500" dirty="0"/>
          </a:p>
        </p:txBody>
      </p:sp>
      <p:sp>
        <p:nvSpPr>
          <p:cNvPr id="8" name="Text 6"/>
          <p:cNvSpPr/>
          <p:nvPr/>
        </p:nvSpPr>
        <p:spPr>
          <a:xfrm>
            <a:off x="7250378" y="2734140"/>
            <a:ext cx="1978687" cy="787400"/>
          </a:xfrm>
          <a:prstGeom prst="roundRect">
            <a:avLst>
              <a:gd name="adj" fmla="val 12097"/>
            </a:avLst>
          </a:prstGeom>
          <a:solidFill>
            <a:srgbClr val="24345A"/>
          </a:solidFill>
          <a:ln w="12700">
            <a:solidFill>
              <a:srgbClr val="F0A04B"/>
            </a:solidFill>
            <a:prstDash val="solid"/>
          </a:ln>
        </p:spPr>
        <p:txBody>
          <a:bodyPr wrap="square" lIns="53610" tIns="232452" rIns="53610" bIns="20705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Payment</a:t>
            </a:r>
            <a:endParaRPr lang="en-US" sz="1500" dirty="0"/>
          </a:p>
        </p:txBody>
      </p:sp>
      <p:sp>
        <p:nvSpPr>
          <p:cNvPr id="9" name="Text 7"/>
          <p:cNvSpPr/>
          <p:nvPr/>
        </p:nvSpPr>
        <p:spPr>
          <a:xfrm>
            <a:off x="9394164" y="2734140"/>
            <a:ext cx="1978687" cy="787400"/>
          </a:xfrm>
          <a:prstGeom prst="roundRect">
            <a:avLst>
              <a:gd name="adj" fmla="val 12097"/>
            </a:avLst>
          </a:prstGeom>
          <a:solidFill>
            <a:srgbClr val="24345A"/>
          </a:solidFill>
          <a:ln w="12700">
            <a:solidFill>
              <a:srgbClr val="F0A04B"/>
            </a:solidFill>
            <a:prstDash val="solid"/>
          </a:ln>
        </p:spPr>
        <p:txBody>
          <a:bodyPr wrap="square" lIns="53610" tIns="232452" rIns="53610" bIns="20705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Order confirmation</a:t>
            </a:r>
            <a:endParaRPr lang="en-US" sz="1500" dirty="0"/>
          </a:p>
        </p:txBody>
      </p:sp>
      <p:sp>
        <p:nvSpPr>
          <p:cNvPr id="10" name="Text 8"/>
          <p:cNvSpPr/>
          <p:nvPr/>
        </p:nvSpPr>
        <p:spPr>
          <a:xfrm>
            <a:off x="812800" y="383269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Hint: every feature gets </a:t>
            </a:r>
            <a:r>
              <a:rPr lang="en-US" sz="1400" b="1" dirty="0">
                <a:solidFill>
                  <a:srgbClr val="F0A04B"/>
                </a:solidFill>
                <a:latin typeface="Nunito Sans" pitchFamily="34" charset="0"/>
                <a:ea typeface="Nunito Sans" pitchFamily="34" charset="-122"/>
                <a:cs typeface="Nunito Sans" pitchFamily="34" charset="-120"/>
              </a:rPr>
              <a:t>several</a:t>
            </a:r>
            <a:r>
              <a:rPr lang="en-US" sz="1400" dirty="0">
                <a:solidFill>
                  <a:srgbClr val="C9D3E3"/>
                </a:solidFill>
                <a:latin typeface="Nunito Sans" pitchFamily="34" charset="0"/>
                <a:ea typeface="Nunito Sans" pitchFamily="34" charset="-122"/>
                <a:cs typeface="Nunito Sans" pitchFamily="34" charset="-120"/>
              </a:rPr>
              <a:t> types.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 feature needs several types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3062486"/>
        </p:xfrm>
        <a:graphic>
          <a:graphicData uri="http://schemas.openxmlformats.org/drawingml/2006/table">
            <a:tbl>
              <a:tblPr/>
              <a:tblGrid>
                <a:gridCol w="1899666">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Feature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Testing types</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Why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Login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 Security, Smoke, Regression, Compatibility, Usability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Gateway to the app; credentials need protection; first thing a smoke test checks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Product search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 Performance, Usability, Regression, Exploratory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Results must be correct and fast under heavy traffic; odd inputs hide bugs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Checkout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 Integration, System, Usability, Compatibility, Regression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Combines cart, address, tax, shipping and payment; key revenue flow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Payment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 Integration, Security, Performance, Regression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Money and card data; third-party gateway; must never double-charge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Order confirmation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Functional, Integration, System, Usability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Correct order details; email sent by an external service; clear summary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1028850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 tester reviews a requirements document and finds a contradiction. Static or dynamic testing?</a:t>
            </a:r>
            <a:endParaRPr lang="en-US" sz="1600" dirty="0"/>
          </a:p>
        </p:txBody>
      </p:sp>
      <p:sp>
        <p:nvSpPr>
          <p:cNvPr id="6" name="Text 4"/>
          <p:cNvSpPr/>
          <p:nvPr/>
        </p:nvSpPr>
        <p:spPr>
          <a:xfrm>
            <a:off x="812800" y="2362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17167"/>
            <a:ext cx="107696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 new build arrives; you spend 15 minutes checking main pages load and login works. Which type?</a:t>
            </a:r>
            <a:endParaRPr lang="en-US" sz="1600" dirty="0"/>
          </a:p>
        </p:txBody>
      </p:sp>
      <p:sp>
        <p:nvSpPr>
          <p:cNvPr id="8" name="Text 6"/>
          <p:cNvSpPr/>
          <p:nvPr/>
        </p:nvSpPr>
        <p:spPr>
          <a:xfrm>
            <a:off x="812800" y="2870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25167"/>
            <a:ext cx="476662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True or false: “Regression” is a testing level.</a:t>
            </a:r>
            <a:endParaRPr lang="en-US" sz="1600" dirty="0"/>
          </a:p>
        </p:txBody>
      </p:sp>
      <p:sp>
        <p:nvSpPr>
          <p:cNvPr id="10" name="Text 8"/>
          <p:cNvSpPr/>
          <p:nvPr/>
        </p:nvSpPr>
        <p:spPr>
          <a:xfrm>
            <a:off x="812800" y="3378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433167"/>
            <a:ext cx="551537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Which testing level is usually done by developers?</a:t>
            </a:r>
            <a:endParaRPr lang="en-US" sz="1600" dirty="0"/>
          </a:p>
        </p:txBody>
      </p:sp>
      <p:sp>
        <p:nvSpPr>
          <p:cNvPr id="12" name="Text 10"/>
          <p:cNvSpPr/>
          <p:nvPr/>
        </p:nvSpPr>
        <p:spPr>
          <a:xfrm>
            <a:off x="812800" y="3886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3941167"/>
            <a:ext cx="808101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Checking the website works on Safari and Firefox is which type of testing?</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Level is </a:t>
            </a:r>
            <a:r>
              <a:rPr lang="en-US" sz="3200" b="1" i="0" dirty="0">
                <a:solidFill>
                  <a:srgbClr val="F0A04B"/>
                </a:solidFill>
                <a:latin typeface="Domine" pitchFamily="18" charset="0"/>
                <a:ea typeface="Domine" pitchFamily="18" charset="-122"/>
                <a:cs typeface="Domine" pitchFamily="18" charset="-120"/>
              </a:rPr>
              <a:t>where</a:t>
            </a:r>
            <a:r>
              <a:rPr lang="en-US" sz="3200" b="1" i="0" dirty="0">
                <a:solidFill>
                  <a:srgbClr val="FBFBF8"/>
                </a:solidFill>
                <a:latin typeface="Domine" pitchFamily="18" charset="0"/>
                <a:ea typeface="Domine" pitchFamily="18" charset="-122"/>
                <a:cs typeface="Domine" pitchFamily="18" charset="-120"/>
              </a:rPr>
              <a:t>. Type is </a:t>
            </a:r>
            <a:r>
              <a:rPr lang="en-US" sz="3200" b="1" i="0" dirty="0">
                <a:solidFill>
                  <a:srgbClr val="F0A04B"/>
                </a:solidFill>
                <a:latin typeface="Domine" pitchFamily="18" charset="0"/>
                <a:ea typeface="Domine" pitchFamily="18" charset="-122"/>
                <a:cs typeface="Domine" pitchFamily="18" charset="-120"/>
              </a:rPr>
              <a:t>what</a:t>
            </a:r>
            <a:r>
              <a:rPr lang="en-US" sz="3200" b="1" i="0" dirty="0">
                <a:solidFill>
                  <a:srgbClr val="FBFBF8"/>
                </a:solidFill>
                <a:latin typeface="Domine" pitchFamily="18" charset="0"/>
                <a:ea typeface="Domine" pitchFamily="18" charset="-122"/>
                <a:cs typeface="Domine" pitchFamily="18" charset="-120"/>
              </a:rPr>
              <a:t>.</a:t>
            </a:r>
            <a:endParaRPr lang="en-US" sz="3200" dirty="0"/>
          </a:p>
        </p:txBody>
      </p:sp>
      <p:pic>
        <p:nvPicPr>
          <p:cNvPr id="4" name="Image 0" descr="CheckCircle"/>
          <p:cNvPicPr>
            <a:picLocks noChangeAspect="1"/>
          </p:cNvPicPr>
          <p:nvPr/>
        </p:nvPicPr>
        <p:blipFill>
          <a:blip r:embed="rId3"/>
          <a:srcRect/>
          <a:stretch/>
        </p:blipFill>
        <p:spPr>
          <a:xfrm>
            <a:off x="812800" y="1869356"/>
            <a:ext cx="254000" cy="254000"/>
          </a:xfrm>
          <a:prstGeom prst="rect">
            <a:avLst/>
          </a:prstGeom>
        </p:spPr>
      </p:pic>
      <p:sp>
        <p:nvSpPr>
          <p:cNvPr id="5" name="Text 2"/>
          <p:cNvSpPr/>
          <p:nvPr/>
        </p:nvSpPr>
        <p:spPr>
          <a:xfrm>
            <a:off x="1219200" y="1854138"/>
            <a:ext cx="809148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Nunito Sans" pitchFamily="34" charset="0"/>
                <a:ea typeface="Nunito Sans" pitchFamily="34" charset="-122"/>
                <a:cs typeface="Nunito Sans" pitchFamily="34" charset="-120"/>
              </a:rPr>
              <a:t>One activity carries several labels, e.g. </a:t>
            </a:r>
            <a:r>
              <a:rPr lang="en-US" sz="1600" b="1" dirty="0">
                <a:solidFill>
                  <a:srgbClr val="DCE4F0"/>
                </a:solidFill>
                <a:latin typeface="Nunito Sans" pitchFamily="34" charset="0"/>
                <a:ea typeface="Nunito Sans" pitchFamily="34" charset="-122"/>
                <a:cs typeface="Nunito Sans" pitchFamily="34" charset="-120"/>
              </a:rPr>
              <a:t>System + Functional + Regression</a:t>
            </a:r>
            <a:r>
              <a:rPr lang="en-US" sz="1600" dirty="0">
                <a:solidFill>
                  <a:srgbClr val="DCE4F0"/>
                </a:solidFill>
                <a:latin typeface="Nunito Sans" pitchFamily="34" charset="0"/>
                <a:ea typeface="Nunito Sans" pitchFamily="34" charset="-122"/>
                <a:cs typeface="Nunito Sans" pitchFamily="34" charset="-120"/>
              </a:rPr>
              <a:t>.</a:t>
            </a:r>
            <a:endParaRPr lang="en-US" sz="1600" dirty="0"/>
          </a:p>
        </p:txBody>
      </p:sp>
      <p:pic>
        <p:nvPicPr>
          <p:cNvPr id="6" name="Image 1" descr="CheckCircle"/>
          <p:cNvPicPr>
            <a:picLocks noChangeAspect="1"/>
          </p:cNvPicPr>
          <p:nvPr/>
        </p:nvPicPr>
        <p:blipFill>
          <a:blip r:embed="rId3"/>
          <a:srcRect/>
          <a:stretch/>
        </p:blipFill>
        <p:spPr>
          <a:xfrm>
            <a:off x="812800" y="2306179"/>
            <a:ext cx="254000" cy="254000"/>
          </a:xfrm>
          <a:prstGeom prst="rect">
            <a:avLst/>
          </a:prstGeom>
        </p:spPr>
      </p:pic>
      <p:sp>
        <p:nvSpPr>
          <p:cNvPr id="7" name="Text 3"/>
          <p:cNvSpPr/>
          <p:nvPr/>
        </p:nvSpPr>
        <p:spPr>
          <a:xfrm>
            <a:off x="1219200" y="2290961"/>
            <a:ext cx="809434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Nunito Sans" pitchFamily="34" charset="0"/>
                <a:ea typeface="Nunito Sans" pitchFamily="34" charset="-122"/>
                <a:cs typeface="Nunito Sans" pitchFamily="34" charset="-120"/>
              </a:rPr>
              <a:t>Functional checks </a:t>
            </a:r>
            <a:r>
              <a:rPr lang="en-US" sz="1600" b="1" dirty="0">
                <a:solidFill>
                  <a:srgbClr val="DCE4F0"/>
                </a:solidFill>
                <a:latin typeface="Nunito Sans" pitchFamily="34" charset="0"/>
                <a:ea typeface="Nunito Sans" pitchFamily="34" charset="-122"/>
                <a:cs typeface="Nunito Sans" pitchFamily="34" charset="-120"/>
              </a:rPr>
              <a:t>what</a:t>
            </a:r>
            <a:r>
              <a:rPr lang="en-US" sz="1600" dirty="0">
                <a:solidFill>
                  <a:srgbClr val="DCE4F0"/>
                </a:solidFill>
                <a:latin typeface="Nunito Sans" pitchFamily="34" charset="0"/>
                <a:ea typeface="Nunito Sans" pitchFamily="34" charset="-122"/>
                <a:cs typeface="Nunito Sans" pitchFamily="34" charset="-120"/>
              </a:rPr>
              <a:t> the system does; non-functional checks </a:t>
            </a:r>
            <a:r>
              <a:rPr lang="en-US" sz="1600" b="1" dirty="0">
                <a:solidFill>
                  <a:srgbClr val="DCE4F0"/>
                </a:solidFill>
                <a:latin typeface="Nunito Sans" pitchFamily="34" charset="0"/>
                <a:ea typeface="Nunito Sans" pitchFamily="34" charset="-122"/>
                <a:cs typeface="Nunito Sans" pitchFamily="34" charset="-120"/>
              </a:rPr>
              <a:t>how well</a:t>
            </a:r>
            <a:r>
              <a:rPr lang="en-US" sz="1600" dirty="0">
                <a:solidFill>
                  <a:srgbClr val="DCE4F0"/>
                </a:solidFill>
                <a:latin typeface="Nunito Sans" pitchFamily="34" charset="0"/>
                <a:ea typeface="Nunito Sans" pitchFamily="34" charset="-122"/>
                <a:cs typeface="Nunito Sans" pitchFamily="34" charset="-120"/>
              </a:rPr>
              <a:t>.</a:t>
            </a:r>
            <a:endParaRPr lang="en-US" sz="1600" dirty="0"/>
          </a:p>
        </p:txBody>
      </p:sp>
      <p:pic>
        <p:nvPicPr>
          <p:cNvPr id="8" name="Image 2" descr="CheckCircle"/>
          <p:cNvPicPr>
            <a:picLocks noChangeAspect="1"/>
          </p:cNvPicPr>
          <p:nvPr/>
        </p:nvPicPr>
        <p:blipFill>
          <a:blip r:embed="rId3"/>
          <a:srcRect/>
          <a:stretch/>
        </p:blipFill>
        <p:spPr>
          <a:xfrm>
            <a:off x="812800" y="2743002"/>
            <a:ext cx="254000" cy="254000"/>
          </a:xfrm>
          <a:prstGeom prst="rect">
            <a:avLst/>
          </a:prstGeom>
        </p:spPr>
      </p:pic>
      <p:sp>
        <p:nvSpPr>
          <p:cNvPr id="9" name="Text 4"/>
          <p:cNvSpPr/>
          <p:nvPr/>
        </p:nvSpPr>
        <p:spPr>
          <a:xfrm>
            <a:off x="1219200" y="2727796"/>
            <a:ext cx="605932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Nunito Sans" pitchFamily="34" charset="0"/>
                <a:ea typeface="Nunito Sans" pitchFamily="34" charset="-122"/>
                <a:cs typeface="Nunito Sans" pitchFamily="34" charset="-120"/>
              </a:rPr>
              <a:t>Smoke is broad and shallow; sanity is narrow and deep.</a:t>
            </a:r>
            <a:endParaRPr lang="en-US" sz="1600" dirty="0"/>
          </a:p>
        </p:txBody>
      </p:sp>
      <p:pic>
        <p:nvPicPr>
          <p:cNvPr id="10" name="Image 3" descr="CheckCircle"/>
          <p:cNvPicPr>
            <a:picLocks noChangeAspect="1"/>
          </p:cNvPicPr>
          <p:nvPr/>
        </p:nvPicPr>
        <p:blipFill>
          <a:blip r:embed="rId3"/>
          <a:srcRect/>
          <a:stretch/>
        </p:blipFill>
        <p:spPr>
          <a:xfrm>
            <a:off x="812800" y="3179837"/>
            <a:ext cx="254000" cy="254000"/>
          </a:xfrm>
          <a:prstGeom prst="rect">
            <a:avLst/>
          </a:prstGeom>
        </p:spPr>
      </p:pic>
      <p:sp>
        <p:nvSpPr>
          <p:cNvPr id="11" name="Text 5"/>
          <p:cNvSpPr/>
          <p:nvPr/>
        </p:nvSpPr>
        <p:spPr>
          <a:xfrm>
            <a:off x="1219200" y="3164619"/>
            <a:ext cx="895413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Nunito Sans" pitchFamily="34" charset="0"/>
                <a:ea typeface="Nunito Sans" pitchFamily="34" charset="-122"/>
                <a:cs typeface="Nunito Sans" pitchFamily="34" charset="-120"/>
              </a:rPr>
              <a:t>Regression protects what already works, and is the best candidate for automation.</a:t>
            </a:r>
            <a:endParaRPr lang="en-US" sz="1600" dirty="0"/>
          </a:p>
        </p:txBody>
      </p:sp>
      <p:sp>
        <p:nvSpPr>
          <p:cNvPr id="12" name="Text 6"/>
          <p:cNvSpPr/>
          <p:nvPr/>
        </p:nvSpPr>
        <p:spPr>
          <a:xfrm>
            <a:off x="812800" y="3753842"/>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2, Test Strategies: deciding which types to use, where, when and how much.</a:t>
            </a:r>
            <a:endParaRPr lang="en-US" sz="1400" dirty="0"/>
          </a:p>
        </p:txBody>
      </p:sp>
    </p:spTree>
  </p:cSld>
  <p:clrMapOvr>
    <a:masterClrMapping/>
  </p:clrMapOvr>
</p:sld>
</file>

<file path=ppt/theme/theme1.xml><?xml version="1.0" encoding="utf-8"?>
<a:theme xmlns:a="http://schemas.openxmlformats.org/drawingml/2006/main" name="Testing Types">
  <a:themeElements>
    <a:clrScheme name="Testing Types">
      <a:dk1>
        <a:srgbClr val="14213D"/>
      </a:dk1>
      <a:lt1>
        <a:srgbClr val="FBFBF8"/>
      </a:lt1>
      <a:dk2>
        <a:srgbClr val="4E586C"/>
      </a:dk2>
      <a:lt2>
        <a:srgbClr val="E4E5E5"/>
      </a:lt2>
      <a:accent1>
        <a:srgbClr val="A14F0A"/>
      </a:accent1>
      <a:accent2>
        <a:srgbClr val="2B5C9E"/>
      </a:accent2>
      <a:accent3>
        <a:srgbClr val="24345A"/>
      </a:accent3>
      <a:accent4>
        <a:srgbClr val="F0A04B"/>
      </a:accent4>
      <a:accent5>
        <a:srgbClr val="4A7BBF"/>
      </a:accent5>
      <a:accent6>
        <a:srgbClr val="3D4A5C"/>
      </a:accent6>
      <a:hlink>
        <a:srgbClr val="0563C1"/>
      </a:hlink>
      <a:folHlink>
        <a:srgbClr val="954F72"/>
      </a:folHlink>
    </a:clrScheme>
    <a:fontScheme name="Testing Types">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2372</Words>
  <Application>Microsoft Office PowerPoint</Application>
  <PresentationFormat>Widescreen</PresentationFormat>
  <Paragraphs>277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Domine</vt:lpstr>
      <vt:lpstr>Nunito Sans</vt:lpstr>
      <vt:lpstr>Testing Types</vt:lpstr>
      <vt:lpstr>Testing Types</vt:lpstr>
      <vt:lpstr>What this unit covers:</vt:lpstr>
      <vt:lpstr>Levels and types answer different questions</vt:lpstr>
      <vt:lpstr>Six ways to describe a testing activity</vt:lpstr>
      <vt:lpstr>Functional vs. non-functional</vt:lpstr>
      <vt:lpstr>Manual vs. automated</vt:lpstr>
      <vt:lpstr>Static, dynamic, black-box, white-box</vt:lpstr>
      <vt:lpstr>From the smallest piece to the customer's hands</vt:lpstr>
      <vt:lpstr>Regression testing</vt:lpstr>
      <vt:lpstr>Smoke vs. sanity</vt:lpstr>
      <vt:lpstr>Exploratory testing</vt:lpstr>
      <vt:lpstr>Four qualities users notice immediately</vt:lpstr>
      <vt:lpstr>One activity, many labels</vt:lpstr>
      <vt:lpstr>Common beginner mistakes</vt:lpstr>
      <vt:lpstr>Which testing types apply to ShopEasy?</vt:lpstr>
      <vt:lpstr>Every feature needs several types</vt:lpstr>
      <vt:lpstr>Five questions, one minute each</vt:lpstr>
      <vt:lpstr>Level is where. Type is what.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Types</dc:title>
  <dc:subject/>
  <dc:creator/>
  <cp:lastModifiedBy>Saurabh Kamath</cp:lastModifiedBy>
  <cp:revision>5</cp:revision>
  <dcterms:created xsi:type="dcterms:W3CDTF">2026-10-06T17:15:14Z</dcterms:created>
  <dcterms:modified xsi:type="dcterms:W3CDTF">2026-10-06T18:20:35Z</dcterms:modified>
</cp:coreProperties>
</file>