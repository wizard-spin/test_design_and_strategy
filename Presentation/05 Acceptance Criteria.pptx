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2501502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chapter four a user story told us who wants what and why. But "I want to reset my password" leaves many questions open. How long is the link valid? What if the email is not registered? Acceptance criteria answer those questions, and they are the bridge to test scenarios and test cases.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outcomes. The last one is where testers add the most value: improving acceptance criteria in refinement, before a single line of code is written.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key insight of the chapter. Acceptance criteria are what the product owner will check before accepting the story, so they are also exactly what the tester must verify. The five qualities along the bottom are what good criteria look like. UI-neutral applies unless the UI itself is the requirement.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acceptance criterion typically becomes one or more test scenarios, and each scenario becomes one or more test cases. The numbers along the bottom are typical ranges for one story, and they show why good criteria have such a big multiplier effect on testing.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as a checklist when reading criteria. Boundary conditions deserve special attention because defects cluster at limits, which we cover with boundary value analysis in chapter seven.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Gherkin comes from Behaviour-Driven Development. It makes criteria precise and maps one to one onto the parts of a test case, which is why it is so useful to testers. The same text can also drive automated tests in tools like Cucumber.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criteria as the product owner first wrote it. Notice the vague phrases: "a defined period", "password policy", "appropriate error". Making those concrete is exactly what a tester should push for. On the next three slides we rewrite every criterion precisely in Given, When, Then form.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vague "defined period" has become a concrete 30 minutes, and the test uses 31 minutes to check it. Notice AC1's message: it says "if this email is registered", which matters for security, as we will see on slide three of this set.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"Invalid or expired links cannot be used" has become a single-use rule, and the vague "password policy" is now spelled out: 8 to 20 characters, at least one number and one uppercase letter. Every rule in that message is something you can test, including its boundaries.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best example in the chapter of a tester adding value before any code exists. The criterion as first written would have produced a security weakness. Reading it critically, and asking "what could go wrong if we do exactly this?", turned it into a better requirement.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every team uses Gherkin. A plain checklist is common and perfectly fine, as long as every item is testable. Many teams mix the two: Gherkin for flows, a checklist for rules.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Example: the password reset works perfectly, so all acceptance criteria pass, but the code was never reviewed and no regression run was done. The Definition of Done is not met, so the story is not done. You need both.</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Bring these eight questions to every refinement meeting. You will not need all of them for every story, but running through them quickly is the fastest way to find the gaps before they turn into defects.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point matters: acceptance criteria are the floor, not the ceiling. Passing them all means the story meets what was agreed, but exploratory testing still finds what nobody thought to write down.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learners eight minutes. Use Given, When, Then or a checklist. Encourage them to note any questions for the product owner that come up while writing; those are just as valuable as the criteria themselves.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is one Given, When, Then scenario, condensed here to fit. Notice the pair "below minimum" at 999 and "at minimum" at exactly 1,000: that is a boundary test, and it is exactly where off-by-one bugs appear.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code-length checks are boundary value analysis applied to a string: 5 and 11 are just outside the 6 to 10 range, 6 and 10 are exactly on it. The two open questions are not failures of the exercise; finding them is the point.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Then. 2. Definition of Done. 3. Functional behaviour and business rules, boundary conditions, positive conditions and negative conditions. 4. It reveals which emails are registered, an account enumeration security risk.</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With clear acceptance criteria in hand, the next step is to identify all the meaningful situations that need testing, which is chapter six on test scenarios.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47014"/>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Domine" pitchFamily="34" charset="0"/>
                <a:ea typeface="Domine" pitchFamily="34" charset="-122"/>
                <a:cs typeface="Domine"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54134"/>
            <a:ext cx="10566400" cy="4191066"/>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Nunito Sans" pitchFamily="34" charset="0"/>
                <a:ea typeface="Nunito Sans" pitchFamily="34" charset="-122"/>
                <a:cs typeface="Nunito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BF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02320"/>
            <a:ext cx="10566400" cy="447014"/>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Domine" pitchFamily="34" charset="0"/>
                <a:ea typeface="Domine" pitchFamily="34" charset="-122"/>
                <a:cs typeface="Domine"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54134"/>
            <a:ext cx="10566400" cy="4191066"/>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Nunito Sans" pitchFamily="34" charset="0"/>
                <a:ea typeface="Nunito Sans" pitchFamily="34" charset="-122"/>
                <a:cs typeface="Nunito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188853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200" dirty="0">
                <a:solidFill>
                  <a:srgbClr val="F0A04B"/>
                </a:solidFill>
                <a:latin typeface="Nunito Sans" pitchFamily="34" charset="0"/>
                <a:ea typeface="Nunito Sans" pitchFamily="34" charset="-122"/>
                <a:cs typeface="Nunito Sans" pitchFamily="34" charset="-120"/>
              </a:rPr>
              <a:t>Test Design &amp; Strategy · Unit 5</a:t>
            </a:r>
            <a:endParaRPr lang="en-US" sz="1200" dirty="0"/>
          </a:p>
        </p:txBody>
      </p:sp>
      <p:sp>
        <p:nvSpPr>
          <p:cNvPr id="3" name="Text 1"/>
          <p:cNvSpPr>
            <a:spLocks noGrp="1"/>
          </p:cNvSpPr>
          <p:nvPr>
            <p:ph type="title"/>
          </p:nvPr>
        </p:nvSpPr>
        <p:spPr>
          <a:xfrm>
            <a:off x="812800" y="2355850"/>
            <a:ext cx="10883392" cy="878814"/>
          </a:xfrm>
          <a:prstGeom prst="rect">
            <a:avLst/>
          </a:prstGeom>
          <a:noFill/>
          <a:ln/>
        </p:spPr>
        <p:txBody>
          <a:bodyPr wrap="square" lIns="0" tIns="0" rIns="0" bIns="0" rtlCol="0" anchor="t">
            <a:normAutofit/>
          </a:bodyPr>
          <a:lstStyle/>
          <a:p>
            <a:pPr marL="0" indent="0" algn="l">
              <a:lnSpc>
                <a:spcPts val="6720"/>
              </a:lnSpc>
              <a:buNone/>
            </a:pPr>
            <a:r>
              <a:rPr lang="en-US" sz="6400" b="1" i="0" dirty="0">
                <a:solidFill>
                  <a:srgbClr val="FBFBF8"/>
                </a:solidFill>
                <a:latin typeface="Domine" pitchFamily="18" charset="0"/>
                <a:ea typeface="Domine" pitchFamily="18" charset="-122"/>
                <a:cs typeface="Domine" pitchFamily="18" charset="-120"/>
              </a:rPr>
              <a:t>Acceptance Criteria</a:t>
            </a:r>
            <a:endParaRPr lang="en-US" sz="6400" dirty="0"/>
          </a:p>
        </p:txBody>
      </p:sp>
      <p:sp>
        <p:nvSpPr>
          <p:cNvPr id="4" name="Text 2"/>
          <p:cNvSpPr/>
          <p:nvPr/>
        </p:nvSpPr>
        <p:spPr>
          <a:xfrm>
            <a:off x="812800" y="3463264"/>
            <a:ext cx="8502650" cy="736600"/>
          </a:xfrm>
          <a:prstGeom prst="rect">
            <a:avLst/>
          </a:prstGeom>
          <a:noFill/>
          <a:ln/>
        </p:spPr>
        <p:txBody>
          <a:bodyPr wrap="square" lIns="0" tIns="0" rIns="0" bIns="0" rtlCol="0" anchor="t">
            <a:normAutofit/>
          </a:bodyPr>
          <a:lstStyle/>
          <a:p>
            <a:pPr marL="0" indent="0" algn="l">
              <a:lnSpc>
                <a:spcPts val="2800"/>
              </a:lnSpc>
              <a:buNone/>
            </a:pPr>
            <a:r>
              <a:rPr lang="en-US" sz="2000" dirty="0">
                <a:solidFill>
                  <a:srgbClr val="C9D3E3"/>
                </a:solidFill>
                <a:latin typeface="Nunito Sans" pitchFamily="34" charset="0"/>
                <a:ea typeface="Nunito Sans" pitchFamily="34" charset="-122"/>
                <a:cs typeface="Nunito Sans" pitchFamily="34" charset="-120"/>
              </a:rPr>
              <a:t>How to decide whether a user story is complete and acceptable, and why that matters to testers</a:t>
            </a:r>
            <a:endParaRPr lang="en-US" sz="2000" dirty="0"/>
          </a:p>
        </p:txBody>
      </p:sp>
      <p:sp>
        <p:nvSpPr>
          <p:cNvPr id="5" name="Shape 3"/>
          <p:cNvSpPr/>
          <p:nvPr/>
        </p:nvSpPr>
        <p:spPr>
          <a:xfrm>
            <a:off x="812800" y="4428464"/>
            <a:ext cx="1016000" cy="38100"/>
          </a:xfrm>
          <a:prstGeom prst="roundRect">
            <a:avLst>
              <a:gd name="adj" fmla="val 50000"/>
            </a:avLst>
          </a:prstGeom>
          <a:solidFill>
            <a:srgbClr val="F0A04B"/>
          </a:solidFill>
          <a:ln/>
        </p:spPr>
      </p:sp>
      <p:sp>
        <p:nvSpPr>
          <p:cNvPr id="6" name="Text 4"/>
          <p:cNvSpPr/>
          <p:nvPr/>
        </p:nvSpPr>
        <p:spPr>
          <a:xfrm>
            <a:off x="812800" y="4720564"/>
            <a:ext cx="1088339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3"/>
                </a:solidFill>
                <a:latin typeface="Nunito Sans" pitchFamily="34" charset="0"/>
                <a:ea typeface="Nunito Sans" pitchFamily="34" charset="-122"/>
                <a:cs typeface="Nunito Sans" pitchFamily="34" charset="-120"/>
              </a:rPr>
              <a:t>30 minutes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LEARNING OBJECTIVES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What this unit covers:</a:t>
            </a:r>
            <a:endParaRPr lang="en-US" sz="3200" dirty="0"/>
          </a:p>
        </p:txBody>
      </p:sp>
      <p:sp>
        <p:nvSpPr>
          <p:cNvPr id="4" name="Text 2"/>
          <p:cNvSpPr/>
          <p:nvPr/>
        </p:nvSpPr>
        <p:spPr>
          <a:xfrm>
            <a:off x="812800" y="1904934"/>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1</a:t>
            </a:r>
            <a:endParaRPr lang="en-US" sz="2000" dirty="0"/>
          </a:p>
        </p:txBody>
      </p:sp>
      <p:sp>
        <p:nvSpPr>
          <p:cNvPr id="5" name="Text 3"/>
          <p:cNvSpPr/>
          <p:nvPr/>
        </p:nvSpPr>
        <p:spPr>
          <a:xfrm>
            <a:off x="1422400" y="1959967"/>
            <a:ext cx="7075329"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Define acceptance criteria and explain why they matter to testers</a:t>
            </a:r>
            <a:endParaRPr lang="en-US" sz="1600" dirty="0"/>
          </a:p>
        </p:txBody>
      </p:sp>
      <p:sp>
        <p:nvSpPr>
          <p:cNvPr id="6" name="Text 4"/>
          <p:cNvSpPr/>
          <p:nvPr/>
        </p:nvSpPr>
        <p:spPr>
          <a:xfrm>
            <a:off x="812800" y="2438334"/>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2</a:t>
            </a:r>
            <a:endParaRPr lang="en-US" sz="2000" dirty="0"/>
          </a:p>
        </p:txBody>
      </p:sp>
      <p:sp>
        <p:nvSpPr>
          <p:cNvPr id="7" name="Text 5"/>
          <p:cNvSpPr/>
          <p:nvPr/>
        </p:nvSpPr>
        <p:spPr>
          <a:xfrm>
            <a:off x="1422400" y="2493367"/>
            <a:ext cx="9632156"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Write criteria covering </a:t>
            </a:r>
            <a:r>
              <a:rPr lang="en-US" sz="1600" b="1" dirty="0">
                <a:solidFill>
                  <a:srgbClr val="3D4A5C"/>
                </a:solidFill>
                <a:latin typeface="Nunito Sans" pitchFamily="34" charset="0"/>
                <a:ea typeface="Nunito Sans" pitchFamily="34" charset="-122"/>
                <a:cs typeface="Nunito Sans" pitchFamily="34" charset="-120"/>
              </a:rPr>
              <a:t>business rules</a:t>
            </a:r>
            <a:r>
              <a:rPr lang="en-US" sz="1600" dirty="0">
                <a:solidFill>
                  <a:srgbClr val="3D4A5C"/>
                </a:solidFill>
                <a:latin typeface="Nunito Sans" pitchFamily="34" charset="0"/>
                <a:ea typeface="Nunito Sans" pitchFamily="34" charset="-122"/>
                <a:cs typeface="Nunito Sans" pitchFamily="34" charset="-120"/>
              </a:rPr>
              <a:t>, </a:t>
            </a:r>
            <a:r>
              <a:rPr lang="en-US" sz="1600" b="1" dirty="0">
                <a:solidFill>
                  <a:srgbClr val="3D4A5C"/>
                </a:solidFill>
                <a:latin typeface="Nunito Sans" pitchFamily="34" charset="0"/>
                <a:ea typeface="Nunito Sans" pitchFamily="34" charset="-122"/>
                <a:cs typeface="Nunito Sans" pitchFamily="34" charset="-120"/>
              </a:rPr>
              <a:t>boundaries</a:t>
            </a:r>
            <a:r>
              <a:rPr lang="en-US" sz="1600" dirty="0">
                <a:solidFill>
                  <a:srgbClr val="3D4A5C"/>
                </a:solidFill>
                <a:latin typeface="Nunito Sans" pitchFamily="34" charset="0"/>
                <a:ea typeface="Nunito Sans" pitchFamily="34" charset="-122"/>
                <a:cs typeface="Nunito Sans" pitchFamily="34" charset="-120"/>
              </a:rPr>
              <a:t>, and </a:t>
            </a:r>
            <a:r>
              <a:rPr lang="en-US" sz="1600" b="1" dirty="0">
                <a:solidFill>
                  <a:srgbClr val="3D4A5C"/>
                </a:solidFill>
                <a:latin typeface="Nunito Sans" pitchFamily="34" charset="0"/>
                <a:ea typeface="Nunito Sans" pitchFamily="34" charset="-122"/>
                <a:cs typeface="Nunito Sans" pitchFamily="34" charset="-120"/>
              </a:rPr>
              <a:t>positive and negative</a:t>
            </a:r>
            <a:r>
              <a:rPr lang="en-US" sz="1600" dirty="0">
                <a:solidFill>
                  <a:srgbClr val="3D4A5C"/>
                </a:solidFill>
                <a:latin typeface="Nunito Sans" pitchFamily="34" charset="0"/>
                <a:ea typeface="Nunito Sans" pitchFamily="34" charset="-122"/>
                <a:cs typeface="Nunito Sans" pitchFamily="34" charset="-120"/>
              </a:rPr>
              <a:t> conditions</a:t>
            </a:r>
            <a:endParaRPr lang="en-US" sz="1600" dirty="0"/>
          </a:p>
        </p:txBody>
      </p:sp>
      <p:sp>
        <p:nvSpPr>
          <p:cNvPr id="8" name="Text 6"/>
          <p:cNvSpPr/>
          <p:nvPr/>
        </p:nvSpPr>
        <p:spPr>
          <a:xfrm>
            <a:off x="812800" y="2971734"/>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3</a:t>
            </a:r>
            <a:endParaRPr lang="en-US" sz="2000" dirty="0"/>
          </a:p>
        </p:txBody>
      </p:sp>
      <p:sp>
        <p:nvSpPr>
          <p:cNvPr id="9" name="Text 7"/>
          <p:cNvSpPr/>
          <p:nvPr/>
        </p:nvSpPr>
        <p:spPr>
          <a:xfrm>
            <a:off x="1422400" y="3026767"/>
            <a:ext cx="5258435"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Write criteria in the </a:t>
            </a:r>
            <a:r>
              <a:rPr lang="en-US" sz="1600" b="1" dirty="0">
                <a:solidFill>
                  <a:srgbClr val="3D4A5C"/>
                </a:solidFill>
                <a:latin typeface="Nunito Sans" pitchFamily="34" charset="0"/>
                <a:ea typeface="Nunito Sans" pitchFamily="34" charset="-122"/>
                <a:cs typeface="Nunito Sans" pitchFamily="34" charset="-120"/>
              </a:rPr>
              <a:t>Given / When / Then</a:t>
            </a:r>
            <a:r>
              <a:rPr lang="en-US" sz="1600" dirty="0">
                <a:solidFill>
                  <a:srgbClr val="3D4A5C"/>
                </a:solidFill>
                <a:latin typeface="Nunito Sans" pitchFamily="34" charset="0"/>
                <a:ea typeface="Nunito Sans" pitchFamily="34" charset="-122"/>
                <a:cs typeface="Nunito Sans" pitchFamily="34" charset="-120"/>
              </a:rPr>
              <a:t> format</a:t>
            </a:r>
            <a:endParaRPr lang="en-US" sz="1600" dirty="0"/>
          </a:p>
        </p:txBody>
      </p:sp>
      <p:sp>
        <p:nvSpPr>
          <p:cNvPr id="10" name="Text 8"/>
          <p:cNvSpPr/>
          <p:nvPr/>
        </p:nvSpPr>
        <p:spPr>
          <a:xfrm>
            <a:off x="812800" y="3505134"/>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4</a:t>
            </a:r>
            <a:endParaRPr lang="en-US" sz="2000" dirty="0"/>
          </a:p>
        </p:txBody>
      </p:sp>
      <p:sp>
        <p:nvSpPr>
          <p:cNvPr id="11" name="Text 9"/>
          <p:cNvSpPr/>
          <p:nvPr/>
        </p:nvSpPr>
        <p:spPr>
          <a:xfrm>
            <a:off x="1422400" y="3560167"/>
            <a:ext cx="6198473"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Distinguish </a:t>
            </a:r>
            <a:r>
              <a:rPr lang="en-US" sz="1600" b="1" dirty="0">
                <a:solidFill>
                  <a:srgbClr val="3D4A5C"/>
                </a:solidFill>
                <a:latin typeface="Nunito Sans" pitchFamily="34" charset="0"/>
                <a:ea typeface="Nunito Sans" pitchFamily="34" charset="-122"/>
                <a:cs typeface="Nunito Sans" pitchFamily="34" charset="-120"/>
              </a:rPr>
              <a:t>Definition of Done</a:t>
            </a:r>
            <a:r>
              <a:rPr lang="en-US" sz="1600" dirty="0">
                <a:solidFill>
                  <a:srgbClr val="3D4A5C"/>
                </a:solidFill>
                <a:latin typeface="Nunito Sans" pitchFamily="34" charset="0"/>
                <a:ea typeface="Nunito Sans" pitchFamily="34" charset="-122"/>
                <a:cs typeface="Nunito Sans" pitchFamily="34" charset="-120"/>
              </a:rPr>
              <a:t> from </a:t>
            </a:r>
            <a:r>
              <a:rPr lang="en-US" sz="1600" b="1" dirty="0">
                <a:solidFill>
                  <a:srgbClr val="3D4A5C"/>
                </a:solidFill>
                <a:latin typeface="Nunito Sans" pitchFamily="34" charset="0"/>
                <a:ea typeface="Nunito Sans" pitchFamily="34" charset="-122"/>
                <a:cs typeface="Nunito Sans" pitchFamily="34" charset="-120"/>
              </a:rPr>
              <a:t>Acceptance Criteria</a:t>
            </a:r>
            <a:endParaRPr lang="en-US" sz="1600" dirty="0"/>
          </a:p>
        </p:txBody>
      </p:sp>
      <p:sp>
        <p:nvSpPr>
          <p:cNvPr id="12" name="Text 10"/>
          <p:cNvSpPr/>
          <p:nvPr/>
        </p:nvSpPr>
        <p:spPr>
          <a:xfrm>
            <a:off x="812800" y="4038534"/>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5</a:t>
            </a:r>
            <a:endParaRPr lang="en-US" sz="2000" dirty="0"/>
          </a:p>
        </p:txBody>
      </p:sp>
      <p:sp>
        <p:nvSpPr>
          <p:cNvPr id="13" name="Text 11"/>
          <p:cNvSpPr/>
          <p:nvPr/>
        </p:nvSpPr>
        <p:spPr>
          <a:xfrm>
            <a:off x="1422400" y="4093567"/>
            <a:ext cx="6107113"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Review criteria and find gaps before development starts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EF2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WHAT ARE ACCEPTANCE CRITERIA?</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Specific, testable conditions a story must satisfy</a:t>
            </a:r>
            <a:endParaRPr lang="en-US" sz="3200" dirty="0"/>
          </a:p>
        </p:txBody>
      </p:sp>
      <p:sp>
        <p:nvSpPr>
          <p:cNvPr id="4" name="Shape 2"/>
          <p:cNvSpPr/>
          <p:nvPr/>
        </p:nvSpPr>
        <p:spPr>
          <a:xfrm>
            <a:off x="838200" y="1854135"/>
            <a:ext cx="0" cy="855927"/>
          </a:xfrm>
          <a:prstGeom prst="line">
            <a:avLst/>
          </a:prstGeom>
          <a:noFill/>
          <a:ln w="50800">
            <a:solidFill>
              <a:srgbClr val="A14F0A"/>
            </a:solidFill>
            <a:prstDash val="solid"/>
          </a:ln>
        </p:spPr>
      </p:sp>
      <p:sp>
        <p:nvSpPr>
          <p:cNvPr id="5" name="Text 3"/>
          <p:cNvSpPr/>
          <p:nvPr/>
        </p:nvSpPr>
        <p:spPr>
          <a:xfrm>
            <a:off x="1117600" y="1904935"/>
            <a:ext cx="9496806" cy="779727"/>
          </a:xfrm>
          <a:prstGeom prst="rect">
            <a:avLst/>
          </a:prstGeom>
          <a:noFill/>
          <a:ln/>
        </p:spPr>
        <p:txBody>
          <a:bodyPr wrap="square" lIns="0" tIns="0" rIns="0" bIns="0" rtlCol="0" anchor="t">
            <a:normAutofit/>
          </a:bodyPr>
          <a:lstStyle/>
          <a:p>
            <a:pPr marL="0" indent="0" algn="l">
              <a:lnSpc>
                <a:spcPts val="2970"/>
              </a:lnSpc>
              <a:buNone/>
            </a:pPr>
            <a:r>
              <a:rPr lang="en-US" sz="2200" dirty="0">
                <a:solidFill>
                  <a:srgbClr val="14213D"/>
                </a:solidFill>
                <a:latin typeface="Domine" pitchFamily="18" charset="0"/>
                <a:ea typeface="Domine" pitchFamily="18" charset="-122"/>
                <a:cs typeface="Domine" pitchFamily="18" charset="-120"/>
              </a:rPr>
              <a:t>Acceptance criteria defines what must be true for the story to be accepted. It therefore becomes a </a:t>
            </a:r>
            <a:r>
              <a:rPr lang="en-US" sz="2200" dirty="0">
                <a:solidFill>
                  <a:srgbClr val="A14F0A"/>
                </a:solidFill>
                <a:latin typeface="Domine" pitchFamily="18" charset="0"/>
                <a:ea typeface="Domine" pitchFamily="18" charset="-122"/>
                <a:cs typeface="Domine" pitchFamily="18" charset="-120"/>
              </a:rPr>
              <a:t>major input for test design</a:t>
            </a:r>
            <a:r>
              <a:rPr lang="en-US" sz="2200" dirty="0">
                <a:solidFill>
                  <a:srgbClr val="14213D"/>
                </a:solidFill>
                <a:latin typeface="Domine" pitchFamily="18" charset="0"/>
                <a:ea typeface="Domine" pitchFamily="18" charset="-122"/>
                <a:cs typeface="Domine" pitchFamily="18" charset="-120"/>
              </a:rPr>
              <a:t>.</a:t>
            </a:r>
            <a:endParaRPr lang="en-US" sz="2200" dirty="0"/>
          </a:p>
        </p:txBody>
      </p:sp>
      <p:sp>
        <p:nvSpPr>
          <p:cNvPr id="6" name="Shape 4"/>
          <p:cNvSpPr/>
          <p:nvPr/>
        </p:nvSpPr>
        <p:spPr>
          <a:xfrm>
            <a:off x="812800" y="3014861"/>
            <a:ext cx="2032000" cy="995561"/>
          </a:xfrm>
          <a:prstGeom prst="roundRect">
            <a:avLst>
              <a:gd name="adj" fmla="val 7654"/>
            </a:avLst>
          </a:prstGeom>
          <a:solidFill>
            <a:srgbClr val="FBFBF8"/>
          </a:solidFill>
          <a:ln/>
        </p:spPr>
      </p:sp>
      <p:sp>
        <p:nvSpPr>
          <p:cNvPr id="7" name="Text 5"/>
          <p:cNvSpPr/>
          <p:nvPr/>
        </p:nvSpPr>
        <p:spPr>
          <a:xfrm>
            <a:off x="965200" y="3167261"/>
            <a:ext cx="1779016"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B5C9E"/>
                </a:solidFill>
                <a:latin typeface="Nunito Sans" pitchFamily="34" charset="0"/>
                <a:ea typeface="Nunito Sans" pitchFamily="34" charset="-122"/>
                <a:cs typeface="Nunito Sans" pitchFamily="34" charset="-120"/>
              </a:rPr>
              <a:t>Clear</a:t>
            </a:r>
            <a:endParaRPr lang="en-US" sz="1400" dirty="0"/>
          </a:p>
        </p:txBody>
      </p:sp>
      <p:sp>
        <p:nvSpPr>
          <p:cNvPr id="8" name="Text 6"/>
          <p:cNvSpPr/>
          <p:nvPr/>
        </p:nvSpPr>
        <p:spPr>
          <a:xfrm>
            <a:off x="965200" y="3431381"/>
            <a:ext cx="177901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Everyone reads them the same way</a:t>
            </a:r>
            <a:endParaRPr lang="en-US" sz="1200" dirty="0"/>
          </a:p>
        </p:txBody>
      </p:sp>
      <p:sp>
        <p:nvSpPr>
          <p:cNvPr id="9" name="Shape 7"/>
          <p:cNvSpPr/>
          <p:nvPr/>
        </p:nvSpPr>
        <p:spPr>
          <a:xfrm>
            <a:off x="2946400" y="3014861"/>
            <a:ext cx="2032000" cy="995561"/>
          </a:xfrm>
          <a:prstGeom prst="roundRect">
            <a:avLst>
              <a:gd name="adj" fmla="val 7654"/>
            </a:avLst>
          </a:prstGeom>
          <a:solidFill>
            <a:srgbClr val="FBFBF8"/>
          </a:solidFill>
          <a:ln/>
        </p:spPr>
      </p:sp>
      <p:sp>
        <p:nvSpPr>
          <p:cNvPr id="10" name="Text 8"/>
          <p:cNvSpPr/>
          <p:nvPr/>
        </p:nvSpPr>
        <p:spPr>
          <a:xfrm>
            <a:off x="3098800" y="3167261"/>
            <a:ext cx="1779016"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B5C9E"/>
                </a:solidFill>
                <a:latin typeface="Nunito Sans" pitchFamily="34" charset="0"/>
                <a:ea typeface="Nunito Sans" pitchFamily="34" charset="-122"/>
                <a:cs typeface="Nunito Sans" pitchFamily="34" charset="-120"/>
              </a:rPr>
              <a:t>Testable</a:t>
            </a:r>
            <a:endParaRPr lang="en-US" sz="1400" dirty="0"/>
          </a:p>
        </p:txBody>
      </p:sp>
      <p:sp>
        <p:nvSpPr>
          <p:cNvPr id="11" name="Text 9"/>
          <p:cNvSpPr/>
          <p:nvPr/>
        </p:nvSpPr>
        <p:spPr>
          <a:xfrm>
            <a:off x="3098800" y="3431381"/>
            <a:ext cx="177901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Each gives a pass or fail result</a:t>
            </a:r>
            <a:endParaRPr lang="en-US" sz="1200" dirty="0"/>
          </a:p>
        </p:txBody>
      </p:sp>
      <p:sp>
        <p:nvSpPr>
          <p:cNvPr id="12" name="Shape 10"/>
          <p:cNvSpPr/>
          <p:nvPr/>
        </p:nvSpPr>
        <p:spPr>
          <a:xfrm>
            <a:off x="5080000" y="3014861"/>
            <a:ext cx="2032000" cy="995561"/>
          </a:xfrm>
          <a:prstGeom prst="roundRect">
            <a:avLst>
              <a:gd name="adj" fmla="val 7654"/>
            </a:avLst>
          </a:prstGeom>
          <a:solidFill>
            <a:srgbClr val="FBFBF8"/>
          </a:solidFill>
          <a:ln/>
        </p:spPr>
      </p:sp>
      <p:sp>
        <p:nvSpPr>
          <p:cNvPr id="13" name="Text 11"/>
          <p:cNvSpPr/>
          <p:nvPr/>
        </p:nvSpPr>
        <p:spPr>
          <a:xfrm>
            <a:off x="5232400" y="3167261"/>
            <a:ext cx="1779016"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B5C9E"/>
                </a:solidFill>
                <a:latin typeface="Nunito Sans" pitchFamily="34" charset="0"/>
                <a:ea typeface="Nunito Sans" pitchFamily="34" charset="-122"/>
                <a:cs typeface="Nunito Sans" pitchFamily="34" charset="-120"/>
              </a:rPr>
              <a:t>Concise</a:t>
            </a:r>
            <a:endParaRPr lang="en-US" sz="1400" dirty="0"/>
          </a:p>
        </p:txBody>
      </p:sp>
      <p:sp>
        <p:nvSpPr>
          <p:cNvPr id="14" name="Text 12"/>
          <p:cNvSpPr/>
          <p:nvPr/>
        </p:nvSpPr>
        <p:spPr>
          <a:xfrm>
            <a:off x="5232400" y="3431381"/>
            <a:ext cx="177901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Describe what, not how to build it</a:t>
            </a:r>
            <a:endParaRPr lang="en-US" sz="1200" dirty="0"/>
          </a:p>
        </p:txBody>
      </p:sp>
      <p:sp>
        <p:nvSpPr>
          <p:cNvPr id="15" name="Shape 13"/>
          <p:cNvSpPr/>
          <p:nvPr/>
        </p:nvSpPr>
        <p:spPr>
          <a:xfrm>
            <a:off x="7213600" y="3014861"/>
            <a:ext cx="2032000" cy="995561"/>
          </a:xfrm>
          <a:prstGeom prst="roundRect">
            <a:avLst>
              <a:gd name="adj" fmla="val 7654"/>
            </a:avLst>
          </a:prstGeom>
          <a:solidFill>
            <a:srgbClr val="FBFBF8"/>
          </a:solidFill>
          <a:ln/>
        </p:spPr>
      </p:sp>
      <p:sp>
        <p:nvSpPr>
          <p:cNvPr id="16" name="Text 14"/>
          <p:cNvSpPr/>
          <p:nvPr/>
        </p:nvSpPr>
        <p:spPr>
          <a:xfrm>
            <a:off x="7366000" y="3167261"/>
            <a:ext cx="1779016"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B5C9E"/>
                </a:solidFill>
                <a:latin typeface="Nunito Sans" pitchFamily="34" charset="0"/>
                <a:ea typeface="Nunito Sans" pitchFamily="34" charset="-122"/>
                <a:cs typeface="Nunito Sans" pitchFamily="34" charset="-120"/>
              </a:rPr>
              <a:t>UI-neutral</a:t>
            </a:r>
            <a:endParaRPr lang="en-US" sz="1400" dirty="0"/>
          </a:p>
        </p:txBody>
      </p:sp>
      <p:sp>
        <p:nvSpPr>
          <p:cNvPr id="17" name="Text 15"/>
          <p:cNvSpPr/>
          <p:nvPr/>
        </p:nvSpPr>
        <p:spPr>
          <a:xfrm>
            <a:off x="7366000" y="3431381"/>
            <a:ext cx="177901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“User is notified”, not “red toast top-right”</a:t>
            </a:r>
            <a:endParaRPr lang="en-US" sz="1200" dirty="0"/>
          </a:p>
        </p:txBody>
      </p:sp>
      <p:sp>
        <p:nvSpPr>
          <p:cNvPr id="18" name="Shape 16"/>
          <p:cNvSpPr/>
          <p:nvPr/>
        </p:nvSpPr>
        <p:spPr>
          <a:xfrm>
            <a:off x="9347200" y="3014861"/>
            <a:ext cx="2032000" cy="995561"/>
          </a:xfrm>
          <a:prstGeom prst="roundRect">
            <a:avLst>
              <a:gd name="adj" fmla="val 7654"/>
            </a:avLst>
          </a:prstGeom>
          <a:solidFill>
            <a:srgbClr val="FBFBF8"/>
          </a:solidFill>
          <a:ln/>
        </p:spPr>
      </p:sp>
      <p:sp>
        <p:nvSpPr>
          <p:cNvPr id="19" name="Text 17"/>
          <p:cNvSpPr/>
          <p:nvPr/>
        </p:nvSpPr>
        <p:spPr>
          <a:xfrm>
            <a:off x="9499600" y="3167261"/>
            <a:ext cx="1779016"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B5C9E"/>
                </a:solidFill>
                <a:latin typeface="Nunito Sans" pitchFamily="34" charset="0"/>
                <a:ea typeface="Nunito Sans" pitchFamily="34" charset="-122"/>
                <a:cs typeface="Nunito Sans" pitchFamily="34" charset="-120"/>
              </a:rPr>
              <a:t>Agreed</a:t>
            </a:r>
            <a:endParaRPr lang="en-US" sz="1400" dirty="0"/>
          </a:p>
        </p:txBody>
      </p:sp>
      <p:sp>
        <p:nvSpPr>
          <p:cNvPr id="20" name="Text 18"/>
          <p:cNvSpPr/>
          <p:nvPr/>
        </p:nvSpPr>
        <p:spPr>
          <a:xfrm>
            <a:off x="9499600" y="3431381"/>
            <a:ext cx="1779016"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By PO, developers and testers, before coding</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WHY THEY MATTER TO TESTERS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“Done” becomes verifiable</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816035"/>
          <a:ext cx="10553700" cy="1929805"/>
        </p:xfrm>
        <a:graphic>
          <a:graphicData uri="http://schemas.openxmlformats.org/drawingml/2006/table">
            <a:tbl>
              <a:tblPr/>
              <a:tblGrid>
                <a:gridCol w="5276850">
                  <a:extLst>
                    <a:ext uri="{9D8B030D-6E8A-4147-A177-3AD203B41FA5}">
                      <a16:colId xmlns:a16="http://schemas.microsoft.com/office/drawing/2014/main" val="20000"/>
                    </a:ext>
                  </a:extLst>
                </a:gridCol>
                <a:gridCol w="5276850">
                  <a:extLst>
                    <a:ext uri="{9D8B030D-6E8A-4147-A177-3AD203B41FA5}">
                      <a16:colId xmlns:a16="http://schemas.microsoft.com/office/drawing/2014/main" val="20001"/>
                    </a:ext>
                  </a:extLst>
                </a:gridCol>
              </a:tblGrid>
              <a:tr h="385961">
                <a:tc>
                  <a:txBody>
                    <a:bodyPr/>
                    <a:lstStyle/>
                    <a:p>
                      <a:pPr marL="0" indent="0">
                        <a:lnSpc>
                          <a:spcPts val="1960"/>
                        </a:lnSpc>
                        <a:buNone/>
                      </a:pPr>
                      <a:r>
                        <a:rPr lang="en-US" sz="1400" b="1" dirty="0">
                          <a:solidFill>
                            <a:srgbClr val="FBFBF8"/>
                          </a:solidFill>
                          <a:latin typeface="Nunito Sans" pitchFamily="34" charset="0"/>
                          <a:ea typeface="Nunito Sans" pitchFamily="34" charset="-122"/>
                          <a:cs typeface="Nunito Sans" pitchFamily="34" charset="-120"/>
                        </a:rPr>
                        <a:t>Without acceptance criteria</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960"/>
                        </a:lnSpc>
                        <a:buNone/>
                      </a:pPr>
                      <a:r>
                        <a:rPr lang="en-US" sz="1400" b="1" dirty="0">
                          <a:solidFill>
                            <a:srgbClr val="FBFBF8"/>
                          </a:solidFill>
                          <a:latin typeface="Nunito Sans" pitchFamily="34" charset="0"/>
                          <a:ea typeface="Nunito Sans" pitchFamily="34" charset="-122"/>
                          <a:cs typeface="Nunito Sans" pitchFamily="34" charset="-120"/>
                        </a:rPr>
                        <a:t>With acceptance criteria</a:t>
                      </a:r>
                      <a:endParaRPr lang="en-US" sz="1400" dirty="0">
                        <a:latin typeface="Nunito Sans" charset="0"/>
                        <a:ea typeface="Nunito Sans" charset="0"/>
                        <a:cs typeface="Nunito Sans" charset="0"/>
                      </a:endParaRPr>
                    </a:p>
                  </a:txBody>
                  <a:tcPr marL="62230" marR="62230" marT="62230" marB="6223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85961">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Tester guesses expected behaviour</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Expected results are defined</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85961">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Dev and tester argue: “is this a bug?”</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Shared, agreed definition of correct</a:t>
                      </a:r>
                      <a:endParaRPr lang="en-US" sz="1400" dirty="0">
                        <a:latin typeface="Nunito Sans" charset="0"/>
                        <a:ea typeface="Nunito Sans" charset="0"/>
                        <a:cs typeface="Nunito Sans" charset="0"/>
                      </a:endParaRPr>
                    </a:p>
                  </a:txBody>
                  <a:tcPr marL="62230" marR="62230" marT="62230" marB="6223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85961">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Edge cases discovered in production</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Edge cases discussed in refinement</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85961">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“Done” is subjective</a:t>
                      </a:r>
                      <a:endParaRPr lang="en-US" sz="1400" dirty="0">
                        <a:latin typeface="Nunito Sans" charset="0"/>
                        <a:ea typeface="Nunito Sans" charset="0"/>
                        <a:cs typeface="Nunito Sans" charset="0"/>
                      </a:endParaRPr>
                    </a:p>
                  </a:txBody>
                  <a:tcPr marL="62230" marR="62230" marT="62230" marB="6223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960"/>
                        </a:lnSpc>
                        <a:buNone/>
                      </a:pPr>
                      <a:r>
                        <a:rPr lang="en-US" sz="1400" dirty="0">
                          <a:solidFill>
                            <a:srgbClr val="3D4A5C"/>
                          </a:solidFill>
                          <a:latin typeface="Nunito Sans" pitchFamily="34" charset="0"/>
                          <a:ea typeface="Nunito Sans" pitchFamily="34" charset="-122"/>
                          <a:cs typeface="Nunito Sans" pitchFamily="34" charset="-120"/>
                        </a:rPr>
                        <a:t>“Done” is verifiable</a:t>
                      </a:r>
                      <a:endParaRPr lang="en-US" sz="1400" dirty="0">
                        <a:latin typeface="Nunito Sans" charset="0"/>
                        <a:ea typeface="Nunito Sans" charset="0"/>
                        <a:cs typeface="Nunito Sans" charset="0"/>
                      </a:endParaRPr>
                    </a:p>
                  </a:txBody>
                  <a:tcPr marL="62230" marR="62230" marT="62230" marB="6223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bl>
          </a:graphicData>
        </a:graphic>
      </p:graphicFrame>
      <p:sp>
        <p:nvSpPr>
          <p:cNvPr id="5" name="Shape 2"/>
          <p:cNvSpPr/>
          <p:nvPr/>
        </p:nvSpPr>
        <p:spPr>
          <a:xfrm>
            <a:off x="812800" y="3999840"/>
            <a:ext cx="2317750" cy="812734"/>
          </a:xfrm>
          <a:prstGeom prst="roundRect">
            <a:avLst>
              <a:gd name="adj" fmla="val 9376"/>
            </a:avLst>
          </a:prstGeom>
          <a:solidFill>
            <a:srgbClr val="14213D"/>
          </a:solidFill>
          <a:ln/>
        </p:spPr>
      </p:sp>
      <p:sp>
        <p:nvSpPr>
          <p:cNvPr id="6" name="Text 3"/>
          <p:cNvSpPr/>
          <p:nvPr/>
        </p:nvSpPr>
        <p:spPr>
          <a:xfrm>
            <a:off x="1531230" y="4126840"/>
            <a:ext cx="880824"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C9D3E3"/>
                </a:solidFill>
                <a:latin typeface="Nunito Sans" pitchFamily="34" charset="0"/>
                <a:ea typeface="Nunito Sans" pitchFamily="34" charset="-122"/>
                <a:cs typeface="Nunito Sans" pitchFamily="34" charset="-120"/>
              </a:rPr>
              <a:t>User story</a:t>
            </a:r>
            <a:endParaRPr lang="en-US" sz="1200" dirty="0"/>
          </a:p>
        </p:txBody>
      </p:sp>
      <p:sp>
        <p:nvSpPr>
          <p:cNvPr id="7" name="Text 4"/>
          <p:cNvSpPr/>
          <p:nvPr/>
        </p:nvSpPr>
        <p:spPr>
          <a:xfrm>
            <a:off x="1898716" y="4365560"/>
            <a:ext cx="145918" cy="345414"/>
          </a:xfrm>
          <a:prstGeom prst="rect">
            <a:avLst/>
          </a:prstGeom>
          <a:noFill/>
          <a:ln/>
        </p:spPr>
        <p:txBody>
          <a:bodyPr wrap="square" lIns="0" tIns="0" rIns="0" bIns="0" rtlCol="0" anchor="t">
            <a:normAutofit/>
          </a:bodyPr>
          <a:lstStyle/>
          <a:p>
            <a:pPr marL="0" indent="0" algn="ctr">
              <a:lnSpc>
                <a:spcPts val="2520"/>
              </a:lnSpc>
              <a:buNone/>
            </a:pPr>
            <a:r>
              <a:rPr lang="en-US" sz="1800" b="1" dirty="0">
                <a:solidFill>
                  <a:srgbClr val="FBFBF8"/>
                </a:solidFill>
                <a:latin typeface="Domine" pitchFamily="18" charset="0"/>
                <a:ea typeface="Domine" pitchFamily="18" charset="-122"/>
                <a:cs typeface="Domine" pitchFamily="18" charset="-120"/>
              </a:rPr>
              <a:t>1</a:t>
            </a:r>
            <a:endParaRPr lang="en-US" sz="1800" dirty="0"/>
          </a:p>
        </p:txBody>
      </p:sp>
      <p:sp>
        <p:nvSpPr>
          <p:cNvPr id="8" name="Text 5"/>
          <p:cNvSpPr/>
          <p:nvPr/>
        </p:nvSpPr>
        <p:spPr>
          <a:xfrm>
            <a:off x="3232150" y="4246166"/>
            <a:ext cx="279400" cy="345414"/>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A14F0A"/>
                </a:solidFill>
                <a:latin typeface="Nunito Sans" pitchFamily="34" charset="0"/>
                <a:ea typeface="Nunito Sans" pitchFamily="34" charset="-122"/>
                <a:cs typeface="Nunito Sans" pitchFamily="34" charset="-120"/>
              </a:rPr>
              <a:t>→</a:t>
            </a:r>
            <a:endParaRPr lang="en-US" sz="1800" dirty="0"/>
          </a:p>
        </p:txBody>
      </p:sp>
      <p:sp>
        <p:nvSpPr>
          <p:cNvPr id="9" name="Shape 6"/>
          <p:cNvSpPr/>
          <p:nvPr/>
        </p:nvSpPr>
        <p:spPr>
          <a:xfrm>
            <a:off x="3562350" y="3999840"/>
            <a:ext cx="2317750" cy="812734"/>
          </a:xfrm>
          <a:prstGeom prst="roundRect">
            <a:avLst>
              <a:gd name="adj" fmla="val 9376"/>
            </a:avLst>
          </a:prstGeom>
          <a:solidFill>
            <a:srgbClr val="2B5C9E"/>
          </a:solidFill>
          <a:ln/>
        </p:spPr>
      </p:sp>
      <p:sp>
        <p:nvSpPr>
          <p:cNvPr id="10" name="Text 7"/>
          <p:cNvSpPr/>
          <p:nvPr/>
        </p:nvSpPr>
        <p:spPr>
          <a:xfrm>
            <a:off x="3914305" y="4126840"/>
            <a:ext cx="1613773"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DCE4F0"/>
                </a:solidFill>
                <a:latin typeface="Nunito Sans" pitchFamily="34" charset="0"/>
                <a:ea typeface="Nunito Sans" pitchFamily="34" charset="-122"/>
                <a:cs typeface="Nunito Sans" pitchFamily="34" charset="-120"/>
              </a:rPr>
              <a:t>Acceptance criteria</a:t>
            </a:r>
            <a:endParaRPr lang="en-US" sz="1200" dirty="0"/>
          </a:p>
        </p:txBody>
      </p:sp>
      <p:sp>
        <p:nvSpPr>
          <p:cNvPr id="11" name="Text 8"/>
          <p:cNvSpPr/>
          <p:nvPr/>
        </p:nvSpPr>
        <p:spPr>
          <a:xfrm>
            <a:off x="4410637" y="4365560"/>
            <a:ext cx="621109" cy="345414"/>
          </a:xfrm>
          <a:prstGeom prst="rect">
            <a:avLst/>
          </a:prstGeom>
          <a:noFill/>
          <a:ln/>
        </p:spPr>
        <p:txBody>
          <a:bodyPr wrap="square" lIns="0" tIns="0" rIns="0" bIns="0" rtlCol="0" anchor="t">
            <a:normAutofit/>
          </a:bodyPr>
          <a:lstStyle/>
          <a:p>
            <a:pPr marL="0" indent="0" algn="ctr">
              <a:lnSpc>
                <a:spcPts val="2520"/>
              </a:lnSpc>
              <a:buNone/>
            </a:pPr>
            <a:r>
              <a:rPr lang="en-US" sz="1800" b="1" dirty="0">
                <a:solidFill>
                  <a:srgbClr val="FBFBF8"/>
                </a:solidFill>
                <a:latin typeface="Domine" pitchFamily="18" charset="0"/>
                <a:ea typeface="Domine" pitchFamily="18" charset="-122"/>
                <a:cs typeface="Domine" pitchFamily="18" charset="-120"/>
              </a:rPr>
              <a:t>5–10</a:t>
            </a:r>
            <a:endParaRPr lang="en-US" sz="1800" dirty="0"/>
          </a:p>
        </p:txBody>
      </p:sp>
      <p:sp>
        <p:nvSpPr>
          <p:cNvPr id="12" name="Text 9"/>
          <p:cNvSpPr/>
          <p:nvPr/>
        </p:nvSpPr>
        <p:spPr>
          <a:xfrm>
            <a:off x="5981700" y="4246166"/>
            <a:ext cx="279400" cy="345414"/>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A14F0A"/>
                </a:solidFill>
                <a:latin typeface="Nunito Sans" pitchFamily="34" charset="0"/>
                <a:ea typeface="Nunito Sans" pitchFamily="34" charset="-122"/>
                <a:cs typeface="Nunito Sans" pitchFamily="34" charset="-120"/>
              </a:rPr>
              <a:t>→</a:t>
            </a:r>
            <a:endParaRPr lang="en-US" sz="1800" dirty="0"/>
          </a:p>
        </p:txBody>
      </p:sp>
      <p:sp>
        <p:nvSpPr>
          <p:cNvPr id="13" name="Shape 10"/>
          <p:cNvSpPr/>
          <p:nvPr/>
        </p:nvSpPr>
        <p:spPr>
          <a:xfrm>
            <a:off x="6311900" y="3999840"/>
            <a:ext cx="2317750" cy="812734"/>
          </a:xfrm>
          <a:prstGeom prst="roundRect">
            <a:avLst>
              <a:gd name="adj" fmla="val 9376"/>
            </a:avLst>
          </a:prstGeom>
          <a:solidFill>
            <a:srgbClr val="2B5C9E"/>
          </a:solidFill>
          <a:ln/>
        </p:spPr>
      </p:sp>
      <p:sp>
        <p:nvSpPr>
          <p:cNvPr id="14" name="Text 11"/>
          <p:cNvSpPr/>
          <p:nvPr/>
        </p:nvSpPr>
        <p:spPr>
          <a:xfrm>
            <a:off x="6871176" y="4126840"/>
            <a:ext cx="1199198"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DCE4F0"/>
                </a:solidFill>
                <a:latin typeface="Nunito Sans" pitchFamily="34" charset="0"/>
                <a:ea typeface="Nunito Sans" pitchFamily="34" charset="-122"/>
                <a:cs typeface="Nunito Sans" pitchFamily="34" charset="-120"/>
              </a:rPr>
              <a:t>Test scenarios</a:t>
            </a:r>
            <a:endParaRPr lang="en-US" sz="1200" dirty="0"/>
          </a:p>
        </p:txBody>
      </p:sp>
      <p:sp>
        <p:nvSpPr>
          <p:cNvPr id="15" name="Text 12"/>
          <p:cNvSpPr/>
          <p:nvPr/>
        </p:nvSpPr>
        <p:spPr>
          <a:xfrm>
            <a:off x="7060645" y="4365560"/>
            <a:ext cx="820261" cy="345414"/>
          </a:xfrm>
          <a:prstGeom prst="rect">
            <a:avLst/>
          </a:prstGeom>
          <a:noFill/>
          <a:ln/>
        </p:spPr>
        <p:txBody>
          <a:bodyPr wrap="square" lIns="0" tIns="0" rIns="0" bIns="0" rtlCol="0" anchor="t">
            <a:normAutofit/>
          </a:bodyPr>
          <a:lstStyle/>
          <a:p>
            <a:pPr marL="0" indent="0" algn="ctr">
              <a:lnSpc>
                <a:spcPts val="2520"/>
              </a:lnSpc>
              <a:buNone/>
            </a:pPr>
            <a:r>
              <a:rPr lang="en-US" sz="1800" b="1" dirty="0">
                <a:solidFill>
                  <a:srgbClr val="FBFBF8"/>
                </a:solidFill>
                <a:latin typeface="Domine" pitchFamily="18" charset="0"/>
                <a:ea typeface="Domine" pitchFamily="18" charset="-122"/>
                <a:cs typeface="Domine" pitchFamily="18" charset="-120"/>
              </a:rPr>
              <a:t>10–30</a:t>
            </a:r>
            <a:endParaRPr lang="en-US" sz="1800" dirty="0"/>
          </a:p>
        </p:txBody>
      </p:sp>
      <p:sp>
        <p:nvSpPr>
          <p:cNvPr id="16" name="Text 13"/>
          <p:cNvSpPr/>
          <p:nvPr/>
        </p:nvSpPr>
        <p:spPr>
          <a:xfrm>
            <a:off x="8731250" y="4246166"/>
            <a:ext cx="279400" cy="345414"/>
          </a:xfrm>
          <a:prstGeom prst="rect">
            <a:avLst/>
          </a:prstGeom>
          <a:noFill/>
          <a:ln/>
        </p:spPr>
        <p:txBody>
          <a:bodyPr wrap="square" lIns="0" tIns="0" rIns="0" bIns="0" rtlCol="0" anchor="t">
            <a:normAutofit/>
          </a:bodyPr>
          <a:lstStyle/>
          <a:p>
            <a:pPr marL="0" indent="0" algn="l">
              <a:lnSpc>
                <a:spcPts val="2520"/>
              </a:lnSpc>
              <a:buNone/>
            </a:pPr>
            <a:r>
              <a:rPr lang="en-US" sz="1800" b="1" dirty="0">
                <a:solidFill>
                  <a:srgbClr val="A14F0A"/>
                </a:solidFill>
                <a:latin typeface="Nunito Sans" pitchFamily="34" charset="0"/>
                <a:ea typeface="Nunito Sans" pitchFamily="34" charset="-122"/>
                <a:cs typeface="Nunito Sans" pitchFamily="34" charset="-120"/>
              </a:rPr>
              <a:t>→</a:t>
            </a:r>
            <a:endParaRPr lang="en-US" sz="1800" dirty="0"/>
          </a:p>
        </p:txBody>
      </p:sp>
      <p:sp>
        <p:nvSpPr>
          <p:cNvPr id="17" name="Shape 14"/>
          <p:cNvSpPr/>
          <p:nvPr/>
        </p:nvSpPr>
        <p:spPr>
          <a:xfrm>
            <a:off x="9061450" y="3999840"/>
            <a:ext cx="2317750" cy="812734"/>
          </a:xfrm>
          <a:prstGeom prst="roundRect">
            <a:avLst>
              <a:gd name="adj" fmla="val 9376"/>
            </a:avLst>
          </a:prstGeom>
          <a:solidFill>
            <a:srgbClr val="A14F0A"/>
          </a:solidFill>
          <a:ln/>
        </p:spPr>
      </p:sp>
      <p:sp>
        <p:nvSpPr>
          <p:cNvPr id="18" name="Text 15"/>
          <p:cNvSpPr/>
          <p:nvPr/>
        </p:nvSpPr>
        <p:spPr>
          <a:xfrm>
            <a:off x="9785430" y="4126840"/>
            <a:ext cx="869791" cy="238720"/>
          </a:xfrm>
          <a:prstGeom prst="rect">
            <a:avLst/>
          </a:prstGeom>
          <a:noFill/>
          <a:ln/>
        </p:spPr>
        <p:txBody>
          <a:bodyPr wrap="square" lIns="0" tIns="0" rIns="0" bIns="0" rtlCol="0" anchor="t">
            <a:normAutofit/>
          </a:bodyPr>
          <a:lstStyle/>
          <a:p>
            <a:pPr marL="0" indent="0" algn="ctr">
              <a:lnSpc>
                <a:spcPts val="1680"/>
              </a:lnSpc>
              <a:buNone/>
            </a:pPr>
            <a:r>
              <a:rPr lang="en-US" sz="1200" b="1" dirty="0">
                <a:solidFill>
                  <a:srgbClr val="FBEBDD"/>
                </a:solidFill>
                <a:latin typeface="Nunito Sans" pitchFamily="34" charset="0"/>
                <a:ea typeface="Nunito Sans" pitchFamily="34" charset="-122"/>
                <a:cs typeface="Nunito Sans" pitchFamily="34" charset="-120"/>
              </a:rPr>
              <a:t>Test cases</a:t>
            </a:r>
            <a:endParaRPr lang="en-US" sz="1200" dirty="0"/>
          </a:p>
        </p:txBody>
      </p:sp>
      <p:sp>
        <p:nvSpPr>
          <p:cNvPr id="19" name="Text 16"/>
          <p:cNvSpPr/>
          <p:nvPr/>
        </p:nvSpPr>
        <p:spPr>
          <a:xfrm>
            <a:off x="9717485" y="4365560"/>
            <a:ext cx="1005681" cy="345414"/>
          </a:xfrm>
          <a:prstGeom prst="rect">
            <a:avLst/>
          </a:prstGeom>
          <a:noFill/>
          <a:ln/>
        </p:spPr>
        <p:txBody>
          <a:bodyPr wrap="square" lIns="0" tIns="0" rIns="0" bIns="0" rtlCol="0" anchor="t">
            <a:normAutofit/>
          </a:bodyPr>
          <a:lstStyle/>
          <a:p>
            <a:pPr marL="0" indent="0" algn="ctr">
              <a:lnSpc>
                <a:spcPts val="2520"/>
              </a:lnSpc>
              <a:buNone/>
            </a:pPr>
            <a:r>
              <a:rPr lang="en-US" sz="1800" b="1" dirty="0">
                <a:solidFill>
                  <a:srgbClr val="FBFBF8"/>
                </a:solidFill>
                <a:latin typeface="Domine" pitchFamily="18" charset="0"/>
                <a:ea typeface="Domine" pitchFamily="18" charset="-122"/>
                <a:cs typeface="Domine" pitchFamily="18" charset="-120"/>
              </a:rPr>
              <a:t>20–100</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WHAT GOOD CRITERIA COVER</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Five kinds of content</a:t>
            </a:r>
            <a:endParaRPr lang="en-US" sz="3200" dirty="0"/>
          </a:p>
        </p:txBody>
      </p:sp>
      <p:sp>
        <p:nvSpPr>
          <p:cNvPr id="4" name="Shape 2"/>
          <p:cNvSpPr/>
          <p:nvPr/>
        </p:nvSpPr>
        <p:spPr>
          <a:xfrm>
            <a:off x="812800" y="1803335"/>
            <a:ext cx="3420533" cy="1310481"/>
          </a:xfrm>
          <a:prstGeom prst="roundRect">
            <a:avLst>
              <a:gd name="adj" fmla="val 7753"/>
            </a:avLst>
          </a:prstGeom>
          <a:solidFill>
            <a:srgbClr val="EEF2F7"/>
          </a:solidFill>
          <a:ln/>
        </p:spPr>
      </p:sp>
      <p:sp>
        <p:nvSpPr>
          <p:cNvPr id="5" name="Text 3"/>
          <p:cNvSpPr/>
          <p:nvPr/>
        </p:nvSpPr>
        <p:spPr>
          <a:xfrm>
            <a:off x="990600" y="1981135"/>
            <a:ext cx="315688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B5C9E"/>
                </a:solidFill>
                <a:latin typeface="Nunito Sans" pitchFamily="34" charset="0"/>
                <a:ea typeface="Nunito Sans" pitchFamily="34" charset="-122"/>
                <a:cs typeface="Nunito Sans" pitchFamily="34" charset="-120"/>
              </a:rPr>
              <a:t>Functional</a:t>
            </a:r>
            <a:endParaRPr lang="en-US" sz="1400" dirty="0"/>
          </a:p>
        </p:txBody>
      </p:sp>
      <p:sp>
        <p:nvSpPr>
          <p:cNvPr id="6" name="Text 4"/>
          <p:cNvSpPr/>
          <p:nvPr/>
        </p:nvSpPr>
        <p:spPr>
          <a:xfrm>
            <a:off x="990600" y="2245255"/>
            <a:ext cx="315688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Nunito Sans" pitchFamily="34" charset="0"/>
                <a:ea typeface="Nunito Sans" pitchFamily="34" charset="-122"/>
                <a:cs typeface="Nunito Sans" pitchFamily="34" charset="-120"/>
              </a:rPr>
              <a:t>What the system must do</a:t>
            </a:r>
            <a:endParaRPr lang="en-US" sz="1200" dirty="0"/>
          </a:p>
        </p:txBody>
      </p:sp>
      <p:sp>
        <p:nvSpPr>
          <p:cNvPr id="7" name="Text 5"/>
          <p:cNvSpPr/>
          <p:nvPr/>
        </p:nvSpPr>
        <p:spPr>
          <a:xfrm>
            <a:off x="990600" y="2509376"/>
            <a:ext cx="3242733" cy="238720"/>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3D4A5C"/>
                </a:solidFill>
                <a:latin typeface="Nunito Sans" pitchFamily="34" charset="0"/>
                <a:ea typeface="Nunito Sans" pitchFamily="34" charset="-122"/>
                <a:cs typeface="Nunito Sans" pitchFamily="34" charset="-120"/>
              </a:rPr>
              <a:t>“A reset link is sent to the registered email.”</a:t>
            </a:r>
            <a:endParaRPr lang="en-US" sz="1200" dirty="0"/>
          </a:p>
        </p:txBody>
      </p:sp>
      <p:sp>
        <p:nvSpPr>
          <p:cNvPr id="8" name="Shape 6"/>
          <p:cNvSpPr/>
          <p:nvPr/>
        </p:nvSpPr>
        <p:spPr>
          <a:xfrm>
            <a:off x="4385733" y="1803335"/>
            <a:ext cx="3420533" cy="1310481"/>
          </a:xfrm>
          <a:prstGeom prst="roundRect">
            <a:avLst>
              <a:gd name="adj" fmla="val 7753"/>
            </a:avLst>
          </a:prstGeom>
          <a:solidFill>
            <a:srgbClr val="EEF2F7"/>
          </a:solidFill>
          <a:ln/>
        </p:spPr>
      </p:sp>
      <p:sp>
        <p:nvSpPr>
          <p:cNvPr id="9" name="Text 7"/>
          <p:cNvSpPr/>
          <p:nvPr/>
        </p:nvSpPr>
        <p:spPr>
          <a:xfrm>
            <a:off x="4563533" y="1981135"/>
            <a:ext cx="315688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B5C9E"/>
                </a:solidFill>
                <a:latin typeface="Nunito Sans" pitchFamily="34" charset="0"/>
                <a:ea typeface="Nunito Sans" pitchFamily="34" charset="-122"/>
                <a:cs typeface="Nunito Sans" pitchFamily="34" charset="-120"/>
              </a:rPr>
              <a:t>Business rules</a:t>
            </a:r>
            <a:endParaRPr lang="en-US" sz="1400" dirty="0"/>
          </a:p>
        </p:txBody>
      </p:sp>
      <p:sp>
        <p:nvSpPr>
          <p:cNvPr id="10" name="Text 8"/>
          <p:cNvSpPr/>
          <p:nvPr/>
        </p:nvSpPr>
        <p:spPr>
          <a:xfrm>
            <a:off x="4563533" y="2245255"/>
            <a:ext cx="315688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Nunito Sans" pitchFamily="34" charset="0"/>
                <a:ea typeface="Nunito Sans" pitchFamily="34" charset="-122"/>
                <a:cs typeface="Nunito Sans" pitchFamily="34" charset="-120"/>
              </a:rPr>
              <a:t>Policies the system must enforce</a:t>
            </a:r>
            <a:endParaRPr lang="en-US" sz="1200" dirty="0"/>
          </a:p>
        </p:txBody>
      </p:sp>
      <p:sp>
        <p:nvSpPr>
          <p:cNvPr id="11" name="Text 9"/>
          <p:cNvSpPr/>
          <p:nvPr/>
        </p:nvSpPr>
        <p:spPr>
          <a:xfrm>
            <a:off x="4563533" y="2509376"/>
            <a:ext cx="3156881" cy="452041"/>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3D4A5C"/>
                </a:solidFill>
                <a:latin typeface="Nunito Sans" pitchFamily="34" charset="0"/>
                <a:ea typeface="Nunito Sans" pitchFamily="34" charset="-122"/>
                <a:cs typeface="Nunito Sans" pitchFamily="34" charset="-120"/>
              </a:rPr>
              <a:t>“Last 3 passwords cannot be reused.” “Free shipping above ₹999.”</a:t>
            </a:r>
            <a:endParaRPr lang="en-US" sz="1200" dirty="0"/>
          </a:p>
        </p:txBody>
      </p:sp>
      <p:sp>
        <p:nvSpPr>
          <p:cNvPr id="12" name="Shape 10"/>
          <p:cNvSpPr/>
          <p:nvPr/>
        </p:nvSpPr>
        <p:spPr>
          <a:xfrm>
            <a:off x="7958667" y="1803335"/>
            <a:ext cx="3420533" cy="1310481"/>
          </a:xfrm>
          <a:prstGeom prst="roundRect">
            <a:avLst>
              <a:gd name="adj" fmla="val 7753"/>
            </a:avLst>
          </a:prstGeom>
          <a:solidFill>
            <a:srgbClr val="EEF2F7"/>
          </a:solidFill>
          <a:ln/>
        </p:spPr>
      </p:sp>
      <p:sp>
        <p:nvSpPr>
          <p:cNvPr id="13" name="Text 11"/>
          <p:cNvSpPr/>
          <p:nvPr/>
        </p:nvSpPr>
        <p:spPr>
          <a:xfrm>
            <a:off x="8136467" y="1981135"/>
            <a:ext cx="315688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B5C9E"/>
                </a:solidFill>
                <a:latin typeface="Nunito Sans" pitchFamily="34" charset="0"/>
                <a:ea typeface="Nunito Sans" pitchFamily="34" charset="-122"/>
                <a:cs typeface="Nunito Sans" pitchFamily="34" charset="-120"/>
              </a:rPr>
              <a:t>Boundary conditions</a:t>
            </a:r>
            <a:endParaRPr lang="en-US" sz="1400" dirty="0"/>
          </a:p>
        </p:txBody>
      </p:sp>
      <p:sp>
        <p:nvSpPr>
          <p:cNvPr id="14" name="Text 12"/>
          <p:cNvSpPr/>
          <p:nvPr/>
        </p:nvSpPr>
        <p:spPr>
          <a:xfrm>
            <a:off x="8136467" y="2245255"/>
            <a:ext cx="315688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Nunito Sans" pitchFamily="34" charset="0"/>
                <a:ea typeface="Nunito Sans" pitchFamily="34" charset="-122"/>
                <a:cs typeface="Nunito Sans" pitchFamily="34" charset="-120"/>
              </a:rPr>
              <a:t>Limits where behaviour changes</a:t>
            </a:r>
            <a:endParaRPr lang="en-US" sz="1200" dirty="0"/>
          </a:p>
        </p:txBody>
      </p:sp>
      <p:sp>
        <p:nvSpPr>
          <p:cNvPr id="15" name="Text 13"/>
          <p:cNvSpPr/>
          <p:nvPr/>
        </p:nvSpPr>
        <p:spPr>
          <a:xfrm>
            <a:off x="8136467" y="2509376"/>
            <a:ext cx="3156881" cy="238720"/>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3D4A5C"/>
                </a:solidFill>
                <a:latin typeface="Nunito Sans" pitchFamily="34" charset="0"/>
                <a:ea typeface="Nunito Sans" pitchFamily="34" charset="-122"/>
                <a:cs typeface="Nunito Sans" pitchFamily="34" charset="-120"/>
              </a:rPr>
              <a:t>“8–20 characters”: what about 7, 8, 20, 21?</a:t>
            </a:r>
            <a:endParaRPr lang="en-US" sz="1200" dirty="0"/>
          </a:p>
        </p:txBody>
      </p:sp>
      <p:sp>
        <p:nvSpPr>
          <p:cNvPr id="16" name="Shape 14"/>
          <p:cNvSpPr/>
          <p:nvPr/>
        </p:nvSpPr>
        <p:spPr>
          <a:xfrm>
            <a:off x="812800" y="3266216"/>
            <a:ext cx="3420533" cy="1610254"/>
          </a:xfrm>
          <a:prstGeom prst="roundRect">
            <a:avLst>
              <a:gd name="adj" fmla="val 6310"/>
            </a:avLst>
          </a:prstGeom>
          <a:solidFill>
            <a:srgbClr val="EEF2F7"/>
          </a:solidFill>
          <a:ln/>
        </p:spPr>
      </p:sp>
      <p:sp>
        <p:nvSpPr>
          <p:cNvPr id="17" name="Text 15"/>
          <p:cNvSpPr/>
          <p:nvPr/>
        </p:nvSpPr>
        <p:spPr>
          <a:xfrm>
            <a:off x="990600" y="3444016"/>
            <a:ext cx="315688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B5C9E"/>
                </a:solidFill>
                <a:latin typeface="Nunito Sans" pitchFamily="34" charset="0"/>
                <a:ea typeface="Nunito Sans" pitchFamily="34" charset="-122"/>
                <a:cs typeface="Nunito Sans" pitchFamily="34" charset="-120"/>
              </a:rPr>
              <a:t>Positive and negative</a:t>
            </a:r>
            <a:endParaRPr lang="en-US" sz="1400" dirty="0"/>
          </a:p>
        </p:txBody>
      </p:sp>
      <p:sp>
        <p:nvSpPr>
          <p:cNvPr id="18" name="Text 16"/>
          <p:cNvSpPr/>
          <p:nvPr/>
        </p:nvSpPr>
        <p:spPr>
          <a:xfrm>
            <a:off x="990600" y="3708136"/>
            <a:ext cx="3156881" cy="452041"/>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Nunito Sans" pitchFamily="34" charset="0"/>
                <a:ea typeface="Nunito Sans" pitchFamily="34" charset="-122"/>
                <a:cs typeface="Nunito Sans" pitchFamily="34" charset="-120"/>
              </a:rPr>
              <a:t>Valid input succeeds; invalid is handled gracefully</a:t>
            </a:r>
            <a:endParaRPr lang="en-US" sz="1200" dirty="0"/>
          </a:p>
        </p:txBody>
      </p:sp>
      <p:sp>
        <p:nvSpPr>
          <p:cNvPr id="19" name="Text 17"/>
          <p:cNvSpPr/>
          <p:nvPr/>
        </p:nvSpPr>
        <p:spPr>
          <a:xfrm>
            <a:off x="990600" y="4185577"/>
            <a:ext cx="3156881" cy="452041"/>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3D4A5C"/>
                </a:solidFill>
                <a:latin typeface="Nunito Sans" pitchFamily="34" charset="0"/>
                <a:ea typeface="Nunito Sans" pitchFamily="34" charset="-122"/>
                <a:cs typeface="Nunito Sans" pitchFamily="34" charset="-120"/>
              </a:rPr>
              <a:t>Unregistered email gets an appropriate message.</a:t>
            </a:r>
            <a:endParaRPr lang="en-US" sz="1200" dirty="0"/>
          </a:p>
        </p:txBody>
      </p:sp>
      <p:sp>
        <p:nvSpPr>
          <p:cNvPr id="20" name="Shape 18"/>
          <p:cNvSpPr/>
          <p:nvPr/>
        </p:nvSpPr>
        <p:spPr>
          <a:xfrm>
            <a:off x="4385733" y="3266216"/>
            <a:ext cx="3420533" cy="1610254"/>
          </a:xfrm>
          <a:prstGeom prst="roundRect">
            <a:avLst>
              <a:gd name="adj" fmla="val 6310"/>
            </a:avLst>
          </a:prstGeom>
          <a:solidFill>
            <a:srgbClr val="EEF2F7"/>
          </a:solidFill>
          <a:ln/>
        </p:spPr>
      </p:sp>
      <p:sp>
        <p:nvSpPr>
          <p:cNvPr id="21" name="Text 19"/>
          <p:cNvSpPr/>
          <p:nvPr/>
        </p:nvSpPr>
        <p:spPr>
          <a:xfrm>
            <a:off x="4563533" y="3444016"/>
            <a:ext cx="3156881"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B5C9E"/>
                </a:solidFill>
                <a:latin typeface="Nunito Sans" pitchFamily="34" charset="0"/>
                <a:ea typeface="Nunito Sans" pitchFamily="34" charset="-122"/>
                <a:cs typeface="Nunito Sans" pitchFamily="34" charset="-120"/>
              </a:rPr>
              <a:t>Non-functional</a:t>
            </a:r>
            <a:endParaRPr lang="en-US" sz="1400" dirty="0"/>
          </a:p>
        </p:txBody>
      </p:sp>
      <p:sp>
        <p:nvSpPr>
          <p:cNvPr id="22" name="Text 20"/>
          <p:cNvSpPr/>
          <p:nvPr/>
        </p:nvSpPr>
        <p:spPr>
          <a:xfrm>
            <a:off x="4563533" y="3708136"/>
            <a:ext cx="3156881"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14213D"/>
                </a:solidFill>
                <a:latin typeface="Nunito Sans" pitchFamily="34" charset="0"/>
                <a:ea typeface="Nunito Sans" pitchFamily="34" charset="-122"/>
                <a:cs typeface="Nunito Sans" pitchFamily="34" charset="-120"/>
              </a:rPr>
              <a:t>Where relevant: speed, security</a:t>
            </a:r>
            <a:endParaRPr lang="en-US" sz="1200" dirty="0"/>
          </a:p>
        </p:txBody>
      </p:sp>
      <p:sp>
        <p:nvSpPr>
          <p:cNvPr id="23" name="Text 21"/>
          <p:cNvSpPr/>
          <p:nvPr/>
        </p:nvSpPr>
        <p:spPr>
          <a:xfrm>
            <a:off x="4563533" y="3972257"/>
            <a:ext cx="3156881" cy="452041"/>
          </a:xfrm>
          <a:prstGeom prst="rect">
            <a:avLst/>
          </a:prstGeom>
          <a:noFill/>
          <a:ln/>
        </p:spPr>
        <p:txBody>
          <a:bodyPr wrap="square" lIns="0" tIns="0" rIns="0" bIns="0" rtlCol="0" anchor="t">
            <a:normAutofit/>
          </a:bodyPr>
          <a:lstStyle/>
          <a:p>
            <a:pPr marL="0" indent="0" algn="l">
              <a:lnSpc>
                <a:spcPts val="1680"/>
              </a:lnSpc>
              <a:buNone/>
            </a:pPr>
            <a:r>
              <a:rPr lang="en-US" sz="1200" i="1" dirty="0">
                <a:solidFill>
                  <a:srgbClr val="3D4A5C"/>
                </a:solidFill>
                <a:latin typeface="Nunito Sans" pitchFamily="34" charset="0"/>
                <a:ea typeface="Nunito Sans" pitchFamily="34" charset="-122"/>
                <a:cs typeface="Nunito Sans" pitchFamily="34" charset="-120"/>
              </a:rPr>
              <a:t>“Email delivered within 2 minutes.” “Token is single-use.”</a:t>
            </a:r>
            <a:endParaRPr lang="en-US" sz="1200" dirty="0"/>
          </a:p>
        </p:txBody>
      </p:sp>
      <p:sp>
        <p:nvSpPr>
          <p:cNvPr id="24" name="Shape 22"/>
          <p:cNvSpPr/>
          <p:nvPr/>
        </p:nvSpPr>
        <p:spPr>
          <a:xfrm>
            <a:off x="7958667" y="3266216"/>
            <a:ext cx="3420533" cy="1610254"/>
          </a:xfrm>
          <a:prstGeom prst="roundRect">
            <a:avLst>
              <a:gd name="adj" fmla="val 6310"/>
            </a:avLst>
          </a:prstGeom>
          <a:solidFill>
            <a:srgbClr val="FBEBDD"/>
          </a:solidFill>
          <a:ln/>
        </p:spPr>
      </p:sp>
      <p:pic>
        <p:nvPicPr>
          <p:cNvPr id="25" name="Image 0" descr="Lightbulb"/>
          <p:cNvPicPr>
            <a:picLocks noChangeAspect="1"/>
          </p:cNvPicPr>
          <p:nvPr/>
        </p:nvPicPr>
        <p:blipFill>
          <a:blip r:embed="rId3"/>
          <a:srcRect/>
          <a:stretch/>
        </p:blipFill>
        <p:spPr>
          <a:xfrm>
            <a:off x="8136467" y="3444016"/>
            <a:ext cx="254000" cy="254000"/>
          </a:xfrm>
          <a:prstGeom prst="rect">
            <a:avLst/>
          </a:prstGeom>
        </p:spPr>
      </p:pic>
      <p:sp>
        <p:nvSpPr>
          <p:cNvPr id="26" name="Text 23"/>
          <p:cNvSpPr/>
          <p:nvPr/>
        </p:nvSpPr>
        <p:spPr>
          <a:xfrm>
            <a:off x="8136467" y="3774216"/>
            <a:ext cx="3156881" cy="94985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Nunito Sans" pitchFamily="34" charset="0"/>
                <a:ea typeface="Nunito Sans" pitchFamily="34" charset="-122"/>
                <a:cs typeface="Nunito Sans" pitchFamily="34" charset="-120"/>
              </a:rPr>
              <a:t>Many stories arrive with only positive criteria. </a:t>
            </a:r>
            <a:r>
              <a:rPr lang="en-US" sz="1300" b="1" dirty="0">
                <a:solidFill>
                  <a:srgbClr val="14213D"/>
                </a:solidFill>
                <a:latin typeface="Nunito Sans" pitchFamily="34" charset="0"/>
                <a:ea typeface="Nunito Sans" pitchFamily="34" charset="-122"/>
                <a:cs typeface="Nunito Sans" pitchFamily="34" charset="-120"/>
              </a:rPr>
              <a:t>Asking for the negative ones</a:t>
            </a:r>
            <a:r>
              <a:rPr lang="en-US" sz="1300" dirty="0">
                <a:solidFill>
                  <a:srgbClr val="14213D"/>
                </a:solidFill>
                <a:latin typeface="Nunito Sans" pitchFamily="34" charset="0"/>
                <a:ea typeface="Nunito Sans" pitchFamily="34" charset="-122"/>
                <a:cs typeface="Nunito Sans" pitchFamily="34" charset="-120"/>
              </a:rPr>
              <a:t> is one of the most valuable things a tester does.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EF2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GHERKIN FORMAT, FROM BDD</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Given / When / Then</a:t>
            </a:r>
            <a:endParaRPr lang="en-US" sz="3200" dirty="0"/>
          </a:p>
        </p:txBody>
      </p:sp>
      <p:sp>
        <p:nvSpPr>
          <p:cNvPr id="4" name="Shape 2"/>
          <p:cNvSpPr/>
          <p:nvPr/>
        </p:nvSpPr>
        <p:spPr>
          <a:xfrm>
            <a:off x="812800" y="1854135"/>
            <a:ext cx="10566400" cy="711200"/>
          </a:xfrm>
          <a:prstGeom prst="roundRect">
            <a:avLst>
              <a:gd name="adj" fmla="val 14286"/>
            </a:avLst>
          </a:prstGeom>
          <a:solidFill>
            <a:srgbClr val="FBFBF8"/>
          </a:solidFill>
          <a:ln/>
        </p:spPr>
      </p:sp>
      <p:sp>
        <p:nvSpPr>
          <p:cNvPr id="5" name="Text 3"/>
          <p:cNvSpPr/>
          <p:nvPr/>
        </p:nvSpPr>
        <p:spPr>
          <a:xfrm>
            <a:off x="1041400" y="2031935"/>
            <a:ext cx="17018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5C9E"/>
                </a:solidFill>
                <a:latin typeface="JetBrains Mono" pitchFamily="49" charset="0"/>
                <a:ea typeface="JetBrains Mono" pitchFamily="49" charset="-122"/>
                <a:cs typeface="JetBrains Mono" pitchFamily="49" charset="-120"/>
              </a:rPr>
              <a:t>Given</a:t>
            </a:r>
            <a:endParaRPr lang="en-US" sz="2000" dirty="0"/>
          </a:p>
        </p:txBody>
      </p:sp>
      <p:sp>
        <p:nvSpPr>
          <p:cNvPr id="6" name="Text 4"/>
          <p:cNvSpPr/>
          <p:nvPr/>
        </p:nvSpPr>
        <p:spPr>
          <a:xfrm>
            <a:off x="2895600" y="2076385"/>
            <a:ext cx="554634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213D"/>
                </a:solidFill>
                <a:latin typeface="Nunito Sans" pitchFamily="34" charset="0"/>
                <a:ea typeface="Nunito Sans" pitchFamily="34" charset="-122"/>
                <a:cs typeface="Nunito Sans" pitchFamily="34" charset="-120"/>
              </a:rPr>
              <a:t>The starting context or state</a:t>
            </a:r>
            <a:endParaRPr lang="en-US" sz="1500" dirty="0"/>
          </a:p>
        </p:txBody>
      </p:sp>
      <p:sp>
        <p:nvSpPr>
          <p:cNvPr id="7" name="Text 5"/>
          <p:cNvSpPr/>
          <p:nvPr/>
        </p:nvSpPr>
        <p:spPr>
          <a:xfrm>
            <a:off x="8483600" y="2085249"/>
            <a:ext cx="2747010"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A14F0A"/>
                </a:solidFill>
                <a:latin typeface="Nunito Sans" pitchFamily="34" charset="0"/>
                <a:ea typeface="Nunito Sans" pitchFamily="34" charset="-122"/>
                <a:cs typeface="Nunito Sans" pitchFamily="34" charset="-120"/>
              </a:rPr>
              <a:t>→ Preconditions</a:t>
            </a:r>
            <a:endParaRPr lang="en-US" sz="1400" dirty="0"/>
          </a:p>
        </p:txBody>
      </p:sp>
      <p:sp>
        <p:nvSpPr>
          <p:cNvPr id="8" name="Shape 6"/>
          <p:cNvSpPr/>
          <p:nvPr/>
        </p:nvSpPr>
        <p:spPr>
          <a:xfrm>
            <a:off x="812800" y="2666935"/>
            <a:ext cx="10566400" cy="711200"/>
          </a:xfrm>
          <a:prstGeom prst="roundRect">
            <a:avLst>
              <a:gd name="adj" fmla="val 14286"/>
            </a:avLst>
          </a:prstGeom>
          <a:solidFill>
            <a:srgbClr val="FBFBF8"/>
          </a:solidFill>
          <a:ln/>
        </p:spPr>
      </p:sp>
      <p:sp>
        <p:nvSpPr>
          <p:cNvPr id="9" name="Text 7"/>
          <p:cNvSpPr/>
          <p:nvPr/>
        </p:nvSpPr>
        <p:spPr>
          <a:xfrm>
            <a:off x="1041400" y="2844735"/>
            <a:ext cx="17018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5C9E"/>
                </a:solidFill>
                <a:latin typeface="JetBrains Mono" pitchFamily="49" charset="0"/>
                <a:ea typeface="JetBrains Mono" pitchFamily="49" charset="-122"/>
                <a:cs typeface="JetBrains Mono" pitchFamily="49" charset="-120"/>
              </a:rPr>
              <a:t>When</a:t>
            </a:r>
            <a:endParaRPr lang="en-US" sz="2000" dirty="0"/>
          </a:p>
        </p:txBody>
      </p:sp>
      <p:sp>
        <p:nvSpPr>
          <p:cNvPr id="10" name="Text 8"/>
          <p:cNvSpPr/>
          <p:nvPr/>
        </p:nvSpPr>
        <p:spPr>
          <a:xfrm>
            <a:off x="2895600" y="2889185"/>
            <a:ext cx="554634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213D"/>
                </a:solidFill>
                <a:latin typeface="Nunito Sans" pitchFamily="34" charset="0"/>
                <a:ea typeface="Nunito Sans" pitchFamily="34" charset="-122"/>
                <a:cs typeface="Nunito Sans" pitchFamily="34" charset="-120"/>
              </a:rPr>
              <a:t>The action or event</a:t>
            </a:r>
            <a:endParaRPr lang="en-US" sz="1500" dirty="0"/>
          </a:p>
        </p:txBody>
      </p:sp>
      <p:sp>
        <p:nvSpPr>
          <p:cNvPr id="11" name="Text 9"/>
          <p:cNvSpPr/>
          <p:nvPr/>
        </p:nvSpPr>
        <p:spPr>
          <a:xfrm>
            <a:off x="8483600" y="2898049"/>
            <a:ext cx="2747010"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A14F0A"/>
                </a:solidFill>
                <a:latin typeface="Nunito Sans" pitchFamily="34" charset="0"/>
                <a:ea typeface="Nunito Sans" pitchFamily="34" charset="-122"/>
                <a:cs typeface="Nunito Sans" pitchFamily="34" charset="-120"/>
              </a:rPr>
              <a:t>→ Test steps</a:t>
            </a:r>
            <a:endParaRPr lang="en-US" sz="1400" dirty="0"/>
          </a:p>
        </p:txBody>
      </p:sp>
      <p:sp>
        <p:nvSpPr>
          <p:cNvPr id="12" name="Shape 10"/>
          <p:cNvSpPr/>
          <p:nvPr/>
        </p:nvSpPr>
        <p:spPr>
          <a:xfrm>
            <a:off x="812800" y="3479735"/>
            <a:ext cx="10566400" cy="711200"/>
          </a:xfrm>
          <a:prstGeom prst="roundRect">
            <a:avLst>
              <a:gd name="adj" fmla="val 14286"/>
            </a:avLst>
          </a:prstGeom>
          <a:solidFill>
            <a:srgbClr val="FBFBF8"/>
          </a:solidFill>
          <a:ln/>
        </p:spPr>
      </p:sp>
      <p:sp>
        <p:nvSpPr>
          <p:cNvPr id="13" name="Text 11"/>
          <p:cNvSpPr/>
          <p:nvPr/>
        </p:nvSpPr>
        <p:spPr>
          <a:xfrm>
            <a:off x="1041400" y="3657535"/>
            <a:ext cx="17018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5C9E"/>
                </a:solidFill>
                <a:latin typeface="JetBrains Mono" pitchFamily="49" charset="0"/>
                <a:ea typeface="JetBrains Mono" pitchFamily="49" charset="-122"/>
                <a:cs typeface="JetBrains Mono" pitchFamily="49" charset="-120"/>
              </a:rPr>
              <a:t>Then</a:t>
            </a:r>
            <a:endParaRPr lang="en-US" sz="2000" dirty="0"/>
          </a:p>
        </p:txBody>
      </p:sp>
      <p:sp>
        <p:nvSpPr>
          <p:cNvPr id="14" name="Text 12"/>
          <p:cNvSpPr/>
          <p:nvPr/>
        </p:nvSpPr>
        <p:spPr>
          <a:xfrm>
            <a:off x="2895600" y="3701985"/>
            <a:ext cx="554634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213D"/>
                </a:solidFill>
                <a:latin typeface="Nunito Sans" pitchFamily="34" charset="0"/>
                <a:ea typeface="Nunito Sans" pitchFamily="34" charset="-122"/>
                <a:cs typeface="Nunito Sans" pitchFamily="34" charset="-120"/>
              </a:rPr>
              <a:t>The expected outcome</a:t>
            </a:r>
            <a:endParaRPr lang="en-US" sz="1500" dirty="0"/>
          </a:p>
        </p:txBody>
      </p:sp>
      <p:sp>
        <p:nvSpPr>
          <p:cNvPr id="15" name="Text 13"/>
          <p:cNvSpPr/>
          <p:nvPr/>
        </p:nvSpPr>
        <p:spPr>
          <a:xfrm>
            <a:off x="8483600" y="3710849"/>
            <a:ext cx="2747010"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A14F0A"/>
                </a:solidFill>
                <a:latin typeface="Nunito Sans" pitchFamily="34" charset="0"/>
                <a:ea typeface="Nunito Sans" pitchFamily="34" charset="-122"/>
                <a:cs typeface="Nunito Sans" pitchFamily="34" charset="-120"/>
              </a:rPr>
              <a:t>→ Expected result</a:t>
            </a:r>
            <a:endParaRPr lang="en-US" sz="1400" dirty="0"/>
          </a:p>
        </p:txBody>
      </p:sp>
      <p:sp>
        <p:nvSpPr>
          <p:cNvPr id="16" name="Shape 14"/>
          <p:cNvSpPr/>
          <p:nvPr/>
        </p:nvSpPr>
        <p:spPr>
          <a:xfrm>
            <a:off x="812800" y="4292535"/>
            <a:ext cx="10566400" cy="711200"/>
          </a:xfrm>
          <a:prstGeom prst="roundRect">
            <a:avLst>
              <a:gd name="adj" fmla="val 14286"/>
            </a:avLst>
          </a:prstGeom>
          <a:solidFill>
            <a:srgbClr val="FBFBF8"/>
          </a:solidFill>
          <a:ln/>
        </p:spPr>
      </p:sp>
      <p:sp>
        <p:nvSpPr>
          <p:cNvPr id="17" name="Text 15"/>
          <p:cNvSpPr/>
          <p:nvPr/>
        </p:nvSpPr>
        <p:spPr>
          <a:xfrm>
            <a:off x="1041400" y="4470335"/>
            <a:ext cx="17018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2B5C9E"/>
                </a:solidFill>
                <a:latin typeface="JetBrains Mono" pitchFamily="49" charset="0"/>
                <a:ea typeface="JetBrains Mono" pitchFamily="49" charset="-122"/>
                <a:cs typeface="JetBrains Mono" pitchFamily="49" charset="-120"/>
              </a:rPr>
              <a:t>And/But</a:t>
            </a:r>
            <a:endParaRPr lang="en-US" sz="2000" dirty="0"/>
          </a:p>
        </p:txBody>
      </p:sp>
      <p:sp>
        <p:nvSpPr>
          <p:cNvPr id="18" name="Text 16"/>
          <p:cNvSpPr/>
          <p:nvPr/>
        </p:nvSpPr>
        <p:spPr>
          <a:xfrm>
            <a:off x="2895600" y="4514785"/>
            <a:ext cx="5546344"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14213D"/>
                </a:solidFill>
                <a:latin typeface="Nunito Sans" pitchFamily="34" charset="0"/>
                <a:ea typeface="Nunito Sans" pitchFamily="34" charset="-122"/>
                <a:cs typeface="Nunito Sans" pitchFamily="34" charset="-120"/>
              </a:rPr>
              <a:t>Extra conditions or outcomes</a:t>
            </a:r>
            <a:endParaRPr lang="en-US" sz="1500" dirty="0"/>
          </a:p>
        </p:txBody>
      </p:sp>
      <p:sp>
        <p:nvSpPr>
          <p:cNvPr id="19" name="Text 17"/>
          <p:cNvSpPr/>
          <p:nvPr/>
        </p:nvSpPr>
        <p:spPr>
          <a:xfrm>
            <a:off x="8483600" y="4523649"/>
            <a:ext cx="2747010"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A14F0A"/>
                </a:solidFill>
                <a:latin typeface="Nunito Sans" pitchFamily="34" charset="0"/>
                <a:ea typeface="Nunito Sans" pitchFamily="34" charset="-122"/>
                <a:cs typeface="Nunito Sans" pitchFamily="34" charset="-120"/>
              </a:rPr>
              <a:t>→ More of the above</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WORKED EXAMPLE · PASSWORD RESET</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The story and its criteria</a:t>
            </a:r>
            <a:endParaRPr lang="en-US" sz="3200" dirty="0"/>
          </a:p>
        </p:txBody>
      </p:sp>
      <p:sp>
        <p:nvSpPr>
          <p:cNvPr id="4" name="Shape 2"/>
          <p:cNvSpPr/>
          <p:nvPr/>
        </p:nvSpPr>
        <p:spPr>
          <a:xfrm>
            <a:off x="838200" y="1803335"/>
            <a:ext cx="0" cy="359370"/>
          </a:xfrm>
          <a:prstGeom prst="line">
            <a:avLst/>
          </a:prstGeom>
          <a:noFill/>
          <a:ln w="50800">
            <a:solidFill>
              <a:srgbClr val="A14F0A"/>
            </a:solidFill>
            <a:prstDash val="solid"/>
          </a:ln>
        </p:spPr>
      </p:sp>
      <p:sp>
        <p:nvSpPr>
          <p:cNvPr id="5" name="Text 3"/>
          <p:cNvSpPr/>
          <p:nvPr/>
        </p:nvSpPr>
        <p:spPr>
          <a:xfrm>
            <a:off x="1066800" y="1828735"/>
            <a:ext cx="10621772" cy="333970"/>
          </a:xfrm>
          <a:prstGeom prst="rect">
            <a:avLst/>
          </a:prstGeom>
          <a:noFill/>
          <a:ln/>
        </p:spPr>
        <p:txBody>
          <a:bodyPr wrap="square" lIns="0" tIns="0" rIns="0" bIns="0" rtlCol="0" anchor="t">
            <a:normAutofit/>
          </a:bodyPr>
          <a:lstStyle/>
          <a:p>
            <a:pPr marL="0" indent="0" algn="l">
              <a:lnSpc>
                <a:spcPts val="2430"/>
              </a:lnSpc>
              <a:buNone/>
            </a:pPr>
            <a:r>
              <a:rPr lang="en-US" sz="1800" dirty="0">
                <a:solidFill>
                  <a:srgbClr val="14213D"/>
                </a:solidFill>
                <a:latin typeface="Domine" pitchFamily="18" charset="0"/>
                <a:ea typeface="Domine" pitchFamily="18" charset="-122"/>
                <a:cs typeface="Domine" pitchFamily="18" charset="-120"/>
              </a:rPr>
              <a:t>As a customer, I want to reset my password so that I can regain access to my account.</a:t>
            </a:r>
            <a:endParaRPr lang="en-US" sz="1800" dirty="0"/>
          </a:p>
        </p:txBody>
      </p:sp>
      <p:sp>
        <p:nvSpPr>
          <p:cNvPr id="6" name="Shape 4"/>
          <p:cNvSpPr/>
          <p:nvPr/>
        </p:nvSpPr>
        <p:spPr>
          <a:xfrm>
            <a:off x="812800" y="2416705"/>
            <a:ext cx="5181600" cy="1803202"/>
          </a:xfrm>
          <a:prstGeom prst="roundRect">
            <a:avLst>
              <a:gd name="adj" fmla="val 5634"/>
            </a:avLst>
          </a:prstGeom>
          <a:solidFill>
            <a:srgbClr val="14213D"/>
          </a:solidFill>
          <a:ln/>
        </p:spPr>
      </p:sp>
      <p:sp>
        <p:nvSpPr>
          <p:cNvPr id="7" name="Text 5"/>
          <p:cNvSpPr/>
          <p:nvPr/>
        </p:nvSpPr>
        <p:spPr>
          <a:xfrm>
            <a:off x="1041400" y="2645305"/>
            <a:ext cx="486613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F0A04B"/>
                </a:solidFill>
                <a:latin typeface="Nunito Sans" pitchFamily="34" charset="0"/>
                <a:ea typeface="Nunito Sans" pitchFamily="34" charset="-122"/>
                <a:cs typeface="Nunito Sans" pitchFamily="34" charset="-120"/>
              </a:rPr>
              <a:t>ACCEPTANCE CRITERIA</a:t>
            </a:r>
            <a:endParaRPr lang="en-US" sz="1200" dirty="0"/>
          </a:p>
        </p:txBody>
      </p:sp>
      <p:sp>
        <p:nvSpPr>
          <p:cNvPr id="8" name="Text 6"/>
          <p:cNvSpPr/>
          <p:nvPr/>
        </p:nvSpPr>
        <p:spPr>
          <a:xfrm>
            <a:off x="1041400" y="2934826"/>
            <a:ext cx="4866132" cy="1081881"/>
          </a:xfrm>
          <a:prstGeom prst="rect">
            <a:avLst/>
          </a:prstGeom>
          <a:noFill/>
          <a:ln/>
        </p:spPr>
        <p:txBody>
          <a:bodyPr wrap="square" lIns="0" tIns="0" rIns="0" bIns="0" rtlCol="0" anchor="t">
            <a:normAutofit/>
          </a:bodyPr>
          <a:lstStyle/>
          <a:p>
            <a:pPr marL="0" indent="0" algn="l">
              <a:lnSpc>
                <a:spcPts val="2080"/>
              </a:lnSpc>
              <a:buNone/>
            </a:pPr>
            <a:r>
              <a:rPr lang="en-US" sz="1300" dirty="0">
                <a:solidFill>
                  <a:srgbClr val="F0A04B"/>
                </a:solidFill>
                <a:latin typeface="JetBrains Mono" pitchFamily="49" charset="0"/>
                <a:ea typeface="JetBrains Mono" pitchFamily="49" charset="-122"/>
                <a:cs typeface="JetBrains Mono" pitchFamily="49" charset="-120"/>
              </a:rPr>
              <a:t>Given</a:t>
            </a:r>
            <a:r>
              <a:rPr lang="en-US" sz="1300" dirty="0">
                <a:solidFill>
                  <a:srgbClr val="FBFBF8"/>
                </a:solidFill>
                <a:latin typeface="JetBrains Mono" pitchFamily="49" charset="0"/>
                <a:ea typeface="JetBrains Mono" pitchFamily="49" charset="-122"/>
                <a:cs typeface="JetBrains Mono" pitchFamily="49" charset="-120"/>
              </a:rPr>
              <a:t> a registered user</a:t>
            </a:r>
            <a:endParaRPr lang="en-US" sz="1300" dirty="0"/>
          </a:p>
          <a:p>
            <a:pPr marL="0" indent="0" algn="l">
              <a:lnSpc>
                <a:spcPts val="2080"/>
              </a:lnSpc>
              <a:buNone/>
            </a:pPr>
            <a:r>
              <a:rPr lang="en-US" sz="1300" dirty="0">
                <a:solidFill>
                  <a:srgbClr val="F0A04B"/>
                </a:solidFill>
                <a:latin typeface="JetBrains Mono" pitchFamily="49" charset="0"/>
                <a:ea typeface="JetBrains Mono" pitchFamily="49" charset="-122"/>
                <a:cs typeface="JetBrains Mono" pitchFamily="49" charset="-120"/>
              </a:rPr>
              <a:t>When</a:t>
            </a:r>
            <a:r>
              <a:rPr lang="en-US" sz="1300" dirty="0">
                <a:solidFill>
                  <a:srgbClr val="FBFBF8"/>
                </a:solidFill>
                <a:latin typeface="JetBrains Mono" pitchFamily="49" charset="0"/>
                <a:ea typeface="JetBrains Mono" pitchFamily="49" charset="-122"/>
                <a:cs typeface="JetBrains Mono" pitchFamily="49" charset="-120"/>
              </a:rPr>
              <a:t> the user requests a password reset</a:t>
            </a:r>
            <a:endParaRPr lang="en-US" sz="1300" dirty="0"/>
          </a:p>
          <a:p>
            <a:pPr marL="0" indent="0" algn="l">
              <a:lnSpc>
                <a:spcPts val="2080"/>
              </a:lnSpc>
              <a:buNone/>
            </a:pPr>
            <a:r>
              <a:rPr lang="en-US" sz="1300" dirty="0">
                <a:solidFill>
                  <a:srgbClr val="F0A04B"/>
                </a:solidFill>
                <a:latin typeface="JetBrains Mono" pitchFamily="49" charset="0"/>
                <a:ea typeface="JetBrains Mono" pitchFamily="49" charset="-122"/>
                <a:cs typeface="JetBrains Mono" pitchFamily="49" charset="-120"/>
              </a:rPr>
              <a:t>Then</a:t>
            </a:r>
            <a:r>
              <a:rPr lang="en-US" sz="1300" dirty="0">
                <a:solidFill>
                  <a:srgbClr val="FBFBF8"/>
                </a:solidFill>
                <a:latin typeface="JetBrains Mono" pitchFamily="49" charset="0"/>
                <a:ea typeface="JetBrains Mono" pitchFamily="49" charset="-122"/>
                <a:cs typeface="JetBrains Mono" pitchFamily="49" charset="-120"/>
              </a:rPr>
              <a:t> a reset link should be sent to the registered email address.</a:t>
            </a:r>
            <a:endParaRPr lang="en-US" sz="1300" dirty="0"/>
          </a:p>
        </p:txBody>
      </p:sp>
      <p:sp>
        <p:nvSpPr>
          <p:cNvPr id="9" name="Shape 7"/>
          <p:cNvSpPr/>
          <p:nvPr/>
        </p:nvSpPr>
        <p:spPr>
          <a:xfrm>
            <a:off x="6197600" y="2416705"/>
            <a:ext cx="5181600" cy="1803202"/>
          </a:xfrm>
          <a:prstGeom prst="roundRect">
            <a:avLst>
              <a:gd name="adj" fmla="val 5634"/>
            </a:avLst>
          </a:prstGeom>
          <a:solidFill>
            <a:srgbClr val="EEF2F7"/>
          </a:solidFill>
          <a:ln/>
        </p:spPr>
      </p:sp>
      <p:sp>
        <p:nvSpPr>
          <p:cNvPr id="10" name="Text 8"/>
          <p:cNvSpPr/>
          <p:nvPr/>
        </p:nvSpPr>
        <p:spPr>
          <a:xfrm>
            <a:off x="6426200" y="2645305"/>
            <a:ext cx="4866132" cy="238720"/>
          </a:xfrm>
          <a:prstGeom prst="rect">
            <a:avLst/>
          </a:prstGeom>
          <a:noFill/>
          <a:ln/>
        </p:spPr>
        <p:txBody>
          <a:bodyPr wrap="square" lIns="0" tIns="0" rIns="0" bIns="0" rtlCol="0" anchor="t">
            <a:normAutofit/>
          </a:bodyPr>
          <a:lstStyle/>
          <a:p>
            <a:pPr marL="0" indent="0" algn="l">
              <a:lnSpc>
                <a:spcPts val="1680"/>
              </a:lnSpc>
              <a:buNone/>
            </a:pPr>
            <a:r>
              <a:rPr lang="en-US" sz="1200" b="1" kern="0" spc="100" dirty="0">
                <a:solidFill>
                  <a:srgbClr val="A14F0A"/>
                </a:solidFill>
                <a:latin typeface="Nunito Sans" pitchFamily="34" charset="0"/>
                <a:ea typeface="Nunito Sans" pitchFamily="34" charset="-122"/>
                <a:cs typeface="Nunito Sans" pitchFamily="34" charset="-120"/>
              </a:rPr>
              <a:t>ADDITIONAL CRITERIA</a:t>
            </a:r>
            <a:endParaRPr lang="en-US" sz="1200" dirty="0"/>
          </a:p>
        </p:txBody>
      </p:sp>
      <p:sp>
        <p:nvSpPr>
          <p:cNvPr id="11" name="Text 9"/>
          <p:cNvSpPr/>
          <p:nvPr/>
        </p:nvSpPr>
        <p:spPr>
          <a:xfrm>
            <a:off x="6517894" y="2934826"/>
            <a:ext cx="4766818" cy="1016000"/>
          </a:xfrm>
          <a:prstGeom prst="rect">
            <a:avLst/>
          </a:prstGeom>
          <a:noFill/>
          <a:ln/>
        </p:spPr>
        <p:txBody>
          <a:bodyPr wrap="square" lIns="0" tIns="0" rIns="0" bIns="0" rtlCol="0" anchor="t">
            <a:normAutofit/>
          </a:bodyPr>
          <a:lstStyle/>
          <a:p>
            <a:pPr marL="162306" indent="-162306" algn="l">
              <a:lnSpc>
                <a:spcPts val="1950"/>
              </a:lnSpc>
              <a:buSzPct val="100000"/>
              <a:buChar char="•"/>
            </a:pPr>
            <a:r>
              <a:rPr lang="en-US" sz="1300" dirty="0">
                <a:solidFill>
                  <a:srgbClr val="3D4A5C"/>
                </a:solidFill>
                <a:latin typeface="Nunito Sans" pitchFamily="34" charset="0"/>
                <a:ea typeface="Nunito Sans" pitchFamily="34" charset="-122"/>
                <a:cs typeface="Nunito Sans" pitchFamily="34" charset="-120"/>
              </a:rPr>
              <a:t>Reset link expires after a defined period</a:t>
            </a:r>
            <a:endParaRPr lang="en-US" sz="1300" dirty="0"/>
          </a:p>
          <a:p>
            <a:pPr marL="162306" indent="-162306" algn="l">
              <a:lnSpc>
                <a:spcPts val="1950"/>
              </a:lnSpc>
              <a:buSzPct val="100000"/>
              <a:buChar char="•"/>
            </a:pPr>
            <a:r>
              <a:rPr lang="en-US" sz="1300" dirty="0">
                <a:solidFill>
                  <a:srgbClr val="3D4A5C"/>
                </a:solidFill>
                <a:latin typeface="Nunito Sans" pitchFamily="34" charset="0"/>
                <a:ea typeface="Nunito Sans" pitchFamily="34" charset="-122"/>
                <a:cs typeface="Nunito Sans" pitchFamily="34" charset="-120"/>
              </a:rPr>
              <a:t>Invalid/expired links cannot be used</a:t>
            </a:r>
            <a:endParaRPr lang="en-US" sz="1300" dirty="0"/>
          </a:p>
          <a:p>
            <a:pPr marL="162306" indent="-162306" algn="l">
              <a:lnSpc>
                <a:spcPts val="1950"/>
              </a:lnSpc>
              <a:buSzPct val="100000"/>
              <a:buChar char="•"/>
            </a:pPr>
            <a:r>
              <a:rPr lang="en-US" sz="1300" dirty="0">
                <a:solidFill>
                  <a:srgbClr val="3D4A5C"/>
                </a:solidFill>
                <a:latin typeface="Nunito Sans" pitchFamily="34" charset="0"/>
                <a:ea typeface="Nunito Sans" pitchFamily="34" charset="-122"/>
                <a:cs typeface="Nunito Sans" pitchFamily="34" charset="-120"/>
              </a:rPr>
              <a:t>New password must satisfy password policy</a:t>
            </a:r>
            <a:endParaRPr lang="en-US" sz="1300" dirty="0"/>
          </a:p>
          <a:p>
            <a:pPr marL="162306" indent="-162306" algn="l">
              <a:lnSpc>
                <a:spcPts val="1950"/>
              </a:lnSpc>
              <a:buSzPct val="100000"/>
              <a:buChar char="•"/>
            </a:pPr>
            <a:r>
              <a:rPr lang="en-US" sz="1300" dirty="0">
                <a:solidFill>
                  <a:srgbClr val="3D4A5C"/>
                </a:solidFill>
                <a:latin typeface="Nunito Sans" pitchFamily="34" charset="0"/>
                <a:ea typeface="Nunito Sans" pitchFamily="34" charset="-122"/>
                <a:cs typeface="Nunito Sans" pitchFamily="34" charset="-120"/>
              </a:rPr>
              <a:t>Appropriate error for an unregistered account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MADE PRECISE · 1 OF 3</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The link is sent, then expires</a:t>
            </a:r>
            <a:endParaRPr lang="en-US" sz="3200" dirty="0"/>
          </a:p>
        </p:txBody>
      </p:sp>
      <p:sp>
        <p:nvSpPr>
          <p:cNvPr id="4" name="Shape 2"/>
          <p:cNvSpPr/>
          <p:nvPr/>
        </p:nvSpPr>
        <p:spPr>
          <a:xfrm>
            <a:off x="812800" y="1752535"/>
            <a:ext cx="10566400" cy="1688968"/>
          </a:xfrm>
          <a:prstGeom prst="roundRect">
            <a:avLst>
              <a:gd name="adj" fmla="val 6016"/>
            </a:avLst>
          </a:prstGeom>
          <a:solidFill>
            <a:srgbClr val="14213D"/>
          </a:solidFill>
          <a:ln/>
        </p:spPr>
      </p:sp>
      <p:sp>
        <p:nvSpPr>
          <p:cNvPr id="5" name="Text 3"/>
          <p:cNvSpPr/>
          <p:nvPr/>
        </p:nvSpPr>
        <p:spPr>
          <a:xfrm>
            <a:off x="1041400" y="1955735"/>
            <a:ext cx="10412476"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0A04B"/>
                </a:solidFill>
                <a:latin typeface="Nunito Sans" pitchFamily="34" charset="0"/>
                <a:ea typeface="Nunito Sans" pitchFamily="34" charset="-122"/>
                <a:cs typeface="Nunito Sans" pitchFamily="34" charset="-120"/>
              </a:rPr>
              <a:t>AC1 · Reset link sent to registered user</a:t>
            </a:r>
            <a:endParaRPr lang="en-US" sz="1300" dirty="0"/>
          </a:p>
        </p:txBody>
      </p:sp>
      <p:sp>
        <p:nvSpPr>
          <p:cNvPr id="6" name="Text 4"/>
          <p:cNvSpPr/>
          <p:nvPr/>
        </p:nvSpPr>
        <p:spPr>
          <a:xfrm>
            <a:off x="1041400" y="2263049"/>
            <a:ext cx="10412476" cy="1000654"/>
          </a:xfrm>
          <a:prstGeom prst="rect">
            <a:avLst/>
          </a:prstGeom>
          <a:noFill/>
          <a:ln/>
        </p:spPr>
        <p:txBody>
          <a:bodyPr wrap="square" lIns="0" tIns="0" rIns="0" bIns="0" rtlCol="0" anchor="t">
            <a:normAutofit/>
          </a:bodyPr>
          <a:lstStyle/>
          <a:p>
            <a:pPr marL="0" indent="0" algn="l">
              <a:lnSpc>
                <a:spcPts val="1920"/>
              </a:lnSpc>
              <a:buNone/>
            </a:pPr>
            <a:r>
              <a:rPr lang="en-US" sz="1200" dirty="0">
                <a:solidFill>
                  <a:srgbClr val="F0A04B"/>
                </a:solidFill>
                <a:latin typeface="JetBrains Mono" pitchFamily="49" charset="0"/>
                <a:ea typeface="JetBrains Mono" pitchFamily="49" charset="-122"/>
                <a:cs typeface="JetBrains Mono" pitchFamily="49" charset="-120"/>
              </a:rPr>
              <a:t>Given</a:t>
            </a:r>
            <a:r>
              <a:rPr lang="en-US" sz="1200" dirty="0">
                <a:solidFill>
                  <a:srgbClr val="FBFBF8"/>
                </a:solidFill>
                <a:latin typeface="JetBrains Mono" pitchFamily="49" charset="0"/>
                <a:ea typeface="JetBrains Mono" pitchFamily="49" charset="-122"/>
                <a:cs typeface="JetBrains Mono" pitchFamily="49" charset="-120"/>
              </a:rPr>
              <a:t> a registered user with email "asha@example.com"</a:t>
            </a:r>
            <a:endParaRPr lang="en-US" sz="1200" dirty="0"/>
          </a:p>
          <a:p>
            <a:pPr marL="0" indent="0" algn="l">
              <a:lnSpc>
                <a:spcPts val="1920"/>
              </a:lnSpc>
              <a:buNone/>
            </a:pPr>
            <a:r>
              <a:rPr lang="en-US" sz="1200" dirty="0">
                <a:solidFill>
                  <a:srgbClr val="F0A04B"/>
                </a:solidFill>
                <a:latin typeface="JetBrains Mono" pitchFamily="49" charset="0"/>
                <a:ea typeface="JetBrains Mono" pitchFamily="49" charset="-122"/>
                <a:cs typeface="JetBrains Mono" pitchFamily="49" charset="-120"/>
              </a:rPr>
              <a:t>When</a:t>
            </a:r>
            <a:r>
              <a:rPr lang="en-US" sz="1200" dirty="0">
                <a:solidFill>
                  <a:srgbClr val="FBFBF8"/>
                </a:solidFill>
                <a:latin typeface="JetBrains Mono" pitchFamily="49" charset="0"/>
                <a:ea typeface="JetBrains Mono" pitchFamily="49" charset="-122"/>
                <a:cs typeface="JetBrains Mono" pitchFamily="49" charset="-120"/>
              </a:rPr>
              <a:t> the user requests a password reset for "asha@example.com"</a:t>
            </a:r>
            <a:endParaRPr lang="en-US" sz="1200" dirty="0"/>
          </a:p>
          <a:p>
            <a:pPr marL="0" indent="0" algn="l">
              <a:lnSpc>
                <a:spcPts val="1920"/>
              </a:lnSpc>
              <a:buNone/>
            </a:pPr>
            <a:r>
              <a:rPr lang="en-US" sz="1200" dirty="0">
                <a:solidFill>
                  <a:srgbClr val="F0A04B"/>
                </a:solidFill>
                <a:latin typeface="JetBrains Mono" pitchFamily="49" charset="0"/>
                <a:ea typeface="JetBrains Mono" pitchFamily="49" charset="-122"/>
                <a:cs typeface="JetBrains Mono" pitchFamily="49" charset="-120"/>
              </a:rPr>
              <a:t>Then</a:t>
            </a:r>
            <a:r>
              <a:rPr lang="en-US" sz="1200" dirty="0">
                <a:solidFill>
                  <a:srgbClr val="FBFBF8"/>
                </a:solidFill>
                <a:latin typeface="JetBrains Mono" pitchFamily="49" charset="0"/>
                <a:ea typeface="JetBrains Mono" pitchFamily="49" charset="-122"/>
                <a:cs typeface="JetBrains Mono" pitchFamily="49" charset="-120"/>
              </a:rPr>
              <a:t> a reset link is sent to "asha@example.com"</a:t>
            </a:r>
            <a:endParaRPr lang="en-US" sz="1200" dirty="0"/>
          </a:p>
          <a:p>
            <a:pPr marL="0" indent="0" algn="l">
              <a:lnSpc>
                <a:spcPts val="1920"/>
              </a:lnSpc>
              <a:buNone/>
            </a:pPr>
            <a:r>
              <a:rPr lang="en-US" sz="1200" dirty="0">
                <a:solidFill>
                  <a:srgbClr val="F0A04B"/>
                </a:solidFill>
                <a:latin typeface="JetBrains Mono" pitchFamily="49" charset="0"/>
                <a:ea typeface="JetBrains Mono" pitchFamily="49" charset="-122"/>
                <a:cs typeface="JetBrains Mono" pitchFamily="49" charset="-120"/>
              </a:rPr>
              <a:t>And</a:t>
            </a:r>
            <a:r>
              <a:rPr lang="en-US" sz="1200" dirty="0">
                <a:solidFill>
                  <a:srgbClr val="FBFBF8"/>
                </a:solidFill>
                <a:latin typeface="JetBrains Mono" pitchFamily="49" charset="0"/>
                <a:ea typeface="JetBrains Mono" pitchFamily="49" charset="-122"/>
                <a:cs typeface="JetBrains Mono" pitchFamily="49" charset="-120"/>
              </a:rPr>
              <a:t> the screen shows "If this email is registered, you will receive a reset link"</a:t>
            </a:r>
            <a:endParaRPr lang="en-US" sz="1200" dirty="0"/>
          </a:p>
        </p:txBody>
      </p:sp>
      <p:sp>
        <p:nvSpPr>
          <p:cNvPr id="7" name="Shape 5"/>
          <p:cNvSpPr/>
          <p:nvPr/>
        </p:nvSpPr>
        <p:spPr>
          <a:xfrm>
            <a:off x="812800" y="3644702"/>
            <a:ext cx="10566400" cy="1688968"/>
          </a:xfrm>
          <a:prstGeom prst="roundRect">
            <a:avLst>
              <a:gd name="adj" fmla="val 6016"/>
            </a:avLst>
          </a:prstGeom>
          <a:solidFill>
            <a:srgbClr val="14213D"/>
          </a:solidFill>
          <a:ln/>
        </p:spPr>
      </p:sp>
      <p:sp>
        <p:nvSpPr>
          <p:cNvPr id="8" name="Text 6"/>
          <p:cNvSpPr/>
          <p:nvPr/>
        </p:nvSpPr>
        <p:spPr>
          <a:xfrm>
            <a:off x="1041400" y="3847902"/>
            <a:ext cx="10412476"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0A04B"/>
                </a:solidFill>
                <a:latin typeface="Nunito Sans" pitchFamily="34" charset="0"/>
                <a:ea typeface="Nunito Sans" pitchFamily="34" charset="-122"/>
                <a:cs typeface="Nunito Sans" pitchFamily="34" charset="-120"/>
              </a:rPr>
              <a:t>AC2 · Link expires after 30 minutes</a:t>
            </a:r>
            <a:endParaRPr lang="en-US" sz="1300" dirty="0"/>
          </a:p>
        </p:txBody>
      </p:sp>
      <p:sp>
        <p:nvSpPr>
          <p:cNvPr id="9" name="Text 7"/>
          <p:cNvSpPr/>
          <p:nvPr/>
        </p:nvSpPr>
        <p:spPr>
          <a:xfrm>
            <a:off x="1041400" y="4155219"/>
            <a:ext cx="10412476" cy="1000654"/>
          </a:xfrm>
          <a:prstGeom prst="rect">
            <a:avLst/>
          </a:prstGeom>
          <a:noFill/>
          <a:ln/>
        </p:spPr>
        <p:txBody>
          <a:bodyPr wrap="square" lIns="0" tIns="0" rIns="0" bIns="0" rtlCol="0" anchor="t">
            <a:normAutofit/>
          </a:bodyPr>
          <a:lstStyle/>
          <a:p>
            <a:pPr marL="0" indent="0" algn="l">
              <a:lnSpc>
                <a:spcPts val="1920"/>
              </a:lnSpc>
              <a:buNone/>
            </a:pPr>
            <a:r>
              <a:rPr lang="en-US" sz="1200" dirty="0">
                <a:solidFill>
                  <a:srgbClr val="F0A04B"/>
                </a:solidFill>
                <a:latin typeface="JetBrains Mono" pitchFamily="49" charset="0"/>
                <a:ea typeface="JetBrains Mono" pitchFamily="49" charset="-122"/>
                <a:cs typeface="JetBrains Mono" pitchFamily="49" charset="-120"/>
              </a:rPr>
              <a:t>Given</a:t>
            </a:r>
            <a:r>
              <a:rPr lang="en-US" sz="1200" dirty="0">
                <a:solidFill>
                  <a:srgbClr val="FBFBF8"/>
                </a:solidFill>
                <a:latin typeface="JetBrains Mono" pitchFamily="49" charset="0"/>
                <a:ea typeface="JetBrains Mono" pitchFamily="49" charset="-122"/>
                <a:cs typeface="JetBrains Mono" pitchFamily="49" charset="-120"/>
              </a:rPr>
              <a:t> a reset link was generated 31 minutes ago</a:t>
            </a:r>
            <a:endParaRPr lang="en-US" sz="1200" dirty="0"/>
          </a:p>
          <a:p>
            <a:pPr marL="0" indent="0" algn="l">
              <a:lnSpc>
                <a:spcPts val="1920"/>
              </a:lnSpc>
              <a:buNone/>
            </a:pPr>
            <a:r>
              <a:rPr lang="en-US" sz="1200" dirty="0">
                <a:solidFill>
                  <a:srgbClr val="F0A04B"/>
                </a:solidFill>
                <a:latin typeface="JetBrains Mono" pitchFamily="49" charset="0"/>
                <a:ea typeface="JetBrains Mono" pitchFamily="49" charset="-122"/>
                <a:cs typeface="JetBrains Mono" pitchFamily="49" charset="-120"/>
              </a:rPr>
              <a:t>When</a:t>
            </a:r>
            <a:r>
              <a:rPr lang="en-US" sz="1200" dirty="0">
                <a:solidFill>
                  <a:srgbClr val="FBFBF8"/>
                </a:solidFill>
                <a:latin typeface="JetBrains Mono" pitchFamily="49" charset="0"/>
                <a:ea typeface="JetBrains Mono" pitchFamily="49" charset="-122"/>
                <a:cs typeface="JetBrains Mono" pitchFamily="49" charset="-120"/>
              </a:rPr>
              <a:t> the user opens the link</a:t>
            </a:r>
            <a:endParaRPr lang="en-US" sz="1200" dirty="0"/>
          </a:p>
          <a:p>
            <a:pPr marL="0" indent="0" algn="l">
              <a:lnSpc>
                <a:spcPts val="1920"/>
              </a:lnSpc>
              <a:buNone/>
            </a:pPr>
            <a:r>
              <a:rPr lang="en-US" sz="1200" dirty="0">
                <a:solidFill>
                  <a:srgbClr val="F0A04B"/>
                </a:solidFill>
                <a:latin typeface="JetBrains Mono" pitchFamily="49" charset="0"/>
                <a:ea typeface="JetBrains Mono" pitchFamily="49" charset="-122"/>
                <a:cs typeface="JetBrains Mono" pitchFamily="49" charset="-120"/>
              </a:rPr>
              <a:t>Then</a:t>
            </a:r>
            <a:r>
              <a:rPr lang="en-US" sz="1200" dirty="0">
                <a:solidFill>
                  <a:srgbClr val="FBFBF8"/>
                </a:solidFill>
                <a:latin typeface="JetBrains Mono" pitchFamily="49" charset="0"/>
                <a:ea typeface="JetBrains Mono" pitchFamily="49" charset="-122"/>
                <a:cs typeface="JetBrains Mono" pitchFamily="49" charset="-120"/>
              </a:rPr>
              <a:t> the user sees "This link has expired"</a:t>
            </a:r>
            <a:endParaRPr lang="en-US" sz="1200" dirty="0"/>
          </a:p>
          <a:p>
            <a:pPr marL="0" indent="0" algn="l">
              <a:lnSpc>
                <a:spcPts val="1920"/>
              </a:lnSpc>
              <a:buNone/>
            </a:pPr>
            <a:r>
              <a:rPr lang="en-US" sz="1200" dirty="0">
                <a:solidFill>
                  <a:srgbClr val="F0A04B"/>
                </a:solidFill>
                <a:latin typeface="JetBrains Mono" pitchFamily="49" charset="0"/>
                <a:ea typeface="JetBrains Mono" pitchFamily="49" charset="-122"/>
                <a:cs typeface="JetBrains Mono" pitchFamily="49" charset="-120"/>
              </a:rPr>
              <a:t>And</a:t>
            </a:r>
            <a:r>
              <a:rPr lang="en-US" sz="1200" dirty="0">
                <a:solidFill>
                  <a:srgbClr val="FBFBF8"/>
                </a:solidFill>
                <a:latin typeface="JetBrains Mono" pitchFamily="49" charset="0"/>
                <a:ea typeface="JetBrains Mono" pitchFamily="49" charset="-122"/>
                <a:cs typeface="JetBrains Mono" pitchFamily="49" charset="-120"/>
              </a:rPr>
              <a:t> the user is offered to request a new link</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MADE PRECISE · 2 OF 3</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Single use, and the password policy</a:t>
            </a:r>
            <a:endParaRPr lang="en-US" sz="3200" dirty="0"/>
          </a:p>
        </p:txBody>
      </p:sp>
      <p:sp>
        <p:nvSpPr>
          <p:cNvPr id="4" name="Shape 2"/>
          <p:cNvSpPr/>
          <p:nvPr/>
        </p:nvSpPr>
        <p:spPr>
          <a:xfrm>
            <a:off x="812800" y="1752538"/>
            <a:ext cx="10566400" cy="1445154"/>
          </a:xfrm>
          <a:prstGeom prst="roundRect">
            <a:avLst>
              <a:gd name="adj" fmla="val 7030"/>
            </a:avLst>
          </a:prstGeom>
          <a:solidFill>
            <a:srgbClr val="14213D"/>
          </a:solidFill>
          <a:ln/>
        </p:spPr>
      </p:sp>
      <p:sp>
        <p:nvSpPr>
          <p:cNvPr id="5" name="Text 3"/>
          <p:cNvSpPr/>
          <p:nvPr/>
        </p:nvSpPr>
        <p:spPr>
          <a:xfrm>
            <a:off x="1041400" y="1955738"/>
            <a:ext cx="10412476"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0A04B"/>
                </a:solidFill>
                <a:latin typeface="Nunito Sans" pitchFamily="34" charset="0"/>
                <a:ea typeface="Nunito Sans" pitchFamily="34" charset="-122"/>
                <a:cs typeface="Nunito Sans" pitchFamily="34" charset="-120"/>
              </a:rPr>
              <a:t>AC3 · Used link cannot be reused</a:t>
            </a:r>
            <a:endParaRPr lang="en-US" sz="1300" dirty="0"/>
          </a:p>
        </p:txBody>
      </p:sp>
      <p:sp>
        <p:nvSpPr>
          <p:cNvPr id="6" name="Text 4"/>
          <p:cNvSpPr/>
          <p:nvPr/>
        </p:nvSpPr>
        <p:spPr>
          <a:xfrm>
            <a:off x="1041400" y="2263049"/>
            <a:ext cx="10412476" cy="756841"/>
          </a:xfrm>
          <a:prstGeom prst="rect">
            <a:avLst/>
          </a:prstGeom>
          <a:noFill/>
          <a:ln/>
        </p:spPr>
        <p:txBody>
          <a:bodyPr wrap="square" lIns="0" tIns="0" rIns="0" bIns="0" rtlCol="0" anchor="t">
            <a:normAutofit/>
          </a:bodyPr>
          <a:lstStyle/>
          <a:p>
            <a:pPr marL="0" indent="0" algn="l">
              <a:lnSpc>
                <a:spcPts val="1920"/>
              </a:lnSpc>
              <a:buNone/>
            </a:pPr>
            <a:r>
              <a:rPr lang="en-US" sz="1200" dirty="0">
                <a:solidFill>
                  <a:srgbClr val="F0A04B"/>
                </a:solidFill>
                <a:latin typeface="JetBrains Mono" pitchFamily="49" charset="0"/>
                <a:ea typeface="JetBrains Mono" pitchFamily="49" charset="-122"/>
                <a:cs typeface="JetBrains Mono" pitchFamily="49" charset="-120"/>
              </a:rPr>
              <a:t>Given</a:t>
            </a:r>
            <a:r>
              <a:rPr lang="en-US" sz="1200" dirty="0">
                <a:solidFill>
                  <a:srgbClr val="FBFBF8"/>
                </a:solidFill>
                <a:latin typeface="JetBrains Mono" pitchFamily="49" charset="0"/>
                <a:ea typeface="JetBrains Mono" pitchFamily="49" charset="-122"/>
                <a:cs typeface="JetBrains Mono" pitchFamily="49" charset="-120"/>
              </a:rPr>
              <a:t> the user has already reset the password using a link</a:t>
            </a:r>
            <a:endParaRPr lang="en-US" sz="1200" dirty="0"/>
          </a:p>
          <a:p>
            <a:pPr marL="0" indent="0" algn="l">
              <a:lnSpc>
                <a:spcPts val="1920"/>
              </a:lnSpc>
              <a:buNone/>
            </a:pPr>
            <a:r>
              <a:rPr lang="en-US" sz="1200" dirty="0">
                <a:solidFill>
                  <a:srgbClr val="F0A04B"/>
                </a:solidFill>
                <a:latin typeface="JetBrains Mono" pitchFamily="49" charset="0"/>
                <a:ea typeface="JetBrains Mono" pitchFamily="49" charset="-122"/>
                <a:cs typeface="JetBrains Mono" pitchFamily="49" charset="-120"/>
              </a:rPr>
              <a:t>When</a:t>
            </a:r>
            <a:r>
              <a:rPr lang="en-US" sz="1200" dirty="0">
                <a:solidFill>
                  <a:srgbClr val="FBFBF8"/>
                </a:solidFill>
                <a:latin typeface="JetBrains Mono" pitchFamily="49" charset="0"/>
                <a:ea typeface="JetBrains Mono" pitchFamily="49" charset="-122"/>
                <a:cs typeface="JetBrains Mono" pitchFamily="49" charset="-120"/>
              </a:rPr>
              <a:t> the user opens the same link again</a:t>
            </a:r>
            <a:endParaRPr lang="en-US" sz="1200" dirty="0"/>
          </a:p>
          <a:p>
            <a:pPr marL="0" indent="0" algn="l">
              <a:lnSpc>
                <a:spcPts val="1920"/>
              </a:lnSpc>
              <a:buNone/>
            </a:pPr>
            <a:r>
              <a:rPr lang="en-US" sz="1200" dirty="0">
                <a:solidFill>
                  <a:srgbClr val="F0A04B"/>
                </a:solidFill>
                <a:latin typeface="JetBrains Mono" pitchFamily="49" charset="0"/>
                <a:ea typeface="JetBrains Mono" pitchFamily="49" charset="-122"/>
                <a:cs typeface="JetBrains Mono" pitchFamily="49" charset="-120"/>
              </a:rPr>
              <a:t>Then</a:t>
            </a:r>
            <a:r>
              <a:rPr lang="en-US" sz="1200" dirty="0">
                <a:solidFill>
                  <a:srgbClr val="FBFBF8"/>
                </a:solidFill>
                <a:latin typeface="JetBrains Mono" pitchFamily="49" charset="0"/>
                <a:ea typeface="JetBrains Mono" pitchFamily="49" charset="-122"/>
                <a:cs typeface="JetBrains Mono" pitchFamily="49" charset="-120"/>
              </a:rPr>
              <a:t> the user sees "This link is invalid"</a:t>
            </a:r>
            <a:endParaRPr lang="en-US" sz="1200" dirty="0"/>
          </a:p>
        </p:txBody>
      </p:sp>
      <p:sp>
        <p:nvSpPr>
          <p:cNvPr id="7" name="Shape 5"/>
          <p:cNvSpPr/>
          <p:nvPr/>
        </p:nvSpPr>
        <p:spPr>
          <a:xfrm>
            <a:off x="812800" y="3400890"/>
            <a:ext cx="10566400" cy="1932781"/>
          </a:xfrm>
          <a:prstGeom prst="roundRect">
            <a:avLst>
              <a:gd name="adj" fmla="val 5257"/>
            </a:avLst>
          </a:prstGeom>
          <a:solidFill>
            <a:srgbClr val="14213D"/>
          </a:solidFill>
          <a:ln/>
        </p:spPr>
      </p:sp>
      <p:sp>
        <p:nvSpPr>
          <p:cNvPr id="8" name="Text 6"/>
          <p:cNvSpPr/>
          <p:nvPr/>
        </p:nvSpPr>
        <p:spPr>
          <a:xfrm>
            <a:off x="1041400" y="3604090"/>
            <a:ext cx="10412476"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0A04B"/>
                </a:solidFill>
                <a:latin typeface="Nunito Sans" pitchFamily="34" charset="0"/>
                <a:ea typeface="Nunito Sans" pitchFamily="34" charset="-122"/>
                <a:cs typeface="Nunito Sans" pitchFamily="34" charset="-120"/>
              </a:rPr>
              <a:t>AC4 · New password must satisfy the policy</a:t>
            </a:r>
            <a:endParaRPr lang="en-US" sz="1300" dirty="0"/>
          </a:p>
        </p:txBody>
      </p:sp>
      <p:sp>
        <p:nvSpPr>
          <p:cNvPr id="9" name="Text 7"/>
          <p:cNvSpPr/>
          <p:nvPr/>
        </p:nvSpPr>
        <p:spPr>
          <a:xfrm>
            <a:off x="1041400" y="3911402"/>
            <a:ext cx="10412476" cy="1244468"/>
          </a:xfrm>
          <a:prstGeom prst="rect">
            <a:avLst/>
          </a:prstGeom>
          <a:noFill/>
          <a:ln/>
        </p:spPr>
        <p:txBody>
          <a:bodyPr wrap="square" lIns="0" tIns="0" rIns="0" bIns="0" rtlCol="0" anchor="t">
            <a:normAutofit/>
          </a:bodyPr>
          <a:lstStyle/>
          <a:p>
            <a:pPr marL="0" indent="0" algn="l">
              <a:lnSpc>
                <a:spcPts val="1920"/>
              </a:lnSpc>
              <a:buNone/>
            </a:pPr>
            <a:r>
              <a:rPr lang="en-US" sz="1200" dirty="0">
                <a:solidFill>
                  <a:srgbClr val="F0A04B"/>
                </a:solidFill>
                <a:latin typeface="JetBrains Mono" pitchFamily="49" charset="0"/>
                <a:ea typeface="JetBrains Mono" pitchFamily="49" charset="-122"/>
                <a:cs typeface="JetBrains Mono" pitchFamily="49" charset="-120"/>
              </a:rPr>
              <a:t>Given</a:t>
            </a:r>
            <a:r>
              <a:rPr lang="en-US" sz="1200" dirty="0">
                <a:solidFill>
                  <a:srgbClr val="FBFBF8"/>
                </a:solidFill>
                <a:latin typeface="JetBrains Mono" pitchFamily="49" charset="0"/>
                <a:ea typeface="JetBrains Mono" pitchFamily="49" charset="-122"/>
                <a:cs typeface="JetBrains Mono" pitchFamily="49" charset="-120"/>
              </a:rPr>
              <a:t> the user opened a valid reset link</a:t>
            </a:r>
            <a:endParaRPr lang="en-US" sz="1200" dirty="0"/>
          </a:p>
          <a:p>
            <a:pPr marL="0" indent="0" algn="l">
              <a:lnSpc>
                <a:spcPts val="1920"/>
              </a:lnSpc>
              <a:buNone/>
            </a:pPr>
            <a:r>
              <a:rPr lang="en-US" sz="1200" dirty="0">
                <a:solidFill>
                  <a:srgbClr val="F0A04B"/>
                </a:solidFill>
                <a:latin typeface="JetBrains Mono" pitchFamily="49" charset="0"/>
                <a:ea typeface="JetBrains Mono" pitchFamily="49" charset="-122"/>
                <a:cs typeface="JetBrains Mono" pitchFamily="49" charset="-120"/>
              </a:rPr>
              <a:t>When</a:t>
            </a:r>
            <a:r>
              <a:rPr lang="en-US" sz="1200" dirty="0">
                <a:solidFill>
                  <a:srgbClr val="FBFBF8"/>
                </a:solidFill>
                <a:latin typeface="JetBrains Mono" pitchFamily="49" charset="0"/>
                <a:ea typeface="JetBrains Mono" pitchFamily="49" charset="-122"/>
                <a:cs typeface="JetBrains Mono" pitchFamily="49" charset="-120"/>
              </a:rPr>
              <a:t> the user enters a new password "abc"</a:t>
            </a:r>
            <a:endParaRPr lang="en-US" sz="1200" dirty="0"/>
          </a:p>
          <a:p>
            <a:pPr marL="0" indent="0" algn="l">
              <a:lnSpc>
                <a:spcPts val="1920"/>
              </a:lnSpc>
              <a:buNone/>
            </a:pPr>
            <a:r>
              <a:rPr lang="en-US" sz="1200" dirty="0">
                <a:solidFill>
                  <a:srgbClr val="F0A04B"/>
                </a:solidFill>
                <a:latin typeface="JetBrains Mono" pitchFamily="49" charset="0"/>
                <a:ea typeface="JetBrains Mono" pitchFamily="49" charset="-122"/>
                <a:cs typeface="JetBrains Mono" pitchFamily="49" charset="-120"/>
              </a:rPr>
              <a:t>Then</a:t>
            </a:r>
            <a:r>
              <a:rPr lang="en-US" sz="1200" dirty="0">
                <a:solidFill>
                  <a:srgbClr val="FBFBF8"/>
                </a:solidFill>
                <a:latin typeface="JetBrains Mono" pitchFamily="49" charset="0"/>
                <a:ea typeface="JetBrains Mono" pitchFamily="49" charset="-122"/>
                <a:cs typeface="JetBrains Mono" pitchFamily="49" charset="-120"/>
              </a:rPr>
              <a:t> the password is rejected</a:t>
            </a:r>
            <a:endParaRPr lang="en-US" sz="1200" dirty="0"/>
          </a:p>
          <a:p>
            <a:pPr marL="0" indent="0" algn="l">
              <a:lnSpc>
                <a:spcPts val="1920"/>
              </a:lnSpc>
              <a:buNone/>
            </a:pPr>
            <a:r>
              <a:rPr lang="en-US" sz="1200" dirty="0">
                <a:solidFill>
                  <a:srgbClr val="F0A04B"/>
                </a:solidFill>
                <a:latin typeface="JetBrains Mono" pitchFamily="49" charset="0"/>
                <a:ea typeface="JetBrains Mono" pitchFamily="49" charset="-122"/>
                <a:cs typeface="JetBrains Mono" pitchFamily="49" charset="-120"/>
              </a:rPr>
              <a:t>And</a:t>
            </a:r>
            <a:r>
              <a:rPr lang="en-US" sz="1200" dirty="0">
                <a:solidFill>
                  <a:srgbClr val="FBFBF8"/>
                </a:solidFill>
                <a:latin typeface="JetBrains Mono" pitchFamily="49" charset="0"/>
                <a:ea typeface="JetBrains Mono" pitchFamily="49" charset="-122"/>
                <a:cs typeface="JetBrains Mono" pitchFamily="49" charset="-120"/>
              </a:rPr>
              <a:t> the user sees "Password must be 8–20 characters with</a:t>
            </a:r>
            <a:endParaRPr lang="en-US" sz="1200" dirty="0"/>
          </a:p>
          <a:p>
            <a:pPr marL="0" indent="0" algn="l">
              <a:lnSpc>
                <a:spcPts val="1920"/>
              </a:lnSpc>
              <a:buNone/>
            </a:pPr>
            <a:r>
              <a:rPr lang="en-US" sz="1200" dirty="0">
                <a:solidFill>
                  <a:srgbClr val="FBFBF8"/>
                </a:solidFill>
                <a:latin typeface="JetBrains Mono" pitchFamily="49" charset="0"/>
                <a:ea typeface="JetBrains Mono" pitchFamily="49" charset="-122"/>
                <a:cs typeface="JetBrains Mono" pitchFamily="49" charset="-120"/>
              </a:rPr>
              <a:t>at least 1 number and 1 uppercase letter"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MADE PRECISE · 3 OF 3</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Question the criteria, don't just consume them</a:t>
            </a:r>
            <a:endParaRPr lang="en-US" sz="3200" dirty="0"/>
          </a:p>
        </p:txBody>
      </p:sp>
      <p:sp>
        <p:nvSpPr>
          <p:cNvPr id="4" name="Shape 2"/>
          <p:cNvSpPr/>
          <p:nvPr/>
        </p:nvSpPr>
        <p:spPr>
          <a:xfrm>
            <a:off x="812800" y="1803338"/>
            <a:ext cx="5181600" cy="1932781"/>
          </a:xfrm>
          <a:prstGeom prst="roundRect">
            <a:avLst>
              <a:gd name="adj" fmla="val 5257"/>
            </a:avLst>
          </a:prstGeom>
          <a:solidFill>
            <a:srgbClr val="14213D"/>
          </a:solidFill>
          <a:ln/>
        </p:spPr>
      </p:sp>
      <p:sp>
        <p:nvSpPr>
          <p:cNvPr id="5" name="Text 3"/>
          <p:cNvSpPr/>
          <p:nvPr/>
        </p:nvSpPr>
        <p:spPr>
          <a:xfrm>
            <a:off x="1041400" y="2006538"/>
            <a:ext cx="4866132"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F0A04B"/>
                </a:solidFill>
                <a:latin typeface="Nunito Sans" pitchFamily="34" charset="0"/>
                <a:ea typeface="Nunito Sans" pitchFamily="34" charset="-122"/>
                <a:cs typeface="Nunito Sans" pitchFamily="34" charset="-120"/>
              </a:rPr>
              <a:t>AC5 · Unregistered email</a:t>
            </a:r>
            <a:endParaRPr lang="en-US" sz="1300" dirty="0"/>
          </a:p>
        </p:txBody>
      </p:sp>
      <p:sp>
        <p:nvSpPr>
          <p:cNvPr id="6" name="Text 4"/>
          <p:cNvSpPr/>
          <p:nvPr/>
        </p:nvSpPr>
        <p:spPr>
          <a:xfrm>
            <a:off x="1041400" y="2313849"/>
            <a:ext cx="4866132" cy="1244468"/>
          </a:xfrm>
          <a:prstGeom prst="rect">
            <a:avLst/>
          </a:prstGeom>
          <a:noFill/>
          <a:ln/>
        </p:spPr>
        <p:txBody>
          <a:bodyPr wrap="square" lIns="0" tIns="0" rIns="0" bIns="0" rtlCol="0" anchor="t">
            <a:normAutofit/>
          </a:bodyPr>
          <a:lstStyle/>
          <a:p>
            <a:pPr marL="0" indent="0" algn="l">
              <a:lnSpc>
                <a:spcPts val="1920"/>
              </a:lnSpc>
              <a:buNone/>
            </a:pPr>
            <a:r>
              <a:rPr lang="en-US" sz="1200" dirty="0">
                <a:solidFill>
                  <a:srgbClr val="F0A04B"/>
                </a:solidFill>
                <a:latin typeface="JetBrains Mono" pitchFamily="49" charset="0"/>
                <a:ea typeface="JetBrains Mono" pitchFamily="49" charset="-122"/>
                <a:cs typeface="JetBrains Mono" pitchFamily="49" charset="-120"/>
              </a:rPr>
              <a:t>Given</a:t>
            </a:r>
            <a:r>
              <a:rPr lang="en-US" sz="1200" dirty="0">
                <a:solidFill>
                  <a:srgbClr val="FBFBF8"/>
                </a:solidFill>
                <a:latin typeface="JetBrains Mono" pitchFamily="49" charset="0"/>
                <a:ea typeface="JetBrains Mono" pitchFamily="49" charset="-122"/>
                <a:cs typeface="JetBrains Mono" pitchFamily="49" charset="-120"/>
              </a:rPr>
              <a:t> no account exists for "ghost@example.com"</a:t>
            </a:r>
            <a:endParaRPr lang="en-US" sz="1200" dirty="0"/>
          </a:p>
          <a:p>
            <a:pPr marL="0" indent="0" algn="l">
              <a:lnSpc>
                <a:spcPts val="1920"/>
              </a:lnSpc>
              <a:buNone/>
            </a:pPr>
            <a:r>
              <a:rPr lang="en-US" sz="1200" dirty="0">
                <a:solidFill>
                  <a:srgbClr val="F0A04B"/>
                </a:solidFill>
                <a:latin typeface="JetBrains Mono" pitchFamily="49" charset="0"/>
                <a:ea typeface="JetBrains Mono" pitchFamily="49" charset="-122"/>
                <a:cs typeface="JetBrains Mono" pitchFamily="49" charset="-120"/>
              </a:rPr>
              <a:t>When</a:t>
            </a:r>
            <a:r>
              <a:rPr lang="en-US" sz="1200" dirty="0">
                <a:solidFill>
                  <a:srgbClr val="FBFBF8"/>
                </a:solidFill>
                <a:latin typeface="JetBrains Mono" pitchFamily="49" charset="0"/>
                <a:ea typeface="JetBrains Mono" pitchFamily="49" charset="-122"/>
                <a:cs typeface="JetBrains Mono" pitchFamily="49" charset="-120"/>
              </a:rPr>
              <a:t> the user requests a password reset for "ghost@example.com"</a:t>
            </a:r>
            <a:endParaRPr lang="en-US" sz="1200" dirty="0"/>
          </a:p>
          <a:p>
            <a:pPr marL="0" indent="0" algn="l">
              <a:lnSpc>
                <a:spcPts val="1920"/>
              </a:lnSpc>
              <a:buNone/>
            </a:pPr>
            <a:r>
              <a:rPr lang="en-US" sz="1200" dirty="0">
                <a:solidFill>
                  <a:srgbClr val="F0A04B"/>
                </a:solidFill>
                <a:latin typeface="JetBrains Mono" pitchFamily="49" charset="0"/>
                <a:ea typeface="JetBrains Mono" pitchFamily="49" charset="-122"/>
                <a:cs typeface="JetBrains Mono" pitchFamily="49" charset="-120"/>
              </a:rPr>
              <a:t>Then</a:t>
            </a:r>
            <a:r>
              <a:rPr lang="en-US" sz="1200" dirty="0">
                <a:solidFill>
                  <a:srgbClr val="FBFBF8"/>
                </a:solidFill>
                <a:latin typeface="JetBrains Mono" pitchFamily="49" charset="0"/>
                <a:ea typeface="JetBrains Mono" pitchFamily="49" charset="-122"/>
                <a:cs typeface="JetBrains Mono" pitchFamily="49" charset="-120"/>
              </a:rPr>
              <a:t> no email is sent</a:t>
            </a:r>
            <a:endParaRPr lang="en-US" sz="1200" dirty="0"/>
          </a:p>
          <a:p>
            <a:pPr marL="0" indent="0" algn="l">
              <a:lnSpc>
                <a:spcPts val="1920"/>
              </a:lnSpc>
              <a:buNone/>
            </a:pPr>
            <a:r>
              <a:rPr lang="en-US" sz="1200" dirty="0">
                <a:solidFill>
                  <a:srgbClr val="F0A04B"/>
                </a:solidFill>
                <a:latin typeface="JetBrains Mono" pitchFamily="49" charset="0"/>
                <a:ea typeface="JetBrains Mono" pitchFamily="49" charset="-122"/>
                <a:cs typeface="JetBrains Mono" pitchFamily="49" charset="-120"/>
              </a:rPr>
              <a:t>And</a:t>
            </a:r>
            <a:r>
              <a:rPr lang="en-US" sz="1200" dirty="0">
                <a:solidFill>
                  <a:srgbClr val="FBFBF8"/>
                </a:solidFill>
                <a:latin typeface="JetBrains Mono" pitchFamily="49" charset="0"/>
                <a:ea typeface="JetBrains Mono" pitchFamily="49" charset="-122"/>
                <a:cs typeface="JetBrains Mono" pitchFamily="49" charset="-120"/>
              </a:rPr>
              <a:t> the user sees the same neutral message as AC1</a:t>
            </a:r>
            <a:endParaRPr lang="en-US" sz="1200" dirty="0"/>
          </a:p>
        </p:txBody>
      </p:sp>
      <p:sp>
        <p:nvSpPr>
          <p:cNvPr id="7" name="Shape 5"/>
          <p:cNvSpPr/>
          <p:nvPr/>
        </p:nvSpPr>
        <p:spPr>
          <a:xfrm>
            <a:off x="6197600" y="1803338"/>
            <a:ext cx="5181600" cy="2228652"/>
          </a:xfrm>
          <a:prstGeom prst="roundRect">
            <a:avLst>
              <a:gd name="adj" fmla="val 4559"/>
            </a:avLst>
          </a:prstGeom>
          <a:solidFill>
            <a:srgbClr val="FBEBDD"/>
          </a:solidFill>
          <a:ln/>
        </p:spPr>
      </p:sp>
      <p:pic>
        <p:nvPicPr>
          <p:cNvPr id="8" name="Image 0" descr="Lock"/>
          <p:cNvPicPr>
            <a:picLocks noChangeAspect="1"/>
          </p:cNvPicPr>
          <p:nvPr/>
        </p:nvPicPr>
        <p:blipFill>
          <a:blip r:embed="rId3"/>
          <a:srcRect/>
          <a:stretch/>
        </p:blipFill>
        <p:spPr>
          <a:xfrm>
            <a:off x="6426200" y="2031938"/>
            <a:ext cx="279400" cy="279400"/>
          </a:xfrm>
          <a:prstGeom prst="rect">
            <a:avLst/>
          </a:prstGeom>
        </p:spPr>
      </p:pic>
      <p:sp>
        <p:nvSpPr>
          <p:cNvPr id="9" name="Text 6"/>
          <p:cNvSpPr/>
          <p:nvPr/>
        </p:nvSpPr>
        <p:spPr>
          <a:xfrm>
            <a:off x="6807200" y="2049729"/>
            <a:ext cx="1576308" cy="269214"/>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A14F0A"/>
                </a:solidFill>
                <a:latin typeface="Nunito Sans" pitchFamily="34" charset="0"/>
                <a:ea typeface="Nunito Sans" pitchFamily="34" charset="-122"/>
                <a:cs typeface="Nunito Sans" pitchFamily="34" charset="-120"/>
              </a:rPr>
              <a:t>Tester insight</a:t>
            </a:r>
            <a:endParaRPr lang="en-US" sz="1600" dirty="0"/>
          </a:p>
        </p:txBody>
      </p:sp>
      <p:sp>
        <p:nvSpPr>
          <p:cNvPr id="10" name="Text 7"/>
          <p:cNvSpPr/>
          <p:nvPr/>
        </p:nvSpPr>
        <p:spPr>
          <a:xfrm>
            <a:off x="6426200" y="2412938"/>
            <a:ext cx="4866132" cy="79871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14213D"/>
                </a:solidFill>
                <a:latin typeface="Nunito Sans" pitchFamily="34" charset="0"/>
                <a:ea typeface="Nunito Sans" pitchFamily="34" charset="-122"/>
                <a:cs typeface="Nunito Sans" pitchFamily="34" charset="-120"/>
              </a:rPr>
              <a:t>The original criterion asked for “an appropriate error”. But </a:t>
            </a:r>
            <a:r>
              <a:rPr lang="en-US" sz="1400" b="1" dirty="0">
                <a:solidFill>
                  <a:srgbClr val="14213D"/>
                </a:solidFill>
                <a:latin typeface="Nunito Sans" pitchFamily="34" charset="0"/>
                <a:ea typeface="Nunito Sans" pitchFamily="34" charset="-122"/>
                <a:cs typeface="Nunito Sans" pitchFamily="34" charset="-120"/>
              </a:rPr>
              <a:t>“This email is not registered”</a:t>
            </a:r>
            <a:r>
              <a:rPr lang="en-US" sz="1400" dirty="0">
                <a:solidFill>
                  <a:srgbClr val="14213D"/>
                </a:solidFill>
                <a:latin typeface="Nunito Sans" pitchFamily="34" charset="0"/>
                <a:ea typeface="Nunito Sans" pitchFamily="34" charset="-122"/>
                <a:cs typeface="Nunito Sans" pitchFamily="34" charset="-120"/>
              </a:rPr>
              <a:t> tells attackers which emails exist: </a:t>
            </a:r>
            <a:r>
              <a:rPr lang="en-US" sz="1400" b="1" dirty="0">
                <a:solidFill>
                  <a:srgbClr val="14213D"/>
                </a:solidFill>
                <a:latin typeface="Nunito Sans" pitchFamily="34" charset="0"/>
                <a:ea typeface="Nunito Sans" pitchFamily="34" charset="-122"/>
                <a:cs typeface="Nunito Sans" pitchFamily="34" charset="-120"/>
              </a:rPr>
              <a:t>account enumeration</a:t>
            </a:r>
            <a:r>
              <a:rPr lang="en-US" sz="1400" dirty="0">
                <a:solidFill>
                  <a:srgbClr val="14213D"/>
                </a:solidFill>
                <a:latin typeface="Nunito Sans" pitchFamily="34" charset="0"/>
                <a:ea typeface="Nunito Sans" pitchFamily="34" charset="-122"/>
                <a:cs typeface="Nunito Sans" pitchFamily="34" charset="-120"/>
              </a:rPr>
              <a:t>.</a:t>
            </a:r>
            <a:endParaRPr lang="en-US" sz="1400" dirty="0"/>
          </a:p>
        </p:txBody>
      </p:sp>
      <p:sp>
        <p:nvSpPr>
          <p:cNvPr id="11" name="Text 8"/>
          <p:cNvSpPr/>
          <p:nvPr/>
        </p:nvSpPr>
        <p:spPr>
          <a:xfrm>
            <a:off x="6426200" y="3287849"/>
            <a:ext cx="4866132" cy="54094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14213D"/>
                </a:solidFill>
                <a:latin typeface="Nunito Sans" pitchFamily="34" charset="0"/>
                <a:ea typeface="Nunito Sans" pitchFamily="34" charset="-122"/>
                <a:cs typeface="Nunito Sans" pitchFamily="34" charset="-120"/>
              </a:rPr>
              <a:t>Raise it in refinement. Secure systems show the same neutral message in both cases.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EF2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AN ALTERNATIVE FORMAT</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The checklist</a:t>
            </a:r>
            <a:endParaRPr lang="en-US" sz="3200" dirty="0"/>
          </a:p>
        </p:txBody>
      </p:sp>
      <p:sp>
        <p:nvSpPr>
          <p:cNvPr id="4" name="Shape 2"/>
          <p:cNvSpPr/>
          <p:nvPr/>
        </p:nvSpPr>
        <p:spPr>
          <a:xfrm>
            <a:off x="812800" y="1803338"/>
            <a:ext cx="6705600" cy="2395141"/>
          </a:xfrm>
          <a:prstGeom prst="roundRect">
            <a:avLst>
              <a:gd name="adj" fmla="val 4242"/>
            </a:avLst>
          </a:prstGeom>
          <a:solidFill>
            <a:srgbClr val="FBFBF8"/>
          </a:solidFill>
          <a:ln/>
        </p:spPr>
      </p:sp>
      <p:pic>
        <p:nvPicPr>
          <p:cNvPr id="5" name="Image 0" descr="Check"/>
          <p:cNvPicPr>
            <a:picLocks noChangeAspect="1"/>
          </p:cNvPicPr>
          <p:nvPr/>
        </p:nvPicPr>
        <p:blipFill>
          <a:blip r:embed="rId3"/>
          <a:srcRect/>
          <a:stretch/>
        </p:blipFill>
        <p:spPr>
          <a:xfrm>
            <a:off x="1041400" y="2054758"/>
            <a:ext cx="203200" cy="203200"/>
          </a:xfrm>
          <a:prstGeom prst="rect">
            <a:avLst/>
          </a:prstGeom>
        </p:spPr>
      </p:pic>
      <p:sp>
        <p:nvSpPr>
          <p:cNvPr id="6" name="Text 3"/>
          <p:cNvSpPr/>
          <p:nvPr/>
        </p:nvSpPr>
        <p:spPr>
          <a:xfrm>
            <a:off x="1346200" y="2031938"/>
            <a:ext cx="3057525"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Nunito Sans" pitchFamily="34" charset="0"/>
                <a:ea typeface="Nunito Sans" pitchFamily="34" charset="-122"/>
                <a:cs typeface="Nunito Sans" pitchFamily="34" charset="-120"/>
              </a:rPr>
              <a:t>Reset link sent within 2 minutes</a:t>
            </a:r>
            <a:endParaRPr lang="en-US" sz="1400" dirty="0"/>
          </a:p>
        </p:txBody>
      </p:sp>
      <p:pic>
        <p:nvPicPr>
          <p:cNvPr id="7" name="Image 1" descr="Check"/>
          <p:cNvPicPr>
            <a:picLocks noChangeAspect="1"/>
          </p:cNvPicPr>
          <p:nvPr/>
        </p:nvPicPr>
        <p:blipFill>
          <a:blip r:embed="rId3"/>
          <a:srcRect/>
          <a:stretch/>
        </p:blipFill>
        <p:spPr>
          <a:xfrm>
            <a:off x="1041400" y="2392561"/>
            <a:ext cx="203200" cy="203200"/>
          </a:xfrm>
          <a:prstGeom prst="rect">
            <a:avLst/>
          </a:prstGeom>
        </p:spPr>
      </p:pic>
      <p:sp>
        <p:nvSpPr>
          <p:cNvPr id="8" name="Text 4"/>
          <p:cNvSpPr/>
          <p:nvPr/>
        </p:nvSpPr>
        <p:spPr>
          <a:xfrm>
            <a:off x="1346200" y="2369741"/>
            <a:ext cx="2763679"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Nunito Sans" pitchFamily="34" charset="0"/>
                <a:ea typeface="Nunito Sans" pitchFamily="34" charset="-122"/>
                <a:cs typeface="Nunito Sans" pitchFamily="34" charset="-120"/>
              </a:rPr>
              <a:t>Link expires after 30 minutes</a:t>
            </a:r>
            <a:endParaRPr lang="en-US" sz="1400" dirty="0"/>
          </a:p>
        </p:txBody>
      </p:sp>
      <p:pic>
        <p:nvPicPr>
          <p:cNvPr id="9" name="Image 2" descr="Check"/>
          <p:cNvPicPr>
            <a:picLocks noChangeAspect="1"/>
          </p:cNvPicPr>
          <p:nvPr/>
        </p:nvPicPr>
        <p:blipFill>
          <a:blip r:embed="rId3"/>
          <a:srcRect/>
          <a:stretch/>
        </p:blipFill>
        <p:spPr>
          <a:xfrm>
            <a:off x="1041400" y="2730370"/>
            <a:ext cx="203200" cy="203200"/>
          </a:xfrm>
          <a:prstGeom prst="rect">
            <a:avLst/>
          </a:prstGeom>
        </p:spPr>
      </p:pic>
      <p:sp>
        <p:nvSpPr>
          <p:cNvPr id="10" name="Text 5"/>
          <p:cNvSpPr/>
          <p:nvPr/>
        </p:nvSpPr>
        <p:spPr>
          <a:xfrm>
            <a:off x="1346200" y="2707549"/>
            <a:ext cx="2557939"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Nunito Sans" pitchFamily="34" charset="0"/>
                <a:ea typeface="Nunito Sans" pitchFamily="34" charset="-122"/>
                <a:cs typeface="Nunito Sans" pitchFamily="34" charset="-120"/>
              </a:rPr>
              <a:t>Link can be used only once</a:t>
            </a:r>
            <a:endParaRPr lang="en-US" sz="1400" dirty="0"/>
          </a:p>
        </p:txBody>
      </p:sp>
      <p:pic>
        <p:nvPicPr>
          <p:cNvPr id="11" name="Image 3" descr="Check"/>
          <p:cNvPicPr>
            <a:picLocks noChangeAspect="1"/>
          </p:cNvPicPr>
          <p:nvPr/>
        </p:nvPicPr>
        <p:blipFill>
          <a:blip r:embed="rId3"/>
          <a:srcRect/>
          <a:stretch/>
        </p:blipFill>
        <p:spPr>
          <a:xfrm>
            <a:off x="1041400" y="3068179"/>
            <a:ext cx="203200" cy="203200"/>
          </a:xfrm>
          <a:prstGeom prst="rect">
            <a:avLst/>
          </a:prstGeom>
        </p:spPr>
      </p:pic>
      <p:sp>
        <p:nvSpPr>
          <p:cNvPr id="12" name="Text 6"/>
          <p:cNvSpPr/>
          <p:nvPr/>
        </p:nvSpPr>
        <p:spPr>
          <a:xfrm>
            <a:off x="1346200" y="3045358"/>
            <a:ext cx="5238274"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Nunito Sans" pitchFamily="34" charset="0"/>
                <a:ea typeface="Nunito Sans" pitchFamily="34" charset="-122"/>
                <a:cs typeface="Nunito Sans" pitchFamily="34" charset="-120"/>
              </a:rPr>
              <a:t>New password: 8–20 chars, ≥ 1 uppercase, ≥ 1 number</a:t>
            </a:r>
            <a:endParaRPr lang="en-US" sz="1400" dirty="0"/>
          </a:p>
        </p:txBody>
      </p:sp>
      <p:pic>
        <p:nvPicPr>
          <p:cNvPr id="13" name="Image 4" descr="Check"/>
          <p:cNvPicPr>
            <a:picLocks noChangeAspect="1"/>
          </p:cNvPicPr>
          <p:nvPr/>
        </p:nvPicPr>
        <p:blipFill>
          <a:blip r:embed="rId3"/>
          <a:srcRect/>
          <a:stretch/>
        </p:blipFill>
        <p:spPr>
          <a:xfrm>
            <a:off x="1041400" y="3405981"/>
            <a:ext cx="203200" cy="203200"/>
          </a:xfrm>
          <a:prstGeom prst="rect">
            <a:avLst/>
          </a:prstGeom>
        </p:spPr>
      </p:pic>
      <p:sp>
        <p:nvSpPr>
          <p:cNvPr id="14" name="Text 7"/>
          <p:cNvSpPr/>
          <p:nvPr/>
        </p:nvSpPr>
        <p:spPr>
          <a:xfrm>
            <a:off x="1346200" y="3383161"/>
            <a:ext cx="3380264"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Nunito Sans" pitchFamily="34" charset="0"/>
                <a:ea typeface="Nunito Sans" pitchFamily="34" charset="-122"/>
                <a:cs typeface="Nunito Sans" pitchFamily="34" charset="-120"/>
              </a:rPr>
              <a:t>Cannot match the last 3 passwords</a:t>
            </a:r>
            <a:endParaRPr lang="en-US" sz="1400" dirty="0"/>
          </a:p>
        </p:txBody>
      </p:sp>
      <p:pic>
        <p:nvPicPr>
          <p:cNvPr id="15" name="Image 5" descr="Check"/>
          <p:cNvPicPr>
            <a:picLocks noChangeAspect="1"/>
          </p:cNvPicPr>
          <p:nvPr/>
        </p:nvPicPr>
        <p:blipFill>
          <a:blip r:embed="rId3"/>
          <a:srcRect/>
          <a:stretch/>
        </p:blipFill>
        <p:spPr>
          <a:xfrm>
            <a:off x="1041400" y="3743790"/>
            <a:ext cx="203200" cy="203200"/>
          </a:xfrm>
          <a:prstGeom prst="rect">
            <a:avLst/>
          </a:prstGeom>
        </p:spPr>
      </p:pic>
      <p:sp>
        <p:nvSpPr>
          <p:cNvPr id="16" name="Text 8"/>
          <p:cNvSpPr/>
          <p:nvPr/>
        </p:nvSpPr>
        <p:spPr>
          <a:xfrm>
            <a:off x="1346200" y="3720970"/>
            <a:ext cx="4429839"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Nunito Sans" pitchFamily="34" charset="0"/>
                <a:ea typeface="Nunito Sans" pitchFamily="34" charset="-122"/>
                <a:cs typeface="Nunito Sans" pitchFamily="34" charset="-120"/>
              </a:rPr>
              <a:t>Unregistered email: neutral message, no email</a:t>
            </a:r>
            <a:endParaRPr lang="en-US" sz="1400" dirty="0"/>
          </a:p>
        </p:txBody>
      </p:sp>
      <p:sp>
        <p:nvSpPr>
          <p:cNvPr id="17" name="Shape 9"/>
          <p:cNvSpPr/>
          <p:nvPr/>
        </p:nvSpPr>
        <p:spPr>
          <a:xfrm>
            <a:off x="7823200" y="1803338"/>
            <a:ext cx="3556000" cy="1132747"/>
          </a:xfrm>
          <a:prstGeom prst="roundRect">
            <a:avLst>
              <a:gd name="adj" fmla="val 6727"/>
            </a:avLst>
          </a:prstGeom>
          <a:solidFill>
            <a:srgbClr val="FBFBF8"/>
          </a:solidFill>
          <a:ln/>
        </p:spPr>
      </p:sp>
      <p:sp>
        <p:nvSpPr>
          <p:cNvPr id="18" name="Shape 10"/>
          <p:cNvSpPr/>
          <p:nvPr/>
        </p:nvSpPr>
        <p:spPr>
          <a:xfrm>
            <a:off x="7823200" y="1803338"/>
            <a:ext cx="3556000" cy="1132747"/>
          </a:xfrm>
          <a:custGeom>
            <a:avLst/>
            <a:gdLst/>
            <a:ahLst/>
            <a:cxnLst/>
            <a:rect l="l" t="t" r="r" b="b"/>
            <a:pathLst>
              <a:path w="3556000" h="1132747">
                <a:moveTo>
                  <a:pt x="0" y="76200"/>
                </a:moveTo>
                <a:lnTo>
                  <a:pt x="0" y="76200"/>
                </a:lnTo>
                <a:arcTo wR="76200" hR="76200" stAng="10800000" swAng="5400000"/>
                <a:lnTo>
                  <a:pt x="3479800" y="0"/>
                </a:lnTo>
                <a:arcTo wR="76200" hR="76200" stAng="16200000" swAng="5400000"/>
                <a:lnTo>
                  <a:pt x="3556000" y="76200"/>
                </a:lnTo>
                <a:arcTo wR="76200" hR="25400" stAng="0" swAng="-5400000"/>
                <a:lnTo>
                  <a:pt x="76200" y="50800"/>
                </a:lnTo>
                <a:arcTo wR="76200" hR="25400" stAng="16200000" swAng="-5400000"/>
                <a:close/>
              </a:path>
            </a:pathLst>
          </a:custGeom>
          <a:solidFill>
            <a:srgbClr val="2B5C9E"/>
          </a:solidFill>
          <a:ln/>
        </p:spPr>
      </p:sp>
      <p:sp>
        <p:nvSpPr>
          <p:cNvPr id="19" name="Text 11"/>
          <p:cNvSpPr/>
          <p:nvPr/>
        </p:nvSpPr>
        <p:spPr>
          <a:xfrm>
            <a:off x="8001000" y="2031938"/>
            <a:ext cx="329641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B5C9E"/>
                </a:solidFill>
                <a:latin typeface="Nunito Sans" pitchFamily="34" charset="0"/>
                <a:ea typeface="Nunito Sans" pitchFamily="34" charset="-122"/>
                <a:cs typeface="Nunito Sans" pitchFamily="34" charset="-120"/>
              </a:rPr>
              <a:t>Use Given / When / Then</a:t>
            </a:r>
            <a:endParaRPr lang="en-US" sz="1400" dirty="0"/>
          </a:p>
        </p:txBody>
      </p:sp>
      <p:sp>
        <p:nvSpPr>
          <p:cNvPr id="20" name="Text 12"/>
          <p:cNvSpPr/>
          <p:nvPr/>
        </p:nvSpPr>
        <p:spPr>
          <a:xfrm>
            <a:off x="8001000" y="2296058"/>
            <a:ext cx="3296412"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Nunito Sans" pitchFamily="34" charset="0"/>
                <a:ea typeface="Nunito Sans" pitchFamily="34" charset="-122"/>
                <a:cs typeface="Nunito Sans" pitchFamily="34" charset="-120"/>
              </a:rPr>
              <a:t>For behaviour with a clear context, action and outcome</a:t>
            </a:r>
            <a:endParaRPr lang="en-US" sz="1300" dirty="0"/>
          </a:p>
        </p:txBody>
      </p:sp>
      <p:sp>
        <p:nvSpPr>
          <p:cNvPr id="21" name="Shape 13"/>
          <p:cNvSpPr/>
          <p:nvPr/>
        </p:nvSpPr>
        <p:spPr>
          <a:xfrm>
            <a:off x="7823200" y="3063081"/>
            <a:ext cx="3556000" cy="901634"/>
          </a:xfrm>
          <a:prstGeom prst="roundRect">
            <a:avLst>
              <a:gd name="adj" fmla="val 8451"/>
            </a:avLst>
          </a:prstGeom>
          <a:solidFill>
            <a:srgbClr val="FBFBF8"/>
          </a:solidFill>
          <a:ln/>
        </p:spPr>
      </p:sp>
      <p:sp>
        <p:nvSpPr>
          <p:cNvPr id="22" name="Shape 14"/>
          <p:cNvSpPr/>
          <p:nvPr/>
        </p:nvSpPr>
        <p:spPr>
          <a:xfrm>
            <a:off x="7823200" y="3063081"/>
            <a:ext cx="3556000" cy="901634"/>
          </a:xfrm>
          <a:custGeom>
            <a:avLst/>
            <a:gdLst/>
            <a:ahLst/>
            <a:cxnLst/>
            <a:rect l="l" t="t" r="r" b="b"/>
            <a:pathLst>
              <a:path w="3556000" h="901634">
                <a:moveTo>
                  <a:pt x="0" y="76200"/>
                </a:moveTo>
                <a:lnTo>
                  <a:pt x="0" y="76200"/>
                </a:lnTo>
                <a:arcTo wR="76200" hR="76200" stAng="10800000" swAng="5400000"/>
                <a:lnTo>
                  <a:pt x="3479800" y="0"/>
                </a:lnTo>
                <a:arcTo wR="76200" hR="76200" stAng="16200000" swAng="5400000"/>
                <a:lnTo>
                  <a:pt x="3556000" y="76200"/>
                </a:lnTo>
                <a:arcTo wR="76200" hR="25400" stAng="0" swAng="-5400000"/>
                <a:lnTo>
                  <a:pt x="76200" y="50800"/>
                </a:lnTo>
                <a:arcTo wR="76200" hR="25400" stAng="16200000" swAng="-5400000"/>
                <a:close/>
              </a:path>
            </a:pathLst>
          </a:custGeom>
          <a:solidFill>
            <a:srgbClr val="A14F0A"/>
          </a:solidFill>
          <a:ln/>
        </p:spPr>
      </p:sp>
      <p:sp>
        <p:nvSpPr>
          <p:cNvPr id="23" name="Text 15"/>
          <p:cNvSpPr/>
          <p:nvPr/>
        </p:nvSpPr>
        <p:spPr>
          <a:xfrm>
            <a:off x="8001000" y="3291681"/>
            <a:ext cx="329641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A14F0A"/>
                </a:solidFill>
                <a:latin typeface="Nunito Sans" pitchFamily="34" charset="0"/>
                <a:ea typeface="Nunito Sans" pitchFamily="34" charset="-122"/>
                <a:cs typeface="Nunito Sans" pitchFamily="34" charset="-120"/>
              </a:rPr>
              <a:t>Use a checklist</a:t>
            </a:r>
            <a:endParaRPr lang="en-US" sz="1400" dirty="0"/>
          </a:p>
        </p:txBody>
      </p:sp>
      <p:sp>
        <p:nvSpPr>
          <p:cNvPr id="24" name="Text 16"/>
          <p:cNvSpPr/>
          <p:nvPr/>
        </p:nvSpPr>
        <p:spPr>
          <a:xfrm>
            <a:off x="8001000" y="3555802"/>
            <a:ext cx="3296412"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3D4A5C"/>
                </a:solidFill>
                <a:latin typeface="Nunito Sans" pitchFamily="34" charset="0"/>
                <a:ea typeface="Nunito Sans" pitchFamily="34" charset="-122"/>
                <a:cs typeface="Nunito Sans" pitchFamily="34" charset="-120"/>
              </a:rPr>
              <a:t>For simple rules or lists of constraints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TWO DIFFERENT CHECKS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Definition of Done vs. acceptance criteria</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90638"/>
          <a:ext cx="10553700" cy="1796520"/>
        </p:xfrm>
        <a:graphic>
          <a:graphicData uri="http://schemas.openxmlformats.org/drawingml/2006/table">
            <a:tbl>
              <a:tblPr/>
              <a:tblGrid>
                <a:gridCol w="1899666">
                  <a:extLst>
                    <a:ext uri="{9D8B030D-6E8A-4147-A177-3AD203B41FA5}">
                      <a16:colId xmlns:a16="http://schemas.microsoft.com/office/drawing/2014/main" val="20000"/>
                    </a:ext>
                  </a:extLst>
                </a:gridCol>
                <a:gridCol w="4327017">
                  <a:extLst>
                    <a:ext uri="{9D8B030D-6E8A-4147-A177-3AD203B41FA5}">
                      <a16:colId xmlns:a16="http://schemas.microsoft.com/office/drawing/2014/main" val="20001"/>
                    </a:ext>
                  </a:extLst>
                </a:gridCol>
                <a:gridCol w="4327017">
                  <a:extLst>
                    <a:ext uri="{9D8B030D-6E8A-4147-A177-3AD203B41FA5}">
                      <a16:colId xmlns:a16="http://schemas.microsoft.com/office/drawing/2014/main" val="20002"/>
                    </a:ext>
                  </a:extLst>
                </a:gridCol>
              </a:tblGrid>
              <a:tr h="359304">
                <a:tc>
                  <a:txBody>
                    <a:bodyPr/>
                    <a:lstStyle/>
                    <a:p>
                      <a:pPr marL="0" indent="0">
                        <a:lnSpc>
                          <a:spcPts val="1820"/>
                        </a:lnSpc>
                        <a:buNone/>
                      </a:pP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Acceptance criteria</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820"/>
                        </a:lnSpc>
                        <a:buNone/>
                      </a:pPr>
                      <a:r>
                        <a:rPr lang="en-US" sz="1300" b="1" dirty="0">
                          <a:solidFill>
                            <a:srgbClr val="FBFBF8"/>
                          </a:solidFill>
                          <a:latin typeface="Nunito Sans" pitchFamily="34" charset="0"/>
                          <a:ea typeface="Nunito Sans" pitchFamily="34" charset="-122"/>
                          <a:cs typeface="Nunito Sans" pitchFamily="34" charset="-120"/>
                        </a:rPr>
                        <a:t>Definition of Done</a:t>
                      </a:r>
                      <a:endParaRPr lang="en-US" sz="1300" dirty="0">
                        <a:latin typeface="Nunito Sans" charset="0"/>
                        <a:ea typeface="Nunito Sans" charset="0"/>
                        <a:cs typeface="Nunito Sans" charset="0"/>
                      </a:endParaRPr>
                    </a:p>
                  </a:txBody>
                  <a:tcPr marL="57785" marR="57785" marT="57785" marB="57785">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Scope</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Specific to one story</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Every story in the team</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Defines</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What the story must do</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Quality standards and process steps</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Written by</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Product owner, with team input</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The whole team, agreed once</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59304">
                <a:tc>
                  <a:txBody>
                    <a:bodyPr/>
                    <a:lstStyle/>
                    <a:p>
                      <a:pPr marL="0" indent="0">
                        <a:lnSpc>
                          <a:spcPts val="1820"/>
                        </a:lnSpc>
                        <a:buNone/>
                      </a:pPr>
                      <a:r>
                        <a:rPr lang="en-US" sz="1300" dirty="0">
                          <a:solidFill>
                            <a:srgbClr val="14213D"/>
                          </a:solidFill>
                          <a:latin typeface="Nunito Sans" pitchFamily="34" charset="0"/>
                          <a:ea typeface="Nunito Sans" pitchFamily="34" charset="-122"/>
                          <a:cs typeface="Nunito Sans" pitchFamily="34" charset="-120"/>
                        </a:rPr>
                        <a:t>Example</a:t>
                      </a:r>
                      <a:endParaRPr lang="en-US" sz="1300" dirty="0">
                        <a:latin typeface="Nunito Sans" charset="0"/>
                        <a:ea typeface="Nunito Sans" charset="0"/>
                        <a:cs typeface="Nunito Sans" charset="0"/>
                      </a:endParaRPr>
                    </a:p>
                  </a:txBody>
                  <a:tcPr marL="57785" marR="57785" marT="57785" marB="57785">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“Reset link expires after 30 minutes”</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820"/>
                        </a:lnSpc>
                        <a:buNone/>
                      </a:pPr>
                      <a:r>
                        <a:rPr lang="en-US" sz="1300" dirty="0">
                          <a:solidFill>
                            <a:srgbClr val="3D4A5C"/>
                          </a:solidFill>
                          <a:latin typeface="Nunito Sans" pitchFamily="34" charset="0"/>
                          <a:ea typeface="Nunito Sans" pitchFamily="34" charset="-122"/>
                          <a:cs typeface="Nunito Sans" pitchFamily="34" charset="-120"/>
                        </a:rPr>
                        <a:t>“Code reviewed; QA tested; no open High defects”</a:t>
                      </a:r>
                      <a:endParaRPr lang="en-US" sz="1300" dirty="0">
                        <a:latin typeface="Nunito Sans" charset="0"/>
                        <a:ea typeface="Nunito Sans" charset="0"/>
                        <a:cs typeface="Nunito Sans" charset="0"/>
                      </a:endParaRPr>
                    </a:p>
                  </a:txBody>
                  <a:tcPr marL="57785" marR="57785" marT="57785" marB="57785">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bl>
          </a:graphicData>
        </a:graphic>
      </p:graphicFrame>
      <p:sp>
        <p:nvSpPr>
          <p:cNvPr id="5" name="Text 2"/>
          <p:cNvSpPr/>
          <p:nvPr/>
        </p:nvSpPr>
        <p:spPr>
          <a:xfrm>
            <a:off x="812800" y="3815755"/>
            <a:ext cx="10566400" cy="613370"/>
          </a:xfrm>
          <a:prstGeom prst="roundRect">
            <a:avLst>
              <a:gd name="adj" fmla="val 12423"/>
            </a:avLst>
          </a:prstGeom>
          <a:solidFill>
            <a:srgbClr val="FBEBDD"/>
          </a:solidFill>
          <a:ln/>
        </p:spPr>
        <p:txBody>
          <a:bodyPr wrap="square" lIns="180882" tIns="130082" rIns="0" bIns="104682" rtlCol="0" anchor="t">
            <a:normAutofit/>
          </a:bodyPr>
          <a:lstStyle/>
          <a:p>
            <a:pPr marL="0" indent="0" algn="l">
              <a:lnSpc>
                <a:spcPts val="2430"/>
              </a:lnSpc>
              <a:buNone/>
            </a:pPr>
            <a:r>
              <a:rPr lang="en-US" sz="1800" dirty="0">
                <a:solidFill>
                  <a:srgbClr val="14213D"/>
                </a:solidFill>
                <a:latin typeface="Domine" pitchFamily="18" charset="0"/>
                <a:ea typeface="Domine" pitchFamily="18" charset="-122"/>
                <a:cs typeface="Domine" pitchFamily="18" charset="-120"/>
              </a:rPr>
              <a:t>Story is DONE = all its acceptance criteria pass </a:t>
            </a:r>
            <a:r>
              <a:rPr lang="en-US" sz="1800" dirty="0">
                <a:solidFill>
                  <a:srgbClr val="A14F0A"/>
                </a:solidFill>
                <a:latin typeface="Domine" pitchFamily="18" charset="0"/>
                <a:ea typeface="Domine" pitchFamily="18" charset="-122"/>
                <a:cs typeface="Domine" pitchFamily="18" charset="-120"/>
              </a:rPr>
              <a:t>+</a:t>
            </a:r>
            <a:r>
              <a:rPr lang="en-US" sz="1800" dirty="0">
                <a:solidFill>
                  <a:srgbClr val="14213D"/>
                </a:solidFill>
                <a:latin typeface="Domine" pitchFamily="18" charset="0"/>
                <a:ea typeface="Domine" pitchFamily="18" charset="-122"/>
                <a:cs typeface="Domine" pitchFamily="18" charset="-120"/>
              </a:rPr>
              <a:t> the team's Definition of Done is met</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IN REFINEMENT</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Eight questions to ask about any criteria</a:t>
            </a:r>
            <a:endParaRPr lang="en-US" sz="3200" dirty="0"/>
          </a:p>
        </p:txBody>
      </p:sp>
      <p:sp>
        <p:nvSpPr>
          <p:cNvPr id="4" name="Shape 2"/>
          <p:cNvSpPr/>
          <p:nvPr/>
        </p:nvSpPr>
        <p:spPr>
          <a:xfrm>
            <a:off x="812800" y="1777938"/>
            <a:ext cx="5232400" cy="723834"/>
          </a:xfrm>
          <a:prstGeom prst="roundRect">
            <a:avLst>
              <a:gd name="adj" fmla="val 10527"/>
            </a:avLst>
          </a:prstGeom>
          <a:solidFill>
            <a:srgbClr val="EEF2F7"/>
          </a:solidFill>
          <a:ln/>
        </p:spPr>
      </p:sp>
      <p:sp>
        <p:nvSpPr>
          <p:cNvPr id="5" name="Text 3"/>
          <p:cNvSpPr/>
          <p:nvPr/>
        </p:nvSpPr>
        <p:spPr>
          <a:xfrm>
            <a:off x="990600" y="1904938"/>
            <a:ext cx="5023104"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Nunito Sans" pitchFamily="34" charset="0"/>
                <a:ea typeface="Nunito Sans" pitchFamily="34" charset="-122"/>
                <a:cs typeface="Nunito Sans" pitchFamily="34" charset="-120"/>
              </a:rPr>
              <a:t>Is each one testable?</a:t>
            </a:r>
            <a:endParaRPr lang="en-US" sz="1300" dirty="0"/>
          </a:p>
        </p:txBody>
      </p:sp>
      <p:sp>
        <p:nvSpPr>
          <p:cNvPr id="6" name="Text 4"/>
          <p:cNvSpPr/>
          <p:nvPr/>
        </p:nvSpPr>
        <p:spPr>
          <a:xfrm>
            <a:off x="990600" y="2161449"/>
            <a:ext cx="502310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“Fast” → “within 2 seconds”</a:t>
            </a:r>
            <a:endParaRPr lang="en-US" sz="1200" dirty="0"/>
          </a:p>
        </p:txBody>
      </p:sp>
      <p:sp>
        <p:nvSpPr>
          <p:cNvPr id="7" name="Shape 5"/>
          <p:cNvSpPr/>
          <p:nvPr/>
        </p:nvSpPr>
        <p:spPr>
          <a:xfrm>
            <a:off x="6146800" y="1777938"/>
            <a:ext cx="5232400" cy="723834"/>
          </a:xfrm>
          <a:prstGeom prst="roundRect">
            <a:avLst>
              <a:gd name="adj" fmla="val 10527"/>
            </a:avLst>
          </a:prstGeom>
          <a:solidFill>
            <a:srgbClr val="EEF2F7"/>
          </a:solidFill>
          <a:ln/>
        </p:spPr>
      </p:sp>
      <p:sp>
        <p:nvSpPr>
          <p:cNvPr id="8" name="Text 6"/>
          <p:cNvSpPr/>
          <p:nvPr/>
        </p:nvSpPr>
        <p:spPr>
          <a:xfrm>
            <a:off x="6324600" y="1904938"/>
            <a:ext cx="5023104"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Nunito Sans" pitchFamily="34" charset="0"/>
                <a:ea typeface="Nunito Sans" pitchFamily="34" charset="-122"/>
                <a:cs typeface="Nunito Sans" pitchFamily="34" charset="-120"/>
              </a:rPr>
              <a:t>Are negative paths covered?</a:t>
            </a:r>
            <a:endParaRPr lang="en-US" sz="1300" dirty="0"/>
          </a:p>
        </p:txBody>
      </p:sp>
      <p:sp>
        <p:nvSpPr>
          <p:cNvPr id="9" name="Text 7"/>
          <p:cNvSpPr/>
          <p:nvPr/>
        </p:nvSpPr>
        <p:spPr>
          <a:xfrm>
            <a:off x="6324600" y="2161449"/>
            <a:ext cx="502310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What if the email is not registered?</a:t>
            </a:r>
            <a:endParaRPr lang="en-US" sz="1200" dirty="0"/>
          </a:p>
        </p:txBody>
      </p:sp>
      <p:sp>
        <p:nvSpPr>
          <p:cNvPr id="10" name="Shape 8"/>
          <p:cNvSpPr/>
          <p:nvPr/>
        </p:nvSpPr>
        <p:spPr>
          <a:xfrm>
            <a:off x="812800" y="2603370"/>
            <a:ext cx="5232400" cy="723834"/>
          </a:xfrm>
          <a:prstGeom prst="roundRect">
            <a:avLst>
              <a:gd name="adj" fmla="val 10527"/>
            </a:avLst>
          </a:prstGeom>
          <a:solidFill>
            <a:srgbClr val="EEF2F7"/>
          </a:solidFill>
          <a:ln/>
        </p:spPr>
      </p:sp>
      <p:sp>
        <p:nvSpPr>
          <p:cNvPr id="11" name="Text 9"/>
          <p:cNvSpPr/>
          <p:nvPr/>
        </p:nvSpPr>
        <p:spPr>
          <a:xfrm>
            <a:off x="990600" y="2730370"/>
            <a:ext cx="5023104"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Nunito Sans" pitchFamily="34" charset="0"/>
                <a:ea typeface="Nunito Sans" pitchFamily="34" charset="-122"/>
                <a:cs typeface="Nunito Sans" pitchFamily="34" charset="-120"/>
              </a:rPr>
              <a:t>Are boundaries specified?</a:t>
            </a:r>
            <a:endParaRPr lang="en-US" sz="1300" dirty="0"/>
          </a:p>
        </p:txBody>
      </p:sp>
      <p:sp>
        <p:nvSpPr>
          <p:cNvPr id="12" name="Text 10"/>
          <p:cNvSpPr/>
          <p:nvPr/>
        </p:nvSpPr>
        <p:spPr>
          <a:xfrm>
            <a:off x="990600" y="2986881"/>
            <a:ext cx="502310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Is 30 minutes inclusive? Exactly 30:00?</a:t>
            </a:r>
            <a:endParaRPr lang="en-US" sz="1200" dirty="0"/>
          </a:p>
        </p:txBody>
      </p:sp>
      <p:sp>
        <p:nvSpPr>
          <p:cNvPr id="13" name="Shape 11"/>
          <p:cNvSpPr/>
          <p:nvPr/>
        </p:nvSpPr>
        <p:spPr>
          <a:xfrm>
            <a:off x="6146800" y="2603370"/>
            <a:ext cx="5232400" cy="723834"/>
          </a:xfrm>
          <a:prstGeom prst="roundRect">
            <a:avLst>
              <a:gd name="adj" fmla="val 10527"/>
            </a:avLst>
          </a:prstGeom>
          <a:solidFill>
            <a:srgbClr val="EEF2F7"/>
          </a:solidFill>
          <a:ln/>
        </p:spPr>
      </p:sp>
      <p:sp>
        <p:nvSpPr>
          <p:cNvPr id="14" name="Text 12"/>
          <p:cNvSpPr/>
          <p:nvPr/>
        </p:nvSpPr>
        <p:spPr>
          <a:xfrm>
            <a:off x="6324600" y="2730370"/>
            <a:ext cx="5023104"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Nunito Sans" pitchFamily="34" charset="0"/>
                <a:ea typeface="Nunito Sans" pitchFamily="34" charset="-122"/>
                <a:cs typeface="Nunito Sans" pitchFamily="34" charset="-120"/>
              </a:rPr>
              <a:t>Are business rules explicit?</a:t>
            </a:r>
            <a:endParaRPr lang="en-US" sz="1300" dirty="0"/>
          </a:p>
        </p:txBody>
      </p:sp>
      <p:sp>
        <p:nvSpPr>
          <p:cNvPr id="15" name="Text 13"/>
          <p:cNvSpPr/>
          <p:nvPr/>
        </p:nvSpPr>
        <p:spPr>
          <a:xfrm>
            <a:off x="6324600" y="2986881"/>
            <a:ext cx="502310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Can the old password be reused?</a:t>
            </a:r>
            <a:endParaRPr lang="en-US" sz="1200" dirty="0"/>
          </a:p>
        </p:txBody>
      </p:sp>
      <p:sp>
        <p:nvSpPr>
          <p:cNvPr id="16" name="Shape 14"/>
          <p:cNvSpPr/>
          <p:nvPr/>
        </p:nvSpPr>
        <p:spPr>
          <a:xfrm>
            <a:off x="812800" y="3428802"/>
            <a:ext cx="5232400" cy="723834"/>
          </a:xfrm>
          <a:prstGeom prst="roundRect">
            <a:avLst>
              <a:gd name="adj" fmla="val 10527"/>
            </a:avLst>
          </a:prstGeom>
          <a:solidFill>
            <a:srgbClr val="EEF2F7"/>
          </a:solidFill>
          <a:ln/>
        </p:spPr>
      </p:sp>
      <p:sp>
        <p:nvSpPr>
          <p:cNvPr id="17" name="Text 15"/>
          <p:cNvSpPr/>
          <p:nvPr/>
        </p:nvSpPr>
        <p:spPr>
          <a:xfrm>
            <a:off x="990600" y="3555802"/>
            <a:ext cx="5023104"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Nunito Sans" pitchFamily="34" charset="0"/>
                <a:ea typeface="Nunito Sans" pitchFamily="34" charset="-122"/>
                <a:cs typeface="Nunito Sans" pitchFamily="34" charset="-120"/>
              </a:rPr>
              <a:t>Are error messages defined?</a:t>
            </a:r>
            <a:endParaRPr lang="en-US" sz="1300" dirty="0"/>
          </a:p>
        </p:txBody>
      </p:sp>
      <p:sp>
        <p:nvSpPr>
          <p:cNvPr id="18" name="Text 16"/>
          <p:cNvSpPr/>
          <p:nvPr/>
        </p:nvSpPr>
        <p:spPr>
          <a:xfrm>
            <a:off x="990600" y="3812319"/>
            <a:ext cx="502310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What exact message does the user see?</a:t>
            </a:r>
            <a:endParaRPr lang="en-US" sz="1200" dirty="0"/>
          </a:p>
        </p:txBody>
      </p:sp>
      <p:sp>
        <p:nvSpPr>
          <p:cNvPr id="19" name="Shape 17"/>
          <p:cNvSpPr/>
          <p:nvPr/>
        </p:nvSpPr>
        <p:spPr>
          <a:xfrm>
            <a:off x="6146800" y="3428802"/>
            <a:ext cx="5232400" cy="723834"/>
          </a:xfrm>
          <a:prstGeom prst="roundRect">
            <a:avLst>
              <a:gd name="adj" fmla="val 10527"/>
            </a:avLst>
          </a:prstGeom>
          <a:solidFill>
            <a:srgbClr val="EEF2F7"/>
          </a:solidFill>
          <a:ln/>
        </p:spPr>
      </p:sp>
      <p:sp>
        <p:nvSpPr>
          <p:cNvPr id="20" name="Text 18"/>
          <p:cNvSpPr/>
          <p:nvPr/>
        </p:nvSpPr>
        <p:spPr>
          <a:xfrm>
            <a:off x="6324600" y="3555802"/>
            <a:ext cx="5023104"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Nunito Sans" pitchFamily="34" charset="0"/>
                <a:ea typeface="Nunito Sans" pitchFamily="34" charset="-122"/>
                <a:cs typeface="Nunito Sans" pitchFamily="34" charset="-120"/>
              </a:rPr>
              <a:t>Are roles and permissions clear?</a:t>
            </a:r>
            <a:endParaRPr lang="en-US" sz="1300" dirty="0"/>
          </a:p>
        </p:txBody>
      </p:sp>
      <p:sp>
        <p:nvSpPr>
          <p:cNvPr id="21" name="Text 19"/>
          <p:cNvSpPr/>
          <p:nvPr/>
        </p:nvSpPr>
        <p:spPr>
          <a:xfrm>
            <a:off x="6324600" y="3812319"/>
            <a:ext cx="502310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Can an admin reset another user's password?</a:t>
            </a:r>
            <a:endParaRPr lang="en-US" sz="1200" dirty="0"/>
          </a:p>
        </p:txBody>
      </p:sp>
      <p:sp>
        <p:nvSpPr>
          <p:cNvPr id="22" name="Shape 20"/>
          <p:cNvSpPr/>
          <p:nvPr/>
        </p:nvSpPr>
        <p:spPr>
          <a:xfrm>
            <a:off x="812800" y="4254240"/>
            <a:ext cx="5232400" cy="723834"/>
          </a:xfrm>
          <a:prstGeom prst="roundRect">
            <a:avLst>
              <a:gd name="adj" fmla="val 10527"/>
            </a:avLst>
          </a:prstGeom>
          <a:solidFill>
            <a:srgbClr val="EEF2F7"/>
          </a:solidFill>
          <a:ln/>
        </p:spPr>
      </p:sp>
      <p:sp>
        <p:nvSpPr>
          <p:cNvPr id="23" name="Text 21"/>
          <p:cNvSpPr/>
          <p:nvPr/>
        </p:nvSpPr>
        <p:spPr>
          <a:xfrm>
            <a:off x="990600" y="4381240"/>
            <a:ext cx="5023104"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Nunito Sans" pitchFamily="34" charset="0"/>
                <a:ea typeface="Nunito Sans" pitchFamily="34" charset="-122"/>
                <a:cs typeface="Nunito Sans" pitchFamily="34" charset="-120"/>
              </a:rPr>
              <a:t>What about repetition?</a:t>
            </a:r>
            <a:endParaRPr lang="en-US" sz="1300" dirty="0"/>
          </a:p>
        </p:txBody>
      </p:sp>
      <p:sp>
        <p:nvSpPr>
          <p:cNvPr id="24" name="Text 22"/>
          <p:cNvSpPr/>
          <p:nvPr/>
        </p:nvSpPr>
        <p:spPr>
          <a:xfrm>
            <a:off x="990600" y="4637751"/>
            <a:ext cx="502310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User requests 3 links: which one works?</a:t>
            </a:r>
            <a:endParaRPr lang="en-US" sz="1200" dirty="0"/>
          </a:p>
        </p:txBody>
      </p:sp>
      <p:sp>
        <p:nvSpPr>
          <p:cNvPr id="25" name="Shape 23"/>
          <p:cNvSpPr/>
          <p:nvPr/>
        </p:nvSpPr>
        <p:spPr>
          <a:xfrm>
            <a:off x="6146800" y="4254240"/>
            <a:ext cx="5232400" cy="723834"/>
          </a:xfrm>
          <a:prstGeom prst="roundRect">
            <a:avLst>
              <a:gd name="adj" fmla="val 10527"/>
            </a:avLst>
          </a:prstGeom>
          <a:solidFill>
            <a:srgbClr val="EEF2F7"/>
          </a:solidFill>
          <a:ln/>
        </p:spPr>
      </p:sp>
      <p:sp>
        <p:nvSpPr>
          <p:cNvPr id="26" name="Text 24"/>
          <p:cNvSpPr/>
          <p:nvPr/>
        </p:nvSpPr>
        <p:spPr>
          <a:xfrm>
            <a:off x="6324600" y="4381240"/>
            <a:ext cx="5023104" cy="256514"/>
          </a:xfrm>
          <a:prstGeom prst="rect">
            <a:avLst/>
          </a:prstGeom>
          <a:noFill/>
          <a:ln/>
        </p:spPr>
        <p:txBody>
          <a:bodyPr wrap="square" lIns="0" tIns="0" rIns="0" bIns="0" rtlCol="0" anchor="t">
            <a:normAutofit/>
          </a:bodyPr>
          <a:lstStyle/>
          <a:p>
            <a:pPr marL="0" indent="0" algn="l">
              <a:lnSpc>
                <a:spcPts val="1820"/>
              </a:lnSpc>
              <a:buNone/>
            </a:pPr>
            <a:r>
              <a:rPr lang="en-US" sz="1300" b="1" dirty="0">
                <a:solidFill>
                  <a:srgbClr val="14213D"/>
                </a:solidFill>
                <a:latin typeface="Nunito Sans" pitchFamily="34" charset="0"/>
                <a:ea typeface="Nunito Sans" pitchFamily="34" charset="-122"/>
                <a:cs typeface="Nunito Sans" pitchFamily="34" charset="-120"/>
              </a:rPr>
              <a:t>Any non-functional needs?</a:t>
            </a:r>
            <a:endParaRPr lang="en-US" sz="1300" dirty="0"/>
          </a:p>
        </p:txBody>
      </p:sp>
      <p:sp>
        <p:nvSpPr>
          <p:cNvPr id="27" name="Text 25"/>
          <p:cNvSpPr/>
          <p:nvPr/>
        </p:nvSpPr>
        <p:spPr>
          <a:xfrm>
            <a:off x="6324600" y="4637751"/>
            <a:ext cx="5023104" cy="2387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3D4A5C"/>
                </a:solidFill>
                <a:latin typeface="Nunito Sans" pitchFamily="34" charset="0"/>
                <a:ea typeface="Nunito Sans" pitchFamily="34" charset="-122"/>
                <a:cs typeface="Nunito Sans" pitchFamily="34" charset="-120"/>
              </a:rPr>
              <a:t>Email delivery time; link security</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WATCH OUT</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Common beginner mistakes</a:t>
            </a:r>
            <a:endParaRPr lang="en-US" sz="3200" dirty="0"/>
          </a:p>
        </p:txBody>
      </p:sp>
      <p:sp>
        <p:nvSpPr>
          <p:cNvPr id="4" name="Shape 2"/>
          <p:cNvSpPr/>
          <p:nvPr/>
        </p:nvSpPr>
        <p:spPr>
          <a:xfrm>
            <a:off x="812800" y="1854138"/>
            <a:ext cx="10566400" cy="558800"/>
          </a:xfrm>
          <a:prstGeom prst="roundRect">
            <a:avLst>
              <a:gd name="adj" fmla="val 13636"/>
            </a:avLst>
          </a:prstGeom>
          <a:solidFill>
            <a:srgbClr val="EEF2F7"/>
          </a:solidFill>
          <a:ln/>
        </p:spPr>
      </p:sp>
      <p:pic>
        <p:nvPicPr>
          <p:cNvPr id="5" name="Image 0" descr="Warning"/>
          <p:cNvPicPr>
            <a:picLocks noChangeAspect="1"/>
          </p:cNvPicPr>
          <p:nvPr/>
        </p:nvPicPr>
        <p:blipFill>
          <a:blip r:embed="rId3"/>
          <a:srcRect/>
          <a:stretch/>
        </p:blipFill>
        <p:spPr>
          <a:xfrm>
            <a:off x="1016000" y="2006538"/>
            <a:ext cx="254000" cy="254000"/>
          </a:xfrm>
          <a:prstGeom prst="rect">
            <a:avLst/>
          </a:prstGeom>
        </p:spPr>
      </p:pic>
      <p:sp>
        <p:nvSpPr>
          <p:cNvPr id="6" name="Text 3"/>
          <p:cNvSpPr/>
          <p:nvPr/>
        </p:nvSpPr>
        <p:spPr>
          <a:xfrm>
            <a:off x="1422400" y="2009049"/>
            <a:ext cx="7870428"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D4A5C"/>
                </a:solidFill>
                <a:latin typeface="Nunito Sans" pitchFamily="34" charset="0"/>
                <a:ea typeface="Nunito Sans" pitchFamily="34" charset="-122"/>
                <a:cs typeface="Nunito Sans" pitchFamily="34" charset="-120"/>
              </a:rPr>
              <a:t>Assuming the criteria are complete:</a:t>
            </a:r>
            <a:r>
              <a:rPr lang="en-US" sz="1400" dirty="0">
                <a:solidFill>
                  <a:srgbClr val="3D4A5C"/>
                </a:solidFill>
                <a:latin typeface="Nunito Sans" pitchFamily="34" charset="0"/>
                <a:ea typeface="Nunito Sans" pitchFamily="34" charset="-122"/>
                <a:cs typeface="Nunito Sans" pitchFamily="34" charset="-120"/>
              </a:rPr>
              <a:t> they rarely are. Your questions improve them.</a:t>
            </a:r>
            <a:endParaRPr lang="en-US" sz="1400" dirty="0"/>
          </a:p>
        </p:txBody>
      </p:sp>
      <p:sp>
        <p:nvSpPr>
          <p:cNvPr id="7" name="Shape 4"/>
          <p:cNvSpPr/>
          <p:nvPr/>
        </p:nvSpPr>
        <p:spPr>
          <a:xfrm>
            <a:off x="812800" y="2539938"/>
            <a:ext cx="10566400" cy="558800"/>
          </a:xfrm>
          <a:prstGeom prst="roundRect">
            <a:avLst>
              <a:gd name="adj" fmla="val 13636"/>
            </a:avLst>
          </a:prstGeom>
          <a:solidFill>
            <a:srgbClr val="EEF2F7"/>
          </a:solidFill>
          <a:ln/>
        </p:spPr>
      </p:sp>
      <p:pic>
        <p:nvPicPr>
          <p:cNvPr id="8" name="Image 1" descr="Warning"/>
          <p:cNvPicPr>
            <a:picLocks noChangeAspect="1"/>
          </p:cNvPicPr>
          <p:nvPr/>
        </p:nvPicPr>
        <p:blipFill>
          <a:blip r:embed="rId3"/>
          <a:srcRect/>
          <a:stretch/>
        </p:blipFill>
        <p:spPr>
          <a:xfrm>
            <a:off x="1016000" y="2692338"/>
            <a:ext cx="254000" cy="254000"/>
          </a:xfrm>
          <a:prstGeom prst="rect">
            <a:avLst/>
          </a:prstGeom>
        </p:spPr>
      </p:pic>
      <p:sp>
        <p:nvSpPr>
          <p:cNvPr id="9" name="Text 5"/>
          <p:cNvSpPr/>
          <p:nvPr/>
        </p:nvSpPr>
        <p:spPr>
          <a:xfrm>
            <a:off x="1422400" y="2694849"/>
            <a:ext cx="6624797"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D4A5C"/>
                </a:solidFill>
                <a:latin typeface="Nunito Sans" pitchFamily="34" charset="0"/>
                <a:ea typeface="Nunito Sans" pitchFamily="34" charset="-122"/>
                <a:cs typeface="Nunito Sans" pitchFamily="34" charset="-120"/>
              </a:rPr>
              <a:t>Accepting vague criteria:</a:t>
            </a:r>
            <a:r>
              <a:rPr lang="en-US" sz="1400" dirty="0">
                <a:solidFill>
                  <a:srgbClr val="3D4A5C"/>
                </a:solidFill>
                <a:latin typeface="Nunito Sans" pitchFamily="34" charset="0"/>
                <a:ea typeface="Nunito Sans" pitchFamily="34" charset="-122"/>
                <a:cs typeface="Nunito Sans" pitchFamily="34" charset="-120"/>
              </a:rPr>
              <a:t> “should work properly”, “appropriate error”.</a:t>
            </a:r>
            <a:endParaRPr lang="en-US" sz="1400" dirty="0"/>
          </a:p>
        </p:txBody>
      </p:sp>
      <p:sp>
        <p:nvSpPr>
          <p:cNvPr id="10" name="Shape 6"/>
          <p:cNvSpPr/>
          <p:nvPr/>
        </p:nvSpPr>
        <p:spPr>
          <a:xfrm>
            <a:off x="812800" y="3225738"/>
            <a:ext cx="10566400" cy="558800"/>
          </a:xfrm>
          <a:prstGeom prst="roundRect">
            <a:avLst>
              <a:gd name="adj" fmla="val 13636"/>
            </a:avLst>
          </a:prstGeom>
          <a:solidFill>
            <a:srgbClr val="EEF2F7"/>
          </a:solidFill>
          <a:ln/>
        </p:spPr>
      </p:sp>
      <p:pic>
        <p:nvPicPr>
          <p:cNvPr id="11" name="Image 2" descr="Warning"/>
          <p:cNvPicPr>
            <a:picLocks noChangeAspect="1"/>
          </p:cNvPicPr>
          <p:nvPr/>
        </p:nvPicPr>
        <p:blipFill>
          <a:blip r:embed="rId3"/>
          <a:srcRect/>
          <a:stretch/>
        </p:blipFill>
        <p:spPr>
          <a:xfrm>
            <a:off x="1016000" y="3378138"/>
            <a:ext cx="254000" cy="254000"/>
          </a:xfrm>
          <a:prstGeom prst="rect">
            <a:avLst/>
          </a:prstGeom>
        </p:spPr>
      </p:pic>
      <p:sp>
        <p:nvSpPr>
          <p:cNvPr id="12" name="Text 7"/>
          <p:cNvSpPr/>
          <p:nvPr/>
        </p:nvSpPr>
        <p:spPr>
          <a:xfrm>
            <a:off x="1422400" y="3380649"/>
            <a:ext cx="6636306"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D4A5C"/>
                </a:solidFill>
                <a:latin typeface="Nunito Sans" pitchFamily="34" charset="0"/>
                <a:ea typeface="Nunito Sans" pitchFamily="34" charset="-122"/>
                <a:cs typeface="Nunito Sans" pitchFamily="34" charset="-120"/>
              </a:rPr>
              <a:t>Implementation details in criteria:</a:t>
            </a:r>
            <a:r>
              <a:rPr lang="en-US" sz="1400" dirty="0">
                <a:solidFill>
                  <a:srgbClr val="3D4A5C"/>
                </a:solidFill>
                <a:latin typeface="Nunito Sans" pitchFamily="34" charset="0"/>
                <a:ea typeface="Nunito Sans" pitchFamily="34" charset="-122"/>
                <a:cs typeface="Nunito Sans" pitchFamily="34" charset="-120"/>
              </a:rPr>
              <a:t> “use a JWT token stored in Redis”.</a:t>
            </a:r>
            <a:endParaRPr lang="en-US" sz="1400" dirty="0"/>
          </a:p>
        </p:txBody>
      </p:sp>
      <p:sp>
        <p:nvSpPr>
          <p:cNvPr id="13" name="Shape 8"/>
          <p:cNvSpPr/>
          <p:nvPr/>
        </p:nvSpPr>
        <p:spPr>
          <a:xfrm>
            <a:off x="812800" y="3911538"/>
            <a:ext cx="10566400" cy="558800"/>
          </a:xfrm>
          <a:prstGeom prst="roundRect">
            <a:avLst>
              <a:gd name="adj" fmla="val 13636"/>
            </a:avLst>
          </a:prstGeom>
          <a:solidFill>
            <a:srgbClr val="EEF2F7"/>
          </a:solidFill>
          <a:ln/>
        </p:spPr>
      </p:sp>
      <p:pic>
        <p:nvPicPr>
          <p:cNvPr id="14" name="Image 3" descr="Warning"/>
          <p:cNvPicPr>
            <a:picLocks noChangeAspect="1"/>
          </p:cNvPicPr>
          <p:nvPr/>
        </p:nvPicPr>
        <p:blipFill>
          <a:blip r:embed="rId3"/>
          <a:srcRect/>
          <a:stretch/>
        </p:blipFill>
        <p:spPr>
          <a:xfrm>
            <a:off x="1016000" y="4063938"/>
            <a:ext cx="254000" cy="254000"/>
          </a:xfrm>
          <a:prstGeom prst="rect">
            <a:avLst/>
          </a:prstGeom>
        </p:spPr>
      </p:pic>
      <p:sp>
        <p:nvSpPr>
          <p:cNvPr id="15" name="Text 9"/>
          <p:cNvSpPr/>
          <p:nvPr/>
        </p:nvSpPr>
        <p:spPr>
          <a:xfrm>
            <a:off x="1422400" y="4066449"/>
            <a:ext cx="7380526"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D4A5C"/>
                </a:solidFill>
                <a:latin typeface="Nunito Sans" pitchFamily="34" charset="0"/>
                <a:ea typeface="Nunito Sans" pitchFamily="34" charset="-122"/>
                <a:cs typeface="Nunito Sans" pitchFamily="34" charset="-120"/>
              </a:rPr>
              <a:t>Confusing DoD with criteria:</a:t>
            </a:r>
            <a:r>
              <a:rPr lang="en-US" sz="1400" dirty="0">
                <a:solidFill>
                  <a:srgbClr val="3D4A5C"/>
                </a:solidFill>
                <a:latin typeface="Nunito Sans" pitchFamily="34" charset="0"/>
                <a:ea typeface="Nunito Sans" pitchFamily="34" charset="-122"/>
                <a:cs typeface="Nunito Sans" pitchFamily="34" charset="-120"/>
              </a:rPr>
              <a:t> “code reviewed” is DoD, not acceptance criteria.</a:t>
            </a:r>
            <a:endParaRPr lang="en-US" sz="1400" dirty="0"/>
          </a:p>
        </p:txBody>
      </p:sp>
      <p:sp>
        <p:nvSpPr>
          <p:cNvPr id="16" name="Shape 10"/>
          <p:cNvSpPr/>
          <p:nvPr/>
        </p:nvSpPr>
        <p:spPr>
          <a:xfrm>
            <a:off x="812800" y="4597338"/>
            <a:ext cx="10566400" cy="558800"/>
          </a:xfrm>
          <a:prstGeom prst="roundRect">
            <a:avLst>
              <a:gd name="adj" fmla="val 13636"/>
            </a:avLst>
          </a:prstGeom>
          <a:solidFill>
            <a:srgbClr val="EEF2F7"/>
          </a:solidFill>
          <a:ln/>
        </p:spPr>
      </p:sp>
      <p:pic>
        <p:nvPicPr>
          <p:cNvPr id="17" name="Image 4" descr="Warning"/>
          <p:cNvPicPr>
            <a:picLocks noChangeAspect="1"/>
          </p:cNvPicPr>
          <p:nvPr/>
        </p:nvPicPr>
        <p:blipFill>
          <a:blip r:embed="rId3"/>
          <a:srcRect/>
          <a:stretch/>
        </p:blipFill>
        <p:spPr>
          <a:xfrm>
            <a:off x="1016000" y="4749738"/>
            <a:ext cx="254000" cy="254000"/>
          </a:xfrm>
          <a:prstGeom prst="rect">
            <a:avLst/>
          </a:prstGeom>
        </p:spPr>
      </p:pic>
      <p:sp>
        <p:nvSpPr>
          <p:cNvPr id="18" name="Text 11"/>
          <p:cNvSpPr/>
          <p:nvPr/>
        </p:nvSpPr>
        <p:spPr>
          <a:xfrm>
            <a:off x="1422400" y="4752249"/>
            <a:ext cx="8037989" cy="274307"/>
          </a:xfrm>
          <a:prstGeom prst="rect">
            <a:avLst/>
          </a:prstGeom>
          <a:noFill/>
          <a:ln/>
        </p:spPr>
        <p:txBody>
          <a:bodyPr wrap="square" lIns="0" tIns="0" rIns="0" bIns="0" rtlCol="0" anchor="t">
            <a:normAutofit/>
          </a:bodyPr>
          <a:lstStyle/>
          <a:p>
            <a:pPr marL="0" indent="0" algn="l">
              <a:lnSpc>
                <a:spcPts val="1960"/>
              </a:lnSpc>
              <a:buNone/>
            </a:pPr>
            <a:r>
              <a:rPr lang="en-US" sz="1400" b="1" dirty="0">
                <a:solidFill>
                  <a:srgbClr val="3D4A5C"/>
                </a:solidFill>
                <a:latin typeface="Nunito Sans" pitchFamily="34" charset="0"/>
                <a:ea typeface="Nunito Sans" pitchFamily="34" charset="-122"/>
                <a:cs typeface="Nunito Sans" pitchFamily="34" charset="-120"/>
              </a:rPr>
              <a:t>Testing only the criteria:</a:t>
            </a:r>
            <a:r>
              <a:rPr lang="en-US" sz="1400" dirty="0">
                <a:solidFill>
                  <a:srgbClr val="3D4A5C"/>
                </a:solidFill>
                <a:latin typeface="Nunito Sans" pitchFamily="34" charset="0"/>
                <a:ea typeface="Nunito Sans" pitchFamily="34" charset="-122"/>
                <a:cs typeface="Nunito Sans" pitchFamily="34" charset="-120"/>
              </a:rPr>
              <a:t> they are the minimum. Exploration finds what they missed.</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A04B"/>
                </a:solidFill>
                <a:latin typeface="Nunito Sans" pitchFamily="34" charset="0"/>
                <a:ea typeface="Nunito Sans" pitchFamily="34" charset="-122"/>
                <a:cs typeface="Nunito Sans" pitchFamily="34" charset="-120"/>
              </a:rPr>
              <a:t>PRACTICE · 8 MINUTES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BFBF8"/>
                </a:solidFill>
                <a:latin typeface="Domine" pitchFamily="18" charset="0"/>
                <a:ea typeface="Domine" pitchFamily="18" charset="-122"/>
                <a:cs typeface="Domine" pitchFamily="18" charset="-120"/>
              </a:rPr>
              <a:t>Write criteria for a coupon story</a:t>
            </a:r>
            <a:endParaRPr lang="en-US" sz="3200" dirty="0"/>
          </a:p>
        </p:txBody>
      </p:sp>
      <p:sp>
        <p:nvSpPr>
          <p:cNvPr id="4" name="Shape 2"/>
          <p:cNvSpPr/>
          <p:nvPr/>
        </p:nvSpPr>
        <p:spPr>
          <a:xfrm>
            <a:off x="838200" y="1803338"/>
            <a:ext cx="0" cy="667941"/>
          </a:xfrm>
          <a:prstGeom prst="line">
            <a:avLst/>
          </a:prstGeom>
          <a:noFill/>
          <a:ln w="50800">
            <a:solidFill>
              <a:srgbClr val="F0A04B"/>
            </a:solidFill>
            <a:prstDash val="solid"/>
          </a:ln>
        </p:spPr>
      </p:sp>
      <p:sp>
        <p:nvSpPr>
          <p:cNvPr id="5" name="Text 3"/>
          <p:cNvSpPr/>
          <p:nvPr/>
        </p:nvSpPr>
        <p:spPr>
          <a:xfrm>
            <a:off x="1066800" y="1828738"/>
            <a:ext cx="10621772" cy="642541"/>
          </a:xfrm>
          <a:prstGeom prst="rect">
            <a:avLst/>
          </a:prstGeom>
          <a:noFill/>
          <a:ln/>
        </p:spPr>
        <p:txBody>
          <a:bodyPr wrap="square" lIns="0" tIns="0" rIns="0" bIns="0" rtlCol="0" anchor="t">
            <a:normAutofit/>
          </a:bodyPr>
          <a:lstStyle/>
          <a:p>
            <a:pPr marL="0" indent="0" algn="l">
              <a:lnSpc>
                <a:spcPts val="2430"/>
              </a:lnSpc>
              <a:buNone/>
            </a:pPr>
            <a:r>
              <a:rPr lang="en-US" sz="1800" dirty="0">
                <a:solidFill>
                  <a:srgbClr val="FBFBF8"/>
                </a:solidFill>
                <a:latin typeface="Domine" pitchFamily="18" charset="0"/>
                <a:ea typeface="Domine" pitchFamily="18" charset="-122"/>
                <a:cs typeface="Domine" pitchFamily="18" charset="-120"/>
              </a:rPr>
              <a:t>As a shopper, I want to apply a discount coupon at checkout so that I can save money on my order.</a:t>
            </a:r>
            <a:endParaRPr lang="en-US" sz="1800" dirty="0"/>
          </a:p>
        </p:txBody>
      </p:sp>
      <p:sp>
        <p:nvSpPr>
          <p:cNvPr id="6" name="Shape 4"/>
          <p:cNvSpPr/>
          <p:nvPr/>
        </p:nvSpPr>
        <p:spPr>
          <a:xfrm>
            <a:off x="812800" y="2725279"/>
            <a:ext cx="6959600" cy="1762720"/>
          </a:xfrm>
          <a:prstGeom prst="roundRect">
            <a:avLst>
              <a:gd name="adj" fmla="val 5764"/>
            </a:avLst>
          </a:prstGeom>
          <a:solidFill>
            <a:srgbClr val="24345A"/>
          </a:solidFill>
          <a:ln/>
        </p:spPr>
      </p:sp>
      <p:sp>
        <p:nvSpPr>
          <p:cNvPr id="7" name="Text 5"/>
          <p:cNvSpPr/>
          <p:nvPr/>
        </p:nvSpPr>
        <p:spPr>
          <a:xfrm>
            <a:off x="1016000" y="2928479"/>
            <a:ext cx="6749796"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0A04B"/>
                </a:solidFill>
                <a:latin typeface="Nunito Sans" pitchFamily="34" charset="0"/>
                <a:ea typeface="Nunito Sans" pitchFamily="34" charset="-122"/>
                <a:cs typeface="Nunito Sans" pitchFamily="34" charset="-120"/>
              </a:rPr>
              <a:t>From the product owner</a:t>
            </a:r>
            <a:endParaRPr lang="en-US" sz="1400" dirty="0"/>
          </a:p>
        </p:txBody>
      </p:sp>
      <p:sp>
        <p:nvSpPr>
          <p:cNvPr id="8" name="Text 6"/>
          <p:cNvSpPr/>
          <p:nvPr/>
        </p:nvSpPr>
        <p:spPr>
          <a:xfrm>
            <a:off x="1100582" y="3217999"/>
            <a:ext cx="6657594" cy="1092200"/>
          </a:xfrm>
          <a:prstGeom prst="rect">
            <a:avLst/>
          </a:prstGeom>
          <a:noFill/>
          <a:ln/>
        </p:spPr>
        <p:txBody>
          <a:bodyPr wrap="square" lIns="0" tIns="0" rIns="0" bIns="0" rtlCol="0" anchor="t">
            <a:normAutofit/>
          </a:bodyPr>
          <a:lstStyle/>
          <a:p>
            <a:pPr marL="169418" indent="-169418" algn="l">
              <a:lnSpc>
                <a:spcPts val="2100"/>
              </a:lnSpc>
              <a:buSzPct val="100000"/>
              <a:buChar char="•"/>
            </a:pPr>
            <a:r>
              <a:rPr lang="en-US" sz="1400" dirty="0">
                <a:solidFill>
                  <a:srgbClr val="DCE4F0"/>
                </a:solidFill>
                <a:latin typeface="Nunito Sans" pitchFamily="34" charset="0"/>
                <a:ea typeface="Nunito Sans" pitchFamily="34" charset="-122"/>
                <a:cs typeface="Nunito Sans" pitchFamily="34" charset="-120"/>
              </a:rPr>
              <a:t>Codes are 6–10 alphanumeric characters</a:t>
            </a:r>
            <a:endParaRPr lang="en-US" sz="1400" dirty="0"/>
          </a:p>
          <a:p>
            <a:pPr marL="169418" indent="-169418" algn="l">
              <a:lnSpc>
                <a:spcPts val="2100"/>
              </a:lnSpc>
              <a:buSzPct val="100000"/>
              <a:buChar char="•"/>
            </a:pPr>
            <a:r>
              <a:rPr lang="en-US" sz="1400" dirty="0">
                <a:solidFill>
                  <a:srgbClr val="DCE4F0"/>
                </a:solidFill>
                <a:latin typeface="Nunito Sans" pitchFamily="34" charset="0"/>
                <a:ea typeface="Nunito Sans" pitchFamily="34" charset="-122"/>
                <a:cs typeface="Nunito Sans" pitchFamily="34" charset="-120"/>
              </a:rPr>
              <a:t>Each coupon has an expiry date and a minimum order value</a:t>
            </a:r>
            <a:endParaRPr lang="en-US" sz="1400" dirty="0"/>
          </a:p>
          <a:p>
            <a:pPr marL="169418" indent="-169418" algn="l">
              <a:lnSpc>
                <a:spcPts val="2100"/>
              </a:lnSpc>
              <a:buSzPct val="100000"/>
              <a:buChar char="•"/>
            </a:pPr>
            <a:r>
              <a:rPr lang="en-US" sz="1400" dirty="0">
                <a:solidFill>
                  <a:srgbClr val="DCE4F0"/>
                </a:solidFill>
                <a:latin typeface="Nunito Sans" pitchFamily="34" charset="0"/>
                <a:ea typeface="Nunito Sans" pitchFamily="34" charset="-122"/>
                <a:cs typeface="Nunito Sans" pitchFamily="34" charset="-120"/>
              </a:rPr>
              <a:t>Only one coupon per order</a:t>
            </a:r>
            <a:endParaRPr lang="en-US" sz="1400" dirty="0"/>
          </a:p>
          <a:p>
            <a:pPr marL="169418" indent="-169418" algn="l">
              <a:lnSpc>
                <a:spcPts val="2100"/>
              </a:lnSpc>
              <a:buSzPct val="100000"/>
              <a:buChar char="•"/>
            </a:pPr>
            <a:r>
              <a:rPr lang="en-US" sz="1400" b="1" dirty="0">
                <a:solidFill>
                  <a:srgbClr val="DCE4F0"/>
                </a:solidFill>
                <a:latin typeface="Nunito Sans" pitchFamily="34" charset="0"/>
                <a:ea typeface="Nunito Sans" pitchFamily="34" charset="-122"/>
                <a:cs typeface="Nunito Sans" pitchFamily="34" charset="-120"/>
              </a:rPr>
              <a:t>WELCOME10</a:t>
            </a:r>
            <a:r>
              <a:rPr lang="en-US" sz="1400" dirty="0">
                <a:solidFill>
                  <a:srgbClr val="DCE4F0"/>
                </a:solidFill>
                <a:latin typeface="Nunito Sans" pitchFamily="34" charset="0"/>
                <a:ea typeface="Nunito Sans" pitchFamily="34" charset="-122"/>
                <a:cs typeface="Nunito Sans" pitchFamily="34" charset="-120"/>
              </a:rPr>
              <a:t> gives 10% off, first order only</a:t>
            </a:r>
            <a:endParaRPr lang="en-US" sz="1400" dirty="0"/>
          </a:p>
        </p:txBody>
      </p:sp>
      <p:sp>
        <p:nvSpPr>
          <p:cNvPr id="9" name="Shape 7"/>
          <p:cNvSpPr/>
          <p:nvPr/>
        </p:nvSpPr>
        <p:spPr>
          <a:xfrm>
            <a:off x="8083550" y="2731629"/>
            <a:ext cx="3289300" cy="1481931"/>
          </a:xfrm>
          <a:prstGeom prst="roundRect">
            <a:avLst>
              <a:gd name="adj" fmla="val 6427"/>
            </a:avLst>
          </a:prstGeom>
          <a:solidFill>
            <a:srgbClr val="24345A"/>
          </a:solidFill>
          <a:ln w="12700">
            <a:solidFill>
              <a:srgbClr val="F0A04B"/>
            </a:solidFill>
            <a:prstDash val="solid"/>
          </a:ln>
        </p:spPr>
      </p:sp>
      <p:sp>
        <p:nvSpPr>
          <p:cNvPr id="10" name="Text 8"/>
          <p:cNvSpPr/>
          <p:nvPr/>
        </p:nvSpPr>
        <p:spPr>
          <a:xfrm>
            <a:off x="8293100" y="2941179"/>
            <a:ext cx="2956306"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F0A04B"/>
                </a:solidFill>
                <a:latin typeface="Nunito Sans" pitchFamily="34" charset="0"/>
                <a:ea typeface="Nunito Sans" pitchFamily="34" charset="-122"/>
                <a:cs typeface="Nunito Sans" pitchFamily="34" charset="-120"/>
              </a:rPr>
              <a:t>Your task</a:t>
            </a:r>
            <a:endParaRPr lang="en-US" sz="1400" dirty="0"/>
          </a:p>
        </p:txBody>
      </p:sp>
      <p:sp>
        <p:nvSpPr>
          <p:cNvPr id="11" name="Text 9"/>
          <p:cNvSpPr/>
          <p:nvPr/>
        </p:nvSpPr>
        <p:spPr>
          <a:xfrm>
            <a:off x="8293100" y="3230699"/>
            <a:ext cx="2956306" cy="798711"/>
          </a:xfrm>
          <a:prstGeom prst="rect">
            <a:avLst/>
          </a:prstGeom>
          <a:noFill/>
          <a:ln/>
        </p:spPr>
        <p:txBody>
          <a:bodyPr wrap="square" lIns="0" tIns="0" rIns="0" bIns="0" rtlCol="0" anchor="t">
            <a:normAutofit/>
          </a:bodyPr>
          <a:lstStyle/>
          <a:p>
            <a:pPr marL="0" indent="0" algn="l">
              <a:lnSpc>
                <a:spcPts val="2030"/>
              </a:lnSpc>
              <a:buNone/>
            </a:pPr>
            <a:r>
              <a:rPr lang="en-US" sz="1400" dirty="0">
                <a:solidFill>
                  <a:srgbClr val="DCE4F0"/>
                </a:solidFill>
                <a:latin typeface="Nunito Sans" pitchFamily="34" charset="0"/>
                <a:ea typeface="Nunito Sans" pitchFamily="34" charset="-122"/>
                <a:cs typeface="Nunito Sans" pitchFamily="34" charset="-120"/>
              </a:rPr>
              <a:t>Write at least </a:t>
            </a:r>
            <a:r>
              <a:rPr lang="en-US" sz="1400" b="1" dirty="0">
                <a:solidFill>
                  <a:srgbClr val="DCE4F0"/>
                </a:solidFill>
                <a:latin typeface="Nunito Sans" pitchFamily="34" charset="0"/>
                <a:ea typeface="Nunito Sans" pitchFamily="34" charset="-122"/>
                <a:cs typeface="Nunito Sans" pitchFamily="34" charset="-120"/>
              </a:rPr>
              <a:t>6 criteria</a:t>
            </a:r>
            <a:r>
              <a:rPr lang="en-US" sz="1400" dirty="0">
                <a:solidFill>
                  <a:srgbClr val="DCE4F0"/>
                </a:solidFill>
                <a:latin typeface="Nunito Sans" pitchFamily="34" charset="0"/>
                <a:ea typeface="Nunito Sans" pitchFamily="34" charset="-122"/>
                <a:cs typeface="Nunito Sans" pitchFamily="34" charset="-120"/>
              </a:rPr>
              <a:t> covering positive, negative, boundary and business-rule conditions.</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MODEL ANSWER · 1 OF 2</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Seven scenarios for coupons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765238"/>
          <a:ext cx="10553700" cy="2661179"/>
        </p:xfrm>
        <a:graphic>
          <a:graphicData uri="http://schemas.openxmlformats.org/drawingml/2006/table">
            <a:tbl>
              <a:tblPr/>
              <a:tblGrid>
                <a:gridCol w="2743962">
                  <a:extLst>
                    <a:ext uri="{9D8B030D-6E8A-4147-A177-3AD203B41FA5}">
                      <a16:colId xmlns:a16="http://schemas.microsoft.com/office/drawing/2014/main" val="20000"/>
                    </a:ext>
                  </a:extLst>
                </a:gridCol>
                <a:gridCol w="4221480">
                  <a:extLst>
                    <a:ext uri="{9D8B030D-6E8A-4147-A177-3AD203B41FA5}">
                      <a16:colId xmlns:a16="http://schemas.microsoft.com/office/drawing/2014/main" val="20001"/>
                    </a:ext>
                  </a:extLst>
                </a:gridCol>
                <a:gridCol w="3588258">
                  <a:extLst>
                    <a:ext uri="{9D8B030D-6E8A-4147-A177-3AD203B41FA5}">
                      <a16:colId xmlns:a16="http://schemas.microsoft.com/office/drawing/2014/main" val="20002"/>
                    </a:ext>
                  </a:extLst>
                </a:gridCol>
              </a:tblGrid>
              <a:tr h="332647">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Scenario</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Given / When</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tc>
                  <a:txBody>
                    <a:bodyPr/>
                    <a:lstStyle/>
                    <a:p>
                      <a:pPr marL="0" indent="0">
                        <a:lnSpc>
                          <a:spcPts val="1680"/>
                        </a:lnSpc>
                        <a:buNone/>
                      </a:pPr>
                      <a:r>
                        <a:rPr lang="en-US" sz="1200" b="1" dirty="0">
                          <a:solidFill>
                            <a:srgbClr val="FBFBF8"/>
                          </a:solidFill>
                          <a:latin typeface="Nunito Sans" pitchFamily="34" charset="0"/>
                          <a:ea typeface="Nunito Sans" pitchFamily="34" charset="-122"/>
                          <a:cs typeface="Nunito Sans" pitchFamily="34" charset="-120"/>
                        </a:rPr>
                        <a:t>Then</a:t>
                      </a:r>
                      <a:endParaRPr lang="en-US" sz="1200" dirty="0">
                        <a:latin typeface="Nunito Sans" charset="0"/>
                        <a:ea typeface="Nunito Sans" charset="0"/>
                        <a:cs typeface="Nunito Sans" charset="0"/>
                      </a:endParaRPr>
                    </a:p>
                  </a:txBody>
                  <a:tcPr marL="53340" marR="53340" marT="53340" marB="53340">
                    <a:lnL w="12700" cap="flat" cmpd="sng" algn="ctr">
                      <a:solidFill>
                        <a:srgbClr val="141E34"/>
                      </a:solidFill>
                      <a:prstDash val="solid"/>
                      <a:round/>
                      <a:headEnd type="none" w="med" len="med"/>
                      <a:tailEnd type="none" w="med" len="med"/>
                    </a:lnL>
                    <a:lnR w="12700" cap="flat" cmpd="sng" algn="ctr">
                      <a:solidFill>
                        <a:srgbClr val="141E34"/>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141E34"/>
                      </a:solidFill>
                      <a:prstDash val="solid"/>
                      <a:round/>
                      <a:headEnd type="none" w="med" len="med"/>
                      <a:tailEnd type="none" w="med" len="med"/>
                    </a:lnB>
                    <a:solidFill>
                      <a:srgbClr val="14213D"/>
                    </a:solidFill>
                  </a:tcPr>
                </a:tc>
                <a:extLst>
                  <a:ext uri="{0D108BD9-81ED-4DB2-BD59-A6C34878D82A}">
                    <a16:rowId xmlns:a16="http://schemas.microsoft.com/office/drawing/2014/main" val="10000"/>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Valid coupon</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Cart ₹1,500; apply SAVE200 (₹200 off, min ₹1,000)</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₹200 deducted; total ₹1,300</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141E34"/>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1"/>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Below minimum</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Cart ₹999; apply SAVE200</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Rejected: “Minimum order value ₹1,000 required”</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At minimum (boundary)</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Cart exactly ₹1,000; apply SAVE200</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Coupon applied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3"/>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Expired</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SUMMER25 expired yesterday</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“This coupon has expired”; total unchanged</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Invalid code</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Apply XYZ999, which does not exist</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“Invalid coupon code”</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5"/>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One per order</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SAVE200 applied; try FREESHIP</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“Only one coupon can be applied per order”</a:t>
                      </a:r>
                      <a:endParaRPr lang="en-US" sz="1200" dirty="0">
                        <a:latin typeface="Nunito Sans" charset="0"/>
                        <a:ea typeface="Nunito Sans" charset="0"/>
                        <a:cs typeface="Nunito Sans" charset="0"/>
                      </a:endParaRPr>
                    </a:p>
                  </a:txBody>
                  <a:tcPr marL="53340" marR="53340" marT="53340" marB="53340">
                    <a:lnL w="12700" cap="flat" cmpd="sng" algn="ctr">
                      <a:solidFill>
                        <a:srgbClr val="BEC1C5"/>
                      </a:solidFill>
                      <a:prstDash val="solid"/>
                      <a:round/>
                      <a:headEnd type="none" w="med" len="med"/>
                      <a:tailEnd type="none" w="med" len="med"/>
                    </a:lnL>
                    <a:lnR w="12700" cap="flat" cmpd="sng" algn="ctr">
                      <a:solidFill>
                        <a:srgbClr val="BEC1C5"/>
                      </a:solidFill>
                      <a:prstDash val="solid"/>
                      <a:round/>
                      <a:headEnd type="none" w="med" len="med"/>
                      <a:tailEnd type="none" w="med" len="med"/>
                    </a:lnR>
                    <a:lnT w="12700" cap="flat" cmpd="sng" algn="ctr">
                      <a:solidFill>
                        <a:srgbClr val="C8C8C6"/>
                      </a:solidFill>
                      <a:prstDash val="solid"/>
                      <a:round/>
                      <a:headEnd type="none" w="med" len="med"/>
                      <a:tailEnd type="none" w="med" len="med"/>
                    </a:lnT>
                    <a:lnB w="12700" cap="flat" cmpd="sng" algn="ctr">
                      <a:solidFill>
                        <a:srgbClr val="BEC1C5"/>
                      </a:solidFill>
                      <a:prstDash val="solid"/>
                      <a:round/>
                      <a:headEnd type="none" w="med" len="med"/>
                      <a:tailEnd type="none" w="med" len="med"/>
                    </a:lnB>
                    <a:solidFill>
                      <a:srgbClr val="EEF2F7"/>
                    </a:solidFill>
                  </a:tcPr>
                </a:tc>
                <a:extLst>
                  <a:ext uri="{0D108BD9-81ED-4DB2-BD59-A6C34878D82A}">
                    <a16:rowId xmlns:a16="http://schemas.microsoft.com/office/drawing/2014/main" val="10006"/>
                  </a:ext>
                </a:extLst>
              </a:tr>
              <a:tr h="332647">
                <a:tc>
                  <a:txBody>
                    <a:bodyPr/>
                    <a:lstStyle/>
                    <a:p>
                      <a:pPr marL="0" indent="0">
                        <a:lnSpc>
                          <a:spcPts val="1680"/>
                        </a:lnSpc>
                        <a:buNone/>
                      </a:pPr>
                      <a:r>
                        <a:rPr lang="en-US" sz="1200" dirty="0">
                          <a:solidFill>
                            <a:srgbClr val="14213D"/>
                          </a:solidFill>
                          <a:latin typeface="Nunito Sans" pitchFamily="34" charset="0"/>
                          <a:ea typeface="Nunito Sans" pitchFamily="34" charset="-122"/>
                          <a:cs typeface="Nunito Sans" pitchFamily="34" charset="-120"/>
                        </a:rPr>
                        <a:t>First order only</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Returning customer applies WELCOME10</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tc>
                  <a:txBody>
                    <a:bodyPr/>
                    <a:lstStyle/>
                    <a:p>
                      <a:pPr marL="0" indent="0">
                        <a:lnSpc>
                          <a:spcPts val="1680"/>
                        </a:lnSpc>
                        <a:buNone/>
                      </a:pPr>
                      <a:r>
                        <a:rPr lang="en-US" sz="1200" dirty="0">
                          <a:solidFill>
                            <a:srgbClr val="3D4A5C"/>
                          </a:solidFill>
                          <a:latin typeface="Nunito Sans" pitchFamily="34" charset="0"/>
                          <a:ea typeface="Nunito Sans" pitchFamily="34" charset="-122"/>
                          <a:cs typeface="Nunito Sans" pitchFamily="34" charset="-120"/>
                        </a:rPr>
                        <a:t>“Valid only on your first order”</a:t>
                      </a:r>
                      <a:endParaRPr lang="en-US" sz="1200" dirty="0">
                        <a:latin typeface="Nunito Sans" charset="0"/>
                        <a:ea typeface="Nunito Sans" charset="0"/>
                        <a:cs typeface="Nunito Sans" charset="0"/>
                      </a:endParaRPr>
                    </a:p>
                  </a:txBody>
                  <a:tcPr marL="53340" marR="53340" marT="53340" marB="53340">
                    <a:lnL w="12700" cap="flat" cmpd="sng" algn="ctr">
                      <a:solidFill>
                        <a:srgbClr val="C8C8C6"/>
                      </a:solidFill>
                      <a:prstDash val="solid"/>
                      <a:round/>
                      <a:headEnd type="none" w="med" len="med"/>
                      <a:tailEnd type="none" w="med" len="med"/>
                    </a:lnL>
                    <a:lnR w="12700" cap="flat" cmpd="sng" algn="ctr">
                      <a:solidFill>
                        <a:srgbClr val="C8C8C6"/>
                      </a:solidFill>
                      <a:prstDash val="solid"/>
                      <a:round/>
                      <a:headEnd type="none" w="med" len="med"/>
                      <a:tailEnd type="none" w="med" len="med"/>
                    </a:lnR>
                    <a:lnT w="12700" cap="flat" cmpd="sng" algn="ctr">
                      <a:solidFill>
                        <a:srgbClr val="BEC1C5"/>
                      </a:solidFill>
                      <a:prstDash val="solid"/>
                      <a:round/>
                      <a:headEnd type="none" w="med" len="med"/>
                      <a:tailEnd type="none" w="med" len="med"/>
                    </a:lnT>
                    <a:lnB w="12700" cap="flat" cmpd="sng" algn="ctr">
                      <a:solidFill>
                        <a:srgbClr val="C8C8C6"/>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BF8"/>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MODEL ANSWER · 2 OF 2</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Boundaries, format and open questions</a:t>
            </a:r>
            <a:endParaRPr lang="en-US" sz="3200" dirty="0"/>
          </a:p>
        </p:txBody>
      </p:sp>
      <p:sp>
        <p:nvSpPr>
          <p:cNvPr id="4" name="Shape 2"/>
          <p:cNvSpPr/>
          <p:nvPr/>
        </p:nvSpPr>
        <p:spPr>
          <a:xfrm>
            <a:off x="812800" y="1803338"/>
            <a:ext cx="5181600" cy="1630561"/>
          </a:xfrm>
          <a:prstGeom prst="roundRect">
            <a:avLst>
              <a:gd name="adj" fmla="val 6231"/>
            </a:avLst>
          </a:prstGeom>
          <a:solidFill>
            <a:srgbClr val="EEF2F7"/>
          </a:solidFill>
          <a:ln/>
        </p:spPr>
      </p:sp>
      <p:sp>
        <p:nvSpPr>
          <p:cNvPr id="5" name="Text 3"/>
          <p:cNvSpPr/>
          <p:nvPr/>
        </p:nvSpPr>
        <p:spPr>
          <a:xfrm>
            <a:off x="1041400" y="2031938"/>
            <a:ext cx="486613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2B5C9E"/>
                </a:solidFill>
                <a:latin typeface="Nunito Sans" pitchFamily="34" charset="0"/>
                <a:ea typeface="Nunito Sans" pitchFamily="34" charset="-122"/>
                <a:cs typeface="Nunito Sans" pitchFamily="34" charset="-120"/>
              </a:rPr>
              <a:t>Checklist additions</a:t>
            </a:r>
            <a:endParaRPr lang="en-US" sz="1400" dirty="0"/>
          </a:p>
        </p:txBody>
      </p:sp>
      <p:pic>
        <p:nvPicPr>
          <p:cNvPr id="6" name="Image 0" descr="Check"/>
          <p:cNvPicPr>
            <a:picLocks noChangeAspect="1"/>
          </p:cNvPicPr>
          <p:nvPr/>
        </p:nvPicPr>
        <p:blipFill>
          <a:blip r:embed="rId3"/>
          <a:srcRect/>
          <a:stretch/>
        </p:blipFill>
        <p:spPr>
          <a:xfrm>
            <a:off x="1041400" y="2348111"/>
            <a:ext cx="203200" cy="203200"/>
          </a:xfrm>
          <a:prstGeom prst="rect">
            <a:avLst/>
          </a:prstGeom>
        </p:spPr>
      </p:pic>
      <p:sp>
        <p:nvSpPr>
          <p:cNvPr id="7" name="Text 4"/>
          <p:cNvSpPr/>
          <p:nvPr/>
        </p:nvSpPr>
        <p:spPr>
          <a:xfrm>
            <a:off x="1346200" y="2334158"/>
            <a:ext cx="4648200"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Nunito Sans" pitchFamily="34" charset="0"/>
                <a:ea typeface="Nunito Sans" pitchFamily="34" charset="-122"/>
                <a:cs typeface="Nunito Sans" pitchFamily="34" charset="-120"/>
              </a:rPr>
              <a:t>Codes of 5 or 11 characters rejected; 6 and 10 accepted</a:t>
            </a:r>
            <a:endParaRPr lang="en-US" sz="1300" dirty="0"/>
          </a:p>
        </p:txBody>
      </p:sp>
      <p:pic>
        <p:nvPicPr>
          <p:cNvPr id="8" name="Image 1" descr="Check"/>
          <p:cNvPicPr>
            <a:picLocks noChangeAspect="1"/>
          </p:cNvPicPr>
          <p:nvPr/>
        </p:nvPicPr>
        <p:blipFill>
          <a:blip r:embed="rId3"/>
          <a:srcRect/>
          <a:stretch/>
        </p:blipFill>
        <p:spPr>
          <a:xfrm>
            <a:off x="1041400" y="2668129"/>
            <a:ext cx="203200" cy="203200"/>
          </a:xfrm>
          <a:prstGeom prst="rect">
            <a:avLst/>
          </a:prstGeom>
        </p:spPr>
      </p:pic>
      <p:sp>
        <p:nvSpPr>
          <p:cNvPr id="9" name="Text 5"/>
          <p:cNvSpPr/>
          <p:nvPr/>
        </p:nvSpPr>
        <p:spPr>
          <a:xfrm>
            <a:off x="1346200" y="2654176"/>
            <a:ext cx="3477419"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Nunito Sans" pitchFamily="34" charset="0"/>
                <a:ea typeface="Nunito Sans" pitchFamily="34" charset="-122"/>
                <a:cs typeface="Nunito Sans" pitchFamily="34" charset="-120"/>
              </a:rPr>
              <a:t>Special characters (SAVE@20) rejected</a:t>
            </a:r>
            <a:endParaRPr lang="en-US" sz="1300" dirty="0"/>
          </a:p>
        </p:txBody>
      </p:sp>
      <p:pic>
        <p:nvPicPr>
          <p:cNvPr id="10" name="Image 2" descr="Check"/>
          <p:cNvPicPr>
            <a:picLocks noChangeAspect="1"/>
          </p:cNvPicPr>
          <p:nvPr/>
        </p:nvPicPr>
        <p:blipFill>
          <a:blip r:embed="rId3"/>
          <a:srcRect/>
          <a:stretch/>
        </p:blipFill>
        <p:spPr>
          <a:xfrm>
            <a:off x="1041400" y="2988146"/>
            <a:ext cx="203200" cy="203200"/>
          </a:xfrm>
          <a:prstGeom prst="rect">
            <a:avLst/>
          </a:prstGeom>
        </p:spPr>
      </p:pic>
      <p:sp>
        <p:nvSpPr>
          <p:cNvPr id="11" name="Text 6"/>
          <p:cNvSpPr/>
          <p:nvPr/>
        </p:nvSpPr>
        <p:spPr>
          <a:xfrm>
            <a:off x="1346200" y="2974181"/>
            <a:ext cx="4648200"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Nunito Sans" pitchFamily="34" charset="0"/>
                <a:ea typeface="Nunito Sans" pitchFamily="34" charset="-122"/>
                <a:cs typeface="Nunito Sans" pitchFamily="34" charset="-120"/>
              </a:rPr>
              <a:t>Discount shown as a separate line in the order summary</a:t>
            </a:r>
            <a:endParaRPr lang="en-US" sz="1300" dirty="0"/>
          </a:p>
        </p:txBody>
      </p:sp>
      <p:sp>
        <p:nvSpPr>
          <p:cNvPr id="12" name="Shape 7"/>
          <p:cNvSpPr/>
          <p:nvPr/>
        </p:nvSpPr>
        <p:spPr>
          <a:xfrm>
            <a:off x="6197600" y="1803338"/>
            <a:ext cx="5181600" cy="1541661"/>
          </a:xfrm>
          <a:prstGeom prst="roundRect">
            <a:avLst>
              <a:gd name="adj" fmla="val 6590"/>
            </a:avLst>
          </a:prstGeom>
          <a:solidFill>
            <a:srgbClr val="FBEBDD"/>
          </a:solidFill>
          <a:ln/>
        </p:spPr>
      </p:sp>
      <p:sp>
        <p:nvSpPr>
          <p:cNvPr id="13" name="Text 8"/>
          <p:cNvSpPr/>
          <p:nvPr/>
        </p:nvSpPr>
        <p:spPr>
          <a:xfrm>
            <a:off x="6426200" y="2031938"/>
            <a:ext cx="4866132" cy="238720"/>
          </a:xfrm>
          <a:prstGeom prst="rect">
            <a:avLst/>
          </a:prstGeom>
          <a:noFill/>
          <a:ln/>
        </p:spPr>
        <p:txBody>
          <a:bodyPr wrap="square" lIns="0" tIns="0" rIns="0" bIns="0" rtlCol="0" anchor="t">
            <a:normAutofit/>
          </a:bodyPr>
          <a:lstStyle/>
          <a:p>
            <a:pPr marL="0" indent="0" algn="l">
              <a:lnSpc>
                <a:spcPts val="1680"/>
              </a:lnSpc>
              <a:buNone/>
            </a:pPr>
            <a:r>
              <a:rPr lang="en-US" sz="1400" b="1" dirty="0">
                <a:solidFill>
                  <a:srgbClr val="A14F0A"/>
                </a:solidFill>
                <a:latin typeface="Nunito Sans" pitchFamily="34" charset="0"/>
                <a:ea typeface="Nunito Sans" pitchFamily="34" charset="-122"/>
                <a:cs typeface="Nunito Sans" pitchFamily="34" charset="-120"/>
              </a:rPr>
              <a:t>Questions for the product owner</a:t>
            </a:r>
            <a:endParaRPr lang="en-US" sz="1400" dirty="0"/>
          </a:p>
        </p:txBody>
      </p:sp>
      <p:pic>
        <p:nvPicPr>
          <p:cNvPr id="14" name="Image 3" descr="Chat"/>
          <p:cNvPicPr>
            <a:picLocks noChangeAspect="1"/>
          </p:cNvPicPr>
          <p:nvPr/>
        </p:nvPicPr>
        <p:blipFill>
          <a:blip r:embed="rId4"/>
          <a:srcRect/>
          <a:stretch/>
        </p:blipFill>
        <p:spPr>
          <a:xfrm>
            <a:off x="6426200" y="2348111"/>
            <a:ext cx="203200" cy="203200"/>
          </a:xfrm>
          <a:prstGeom prst="rect">
            <a:avLst/>
          </a:prstGeom>
        </p:spPr>
      </p:pic>
      <p:sp>
        <p:nvSpPr>
          <p:cNvPr id="15" name="Text 9"/>
          <p:cNvSpPr/>
          <p:nvPr/>
        </p:nvSpPr>
        <p:spPr>
          <a:xfrm>
            <a:off x="6731000" y="2334158"/>
            <a:ext cx="4164330" cy="256514"/>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Nunito Sans" pitchFamily="34" charset="0"/>
                <a:ea typeface="Nunito Sans" pitchFamily="34" charset="-122"/>
                <a:cs typeface="Nunito Sans" pitchFamily="34" charset="-120"/>
              </a:rPr>
              <a:t>Are codes case-insensitive? Is “save200” valid?</a:t>
            </a:r>
            <a:endParaRPr lang="en-US" sz="1300" dirty="0"/>
          </a:p>
        </p:txBody>
      </p:sp>
      <p:pic>
        <p:nvPicPr>
          <p:cNvPr id="16" name="Image 4" descr="Chat"/>
          <p:cNvPicPr>
            <a:picLocks noChangeAspect="1"/>
          </p:cNvPicPr>
          <p:nvPr/>
        </p:nvPicPr>
        <p:blipFill>
          <a:blip r:embed="rId5"/>
          <a:srcRect t="-955" b="-955"/>
          <a:stretch/>
        </p:blipFill>
        <p:spPr>
          <a:xfrm>
            <a:off x="6426200" y="2783681"/>
            <a:ext cx="124619" cy="203200"/>
          </a:xfrm>
          <a:prstGeom prst="rect">
            <a:avLst/>
          </a:prstGeom>
        </p:spPr>
      </p:pic>
      <p:sp>
        <p:nvSpPr>
          <p:cNvPr id="17" name="Text 10"/>
          <p:cNvSpPr/>
          <p:nvPr/>
        </p:nvSpPr>
        <p:spPr>
          <a:xfrm>
            <a:off x="6652419" y="2654176"/>
            <a:ext cx="4633127" cy="487627"/>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14213D"/>
                </a:solidFill>
                <a:latin typeface="Nunito Sans" pitchFamily="34" charset="0"/>
                <a:ea typeface="Nunito Sans" pitchFamily="34" charset="-122"/>
                <a:cs typeface="Nunito Sans" pitchFamily="34" charset="-120"/>
              </a:rPr>
              <a:t>If items are removed and the total drops below the minimum, is the coupon removed automatically?</a:t>
            </a:r>
            <a:endParaRPr lang="en-US" sz="1300" dirty="0"/>
          </a:p>
        </p:txBody>
      </p:sp>
      <p:sp>
        <p:nvSpPr>
          <p:cNvPr id="18" name="Text 11"/>
          <p:cNvSpPr/>
          <p:nvPr/>
        </p:nvSpPr>
        <p:spPr>
          <a:xfrm>
            <a:off x="812800" y="3687899"/>
            <a:ext cx="1088339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14213D"/>
                </a:solidFill>
                <a:latin typeface="Nunito Sans" pitchFamily="34" charset="0"/>
                <a:ea typeface="Nunito Sans" pitchFamily="34" charset="-122"/>
                <a:cs typeface="Nunito Sans" pitchFamily="34" charset="-120"/>
              </a:rPr>
              <a:t>Writing criteria exposes gaps in the requirements. That is shift-left in action.</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EF2F7"/>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A14F0A"/>
                </a:solidFill>
                <a:latin typeface="Nunito Sans" pitchFamily="34" charset="0"/>
                <a:ea typeface="Nunito Sans" pitchFamily="34" charset="-122"/>
                <a:cs typeface="Nunito Sans" pitchFamily="34" charset="-120"/>
              </a:rPr>
              <a:t>QUICK CHECK</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Domine" pitchFamily="18" charset="0"/>
                <a:ea typeface="Domine" pitchFamily="18" charset="-122"/>
                <a:cs typeface="Domine" pitchFamily="18" charset="-120"/>
              </a:rPr>
              <a:t>Four questions, one minute each</a:t>
            </a:r>
            <a:endParaRPr lang="en-US" sz="3200" dirty="0"/>
          </a:p>
        </p:txBody>
      </p:sp>
      <p:sp>
        <p:nvSpPr>
          <p:cNvPr id="4" name="Text 2"/>
          <p:cNvSpPr/>
          <p:nvPr/>
        </p:nvSpPr>
        <p:spPr>
          <a:xfrm>
            <a:off x="812800" y="1854138"/>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1</a:t>
            </a:r>
            <a:endParaRPr lang="en-US" sz="2000" dirty="0"/>
          </a:p>
        </p:txBody>
      </p:sp>
      <p:sp>
        <p:nvSpPr>
          <p:cNvPr id="5" name="Text 3"/>
          <p:cNvSpPr/>
          <p:nvPr/>
        </p:nvSpPr>
        <p:spPr>
          <a:xfrm>
            <a:off x="1422400" y="1909167"/>
            <a:ext cx="8500586"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In Given / When / Then, which part maps to the expected result of a test case?</a:t>
            </a:r>
            <a:endParaRPr lang="en-US" sz="1600" dirty="0"/>
          </a:p>
        </p:txBody>
      </p:sp>
      <p:sp>
        <p:nvSpPr>
          <p:cNvPr id="6" name="Text 4"/>
          <p:cNvSpPr/>
          <p:nvPr/>
        </p:nvSpPr>
        <p:spPr>
          <a:xfrm>
            <a:off x="812800" y="2387538"/>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2</a:t>
            </a:r>
            <a:endParaRPr lang="en-US" sz="2000" dirty="0"/>
          </a:p>
        </p:txBody>
      </p:sp>
      <p:sp>
        <p:nvSpPr>
          <p:cNvPr id="7" name="Text 5"/>
          <p:cNvSpPr/>
          <p:nvPr/>
        </p:nvSpPr>
        <p:spPr>
          <a:xfrm>
            <a:off x="1422400" y="2442567"/>
            <a:ext cx="8212138"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“All code must be peer reviewed”: acceptance criteria or Definition of Done?</a:t>
            </a:r>
            <a:endParaRPr lang="en-US" sz="1600" dirty="0"/>
          </a:p>
        </p:txBody>
      </p:sp>
      <p:sp>
        <p:nvSpPr>
          <p:cNvPr id="8" name="Text 6"/>
          <p:cNvSpPr/>
          <p:nvPr/>
        </p:nvSpPr>
        <p:spPr>
          <a:xfrm>
            <a:off x="812800" y="2920938"/>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3</a:t>
            </a:r>
            <a:endParaRPr lang="en-US" sz="2000" dirty="0"/>
          </a:p>
        </p:txBody>
      </p:sp>
      <p:sp>
        <p:nvSpPr>
          <p:cNvPr id="9" name="Text 7"/>
          <p:cNvSpPr/>
          <p:nvPr/>
        </p:nvSpPr>
        <p:spPr>
          <a:xfrm>
            <a:off x="1422400" y="2975967"/>
            <a:ext cx="6588284"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Name the four kinds of conditions good criteria should cover.</a:t>
            </a:r>
            <a:endParaRPr lang="en-US" sz="1600" dirty="0"/>
          </a:p>
        </p:txBody>
      </p:sp>
      <p:sp>
        <p:nvSpPr>
          <p:cNvPr id="10" name="Text 8"/>
          <p:cNvSpPr/>
          <p:nvPr/>
        </p:nvSpPr>
        <p:spPr>
          <a:xfrm>
            <a:off x="812800" y="3454338"/>
            <a:ext cx="457200" cy="381000"/>
          </a:xfrm>
          <a:prstGeom prst="rect">
            <a:avLst/>
          </a:prstGeom>
          <a:noFill/>
          <a:ln/>
        </p:spPr>
        <p:txBody>
          <a:bodyPr wrap="square" lIns="0" tIns="0" rIns="0" bIns="0" rtlCol="0" anchor="t">
            <a:normAutofit/>
          </a:bodyPr>
          <a:lstStyle/>
          <a:p>
            <a:pPr marL="0" indent="0" algn="l">
              <a:lnSpc>
                <a:spcPts val="2800"/>
              </a:lnSpc>
              <a:buNone/>
            </a:pPr>
            <a:r>
              <a:rPr lang="en-US" sz="2000" b="1" dirty="0">
                <a:solidFill>
                  <a:srgbClr val="A14F0A"/>
                </a:solidFill>
                <a:latin typeface="Domine" pitchFamily="18" charset="0"/>
                <a:ea typeface="Domine" pitchFamily="18" charset="-122"/>
                <a:cs typeface="Domine" pitchFamily="18" charset="-120"/>
              </a:rPr>
              <a:t>4</a:t>
            </a:r>
            <a:endParaRPr lang="en-US" sz="2000" dirty="0"/>
          </a:p>
        </p:txBody>
      </p:sp>
      <p:sp>
        <p:nvSpPr>
          <p:cNvPr id="11" name="Text 9"/>
          <p:cNvSpPr/>
          <p:nvPr/>
        </p:nvSpPr>
        <p:spPr>
          <a:xfrm>
            <a:off x="1422400" y="3509367"/>
            <a:ext cx="6500416" cy="309827"/>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3D4A5C"/>
                </a:solidFill>
                <a:latin typeface="Nunito Sans" pitchFamily="34" charset="0"/>
                <a:ea typeface="Nunito Sans" pitchFamily="34" charset="-122"/>
                <a:cs typeface="Nunito Sans" pitchFamily="34" charset="-120"/>
              </a:rPr>
              <a:t>Why might “Email not registered” be a risky error message?</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2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A04B"/>
                </a:solidFill>
                <a:latin typeface="Nunito Sans" pitchFamily="34" charset="0"/>
                <a:ea typeface="Nunito Sans" pitchFamily="34" charset="-122"/>
                <a:cs typeface="Nunito Sans" pitchFamily="34" charset="-120"/>
              </a:rPr>
              <a:t>KEY TAKEAWAYS</a:t>
            </a:r>
            <a:endParaRPr lang="en-US" sz="1200" dirty="0"/>
          </a:p>
        </p:txBody>
      </p:sp>
      <p:sp>
        <p:nvSpPr>
          <p:cNvPr id="3" name="Text 1"/>
          <p:cNvSpPr>
            <a:spLocks noGrp="1"/>
          </p:cNvSpPr>
          <p:nvPr>
            <p:ph type="title"/>
          </p:nvPr>
        </p:nvSpPr>
        <p:spPr>
          <a:xfrm>
            <a:off x="812800" y="1102320"/>
            <a:ext cx="10883392" cy="472414"/>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FBFBF8"/>
                </a:solidFill>
                <a:latin typeface="Domine" pitchFamily="18" charset="0"/>
                <a:ea typeface="Domine" pitchFamily="18" charset="-122"/>
                <a:cs typeface="Domine" pitchFamily="18" charset="-120"/>
              </a:rPr>
              <a:t>Criteria are the tester's </a:t>
            </a:r>
            <a:r>
              <a:rPr lang="en-US" sz="3200" b="1" i="0" dirty="0">
                <a:solidFill>
                  <a:srgbClr val="F0A04B"/>
                </a:solidFill>
                <a:latin typeface="Domine" pitchFamily="18" charset="0"/>
                <a:ea typeface="Domine" pitchFamily="18" charset="-122"/>
                <a:cs typeface="Domine" pitchFamily="18" charset="-120"/>
              </a:rPr>
              <a:t>primary input</a:t>
            </a:r>
            <a:endParaRPr lang="en-US" sz="3200" dirty="0"/>
          </a:p>
        </p:txBody>
      </p:sp>
      <p:pic>
        <p:nvPicPr>
          <p:cNvPr id="4" name="Image 0" descr="CheckCircle"/>
          <p:cNvPicPr>
            <a:picLocks noChangeAspect="1"/>
          </p:cNvPicPr>
          <p:nvPr/>
        </p:nvPicPr>
        <p:blipFill>
          <a:blip r:embed="rId3"/>
          <a:srcRect/>
          <a:stretch/>
        </p:blipFill>
        <p:spPr>
          <a:xfrm>
            <a:off x="812800" y="1860488"/>
            <a:ext cx="254000" cy="254000"/>
          </a:xfrm>
          <a:prstGeom prst="rect">
            <a:avLst/>
          </a:prstGeom>
        </p:spPr>
      </p:pic>
      <p:sp>
        <p:nvSpPr>
          <p:cNvPr id="5" name="Text 2"/>
          <p:cNvSpPr/>
          <p:nvPr/>
        </p:nvSpPr>
        <p:spPr>
          <a:xfrm>
            <a:off x="1219200" y="1854138"/>
            <a:ext cx="5840810"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CE4F0"/>
                </a:solidFill>
                <a:latin typeface="Nunito Sans" pitchFamily="34" charset="0"/>
                <a:ea typeface="Nunito Sans" pitchFamily="34" charset="-122"/>
                <a:cs typeface="Nunito Sans" pitchFamily="34" charset="-120"/>
              </a:rPr>
              <a:t>They define what must be true for a story to be accepted.</a:t>
            </a:r>
            <a:endParaRPr lang="en-US" sz="1500" dirty="0"/>
          </a:p>
        </p:txBody>
      </p:sp>
      <p:pic>
        <p:nvPicPr>
          <p:cNvPr id="6" name="Image 1" descr="CheckCircle"/>
          <p:cNvPicPr>
            <a:picLocks noChangeAspect="1"/>
          </p:cNvPicPr>
          <p:nvPr/>
        </p:nvPicPr>
        <p:blipFill>
          <a:blip r:embed="rId3"/>
          <a:srcRect/>
          <a:stretch/>
        </p:blipFill>
        <p:spPr>
          <a:xfrm>
            <a:off x="812800" y="2279588"/>
            <a:ext cx="254000" cy="254000"/>
          </a:xfrm>
          <a:prstGeom prst="rect">
            <a:avLst/>
          </a:prstGeom>
        </p:spPr>
      </p:pic>
      <p:sp>
        <p:nvSpPr>
          <p:cNvPr id="7" name="Text 3"/>
          <p:cNvSpPr/>
          <p:nvPr/>
        </p:nvSpPr>
        <p:spPr>
          <a:xfrm>
            <a:off x="1219200" y="2273238"/>
            <a:ext cx="6815138"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CE4F0"/>
                </a:solidFill>
                <a:latin typeface="Nunito Sans" pitchFamily="34" charset="0"/>
                <a:ea typeface="Nunito Sans" pitchFamily="34" charset="-122"/>
                <a:cs typeface="Nunito Sans" pitchFamily="34" charset="-120"/>
              </a:rPr>
              <a:t>Cover behaviour, business rules, boundaries, positive and negative.</a:t>
            </a:r>
            <a:endParaRPr lang="en-US" sz="1500" dirty="0"/>
          </a:p>
        </p:txBody>
      </p:sp>
      <p:pic>
        <p:nvPicPr>
          <p:cNvPr id="8" name="Image 2" descr="CheckCircle"/>
          <p:cNvPicPr>
            <a:picLocks noChangeAspect="1"/>
          </p:cNvPicPr>
          <p:nvPr/>
        </p:nvPicPr>
        <p:blipFill>
          <a:blip r:embed="rId3"/>
          <a:srcRect/>
          <a:stretch/>
        </p:blipFill>
        <p:spPr>
          <a:xfrm>
            <a:off x="812800" y="2698688"/>
            <a:ext cx="254000" cy="254000"/>
          </a:xfrm>
          <a:prstGeom prst="rect">
            <a:avLst/>
          </a:prstGeom>
        </p:spPr>
      </p:pic>
      <p:sp>
        <p:nvSpPr>
          <p:cNvPr id="9" name="Text 4"/>
          <p:cNvSpPr/>
          <p:nvPr/>
        </p:nvSpPr>
        <p:spPr>
          <a:xfrm>
            <a:off x="1219200" y="2692338"/>
            <a:ext cx="6344682"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CE4F0"/>
                </a:solidFill>
                <a:latin typeface="Nunito Sans" pitchFamily="34" charset="0"/>
                <a:ea typeface="Nunito Sans" pitchFamily="34" charset="-122"/>
                <a:cs typeface="Nunito Sans" pitchFamily="34" charset="-120"/>
              </a:rPr>
              <a:t>Given / When / Then = Preconditions / Steps / Expected result.</a:t>
            </a:r>
            <a:endParaRPr lang="en-US" sz="1500" dirty="0"/>
          </a:p>
        </p:txBody>
      </p:sp>
      <p:pic>
        <p:nvPicPr>
          <p:cNvPr id="10" name="Image 3" descr="CheckCircle"/>
          <p:cNvPicPr>
            <a:picLocks noChangeAspect="1"/>
          </p:cNvPicPr>
          <p:nvPr/>
        </p:nvPicPr>
        <p:blipFill>
          <a:blip r:embed="rId3"/>
          <a:srcRect/>
          <a:stretch/>
        </p:blipFill>
        <p:spPr>
          <a:xfrm>
            <a:off x="812800" y="3117788"/>
            <a:ext cx="254000" cy="254000"/>
          </a:xfrm>
          <a:prstGeom prst="rect">
            <a:avLst/>
          </a:prstGeom>
        </p:spPr>
      </p:pic>
      <p:sp>
        <p:nvSpPr>
          <p:cNvPr id="11" name="Text 5"/>
          <p:cNvSpPr/>
          <p:nvPr/>
        </p:nvSpPr>
        <p:spPr>
          <a:xfrm>
            <a:off x="1219200" y="3111438"/>
            <a:ext cx="6538357"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CE4F0"/>
                </a:solidFill>
                <a:latin typeface="Nunito Sans" pitchFamily="34" charset="0"/>
                <a:ea typeface="Nunito Sans" pitchFamily="34" charset="-122"/>
                <a:cs typeface="Nunito Sans" pitchFamily="34" charset="-120"/>
              </a:rPr>
              <a:t>Criteria are per story; the DoD applies to all. “Done” needs both.</a:t>
            </a:r>
            <a:endParaRPr lang="en-US" sz="1500" dirty="0"/>
          </a:p>
        </p:txBody>
      </p:sp>
      <p:pic>
        <p:nvPicPr>
          <p:cNvPr id="12" name="Image 4" descr="CheckCircle"/>
          <p:cNvPicPr>
            <a:picLocks noChangeAspect="1"/>
          </p:cNvPicPr>
          <p:nvPr/>
        </p:nvPicPr>
        <p:blipFill>
          <a:blip r:embed="rId3"/>
          <a:srcRect/>
          <a:stretch/>
        </p:blipFill>
        <p:spPr>
          <a:xfrm>
            <a:off x="812800" y="3536888"/>
            <a:ext cx="254000" cy="254000"/>
          </a:xfrm>
          <a:prstGeom prst="rect">
            <a:avLst/>
          </a:prstGeom>
        </p:spPr>
      </p:pic>
      <p:sp>
        <p:nvSpPr>
          <p:cNvPr id="13" name="Text 6"/>
          <p:cNvSpPr/>
          <p:nvPr/>
        </p:nvSpPr>
        <p:spPr>
          <a:xfrm>
            <a:off x="1219200" y="3530538"/>
            <a:ext cx="7416006" cy="292100"/>
          </a:xfrm>
          <a:prstGeom prst="rect">
            <a:avLst/>
          </a:prstGeom>
          <a:noFill/>
          <a:ln/>
        </p:spPr>
        <p:txBody>
          <a:bodyPr wrap="square" lIns="0" tIns="0" rIns="0" bIns="0" rtlCol="0" anchor="t">
            <a:normAutofit/>
          </a:bodyPr>
          <a:lstStyle/>
          <a:p>
            <a:pPr marL="0" indent="0" algn="l">
              <a:lnSpc>
                <a:spcPts val="2100"/>
              </a:lnSpc>
              <a:buNone/>
            </a:pPr>
            <a:r>
              <a:rPr lang="en-US" sz="1500" dirty="0">
                <a:solidFill>
                  <a:srgbClr val="DCE4F0"/>
                </a:solidFill>
                <a:latin typeface="Nunito Sans" pitchFamily="34" charset="0"/>
                <a:ea typeface="Nunito Sans" pitchFamily="34" charset="-122"/>
                <a:cs typeface="Nunito Sans" pitchFamily="34" charset="-120"/>
              </a:rPr>
              <a:t>Review and improve criteria before development. Don't just accept them.</a:t>
            </a:r>
            <a:endParaRPr lang="en-US" sz="1500" dirty="0"/>
          </a:p>
        </p:txBody>
      </p:sp>
      <p:sp>
        <p:nvSpPr>
          <p:cNvPr id="14" name="Text 7"/>
          <p:cNvSpPr/>
          <p:nvPr/>
        </p:nvSpPr>
        <p:spPr>
          <a:xfrm>
            <a:off x="812800" y="4102038"/>
            <a:ext cx="10883392" cy="274307"/>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C9D3E3"/>
                </a:solidFill>
                <a:latin typeface="Nunito Sans" pitchFamily="34" charset="0"/>
                <a:ea typeface="Nunito Sans" pitchFamily="34" charset="-122"/>
                <a:cs typeface="Nunito Sans" pitchFamily="34" charset="-120"/>
              </a:rPr>
              <a:t>Next: Unit 6, Test Scenarios: finding every situation that needs testing.</a:t>
            </a:r>
            <a:endParaRPr lang="en-US" sz="1400" dirty="0"/>
          </a:p>
        </p:txBody>
      </p:sp>
    </p:spTree>
  </p:cSld>
  <p:clrMapOvr>
    <a:masterClrMapping/>
  </p:clrMapOvr>
</p:sld>
</file>

<file path=ppt/theme/theme1.xml><?xml version="1.0" encoding="utf-8"?>
<a:theme xmlns:a="http://schemas.openxmlformats.org/drawingml/2006/main" name="Acceptance Criteria">
  <a:themeElements>
    <a:clrScheme name="Acceptance Criteria">
      <a:dk1>
        <a:srgbClr val="14213D"/>
      </a:dk1>
      <a:lt1>
        <a:srgbClr val="FBFBF8"/>
      </a:lt1>
      <a:dk2>
        <a:srgbClr val="4E586C"/>
      </a:dk2>
      <a:lt2>
        <a:srgbClr val="E4E5E5"/>
      </a:lt2>
      <a:accent1>
        <a:srgbClr val="A14F0A"/>
      </a:accent1>
      <a:accent2>
        <a:srgbClr val="2B5C9E"/>
      </a:accent2>
      <a:accent3>
        <a:srgbClr val="F0A04B"/>
      </a:accent3>
      <a:accent4>
        <a:srgbClr val="24345A"/>
      </a:accent4>
      <a:accent5>
        <a:srgbClr val="3D4A5C"/>
      </a:accent5>
      <a:accent6>
        <a:srgbClr val="DCE4F0"/>
      </a:accent6>
      <a:hlink>
        <a:srgbClr val="0563C1"/>
      </a:hlink>
      <a:folHlink>
        <a:srgbClr val="954F72"/>
      </a:folHlink>
    </a:clrScheme>
    <a:fontScheme name="Acceptance Criteria">
      <a:majorFont>
        <a:latin typeface="Domine"/>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unito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2538</Words>
  <Application>Microsoft Office PowerPoint</Application>
  <PresentationFormat>Widescreen</PresentationFormat>
  <Paragraphs>286</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Domine</vt:lpstr>
      <vt:lpstr>JetBrains Mono</vt:lpstr>
      <vt:lpstr>Nunito Sans</vt:lpstr>
      <vt:lpstr>Acceptance Criteria</vt:lpstr>
      <vt:lpstr>Acceptance Criteria</vt:lpstr>
      <vt:lpstr>What this unit covers:</vt:lpstr>
      <vt:lpstr>Specific, testable conditions a story must satisfy</vt:lpstr>
      <vt:lpstr>“Done” becomes verifiable</vt:lpstr>
      <vt:lpstr>Five kinds of content</vt:lpstr>
      <vt:lpstr>Given / When / Then</vt:lpstr>
      <vt:lpstr>The story and its criteria</vt:lpstr>
      <vt:lpstr>The link is sent, then expires</vt:lpstr>
      <vt:lpstr>Single use, and the password policy</vt:lpstr>
      <vt:lpstr>Question the criteria, don't just consume them</vt:lpstr>
      <vt:lpstr>The checklist</vt:lpstr>
      <vt:lpstr>Definition of Done vs. acceptance criteria</vt:lpstr>
      <vt:lpstr>Eight questions to ask about any criteria</vt:lpstr>
      <vt:lpstr>Common beginner mistakes</vt:lpstr>
      <vt:lpstr>Write criteria for a coupon story</vt:lpstr>
      <vt:lpstr>Seven scenarios for coupons</vt:lpstr>
      <vt:lpstr>Boundaries, format and open questions</vt:lpstr>
      <vt:lpstr>Four questions, one minute each</vt:lpstr>
      <vt:lpstr>Criteria are the tester's primary input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Acceptance Criteria</dc:title>
  <dc:subject/>
  <dc:creator/>
  <cp:lastModifiedBy>Saurabh Kamath</cp:lastModifiedBy>
  <cp:revision>4</cp:revision>
  <dcterms:created xsi:type="dcterms:W3CDTF">2026-10-06T17:16:33Z</dcterms:created>
  <dcterms:modified xsi:type="dcterms:W3CDTF">2026-10-06T18:21:55Z</dcterms:modified>
</cp:coreProperties>
</file>