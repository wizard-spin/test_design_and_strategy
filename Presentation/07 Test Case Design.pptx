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1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largest chapter in the module. Part A is about writing test cases: the fields, traceability, positive and negative cases. Part B is about seven test design techniques that tell us which few test cases matter most.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The first four are Part A, writing test cases. The fifth is Part B, the design techniques: equivalence partitioning, boundary value analysis, decision tables, state transition, pairwise, error guessing and exploratory testing. The sixth is the theme of the whole chapter.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brings everything together. Requirements become acceptance criteria, criteria become scenarios, and scenarios become test cases. When a test case fails, we get a defect, which is chapter eight. Strategy decides how deep we go, and estimation in chapter nine counts the test cases and the effort.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qualities of a good test case. Atomic is the one beginners break most often: if a test checks three things and fails, you do not know which one broke. Verifiable means the expected result is precise enough that two testers would always agree on pass or fail.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compact form is a good start, but it is too vague to run: which user, which password? Real projects add more fields and much more precision. The next two slides show the same test case written to industry standard. The ID convention, TC underscore module underscore number, is used for the rest of the course including the capstone.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test case written properly. Every field is concrete: a named, registered user, a stated login state, a stated browser, and exact data. Anyone on the team could set this up without asking a question.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action per step, each starting with a verb. The expected result lists three observable things, including something that should not happen: no error message. The last four fields are empty until the test is run.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Preconditions describe the world before step one. If setup is hidden inside the steps, nobody can tell a setup failure from a real defect. For test data, prepare it before you start, never use real customer data, and watch for data that is used up: a single-use coupon can be tested only once per setup.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result is where most test cases go wrong. If you copy it from what the system does today, you end up verifying bugs. Notice the good example has three parts: the message, the balance, and the fact that no transaction is created. What should not happen is just as important as what should.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what really happened, as facts. The good actual result tells a developer exactly what to look for. Five statuses cover every case. Blocked is different from Fail: the test could not even run. And there is no partial pass; if one of three expected results is wrong, the test case fails.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is the ability to link every test artefact back to its requirement and forward to its results and defects. Follow the chain: user story US-101, acceptance criterion one, scenario, test case, a failed result, and the defect raised from it. Four reasons it matters are below.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RTM is often just a spreadsheet. Each requirement or criterion gets a row; the columns trace it to scenarios, test cases, the latest result and any defects. Read it top to bottom: one pass, one fail with a bug, one blocked, and one requirement nobody has tested. Without the matrix, that gap usually goes unnoticed until production.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positive test proves the feature works. A negative test proves it fails safely: a clear error, and nothing that should not happen, such as no session being created. The next two slides show a full login set; count how many of the ten are negative.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003: an unregistered email must show the same generic message as a wrong password. That is the account enumeration point from chapter five, now turned into a concrete test case.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them: of the ten login test cases, eight are negative and only two are positive. 008 is a classic bug: the correct password on a locked account must still be refused. 009 and 010 are basic security checks every login page should have.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design techniques tell you which few values matter most: maximum defect-finding power with minimum test cases. We will see exactly which six values over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five are formal, structured techniques. The last two rely on tester experience and skill. We will take them in this order.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value in a class works or fails, the others probably will too. Three core test cases plus a few format checks replace 121. The decimal case is worth a question to the product owner: is 25.5 a valid age? The requirement does not say.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values: below, on and above each boundary. Orange are invalid and must be rejected; blue are valid and must be accepted. These are the six well-chosen values promised a few slides ago.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two techniques work together. A mid-range value like 35 goes straight through the faulty code. Only a test at exactly 18 exposes the greater-than that should be greater-than-or-equal. This is the clearest example of good design beating more test cases.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value analysis is not only for numeric fields. Any limit has edges: the length of a string, an expiry date, a time window, a quantity cap, a price threshold. Same pattern every time: just below, on, just above.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column is one rule, and each rule is one test case. The white rows are the conditions; the shaded rows are the resulting actions. Read R7: not premium, order under 999, valid coupon, so fifty rupees shipping plus ten percent off.</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the table forces you to consider every combination, and that often reveals a rule nobody wrote down. Here, the order of operations between the discount and the shipping threshold is undefined. Collapsing columns is an optimisation for later; start with the full table.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Objects move through states, and events cause transitions. The main path runs left to right. Cancelled can be reached from only two states. That restriction is exactly what we will test: valid transitions must work, and invalid ones must be blocked.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cases come from three places. First, each valid transition at least once. Second, each important invalid transition; these often expose serious bugs, like shipping an unpaid order. Third, full paths such as Created, Paid, Shipped, Delivered, Returned. Notice return on day eight: state transition and boundary value analysis working together.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defects come from a single parameter or from two parameters interacting. So we test a set in which every pair of values appears at least once. Check it: every browser and device pair appears, all six; every browser and user pair, all six; every device and user pair, all four. The savings grow quickly as parameters are added.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guessing uses experience and intuition to predict where developers commonly make mistakes. This checklist is a starting point; experienced testers build their own from the bugs they have seen. Inputs include emoji and scripts such as script alert one, and SQL such as OR one equals 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comes straight from the checklist: actions, browser navigation, and concurrency. Each one costs real money when it is missed in production: duplicate charges and overselling stock.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design the next test based on what you just learned. A session has a charter saying what to explore and why, a fixed time-box, and heuristics to guide the exploring. Notes record what you tried, what you found, questions and ideas for new scripted tests. The debrief shares bugs, risks and coverage with the team.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best used together. Scripted tests protect what you already know about; exploration finds what you did not anticipate. When exploration finds an important bug, write it up as a scripted test so it never comes back unnoticed.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checkout uses EP and BVA for quantities and amounts, decision tables for shipping and discount rules, state transitions for order status, pairwise for browsers, devices and payment methods, and error guessing for double clicks and the back button.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are about the expected result, the most important field. The middle three are about atomicity and data. The last two are about discipline and design: be honest about failures, and design well rather than writing more.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in total. Exercise one practises Part A; exercises two and three practise the techniques. For exercise three, build the table and identify the test cases. Model answers follow, one slide per exercise, with exercise one over two slides.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expected result: five observable effects, covering the message, both balances, both statements and the notification. The preconditions name exact balances so the arithmetic can be checked. Actual result and status are left empty, Not Executed.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negative pair to TC_TRF_001. The amount is one rupee over the balance: boundary value analysis inside a test case. And the expected result is mostly about what should not happen: no OTP, no balance change, no transaction.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boundary values plus a valid representative, a negative value and three format checks. Eleven test cases in all, and between them they cover practically every realistic defect in this field.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rules, so five test cases, one per column. The dash means the condition does not matter for that rule. R3 is the one to remember: many systems check the password first and let the user in, ignoring the lock.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Expected Result. 2. 7, 8, 9, 19, 20, 21. 3. Two to the power three, which is 8. 4. State transition testing. 5. It drastically reduces the number of combinations while still covering every pair of parameter values. 6. Fail. Log a defect.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theme of the chapter is in the title: good test design is more important than simply writing more test cases. Next, chapter eight: when a test case fails you have found a defect, and we will learn how to report it well and follow it from discovery to closure.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8885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7</a:t>
            </a:r>
            <a:endParaRPr lang="en-US" sz="1200" dirty="0"/>
          </a:p>
        </p:txBody>
      </p:sp>
      <p:sp>
        <p:nvSpPr>
          <p:cNvPr id="3" name="Text 1"/>
          <p:cNvSpPr>
            <a:spLocks noGrp="1"/>
          </p:cNvSpPr>
          <p:nvPr>
            <p:ph type="title"/>
          </p:nvPr>
        </p:nvSpPr>
        <p:spPr>
          <a:xfrm>
            <a:off x="812800" y="23558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Test Case Design</a:t>
            </a:r>
            <a:endParaRPr lang="en-US" sz="6400" dirty="0"/>
          </a:p>
        </p:txBody>
      </p:sp>
      <p:sp>
        <p:nvSpPr>
          <p:cNvPr id="4" name="Text 2"/>
          <p:cNvSpPr/>
          <p:nvPr/>
        </p:nvSpPr>
        <p:spPr>
          <a:xfrm>
            <a:off x="812800" y="3463264"/>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Writing test cases anyone can run, and choosing the few that find the most bugs</a:t>
            </a:r>
            <a:endParaRPr lang="en-US" sz="2000" dirty="0"/>
          </a:p>
        </p:txBody>
      </p:sp>
      <p:sp>
        <p:nvSpPr>
          <p:cNvPr id="5" name="Shape 3"/>
          <p:cNvSpPr/>
          <p:nvPr/>
        </p:nvSpPr>
        <p:spPr>
          <a:xfrm>
            <a:off x="812800" y="4428464"/>
            <a:ext cx="1016000" cy="38100"/>
          </a:xfrm>
          <a:prstGeom prst="roundRect">
            <a:avLst>
              <a:gd name="adj" fmla="val 50000"/>
            </a:avLst>
          </a:prstGeom>
          <a:solidFill>
            <a:srgbClr val="F0A04B"/>
          </a:solidFill>
          <a:ln/>
        </p:spPr>
      </p:sp>
      <p:sp>
        <p:nvSpPr>
          <p:cNvPr id="6" name="Text 4"/>
          <p:cNvSpPr/>
          <p:nvPr/>
        </p:nvSpPr>
        <p:spPr>
          <a:xfrm>
            <a:off x="812800" y="47205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60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854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21867"/>
            <a:ext cx="664614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Define a test case and describe each field of a standard test case.</a:t>
            </a:r>
            <a:endParaRPr lang="en-US" sz="1500" dirty="0"/>
          </a:p>
        </p:txBody>
      </p:sp>
      <p:sp>
        <p:nvSpPr>
          <p:cNvPr id="6" name="Text 4"/>
          <p:cNvSpPr/>
          <p:nvPr/>
        </p:nvSpPr>
        <p:spPr>
          <a:xfrm>
            <a:off x="812800" y="2362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29867"/>
            <a:ext cx="986218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Write clear positive and negative test cases with preconditions, data, steps and expected results.</a:t>
            </a:r>
            <a:endParaRPr lang="en-US" sz="1500" dirty="0"/>
          </a:p>
        </p:txBody>
      </p:sp>
      <p:sp>
        <p:nvSpPr>
          <p:cNvPr id="8" name="Text 6"/>
          <p:cNvSpPr/>
          <p:nvPr/>
        </p:nvSpPr>
        <p:spPr>
          <a:xfrm>
            <a:off x="812800" y="2870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37867"/>
            <a:ext cx="529851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Record actual results and pass / fail status correctly.</a:t>
            </a:r>
            <a:endParaRPr lang="en-US" sz="1500" dirty="0"/>
          </a:p>
        </p:txBody>
      </p:sp>
      <p:sp>
        <p:nvSpPr>
          <p:cNvPr id="10" name="Text 8"/>
          <p:cNvSpPr/>
          <p:nvPr/>
        </p:nvSpPr>
        <p:spPr>
          <a:xfrm>
            <a:off x="812800" y="3378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445867"/>
            <a:ext cx="507111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Build traceability from requirements to test cases.</a:t>
            </a:r>
            <a:endParaRPr lang="en-US" sz="1500" dirty="0"/>
          </a:p>
        </p:txBody>
      </p:sp>
      <p:sp>
        <p:nvSpPr>
          <p:cNvPr id="12" name="Text 10"/>
          <p:cNvSpPr/>
          <p:nvPr/>
        </p:nvSpPr>
        <p:spPr>
          <a:xfrm>
            <a:off x="812800" y="3886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3953867"/>
            <a:ext cx="905827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Apply seven test design techniques, from equivalence partitioning to exploratory testing.</a:t>
            </a:r>
            <a:endParaRPr lang="en-US" sz="1500" dirty="0"/>
          </a:p>
        </p:txBody>
      </p:sp>
      <p:sp>
        <p:nvSpPr>
          <p:cNvPr id="14" name="Text 12"/>
          <p:cNvSpPr/>
          <p:nvPr/>
        </p:nvSpPr>
        <p:spPr>
          <a:xfrm>
            <a:off x="812800" y="4394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6</a:t>
            </a:r>
            <a:endParaRPr lang="en-US" sz="2000" dirty="0"/>
          </a:p>
        </p:txBody>
      </p:sp>
      <p:sp>
        <p:nvSpPr>
          <p:cNvPr id="15" name="Text 13"/>
          <p:cNvSpPr/>
          <p:nvPr/>
        </p:nvSpPr>
        <p:spPr>
          <a:xfrm>
            <a:off x="1422400" y="4461867"/>
            <a:ext cx="746267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Explain why good test design matters more than writing more test cases.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WHERE THIS CHAPTER FITS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Everything so far flows into test cases</a:t>
            </a:r>
            <a:endParaRPr lang="en-US" sz="3200" dirty="0"/>
          </a:p>
        </p:txBody>
      </p:sp>
      <p:sp>
        <p:nvSpPr>
          <p:cNvPr id="4" name="Shape 2"/>
          <p:cNvSpPr/>
          <p:nvPr/>
        </p:nvSpPr>
        <p:spPr>
          <a:xfrm>
            <a:off x="812800" y="2029355"/>
            <a:ext cx="1706827" cy="792427"/>
          </a:xfrm>
          <a:prstGeom prst="roundRect">
            <a:avLst>
              <a:gd name="adj" fmla="val 9616"/>
            </a:avLst>
          </a:prstGeom>
          <a:solidFill>
            <a:srgbClr val="FBFBF8"/>
          </a:solidFill>
          <a:ln/>
        </p:spPr>
      </p:sp>
      <p:sp>
        <p:nvSpPr>
          <p:cNvPr id="5" name="Text 3"/>
          <p:cNvSpPr/>
          <p:nvPr/>
        </p:nvSpPr>
        <p:spPr>
          <a:xfrm>
            <a:off x="965200" y="2181755"/>
            <a:ext cx="145282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Ch 3–4</a:t>
            </a:r>
            <a:endParaRPr lang="en-US" sz="1200" dirty="0"/>
          </a:p>
        </p:txBody>
      </p:sp>
      <p:sp>
        <p:nvSpPr>
          <p:cNvPr id="6" name="Text 4"/>
          <p:cNvSpPr/>
          <p:nvPr/>
        </p:nvSpPr>
        <p:spPr>
          <a:xfrm>
            <a:off x="965200" y="2420476"/>
            <a:ext cx="145282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Use case / story</a:t>
            </a:r>
            <a:endParaRPr lang="en-US" sz="1400" dirty="0"/>
          </a:p>
        </p:txBody>
      </p:sp>
      <p:pic>
        <p:nvPicPr>
          <p:cNvPr id="7" name="Image 0" descr="arrow-right"/>
          <p:cNvPicPr>
            <a:picLocks noChangeAspect="1"/>
          </p:cNvPicPr>
          <p:nvPr/>
        </p:nvPicPr>
        <p:blipFill>
          <a:blip r:embed="rId3"/>
          <a:srcRect/>
          <a:stretch/>
        </p:blipFill>
        <p:spPr>
          <a:xfrm>
            <a:off x="2621227" y="2349368"/>
            <a:ext cx="304800" cy="152400"/>
          </a:xfrm>
          <a:prstGeom prst="rect">
            <a:avLst/>
          </a:prstGeom>
        </p:spPr>
      </p:pic>
      <p:sp>
        <p:nvSpPr>
          <p:cNvPr id="8" name="Shape 5"/>
          <p:cNvSpPr/>
          <p:nvPr/>
        </p:nvSpPr>
        <p:spPr>
          <a:xfrm>
            <a:off x="3027627" y="1904935"/>
            <a:ext cx="1706893" cy="1041334"/>
          </a:xfrm>
          <a:prstGeom prst="roundRect">
            <a:avLst>
              <a:gd name="adj" fmla="val 7318"/>
            </a:avLst>
          </a:prstGeom>
          <a:solidFill>
            <a:srgbClr val="FBFBF8"/>
          </a:solidFill>
          <a:ln/>
        </p:spPr>
      </p:sp>
      <p:sp>
        <p:nvSpPr>
          <p:cNvPr id="9" name="Text 6"/>
          <p:cNvSpPr/>
          <p:nvPr/>
        </p:nvSpPr>
        <p:spPr>
          <a:xfrm>
            <a:off x="3180027" y="2057335"/>
            <a:ext cx="145289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Ch 5</a:t>
            </a:r>
            <a:endParaRPr lang="en-US" sz="1200" dirty="0"/>
          </a:p>
        </p:txBody>
      </p:sp>
      <p:sp>
        <p:nvSpPr>
          <p:cNvPr id="10" name="Text 7"/>
          <p:cNvSpPr/>
          <p:nvPr/>
        </p:nvSpPr>
        <p:spPr>
          <a:xfrm>
            <a:off x="3180027" y="2296055"/>
            <a:ext cx="1452893"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Acceptance criteria</a:t>
            </a:r>
            <a:endParaRPr lang="en-US" sz="1400" dirty="0"/>
          </a:p>
        </p:txBody>
      </p:sp>
      <p:pic>
        <p:nvPicPr>
          <p:cNvPr id="11" name="Image 1" descr="arrow-right"/>
          <p:cNvPicPr>
            <a:picLocks noChangeAspect="1"/>
          </p:cNvPicPr>
          <p:nvPr/>
        </p:nvPicPr>
        <p:blipFill>
          <a:blip r:embed="rId3"/>
          <a:srcRect/>
          <a:stretch/>
        </p:blipFill>
        <p:spPr>
          <a:xfrm>
            <a:off x="4836120" y="2349368"/>
            <a:ext cx="304800" cy="152400"/>
          </a:xfrm>
          <a:prstGeom prst="rect">
            <a:avLst/>
          </a:prstGeom>
        </p:spPr>
      </p:pic>
      <p:sp>
        <p:nvSpPr>
          <p:cNvPr id="12" name="Shape 8"/>
          <p:cNvSpPr/>
          <p:nvPr/>
        </p:nvSpPr>
        <p:spPr>
          <a:xfrm>
            <a:off x="5242520" y="2029355"/>
            <a:ext cx="1706893" cy="792427"/>
          </a:xfrm>
          <a:prstGeom prst="roundRect">
            <a:avLst>
              <a:gd name="adj" fmla="val 9616"/>
            </a:avLst>
          </a:prstGeom>
          <a:solidFill>
            <a:srgbClr val="FBFBF8"/>
          </a:solidFill>
          <a:ln/>
        </p:spPr>
      </p:sp>
      <p:sp>
        <p:nvSpPr>
          <p:cNvPr id="13" name="Text 9"/>
          <p:cNvSpPr/>
          <p:nvPr/>
        </p:nvSpPr>
        <p:spPr>
          <a:xfrm>
            <a:off x="5394920" y="2181755"/>
            <a:ext cx="145289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Ch 6</a:t>
            </a:r>
            <a:endParaRPr lang="en-US" sz="1200" dirty="0"/>
          </a:p>
        </p:txBody>
      </p:sp>
      <p:sp>
        <p:nvSpPr>
          <p:cNvPr id="14" name="Text 10"/>
          <p:cNvSpPr/>
          <p:nvPr/>
        </p:nvSpPr>
        <p:spPr>
          <a:xfrm>
            <a:off x="5394920" y="2420476"/>
            <a:ext cx="1452893"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Test scenarios</a:t>
            </a:r>
            <a:endParaRPr lang="en-US" sz="1400" dirty="0"/>
          </a:p>
        </p:txBody>
      </p:sp>
      <p:pic>
        <p:nvPicPr>
          <p:cNvPr id="15" name="Image 2" descr="arrow-right"/>
          <p:cNvPicPr>
            <a:picLocks noChangeAspect="1"/>
          </p:cNvPicPr>
          <p:nvPr/>
        </p:nvPicPr>
        <p:blipFill>
          <a:blip r:embed="rId4"/>
          <a:srcRect/>
          <a:stretch/>
        </p:blipFill>
        <p:spPr>
          <a:xfrm>
            <a:off x="7051014" y="2349368"/>
            <a:ext cx="304800" cy="152400"/>
          </a:xfrm>
          <a:prstGeom prst="rect">
            <a:avLst/>
          </a:prstGeom>
        </p:spPr>
      </p:pic>
      <p:sp>
        <p:nvSpPr>
          <p:cNvPr id="16" name="Shape 11"/>
          <p:cNvSpPr/>
          <p:nvPr/>
        </p:nvSpPr>
        <p:spPr>
          <a:xfrm>
            <a:off x="7457414" y="2029355"/>
            <a:ext cx="1706893" cy="792427"/>
          </a:xfrm>
          <a:prstGeom prst="roundRect">
            <a:avLst>
              <a:gd name="adj" fmla="val 9616"/>
            </a:avLst>
          </a:prstGeom>
          <a:solidFill>
            <a:srgbClr val="14213D"/>
          </a:solidFill>
          <a:ln/>
        </p:spPr>
      </p:sp>
      <p:sp>
        <p:nvSpPr>
          <p:cNvPr id="17" name="Text 12"/>
          <p:cNvSpPr/>
          <p:nvPr/>
        </p:nvSpPr>
        <p:spPr>
          <a:xfrm>
            <a:off x="7609814" y="2181755"/>
            <a:ext cx="145289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4B"/>
                </a:solidFill>
                <a:latin typeface="Nunito Sans" pitchFamily="34" charset="0"/>
                <a:ea typeface="Nunito Sans" pitchFamily="34" charset="-122"/>
                <a:cs typeface="Nunito Sans" pitchFamily="34" charset="-120"/>
              </a:rPr>
              <a:t>Ch 7 · today</a:t>
            </a:r>
            <a:endParaRPr lang="en-US" sz="1200" dirty="0"/>
          </a:p>
        </p:txBody>
      </p:sp>
      <p:sp>
        <p:nvSpPr>
          <p:cNvPr id="18" name="Text 13"/>
          <p:cNvSpPr/>
          <p:nvPr/>
        </p:nvSpPr>
        <p:spPr>
          <a:xfrm>
            <a:off x="7609814" y="2420476"/>
            <a:ext cx="1452893"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BF8"/>
                </a:solidFill>
                <a:latin typeface="Nunito Sans" pitchFamily="34" charset="0"/>
                <a:ea typeface="Nunito Sans" pitchFamily="34" charset="-122"/>
                <a:cs typeface="Nunito Sans" pitchFamily="34" charset="-120"/>
              </a:rPr>
              <a:t>Test cases</a:t>
            </a:r>
            <a:endParaRPr lang="en-US" sz="1400" dirty="0"/>
          </a:p>
        </p:txBody>
      </p:sp>
      <p:pic>
        <p:nvPicPr>
          <p:cNvPr id="19" name="Image 3" descr="arrow-right"/>
          <p:cNvPicPr>
            <a:picLocks noChangeAspect="1"/>
          </p:cNvPicPr>
          <p:nvPr/>
        </p:nvPicPr>
        <p:blipFill>
          <a:blip r:embed="rId3"/>
          <a:srcRect/>
          <a:stretch/>
        </p:blipFill>
        <p:spPr>
          <a:xfrm>
            <a:off x="9265907" y="2349368"/>
            <a:ext cx="304800" cy="152400"/>
          </a:xfrm>
          <a:prstGeom prst="rect">
            <a:avLst/>
          </a:prstGeom>
        </p:spPr>
      </p:pic>
      <p:sp>
        <p:nvSpPr>
          <p:cNvPr id="20" name="Shape 14"/>
          <p:cNvSpPr/>
          <p:nvPr/>
        </p:nvSpPr>
        <p:spPr>
          <a:xfrm>
            <a:off x="9672307" y="2029355"/>
            <a:ext cx="1706893" cy="792427"/>
          </a:xfrm>
          <a:prstGeom prst="roundRect">
            <a:avLst>
              <a:gd name="adj" fmla="val 9616"/>
            </a:avLst>
          </a:prstGeom>
          <a:solidFill>
            <a:srgbClr val="FBFBF8"/>
          </a:solidFill>
          <a:ln/>
        </p:spPr>
      </p:sp>
      <p:sp>
        <p:nvSpPr>
          <p:cNvPr id="21" name="Text 15"/>
          <p:cNvSpPr/>
          <p:nvPr/>
        </p:nvSpPr>
        <p:spPr>
          <a:xfrm>
            <a:off x="9824707" y="2181755"/>
            <a:ext cx="145289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Ch 8</a:t>
            </a:r>
            <a:endParaRPr lang="en-US" sz="1200" dirty="0"/>
          </a:p>
        </p:txBody>
      </p:sp>
      <p:sp>
        <p:nvSpPr>
          <p:cNvPr id="22" name="Text 16"/>
          <p:cNvSpPr/>
          <p:nvPr/>
        </p:nvSpPr>
        <p:spPr>
          <a:xfrm>
            <a:off x="9824707" y="2420476"/>
            <a:ext cx="1452893"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Defects</a:t>
            </a:r>
            <a:endParaRPr lang="en-US" sz="1400" dirty="0"/>
          </a:p>
        </p:txBody>
      </p:sp>
      <p:sp>
        <p:nvSpPr>
          <p:cNvPr id="23" name="Text 17"/>
          <p:cNvSpPr/>
          <p:nvPr/>
        </p:nvSpPr>
        <p:spPr>
          <a:xfrm>
            <a:off x="812800" y="3301868"/>
            <a:ext cx="533704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Ch 2 Strategy</a:t>
            </a:r>
            <a:r>
              <a:rPr lang="en-US" sz="1300" dirty="0">
                <a:solidFill>
                  <a:srgbClr val="3D4A5C"/>
                </a:solidFill>
                <a:latin typeface="Nunito Sans" pitchFamily="34" charset="0"/>
                <a:ea typeface="Nunito Sans" pitchFamily="34" charset="-122"/>
                <a:cs typeface="Nunito Sans" pitchFamily="34" charset="-120"/>
              </a:rPr>
              <a:t> sets their priority and depth.</a:t>
            </a:r>
            <a:endParaRPr lang="en-US" sz="1300" dirty="0"/>
          </a:p>
        </p:txBody>
      </p:sp>
      <p:sp>
        <p:nvSpPr>
          <p:cNvPr id="24" name="Text 18"/>
          <p:cNvSpPr/>
          <p:nvPr/>
        </p:nvSpPr>
        <p:spPr>
          <a:xfrm>
            <a:off x="6197600" y="3301868"/>
            <a:ext cx="533704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Ch 9 Estimation</a:t>
            </a:r>
            <a:r>
              <a:rPr lang="en-US" sz="1300" dirty="0">
                <a:solidFill>
                  <a:srgbClr val="3D4A5C"/>
                </a:solidFill>
                <a:latin typeface="Nunito Sans" pitchFamily="34" charset="0"/>
                <a:ea typeface="Nunito Sans" pitchFamily="34" charset="-122"/>
                <a:cs typeface="Nunito Sans" pitchFamily="34" charset="-120"/>
              </a:rPr>
              <a:t> counts them and costs the effort.</a:t>
            </a:r>
            <a:endParaRPr lang="en-US" sz="1300" dirty="0"/>
          </a:p>
        </p:txBody>
      </p:sp>
      <p:sp>
        <p:nvSpPr>
          <p:cNvPr id="25" name="Shape 19"/>
          <p:cNvSpPr/>
          <p:nvPr/>
        </p:nvSpPr>
        <p:spPr>
          <a:xfrm>
            <a:off x="838200" y="3888581"/>
            <a:ext cx="0" cy="667941"/>
          </a:xfrm>
          <a:prstGeom prst="line">
            <a:avLst/>
          </a:prstGeom>
          <a:noFill/>
          <a:ln w="50800">
            <a:solidFill>
              <a:srgbClr val="A14F0A"/>
            </a:solidFill>
            <a:prstDash val="solid"/>
          </a:ln>
        </p:spPr>
      </p:sp>
      <p:sp>
        <p:nvSpPr>
          <p:cNvPr id="26" name="Text 20"/>
          <p:cNvSpPr/>
          <p:nvPr/>
        </p:nvSpPr>
        <p:spPr>
          <a:xfrm>
            <a:off x="1066800" y="3913981"/>
            <a:ext cx="10621772"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4213D"/>
                </a:solidFill>
                <a:latin typeface="Domine" pitchFamily="18" charset="0"/>
                <a:ea typeface="Domine" pitchFamily="18" charset="-122"/>
                <a:cs typeface="Domine" pitchFamily="18" charset="-120"/>
              </a:rPr>
              <a:t>A scenario says what to test. A test case says exactly how, precisely enough that anyone on the team gets the same result.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PART A · WHAT IS A TEST CASE?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One specific condition, fully documented</a:t>
            </a:r>
            <a:endParaRPr lang="en-US" sz="3200" dirty="0"/>
          </a:p>
        </p:txBody>
      </p:sp>
      <p:sp>
        <p:nvSpPr>
          <p:cNvPr id="4" name="Text 2"/>
          <p:cNvSpPr/>
          <p:nvPr/>
        </p:nvSpPr>
        <p:spPr>
          <a:xfrm>
            <a:off x="812800" y="1803335"/>
            <a:ext cx="1088339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A5C"/>
                </a:solidFill>
                <a:latin typeface="Nunito Sans" pitchFamily="34" charset="0"/>
                <a:ea typeface="Nunito Sans" pitchFamily="34" charset="-122"/>
                <a:cs typeface="Nunito Sans" pitchFamily="34" charset="-120"/>
              </a:rPr>
              <a:t>A documented set of </a:t>
            </a:r>
            <a:r>
              <a:rPr lang="en-US" sz="1500" b="1" dirty="0">
                <a:solidFill>
                  <a:srgbClr val="14213D"/>
                </a:solidFill>
                <a:latin typeface="Nunito Sans" pitchFamily="34" charset="0"/>
                <a:ea typeface="Nunito Sans" pitchFamily="34" charset="-122"/>
                <a:cs typeface="Nunito Sans" pitchFamily="34" charset="-120"/>
              </a:rPr>
              <a:t>preconditions, test data, steps and expected results</a:t>
            </a:r>
            <a:r>
              <a:rPr lang="en-US" sz="1500" dirty="0">
                <a:solidFill>
                  <a:srgbClr val="3D4A5C"/>
                </a:solidFill>
                <a:latin typeface="Nunito Sans" pitchFamily="34" charset="0"/>
                <a:ea typeface="Nunito Sans" pitchFamily="34" charset="-122"/>
                <a:cs typeface="Nunito Sans" pitchFamily="34" charset="-120"/>
              </a:rPr>
              <a:t>, written to verify one specific condition of the software.</a:t>
            </a:r>
            <a:endParaRPr lang="en-US" sz="1500" dirty="0"/>
          </a:p>
        </p:txBody>
      </p:sp>
      <p:sp>
        <p:nvSpPr>
          <p:cNvPr id="5" name="Shape 3"/>
          <p:cNvSpPr/>
          <p:nvPr/>
        </p:nvSpPr>
        <p:spPr>
          <a:xfrm>
            <a:off x="812800" y="2609785"/>
            <a:ext cx="3420533" cy="1061641"/>
          </a:xfrm>
          <a:prstGeom prst="roundRect">
            <a:avLst>
              <a:gd name="adj" fmla="val 8374"/>
            </a:avLst>
          </a:prstGeom>
          <a:solidFill>
            <a:srgbClr val="EEF2F7"/>
          </a:solidFill>
          <a:ln/>
        </p:spPr>
      </p:sp>
      <p:sp>
        <p:nvSpPr>
          <p:cNvPr id="6" name="Text 4"/>
          <p:cNvSpPr/>
          <p:nvPr/>
        </p:nvSpPr>
        <p:spPr>
          <a:xfrm>
            <a:off x="990600" y="2787585"/>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5C9E"/>
                </a:solidFill>
                <a:latin typeface="Nunito Sans" pitchFamily="34" charset="0"/>
                <a:ea typeface="Nunito Sans" pitchFamily="34" charset="-122"/>
                <a:cs typeface="Nunito Sans" pitchFamily="34" charset="-120"/>
              </a:rPr>
              <a:t>Clear</a:t>
            </a:r>
            <a:endParaRPr lang="en-US" sz="1500" dirty="0"/>
          </a:p>
        </p:txBody>
      </p:sp>
      <p:sp>
        <p:nvSpPr>
          <p:cNvPr id="7" name="Text 5"/>
          <p:cNvSpPr/>
          <p:nvPr/>
        </p:nvSpPr>
        <p:spPr>
          <a:xfrm>
            <a:off x="990600" y="3066985"/>
            <a:ext cx="31568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A new team member can run it without asking questions</a:t>
            </a:r>
            <a:endParaRPr lang="en-US" sz="1200" dirty="0"/>
          </a:p>
        </p:txBody>
      </p:sp>
      <p:sp>
        <p:nvSpPr>
          <p:cNvPr id="8" name="Shape 6"/>
          <p:cNvSpPr/>
          <p:nvPr/>
        </p:nvSpPr>
        <p:spPr>
          <a:xfrm>
            <a:off x="4385733" y="2609785"/>
            <a:ext cx="3420533" cy="1061641"/>
          </a:xfrm>
          <a:prstGeom prst="roundRect">
            <a:avLst>
              <a:gd name="adj" fmla="val 8374"/>
            </a:avLst>
          </a:prstGeom>
          <a:solidFill>
            <a:srgbClr val="EEF2F7"/>
          </a:solidFill>
          <a:ln/>
        </p:spPr>
      </p:sp>
      <p:sp>
        <p:nvSpPr>
          <p:cNvPr id="9" name="Text 7"/>
          <p:cNvSpPr/>
          <p:nvPr/>
        </p:nvSpPr>
        <p:spPr>
          <a:xfrm>
            <a:off x="4563533" y="2787585"/>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5C9E"/>
                </a:solidFill>
                <a:latin typeface="Nunito Sans" pitchFamily="34" charset="0"/>
                <a:ea typeface="Nunito Sans" pitchFamily="34" charset="-122"/>
                <a:cs typeface="Nunito Sans" pitchFamily="34" charset="-120"/>
              </a:rPr>
              <a:t>Atomic</a:t>
            </a:r>
            <a:endParaRPr lang="en-US" sz="1500" dirty="0"/>
          </a:p>
        </p:txBody>
      </p:sp>
      <p:sp>
        <p:nvSpPr>
          <p:cNvPr id="10" name="Text 8"/>
          <p:cNvSpPr/>
          <p:nvPr/>
        </p:nvSpPr>
        <p:spPr>
          <a:xfrm>
            <a:off x="4563533" y="3066985"/>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Verifies one condition: one reason to fail</a:t>
            </a:r>
            <a:endParaRPr lang="en-US" sz="1200" dirty="0"/>
          </a:p>
        </p:txBody>
      </p:sp>
      <p:sp>
        <p:nvSpPr>
          <p:cNvPr id="11" name="Shape 9"/>
          <p:cNvSpPr/>
          <p:nvPr/>
        </p:nvSpPr>
        <p:spPr>
          <a:xfrm>
            <a:off x="7958667" y="2609785"/>
            <a:ext cx="3420533" cy="1061641"/>
          </a:xfrm>
          <a:prstGeom prst="roundRect">
            <a:avLst>
              <a:gd name="adj" fmla="val 8374"/>
            </a:avLst>
          </a:prstGeom>
          <a:solidFill>
            <a:srgbClr val="EEF2F7"/>
          </a:solidFill>
          <a:ln/>
        </p:spPr>
      </p:sp>
      <p:sp>
        <p:nvSpPr>
          <p:cNvPr id="12" name="Text 10"/>
          <p:cNvSpPr/>
          <p:nvPr/>
        </p:nvSpPr>
        <p:spPr>
          <a:xfrm>
            <a:off x="8136467" y="2787585"/>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5C9E"/>
                </a:solidFill>
                <a:latin typeface="Nunito Sans" pitchFamily="34" charset="0"/>
                <a:ea typeface="Nunito Sans" pitchFamily="34" charset="-122"/>
                <a:cs typeface="Nunito Sans" pitchFamily="34" charset="-120"/>
              </a:rPr>
              <a:t>Repeatable</a:t>
            </a:r>
            <a:endParaRPr lang="en-US" sz="1500" dirty="0"/>
          </a:p>
        </p:txBody>
      </p:sp>
      <p:sp>
        <p:nvSpPr>
          <p:cNvPr id="13" name="Text 11"/>
          <p:cNvSpPr/>
          <p:nvPr/>
        </p:nvSpPr>
        <p:spPr>
          <a:xfrm>
            <a:off x="8136467" y="3066985"/>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Same input, same result, every time</a:t>
            </a:r>
            <a:endParaRPr lang="en-US" sz="1200" dirty="0"/>
          </a:p>
        </p:txBody>
      </p:sp>
      <p:sp>
        <p:nvSpPr>
          <p:cNvPr id="14" name="Shape 12"/>
          <p:cNvSpPr/>
          <p:nvPr/>
        </p:nvSpPr>
        <p:spPr>
          <a:xfrm>
            <a:off x="812800" y="3823826"/>
            <a:ext cx="3420533" cy="1061641"/>
          </a:xfrm>
          <a:prstGeom prst="roundRect">
            <a:avLst>
              <a:gd name="adj" fmla="val 8374"/>
            </a:avLst>
          </a:prstGeom>
          <a:solidFill>
            <a:srgbClr val="EEF2F7"/>
          </a:solidFill>
          <a:ln/>
        </p:spPr>
      </p:sp>
      <p:sp>
        <p:nvSpPr>
          <p:cNvPr id="15" name="Text 13"/>
          <p:cNvSpPr/>
          <p:nvPr/>
        </p:nvSpPr>
        <p:spPr>
          <a:xfrm>
            <a:off x="990600" y="4001626"/>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5C9E"/>
                </a:solidFill>
                <a:latin typeface="Nunito Sans" pitchFamily="34" charset="0"/>
                <a:ea typeface="Nunito Sans" pitchFamily="34" charset="-122"/>
                <a:cs typeface="Nunito Sans" pitchFamily="34" charset="-120"/>
              </a:rPr>
              <a:t>Traceable</a:t>
            </a:r>
            <a:endParaRPr lang="en-US" sz="1500" dirty="0"/>
          </a:p>
        </p:txBody>
      </p:sp>
      <p:sp>
        <p:nvSpPr>
          <p:cNvPr id="16" name="Text 14"/>
          <p:cNvSpPr/>
          <p:nvPr/>
        </p:nvSpPr>
        <p:spPr>
          <a:xfrm>
            <a:off x="990600" y="4281026"/>
            <a:ext cx="32427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Linked to a requirement, criterion or scenario</a:t>
            </a:r>
            <a:endParaRPr lang="en-US" sz="1200" dirty="0"/>
          </a:p>
        </p:txBody>
      </p:sp>
      <p:sp>
        <p:nvSpPr>
          <p:cNvPr id="17" name="Shape 15"/>
          <p:cNvSpPr/>
          <p:nvPr/>
        </p:nvSpPr>
        <p:spPr>
          <a:xfrm>
            <a:off x="4385733" y="3823826"/>
            <a:ext cx="3420533" cy="1061641"/>
          </a:xfrm>
          <a:prstGeom prst="roundRect">
            <a:avLst>
              <a:gd name="adj" fmla="val 8374"/>
            </a:avLst>
          </a:prstGeom>
          <a:solidFill>
            <a:srgbClr val="EEF2F7"/>
          </a:solidFill>
          <a:ln/>
        </p:spPr>
      </p:sp>
      <p:sp>
        <p:nvSpPr>
          <p:cNvPr id="18" name="Text 16"/>
          <p:cNvSpPr/>
          <p:nvPr/>
        </p:nvSpPr>
        <p:spPr>
          <a:xfrm>
            <a:off x="4563533" y="4001626"/>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5C9E"/>
                </a:solidFill>
                <a:latin typeface="Nunito Sans" pitchFamily="34" charset="0"/>
                <a:ea typeface="Nunito Sans" pitchFamily="34" charset="-122"/>
                <a:cs typeface="Nunito Sans" pitchFamily="34" charset="-120"/>
              </a:rPr>
              <a:t>Independent</a:t>
            </a:r>
            <a:endParaRPr lang="en-US" sz="1500" dirty="0"/>
          </a:p>
        </p:txBody>
      </p:sp>
      <p:sp>
        <p:nvSpPr>
          <p:cNvPr id="19" name="Text 17"/>
          <p:cNvSpPr/>
          <p:nvPr/>
        </p:nvSpPr>
        <p:spPr>
          <a:xfrm>
            <a:off x="4563533" y="4281026"/>
            <a:ext cx="31568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Doesn't rely on another test running first, where possible</a:t>
            </a:r>
            <a:endParaRPr lang="en-US" sz="1200" dirty="0"/>
          </a:p>
        </p:txBody>
      </p:sp>
      <p:sp>
        <p:nvSpPr>
          <p:cNvPr id="20" name="Shape 18"/>
          <p:cNvSpPr/>
          <p:nvPr/>
        </p:nvSpPr>
        <p:spPr>
          <a:xfrm>
            <a:off x="7958667" y="3823826"/>
            <a:ext cx="3420533" cy="1061641"/>
          </a:xfrm>
          <a:prstGeom prst="roundRect">
            <a:avLst>
              <a:gd name="adj" fmla="val 8374"/>
            </a:avLst>
          </a:prstGeom>
          <a:solidFill>
            <a:srgbClr val="FBEBDD"/>
          </a:solidFill>
          <a:ln/>
        </p:spPr>
      </p:sp>
      <p:sp>
        <p:nvSpPr>
          <p:cNvPr id="21" name="Text 19"/>
          <p:cNvSpPr/>
          <p:nvPr/>
        </p:nvSpPr>
        <p:spPr>
          <a:xfrm>
            <a:off x="8136467" y="4001626"/>
            <a:ext cx="31568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A14F0A"/>
                </a:solidFill>
                <a:latin typeface="Nunito Sans" pitchFamily="34" charset="0"/>
                <a:ea typeface="Nunito Sans" pitchFamily="34" charset="-122"/>
                <a:cs typeface="Nunito Sans" pitchFamily="34" charset="-120"/>
              </a:rPr>
              <a:t>Verifiable</a:t>
            </a:r>
            <a:endParaRPr lang="en-US" sz="1500" dirty="0"/>
          </a:p>
        </p:txBody>
      </p:sp>
      <p:sp>
        <p:nvSpPr>
          <p:cNvPr id="22" name="Text 20"/>
          <p:cNvSpPr/>
          <p:nvPr/>
        </p:nvSpPr>
        <p:spPr>
          <a:xfrm>
            <a:off x="8136467" y="4281026"/>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Pass or fail is objective, not opinion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TEST CASE STRUCTURE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Eight fields to start with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5869914" cy="3233738"/>
        </p:xfrm>
        <a:graphic>
          <a:graphicData uri="http://schemas.openxmlformats.org/drawingml/2006/table">
            <a:tbl>
              <a:tblPr/>
              <a:tblGrid>
                <a:gridCol w="2230567">
                  <a:extLst>
                    <a:ext uri="{9D8B030D-6E8A-4147-A177-3AD203B41FA5}">
                      <a16:colId xmlns:a16="http://schemas.microsoft.com/office/drawing/2014/main" val="20000"/>
                    </a:ext>
                  </a:extLst>
                </a:gridCol>
                <a:gridCol w="3639347">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Field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Example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Case 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TC_LOGIN_001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Scenario</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Valid login</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Preconditions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Registered user exists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Data</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Valid username / password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Steps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Enter credentials → Click Login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Expected Result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User reaches dashboard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Actual Result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(filled during execution)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Status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Not Executed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
        <p:nvSpPr>
          <p:cNvPr id="5" name="Shape 2"/>
          <p:cNvSpPr/>
          <p:nvPr/>
        </p:nvSpPr>
        <p:spPr>
          <a:xfrm>
            <a:off x="7000214" y="1803335"/>
            <a:ext cx="4378987" cy="2273300"/>
          </a:xfrm>
          <a:prstGeom prst="roundRect">
            <a:avLst>
              <a:gd name="adj" fmla="val 4469"/>
            </a:avLst>
          </a:prstGeom>
          <a:solidFill>
            <a:srgbClr val="FBEBDD"/>
          </a:solidFill>
          <a:ln/>
        </p:spPr>
      </p:sp>
      <p:sp>
        <p:nvSpPr>
          <p:cNvPr id="6" name="Text 3"/>
          <p:cNvSpPr/>
          <p:nvPr/>
        </p:nvSpPr>
        <p:spPr>
          <a:xfrm>
            <a:off x="7228814" y="2031935"/>
            <a:ext cx="40394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A14F0A"/>
                </a:solidFill>
                <a:latin typeface="Nunito Sans" pitchFamily="34" charset="0"/>
                <a:ea typeface="Nunito Sans" pitchFamily="34" charset="-122"/>
                <a:cs typeface="Nunito Sans" pitchFamily="34" charset="-120"/>
              </a:rPr>
              <a:t>Real projects add</a:t>
            </a:r>
            <a:endParaRPr lang="en-US" sz="1500" dirty="0"/>
          </a:p>
        </p:txBody>
      </p:sp>
      <p:sp>
        <p:nvSpPr>
          <p:cNvPr id="7" name="Text 4"/>
          <p:cNvSpPr/>
          <p:nvPr/>
        </p:nvSpPr>
        <p:spPr>
          <a:xfrm>
            <a:off x="7320508" y="2362135"/>
            <a:ext cx="3940126" cy="151130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14213D"/>
                </a:solidFill>
                <a:latin typeface="Nunito Sans" pitchFamily="34" charset="0"/>
                <a:ea typeface="Nunito Sans" pitchFamily="34" charset="-122"/>
                <a:cs typeface="Nunito Sans" pitchFamily="34" charset="-120"/>
              </a:rPr>
              <a:t>Title</a:t>
            </a:r>
            <a:endParaRPr lang="en-US" sz="1300" dirty="0"/>
          </a:p>
          <a:p>
            <a:pPr marL="162306" indent="-162306" algn="l">
              <a:lnSpc>
                <a:spcPts val="1950"/>
              </a:lnSpc>
              <a:buSzPct val="100000"/>
              <a:buChar char="•"/>
            </a:pPr>
            <a:r>
              <a:rPr lang="en-US" sz="1300" dirty="0">
                <a:solidFill>
                  <a:srgbClr val="14213D"/>
                </a:solidFill>
                <a:latin typeface="Nunito Sans" pitchFamily="34" charset="0"/>
                <a:ea typeface="Nunito Sans" pitchFamily="34" charset="-122"/>
                <a:cs typeface="Nunito Sans" pitchFamily="34" charset="-120"/>
              </a:rPr>
              <a:t>Requirement / AC</a:t>
            </a:r>
            <a:endParaRPr lang="en-US" sz="1300" dirty="0"/>
          </a:p>
          <a:p>
            <a:pPr marL="162306" indent="-162306" algn="l">
              <a:lnSpc>
                <a:spcPts val="1950"/>
              </a:lnSpc>
              <a:buSzPct val="100000"/>
              <a:buChar char="•"/>
            </a:pPr>
            <a:r>
              <a:rPr lang="en-US" sz="1300" dirty="0">
                <a:solidFill>
                  <a:srgbClr val="14213D"/>
                </a:solidFill>
                <a:latin typeface="Nunito Sans" pitchFamily="34" charset="0"/>
                <a:ea typeface="Nunito Sans" pitchFamily="34" charset="-122"/>
                <a:cs typeface="Nunito Sans" pitchFamily="34" charset="-120"/>
              </a:rPr>
              <a:t>Scenario ID</a:t>
            </a:r>
            <a:endParaRPr lang="en-US" sz="1300" dirty="0"/>
          </a:p>
          <a:p>
            <a:pPr marL="162306" indent="-162306" algn="l">
              <a:lnSpc>
                <a:spcPts val="1950"/>
              </a:lnSpc>
              <a:buSzPct val="100000"/>
              <a:buChar char="•"/>
            </a:pPr>
            <a:r>
              <a:rPr lang="en-US" sz="1300" dirty="0">
                <a:solidFill>
                  <a:srgbClr val="14213D"/>
                </a:solidFill>
                <a:latin typeface="Nunito Sans" pitchFamily="34" charset="0"/>
                <a:ea typeface="Nunito Sans" pitchFamily="34" charset="-122"/>
                <a:cs typeface="Nunito Sans" pitchFamily="34" charset="-120"/>
              </a:rPr>
              <a:t>Priority and type</a:t>
            </a:r>
            <a:endParaRPr lang="en-US" sz="1300" dirty="0"/>
          </a:p>
          <a:p>
            <a:pPr marL="162306" indent="-162306" algn="l">
              <a:lnSpc>
                <a:spcPts val="1950"/>
              </a:lnSpc>
              <a:buSzPct val="100000"/>
              <a:buChar char="•"/>
            </a:pPr>
            <a:r>
              <a:rPr lang="en-US" sz="1300" dirty="0">
                <a:solidFill>
                  <a:srgbClr val="14213D"/>
                </a:solidFill>
                <a:latin typeface="Nunito Sans" pitchFamily="34" charset="0"/>
                <a:ea typeface="Nunito Sans" pitchFamily="34" charset="-122"/>
                <a:cs typeface="Nunito Sans" pitchFamily="34" charset="-120"/>
              </a:rPr>
              <a:t>Executed by / date</a:t>
            </a:r>
            <a:endParaRPr lang="en-US" sz="1300" dirty="0"/>
          </a:p>
          <a:p>
            <a:pPr marL="162306" indent="-162306" algn="l">
              <a:lnSpc>
                <a:spcPts val="1950"/>
              </a:lnSpc>
              <a:buSzPct val="100000"/>
              <a:buChar char="•"/>
            </a:pPr>
            <a:r>
              <a:rPr lang="en-US" sz="1300" dirty="0">
                <a:solidFill>
                  <a:srgbClr val="14213D"/>
                </a:solidFill>
                <a:latin typeface="Nunito Sans" pitchFamily="34" charset="0"/>
                <a:ea typeface="Nunito Sans" pitchFamily="34" charset="-122"/>
                <a:cs typeface="Nunito Sans" pitchFamily="34" charset="-120"/>
              </a:rPr>
              <a:t>Defect ID (if failed)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INDUSTRY STANDARD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Identity, setup and data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2874433"/>
        </p:xfrm>
        <a:graphic>
          <a:graphicData uri="http://schemas.openxmlformats.org/drawingml/2006/table">
            <a:tbl>
              <a:tblPr/>
              <a:tblGrid>
                <a:gridCol w="2532888">
                  <a:extLst>
                    <a:ext uri="{9D8B030D-6E8A-4147-A177-3AD203B41FA5}">
                      <a16:colId xmlns:a16="http://schemas.microsoft.com/office/drawing/2014/main" val="20000"/>
                    </a:ext>
                  </a:extLst>
                </a:gridCol>
                <a:gridCol w="8020812">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Field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Value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Case 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TC_LOGIN_001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Title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Verify successful login with valid email and password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Requirement / AC</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US-101 / AC1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Scenario 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TS_LOGIN_01: Valid login</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Priority · Type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P1 (High) · Functional, Positive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Preconditions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 User asha@example.com is registered and active. 2. User is logged out. 3. Browser: Chrome (latest).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Data</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Email: asha@example.com · Password: Shop@1234</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INDUSTRY STANDARD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Steps, expected result and execution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2746243"/>
        </p:xfrm>
        <a:graphic>
          <a:graphicData uri="http://schemas.openxmlformats.org/drawingml/2006/table">
            <a:tbl>
              <a:tblPr/>
              <a:tblGrid>
                <a:gridCol w="2532888">
                  <a:extLst>
                    <a:ext uri="{9D8B030D-6E8A-4147-A177-3AD203B41FA5}">
                      <a16:colId xmlns:a16="http://schemas.microsoft.com/office/drawing/2014/main" val="20000"/>
                    </a:ext>
                  </a:extLst>
                </a:gridCol>
                <a:gridCol w="8020812">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Field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Value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Steps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 Open https://qa.shopeasy.com/login · 2. Enter email asha@example.com · 3. Enter password Shop@1234 · 4. Click Login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Expected Result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 User is redirected to /dashboard. 2. Header shows “Hi, Asha”. 3. No error message is displayed.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Actual Result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(filled during execution)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Status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Not Executed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Executed By / Date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(filled during execution)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Defect 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(if failed)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FIELD BY FIELD · 1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Preconditions and test data</a:t>
            </a:r>
            <a:endParaRPr lang="en-US" sz="3200" dirty="0"/>
          </a:p>
        </p:txBody>
      </p:sp>
      <p:sp>
        <p:nvSpPr>
          <p:cNvPr id="4" name="Shape 2"/>
          <p:cNvSpPr/>
          <p:nvPr/>
        </p:nvSpPr>
        <p:spPr>
          <a:xfrm>
            <a:off x="812800" y="1803335"/>
            <a:ext cx="5181600" cy="2514997"/>
          </a:xfrm>
          <a:prstGeom prst="roundRect">
            <a:avLst>
              <a:gd name="adj" fmla="val 4040"/>
            </a:avLst>
          </a:prstGeom>
          <a:solidFill>
            <a:srgbClr val="EEF2F7"/>
          </a:solidFill>
          <a:ln/>
        </p:spPr>
      </p:sp>
      <p:sp>
        <p:nvSpPr>
          <p:cNvPr id="5" name="Text 3"/>
          <p:cNvSpPr/>
          <p:nvPr/>
        </p:nvSpPr>
        <p:spPr>
          <a:xfrm>
            <a:off x="1041400" y="2031935"/>
            <a:ext cx="486613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Preconditions</a:t>
            </a:r>
            <a:endParaRPr lang="en-US" sz="1600" dirty="0"/>
          </a:p>
        </p:txBody>
      </p:sp>
      <p:sp>
        <p:nvSpPr>
          <p:cNvPr id="6" name="Text 4"/>
          <p:cNvSpPr/>
          <p:nvPr/>
        </p:nvSpPr>
        <p:spPr>
          <a:xfrm>
            <a:off x="1041400" y="2402749"/>
            <a:ext cx="4866132"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What must be true before step 1: accounts, data, configuration, environment, login state.</a:t>
            </a:r>
            <a:endParaRPr lang="en-US" sz="1300" dirty="0"/>
          </a:p>
        </p:txBody>
      </p:sp>
      <p:pic>
        <p:nvPicPr>
          <p:cNvPr id="7" name="Image 0" descr="Check"/>
          <p:cNvPicPr>
            <a:picLocks noChangeAspect="1"/>
          </p:cNvPicPr>
          <p:nvPr/>
        </p:nvPicPr>
        <p:blipFill>
          <a:blip r:embed="rId3"/>
          <a:srcRect l="-122" r="-122"/>
          <a:stretch/>
        </p:blipFill>
        <p:spPr>
          <a:xfrm>
            <a:off x="1041400" y="3008511"/>
            <a:ext cx="190963" cy="203200"/>
          </a:xfrm>
          <a:prstGeom prst="rect">
            <a:avLst/>
          </a:prstGeom>
        </p:spPr>
      </p:pic>
      <p:sp>
        <p:nvSpPr>
          <p:cNvPr id="8" name="Text 5"/>
          <p:cNvSpPr/>
          <p:nvPr/>
        </p:nvSpPr>
        <p:spPr>
          <a:xfrm>
            <a:off x="1333963" y="3008511"/>
            <a:ext cx="456479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Good:</a:t>
            </a:r>
            <a:r>
              <a:rPr lang="en-US" sz="1200" dirty="0">
                <a:solidFill>
                  <a:srgbClr val="14213D"/>
                </a:solidFill>
                <a:latin typeface="Nunito Sans" pitchFamily="34" charset="0"/>
                <a:ea typeface="Nunito Sans" pitchFamily="34" charset="-122"/>
                <a:cs typeface="Nunito Sans" pitchFamily="34" charset="-120"/>
              </a:rPr>
              <a:t> “User has 2 items in cart; card 4111…1111 is a valid test card.”</a:t>
            </a:r>
            <a:endParaRPr lang="en-US" sz="1200" dirty="0"/>
          </a:p>
        </p:txBody>
      </p:sp>
      <p:pic>
        <p:nvPicPr>
          <p:cNvPr id="9" name="Image 1" descr="Warning"/>
          <p:cNvPicPr>
            <a:picLocks noChangeAspect="1"/>
          </p:cNvPicPr>
          <p:nvPr/>
        </p:nvPicPr>
        <p:blipFill>
          <a:blip r:embed="rId4"/>
          <a:srcRect/>
          <a:stretch/>
        </p:blipFill>
        <p:spPr>
          <a:xfrm>
            <a:off x="1041400" y="3562152"/>
            <a:ext cx="203200" cy="203200"/>
          </a:xfrm>
          <a:prstGeom prst="rect">
            <a:avLst/>
          </a:prstGeom>
        </p:spPr>
      </p:pic>
      <p:sp>
        <p:nvSpPr>
          <p:cNvPr id="10" name="Text 6"/>
          <p:cNvSpPr/>
          <p:nvPr/>
        </p:nvSpPr>
        <p:spPr>
          <a:xfrm>
            <a:off x="1346200" y="3562152"/>
            <a:ext cx="381952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Poor:</a:t>
            </a:r>
            <a:r>
              <a:rPr lang="en-US" sz="1200" dirty="0">
                <a:solidFill>
                  <a:srgbClr val="14213D"/>
                </a:solidFill>
                <a:latin typeface="Nunito Sans" pitchFamily="34" charset="0"/>
                <a:ea typeface="Nunito Sans" pitchFamily="34" charset="-122"/>
                <a:cs typeface="Nunito Sans" pitchFamily="34" charset="-120"/>
              </a:rPr>
              <a:t> setup hidden inside the steps, or left out.</a:t>
            </a:r>
            <a:endParaRPr lang="en-US" sz="1200" dirty="0"/>
          </a:p>
        </p:txBody>
      </p:sp>
      <p:sp>
        <p:nvSpPr>
          <p:cNvPr id="11" name="Shape 7"/>
          <p:cNvSpPr/>
          <p:nvPr/>
        </p:nvSpPr>
        <p:spPr>
          <a:xfrm>
            <a:off x="6197600" y="1803335"/>
            <a:ext cx="5181600" cy="2514997"/>
          </a:xfrm>
          <a:prstGeom prst="roundRect">
            <a:avLst>
              <a:gd name="adj" fmla="val 4040"/>
            </a:avLst>
          </a:prstGeom>
          <a:solidFill>
            <a:srgbClr val="EEF2F7"/>
          </a:solidFill>
          <a:ln/>
        </p:spPr>
      </p:sp>
      <p:sp>
        <p:nvSpPr>
          <p:cNvPr id="12" name="Text 8"/>
          <p:cNvSpPr/>
          <p:nvPr/>
        </p:nvSpPr>
        <p:spPr>
          <a:xfrm>
            <a:off x="6426200" y="2031935"/>
            <a:ext cx="486613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Test data</a:t>
            </a:r>
            <a:endParaRPr lang="en-US" sz="1600" dirty="0"/>
          </a:p>
        </p:txBody>
      </p:sp>
      <p:sp>
        <p:nvSpPr>
          <p:cNvPr id="13" name="Text 9"/>
          <p:cNvSpPr/>
          <p:nvPr/>
        </p:nvSpPr>
        <p:spPr>
          <a:xfrm>
            <a:off x="6426200" y="2402749"/>
            <a:ext cx="4866132" cy="26478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D4A5C"/>
                </a:solidFill>
                <a:latin typeface="Nunito Sans" pitchFamily="34" charset="0"/>
                <a:ea typeface="Nunito Sans" pitchFamily="34" charset="-122"/>
                <a:cs typeface="Nunito Sans" pitchFamily="34" charset="-120"/>
              </a:rPr>
              <a:t>The exact values. Vague data produces unrepeatable tests.</a:t>
            </a:r>
            <a:endParaRPr lang="en-US" sz="1300" dirty="0"/>
          </a:p>
        </p:txBody>
      </p:sp>
      <p:pic>
        <p:nvPicPr>
          <p:cNvPr id="14" name="Image 2" descr="Check"/>
          <p:cNvPicPr>
            <a:picLocks noChangeAspect="1"/>
          </p:cNvPicPr>
          <p:nvPr/>
        </p:nvPicPr>
        <p:blipFill>
          <a:blip r:embed="rId5"/>
          <a:srcRect/>
          <a:stretch/>
        </p:blipFill>
        <p:spPr>
          <a:xfrm>
            <a:off x="6426200" y="2769130"/>
            <a:ext cx="203200" cy="203200"/>
          </a:xfrm>
          <a:prstGeom prst="rect">
            <a:avLst/>
          </a:prstGeom>
        </p:spPr>
      </p:pic>
      <p:sp>
        <p:nvSpPr>
          <p:cNvPr id="15" name="Text 10"/>
          <p:cNvSpPr/>
          <p:nvPr/>
        </p:nvSpPr>
        <p:spPr>
          <a:xfrm>
            <a:off x="6731000" y="2769130"/>
            <a:ext cx="316023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Good:</a:t>
            </a:r>
            <a:r>
              <a:rPr lang="en-US" sz="1200" dirty="0">
                <a:solidFill>
                  <a:srgbClr val="14213D"/>
                </a:solidFill>
                <a:latin typeface="Nunito Sans" pitchFamily="34" charset="0"/>
                <a:ea typeface="Nunito Sans" pitchFamily="34" charset="-122"/>
                <a:cs typeface="Nunito Sans" pitchFamily="34" charset="-120"/>
              </a:rPr>
              <a:t> Amount 5001 (balance is 5000)</a:t>
            </a:r>
            <a:endParaRPr lang="en-US" sz="1200" dirty="0"/>
          </a:p>
        </p:txBody>
      </p:sp>
      <p:pic>
        <p:nvPicPr>
          <p:cNvPr id="16" name="Image 3" descr="Warning"/>
          <p:cNvPicPr>
            <a:picLocks noChangeAspect="1"/>
          </p:cNvPicPr>
          <p:nvPr/>
        </p:nvPicPr>
        <p:blipFill>
          <a:blip r:embed="rId4"/>
          <a:srcRect/>
          <a:stretch/>
        </p:blipFill>
        <p:spPr>
          <a:xfrm>
            <a:off x="6426200" y="3109451"/>
            <a:ext cx="203200" cy="203200"/>
          </a:xfrm>
          <a:prstGeom prst="rect">
            <a:avLst/>
          </a:prstGeom>
        </p:spPr>
      </p:pic>
      <p:sp>
        <p:nvSpPr>
          <p:cNvPr id="17" name="Text 11"/>
          <p:cNvSpPr/>
          <p:nvPr/>
        </p:nvSpPr>
        <p:spPr>
          <a:xfrm>
            <a:off x="6731000" y="3109451"/>
            <a:ext cx="23550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Poor:</a:t>
            </a:r>
            <a:r>
              <a:rPr lang="en-US" sz="1200" dirty="0">
                <a:solidFill>
                  <a:srgbClr val="14213D"/>
                </a:solidFill>
                <a:latin typeface="Nunito Sans" pitchFamily="34" charset="0"/>
                <a:ea typeface="Nunito Sans" pitchFamily="34" charset="-122"/>
                <a:cs typeface="Nunito Sans" pitchFamily="34" charset="-120"/>
              </a:rPr>
              <a:t> “Enter a large amount”</a:t>
            </a:r>
            <a:endParaRPr lang="en-US" sz="1200" dirty="0"/>
          </a:p>
        </p:txBody>
      </p:sp>
      <p:sp>
        <p:nvSpPr>
          <p:cNvPr id="18" name="Text 12"/>
          <p:cNvSpPr/>
          <p:nvPr/>
        </p:nvSpPr>
        <p:spPr>
          <a:xfrm>
            <a:off x="6426200" y="3449771"/>
            <a:ext cx="486613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Prepare it before execution · use dedicated test accounts, never real customer data · note data that gets consumed, like single-use coupons.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FIELD BY FIELD · 2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Steps and the expected result</a:t>
            </a:r>
            <a:endParaRPr lang="en-US" sz="3200" dirty="0"/>
          </a:p>
        </p:txBody>
      </p:sp>
      <p:sp>
        <p:nvSpPr>
          <p:cNvPr id="4" name="Shape 2"/>
          <p:cNvSpPr/>
          <p:nvPr/>
        </p:nvSpPr>
        <p:spPr>
          <a:xfrm>
            <a:off x="812800" y="1803338"/>
            <a:ext cx="4565386" cy="2200738"/>
          </a:xfrm>
          <a:prstGeom prst="roundRect">
            <a:avLst>
              <a:gd name="adj" fmla="val 4617"/>
            </a:avLst>
          </a:prstGeom>
          <a:solidFill>
            <a:srgbClr val="EEF2F7"/>
          </a:solidFill>
          <a:ln/>
        </p:spPr>
      </p:sp>
      <p:sp>
        <p:nvSpPr>
          <p:cNvPr id="5" name="Text 3"/>
          <p:cNvSpPr/>
          <p:nvPr/>
        </p:nvSpPr>
        <p:spPr>
          <a:xfrm>
            <a:off x="1041400" y="2031938"/>
            <a:ext cx="423143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Steps</a:t>
            </a:r>
            <a:endParaRPr lang="en-US" sz="1600" dirty="0"/>
          </a:p>
        </p:txBody>
      </p:sp>
      <p:sp>
        <p:nvSpPr>
          <p:cNvPr id="6" name="Text 4"/>
          <p:cNvSpPr/>
          <p:nvPr/>
        </p:nvSpPr>
        <p:spPr>
          <a:xfrm>
            <a:off x="1133094" y="2402749"/>
            <a:ext cx="4132117" cy="101600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Numbered, one action per step</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Start with a verb: Open, Enter, Click, Select, Verify</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Specific enough to follow without guessing</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Not so detailed that every UI tweak breaks them</a:t>
            </a:r>
            <a:endParaRPr lang="en-US" sz="1300" dirty="0"/>
          </a:p>
        </p:txBody>
      </p:sp>
      <p:sp>
        <p:nvSpPr>
          <p:cNvPr id="7" name="Shape 5"/>
          <p:cNvSpPr/>
          <p:nvPr/>
        </p:nvSpPr>
        <p:spPr>
          <a:xfrm>
            <a:off x="5581386" y="1803338"/>
            <a:ext cx="5797815" cy="2200738"/>
          </a:xfrm>
          <a:prstGeom prst="roundRect">
            <a:avLst>
              <a:gd name="adj" fmla="val 4617"/>
            </a:avLst>
          </a:prstGeom>
          <a:solidFill>
            <a:srgbClr val="14213D"/>
          </a:solidFill>
          <a:ln/>
        </p:spPr>
      </p:sp>
      <p:sp>
        <p:nvSpPr>
          <p:cNvPr id="8" name="Text 6"/>
          <p:cNvSpPr/>
          <p:nvPr/>
        </p:nvSpPr>
        <p:spPr>
          <a:xfrm>
            <a:off x="5809986" y="2031938"/>
            <a:ext cx="550083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04B"/>
                </a:solidFill>
                <a:latin typeface="Nunito Sans" pitchFamily="34" charset="0"/>
                <a:ea typeface="Nunito Sans" pitchFamily="34" charset="-122"/>
                <a:cs typeface="Nunito Sans" pitchFamily="34" charset="-120"/>
              </a:rPr>
              <a:t>Expected result: the most important field</a:t>
            </a:r>
            <a:endParaRPr lang="en-US" sz="1600" dirty="0"/>
          </a:p>
        </p:txBody>
      </p:sp>
      <p:sp>
        <p:nvSpPr>
          <p:cNvPr id="9" name="Text 7"/>
          <p:cNvSpPr/>
          <p:nvPr/>
        </p:nvSpPr>
        <p:spPr>
          <a:xfrm>
            <a:off x="5809986" y="2402749"/>
            <a:ext cx="5500833"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It comes from the requirement, </a:t>
            </a:r>
            <a:r>
              <a:rPr lang="en-US" sz="1300" b="1" dirty="0">
                <a:solidFill>
                  <a:srgbClr val="DCE4F0"/>
                </a:solidFill>
                <a:latin typeface="Nunito Sans" pitchFamily="34" charset="0"/>
                <a:ea typeface="Nunito Sans" pitchFamily="34" charset="-122"/>
                <a:cs typeface="Nunito Sans" pitchFamily="34" charset="-120"/>
              </a:rPr>
              <a:t>not</a:t>
            </a:r>
            <a:r>
              <a:rPr lang="en-US" sz="1300" dirty="0">
                <a:solidFill>
                  <a:srgbClr val="DCE4F0"/>
                </a:solidFill>
                <a:latin typeface="Nunito Sans" pitchFamily="34" charset="0"/>
                <a:ea typeface="Nunito Sans" pitchFamily="34" charset="-122"/>
                <a:cs typeface="Nunito Sans" pitchFamily="34" charset="-120"/>
              </a:rPr>
              <a:t> from what the system currently does.</a:t>
            </a:r>
            <a:endParaRPr lang="en-US" sz="1300" dirty="0"/>
          </a:p>
        </p:txBody>
      </p:sp>
      <p:pic>
        <p:nvPicPr>
          <p:cNvPr id="10" name="Image 0" descr="Check"/>
          <p:cNvPicPr>
            <a:picLocks noChangeAspect="1"/>
          </p:cNvPicPr>
          <p:nvPr/>
        </p:nvPicPr>
        <p:blipFill>
          <a:blip r:embed="rId3"/>
          <a:srcRect l="-465" r="-465"/>
          <a:stretch/>
        </p:blipFill>
        <p:spPr>
          <a:xfrm>
            <a:off x="5809986" y="3008511"/>
            <a:ext cx="179454" cy="203200"/>
          </a:xfrm>
          <a:prstGeom prst="rect">
            <a:avLst/>
          </a:prstGeom>
        </p:spPr>
      </p:pic>
      <p:sp>
        <p:nvSpPr>
          <p:cNvPr id="11" name="Text 8"/>
          <p:cNvSpPr/>
          <p:nvPr/>
        </p:nvSpPr>
        <p:spPr>
          <a:xfrm>
            <a:off x="6091039" y="3008511"/>
            <a:ext cx="5211348"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BF8"/>
                </a:solidFill>
                <a:latin typeface="Nunito Sans" pitchFamily="34" charset="0"/>
                <a:ea typeface="Nunito Sans" pitchFamily="34" charset="-122"/>
                <a:cs typeface="Nunito Sans" pitchFamily="34" charset="-120"/>
              </a:rPr>
              <a:t>Good:</a:t>
            </a:r>
            <a:r>
              <a:rPr lang="en-US" sz="1200" dirty="0">
                <a:solidFill>
                  <a:srgbClr val="FBFBF8"/>
                </a:solidFill>
                <a:latin typeface="Nunito Sans" pitchFamily="34" charset="0"/>
                <a:ea typeface="Nunito Sans" pitchFamily="34" charset="-122"/>
                <a:cs typeface="Nunito Sans" pitchFamily="34" charset="-120"/>
              </a:rPr>
              <a:t> “Insufficient balance” shown; balance remains ₹5,000; no transaction created.</a:t>
            </a:r>
            <a:endParaRPr lang="en-US" sz="1200" dirty="0"/>
          </a:p>
        </p:txBody>
      </p:sp>
      <p:pic>
        <p:nvPicPr>
          <p:cNvPr id="12" name="Image 1" descr="Warning"/>
          <p:cNvPicPr>
            <a:picLocks noChangeAspect="1"/>
          </p:cNvPicPr>
          <p:nvPr/>
        </p:nvPicPr>
        <p:blipFill>
          <a:blip r:embed="rId4"/>
          <a:srcRect/>
          <a:stretch/>
        </p:blipFill>
        <p:spPr>
          <a:xfrm>
            <a:off x="5809986" y="3562152"/>
            <a:ext cx="203200" cy="203200"/>
          </a:xfrm>
          <a:prstGeom prst="rect">
            <a:avLst/>
          </a:prstGeom>
        </p:spPr>
      </p:pic>
      <p:sp>
        <p:nvSpPr>
          <p:cNvPr id="13" name="Text 9"/>
          <p:cNvSpPr/>
          <p:nvPr/>
        </p:nvSpPr>
        <p:spPr>
          <a:xfrm>
            <a:off x="6114786" y="3562152"/>
            <a:ext cx="438618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FBF8"/>
                </a:solidFill>
                <a:latin typeface="Nunito Sans" pitchFamily="34" charset="0"/>
                <a:ea typeface="Nunito Sans" pitchFamily="34" charset="-122"/>
                <a:cs typeface="Nunito Sans" pitchFamily="34" charset="-120"/>
              </a:rPr>
              <a:t>Poor:</a:t>
            </a:r>
            <a:r>
              <a:rPr lang="en-US" sz="1200" dirty="0">
                <a:solidFill>
                  <a:srgbClr val="FBFBF8"/>
                </a:solidFill>
                <a:latin typeface="Nunito Sans" pitchFamily="34" charset="0"/>
                <a:ea typeface="Nunito Sans" pitchFamily="34" charset="-122"/>
                <a:cs typeface="Nunito Sans" pitchFamily="34" charset="-120"/>
              </a:rPr>
              <a:t> “System should work properly.” / “Error shown.”</a:t>
            </a:r>
            <a:endParaRPr lang="en-US" sz="1200" dirty="0"/>
          </a:p>
        </p:txBody>
      </p:sp>
      <p:sp>
        <p:nvSpPr>
          <p:cNvPr id="14" name="Text 10"/>
          <p:cNvSpPr/>
          <p:nvPr/>
        </p:nvSpPr>
        <p:spPr>
          <a:xfrm>
            <a:off x="812800" y="4258072"/>
            <a:ext cx="10566400" cy="502907"/>
          </a:xfrm>
          <a:prstGeom prst="roundRect">
            <a:avLst>
              <a:gd name="adj" fmla="val 15152"/>
            </a:avLst>
          </a:prstGeom>
          <a:solidFill>
            <a:srgbClr val="FBEBDD"/>
          </a:solidFill>
          <a:ln/>
        </p:spPr>
        <p:txBody>
          <a:bodyPr wrap="square" lIns="155482" tIns="104682" rIns="0" bIns="79282"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Check every observable effect:</a:t>
            </a:r>
            <a:r>
              <a:rPr lang="en-US" sz="1400" dirty="0">
                <a:solidFill>
                  <a:srgbClr val="14213D"/>
                </a:solidFill>
                <a:latin typeface="Nunito Sans" pitchFamily="34" charset="0"/>
                <a:ea typeface="Nunito Sans" pitchFamily="34" charset="-122"/>
                <a:cs typeface="Nunito Sans" pitchFamily="34" charset="-120"/>
              </a:rPr>
              <a:t> the UI message, the data change, side effects like email or SMS, and what should </a:t>
            </a:r>
            <a:r>
              <a:rPr lang="en-US" sz="1400" b="1" dirty="0">
                <a:solidFill>
                  <a:srgbClr val="14213D"/>
                </a:solidFill>
                <a:latin typeface="Nunito Sans" pitchFamily="34" charset="0"/>
                <a:ea typeface="Nunito Sans" pitchFamily="34" charset="-122"/>
                <a:cs typeface="Nunito Sans" pitchFamily="34" charset="-120"/>
              </a:rPr>
              <a:t>not</a:t>
            </a:r>
            <a:r>
              <a:rPr lang="en-US" sz="1400" dirty="0">
                <a:solidFill>
                  <a:srgbClr val="14213D"/>
                </a:solidFill>
                <a:latin typeface="Nunito Sans" pitchFamily="34" charset="0"/>
                <a:ea typeface="Nunito Sans" pitchFamily="34" charset="-122"/>
                <a:cs typeface="Nunito Sans" pitchFamily="34" charset="-120"/>
              </a:rPr>
              <a:t> happen.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FIELD BY FIELD · 3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Actual result and status</a:t>
            </a:r>
            <a:endParaRPr lang="en-US" sz="3200" dirty="0"/>
          </a:p>
        </p:txBody>
      </p:sp>
      <p:sp>
        <p:nvSpPr>
          <p:cNvPr id="4" name="Shape 2"/>
          <p:cNvSpPr/>
          <p:nvPr/>
        </p:nvSpPr>
        <p:spPr>
          <a:xfrm>
            <a:off x="812800" y="1752538"/>
            <a:ext cx="6338292" cy="680641"/>
          </a:xfrm>
          <a:prstGeom prst="roundRect">
            <a:avLst>
              <a:gd name="adj" fmla="val 11195"/>
            </a:avLst>
          </a:prstGeom>
          <a:solidFill>
            <a:srgbClr val="EEF2F7"/>
          </a:solidFill>
          <a:ln/>
        </p:spPr>
      </p:sp>
      <p:pic>
        <p:nvPicPr>
          <p:cNvPr id="5" name="Image 0" descr="Check"/>
          <p:cNvPicPr>
            <a:picLocks noChangeAspect="1"/>
          </p:cNvPicPr>
          <p:nvPr/>
        </p:nvPicPr>
        <p:blipFill>
          <a:blip r:embed="rId3"/>
          <a:srcRect t="-877" b="-877"/>
          <a:stretch/>
        </p:blipFill>
        <p:spPr>
          <a:xfrm>
            <a:off x="965200" y="1879538"/>
            <a:ext cx="180975" cy="203200"/>
          </a:xfrm>
          <a:prstGeom prst="rect">
            <a:avLst/>
          </a:prstGeom>
        </p:spPr>
      </p:pic>
      <p:sp>
        <p:nvSpPr>
          <p:cNvPr id="6" name="Text 3"/>
          <p:cNvSpPr/>
          <p:nvPr/>
        </p:nvSpPr>
        <p:spPr>
          <a:xfrm>
            <a:off x="1247775" y="1879538"/>
            <a:ext cx="592344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Facts:</a:t>
            </a:r>
            <a:r>
              <a:rPr lang="en-US" sz="1200" dirty="0">
                <a:solidFill>
                  <a:srgbClr val="14213D"/>
                </a:solidFill>
                <a:latin typeface="Nunito Sans" pitchFamily="34" charset="0"/>
                <a:ea typeface="Nunito Sans" pitchFamily="34" charset="-122"/>
                <a:cs typeface="Nunito Sans" pitchFamily="34" charset="-120"/>
              </a:rPr>
              <a:t> “Something went wrong” shown; balance reduced to ₹-1; transaction TXN8812 created.</a:t>
            </a:r>
            <a:endParaRPr lang="en-US" sz="1200" dirty="0"/>
          </a:p>
        </p:txBody>
      </p:sp>
      <p:sp>
        <p:nvSpPr>
          <p:cNvPr id="7" name="Shape 4"/>
          <p:cNvSpPr/>
          <p:nvPr/>
        </p:nvSpPr>
        <p:spPr>
          <a:xfrm>
            <a:off x="7303492" y="1752538"/>
            <a:ext cx="4075708" cy="680641"/>
          </a:xfrm>
          <a:prstGeom prst="roundRect">
            <a:avLst>
              <a:gd name="adj" fmla="val 11195"/>
            </a:avLst>
          </a:prstGeom>
          <a:solidFill>
            <a:srgbClr val="FBEBDD"/>
          </a:solidFill>
          <a:ln/>
        </p:spPr>
      </p:sp>
      <p:pic>
        <p:nvPicPr>
          <p:cNvPr id="8" name="Image 1" descr="Warning"/>
          <p:cNvPicPr>
            <a:picLocks noChangeAspect="1"/>
          </p:cNvPicPr>
          <p:nvPr/>
        </p:nvPicPr>
        <p:blipFill>
          <a:blip r:embed="rId4"/>
          <a:srcRect/>
          <a:stretch/>
        </p:blipFill>
        <p:spPr>
          <a:xfrm>
            <a:off x="7455892" y="1879538"/>
            <a:ext cx="203200" cy="203200"/>
          </a:xfrm>
          <a:prstGeom prst="rect">
            <a:avLst/>
          </a:prstGeom>
        </p:spPr>
      </p:pic>
      <p:sp>
        <p:nvSpPr>
          <p:cNvPr id="9" name="Text 5"/>
          <p:cNvSpPr/>
          <p:nvPr/>
        </p:nvSpPr>
        <p:spPr>
          <a:xfrm>
            <a:off x="7760692" y="1879538"/>
            <a:ext cx="188769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Opinion:</a:t>
            </a:r>
            <a:r>
              <a:rPr lang="en-US" sz="1200" dirty="0">
                <a:solidFill>
                  <a:srgbClr val="14213D"/>
                </a:solidFill>
                <a:latin typeface="Nunito Sans" pitchFamily="34" charset="0"/>
                <a:ea typeface="Nunito Sans" pitchFamily="34" charset="-122"/>
                <a:cs typeface="Nunito Sans" pitchFamily="34" charset="-120"/>
              </a:rPr>
              <a:t> “Didn't work.”</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649079"/>
          <a:ext cx="10553700" cy="2155825"/>
        </p:xfrm>
        <a:graphic>
          <a:graphicData uri="http://schemas.openxmlformats.org/drawingml/2006/table">
            <a:tbl>
              <a:tblPr/>
              <a:tblGrid>
                <a:gridCol w="2321814">
                  <a:extLst>
                    <a:ext uri="{9D8B030D-6E8A-4147-A177-3AD203B41FA5}">
                      <a16:colId xmlns:a16="http://schemas.microsoft.com/office/drawing/2014/main" val="20000"/>
                    </a:ext>
                  </a:extLst>
                </a:gridCol>
                <a:gridCol w="8231886">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Status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Meaning</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Not Executed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Not yet run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Pass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Actual result matches the expected result exactly</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Fail</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Actual differs from expected: log a defect (Ch 8) and link its 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Blocked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Can't run due to an external issue: environment down, dependent defect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Skipped / N/A</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Deliberately not run in this cycle (out of scope)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Text 6"/>
          <p:cNvSpPr/>
          <p:nvPr/>
        </p:nvSpPr>
        <p:spPr>
          <a:xfrm>
            <a:off x="812800" y="500810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“Partially passed” is not a status.</a:t>
            </a:r>
            <a:r>
              <a:rPr lang="en-US" sz="1400" dirty="0">
                <a:solidFill>
                  <a:srgbClr val="A14F0A"/>
                </a:solidFill>
                <a:latin typeface="Nunito Sans" pitchFamily="34" charset="0"/>
                <a:ea typeface="Nunito Sans" pitchFamily="34" charset="-122"/>
                <a:cs typeface="Nunito Sans" pitchFamily="34" charset="-120"/>
              </a:rPr>
              <a:t> If any expected result is not met, it fails.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TRACEABILITY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Link back to requirements, forward to results</a:t>
            </a:r>
            <a:endParaRPr lang="en-US" sz="3200" dirty="0"/>
          </a:p>
        </p:txBody>
      </p:sp>
      <p:sp>
        <p:nvSpPr>
          <p:cNvPr id="4" name="Shape 2"/>
          <p:cNvSpPr/>
          <p:nvPr/>
        </p:nvSpPr>
        <p:spPr>
          <a:xfrm>
            <a:off x="812800" y="1854138"/>
            <a:ext cx="1422400" cy="706041"/>
          </a:xfrm>
          <a:prstGeom prst="roundRect">
            <a:avLst>
              <a:gd name="adj" fmla="val 10793"/>
            </a:avLst>
          </a:prstGeom>
          <a:solidFill>
            <a:srgbClr val="FBFBF8"/>
          </a:solidFill>
          <a:ln/>
        </p:spPr>
      </p:sp>
      <p:sp>
        <p:nvSpPr>
          <p:cNvPr id="5" name="Text 3"/>
          <p:cNvSpPr/>
          <p:nvPr/>
        </p:nvSpPr>
        <p:spPr>
          <a:xfrm>
            <a:off x="914400" y="1981138"/>
            <a:ext cx="1270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Requirement</a:t>
            </a:r>
            <a:endParaRPr lang="en-US" sz="1200" dirty="0"/>
          </a:p>
        </p:txBody>
      </p:sp>
      <p:sp>
        <p:nvSpPr>
          <p:cNvPr id="6" name="Text 4"/>
          <p:cNvSpPr/>
          <p:nvPr/>
        </p:nvSpPr>
        <p:spPr>
          <a:xfrm>
            <a:off x="914400" y="2219858"/>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US-101</a:t>
            </a:r>
            <a:endParaRPr lang="en-US" sz="1200" dirty="0"/>
          </a:p>
        </p:txBody>
      </p:sp>
      <p:pic>
        <p:nvPicPr>
          <p:cNvPr id="7" name="Image 0" descr="arrow-right"/>
          <p:cNvPicPr>
            <a:picLocks noChangeAspect="1"/>
          </p:cNvPicPr>
          <p:nvPr/>
        </p:nvPicPr>
        <p:blipFill>
          <a:blip r:embed="rId3"/>
          <a:srcRect/>
          <a:stretch/>
        </p:blipFill>
        <p:spPr>
          <a:xfrm>
            <a:off x="2311400" y="2143658"/>
            <a:ext cx="254000" cy="127000"/>
          </a:xfrm>
          <a:prstGeom prst="rect">
            <a:avLst/>
          </a:prstGeom>
        </p:spPr>
      </p:pic>
      <p:sp>
        <p:nvSpPr>
          <p:cNvPr id="8" name="Shape 5"/>
          <p:cNvSpPr/>
          <p:nvPr/>
        </p:nvSpPr>
        <p:spPr>
          <a:xfrm>
            <a:off x="2641600" y="1854138"/>
            <a:ext cx="1422400" cy="706041"/>
          </a:xfrm>
          <a:prstGeom prst="roundRect">
            <a:avLst>
              <a:gd name="adj" fmla="val 10793"/>
            </a:avLst>
          </a:prstGeom>
          <a:solidFill>
            <a:srgbClr val="FBFBF8"/>
          </a:solidFill>
          <a:ln/>
        </p:spPr>
      </p:sp>
      <p:sp>
        <p:nvSpPr>
          <p:cNvPr id="9" name="Text 6"/>
          <p:cNvSpPr/>
          <p:nvPr/>
        </p:nvSpPr>
        <p:spPr>
          <a:xfrm>
            <a:off x="2743200" y="1981138"/>
            <a:ext cx="1270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Criterion</a:t>
            </a:r>
            <a:endParaRPr lang="en-US" sz="1200" dirty="0"/>
          </a:p>
        </p:txBody>
      </p:sp>
      <p:sp>
        <p:nvSpPr>
          <p:cNvPr id="10" name="Text 7"/>
          <p:cNvSpPr/>
          <p:nvPr/>
        </p:nvSpPr>
        <p:spPr>
          <a:xfrm>
            <a:off x="2743200" y="2219858"/>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AC1</a:t>
            </a:r>
            <a:endParaRPr lang="en-US" sz="1200" dirty="0"/>
          </a:p>
        </p:txBody>
      </p:sp>
      <p:pic>
        <p:nvPicPr>
          <p:cNvPr id="11" name="Image 1" descr="arrow-right"/>
          <p:cNvPicPr>
            <a:picLocks noChangeAspect="1"/>
          </p:cNvPicPr>
          <p:nvPr/>
        </p:nvPicPr>
        <p:blipFill>
          <a:blip r:embed="rId3"/>
          <a:srcRect/>
          <a:stretch/>
        </p:blipFill>
        <p:spPr>
          <a:xfrm>
            <a:off x="4140200" y="2143658"/>
            <a:ext cx="254000" cy="127000"/>
          </a:xfrm>
          <a:prstGeom prst="rect">
            <a:avLst/>
          </a:prstGeom>
        </p:spPr>
      </p:pic>
      <p:sp>
        <p:nvSpPr>
          <p:cNvPr id="12" name="Shape 8"/>
          <p:cNvSpPr/>
          <p:nvPr/>
        </p:nvSpPr>
        <p:spPr>
          <a:xfrm>
            <a:off x="4470400" y="1854138"/>
            <a:ext cx="1422400" cy="706041"/>
          </a:xfrm>
          <a:prstGeom prst="roundRect">
            <a:avLst>
              <a:gd name="adj" fmla="val 10793"/>
            </a:avLst>
          </a:prstGeom>
          <a:solidFill>
            <a:srgbClr val="FBFBF8"/>
          </a:solidFill>
          <a:ln/>
        </p:spPr>
      </p:sp>
      <p:sp>
        <p:nvSpPr>
          <p:cNvPr id="13" name="Text 9"/>
          <p:cNvSpPr/>
          <p:nvPr/>
        </p:nvSpPr>
        <p:spPr>
          <a:xfrm>
            <a:off x="4572000" y="1981138"/>
            <a:ext cx="1270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Scenario</a:t>
            </a:r>
            <a:endParaRPr lang="en-US" sz="1200" dirty="0"/>
          </a:p>
        </p:txBody>
      </p:sp>
      <p:sp>
        <p:nvSpPr>
          <p:cNvPr id="14" name="Text 10"/>
          <p:cNvSpPr/>
          <p:nvPr/>
        </p:nvSpPr>
        <p:spPr>
          <a:xfrm>
            <a:off x="4572000" y="2219858"/>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TS_LOGIN_01</a:t>
            </a:r>
            <a:endParaRPr lang="en-US" sz="1200" dirty="0"/>
          </a:p>
        </p:txBody>
      </p:sp>
      <p:pic>
        <p:nvPicPr>
          <p:cNvPr id="15" name="Image 2" descr="arrow-right"/>
          <p:cNvPicPr>
            <a:picLocks noChangeAspect="1"/>
          </p:cNvPicPr>
          <p:nvPr/>
        </p:nvPicPr>
        <p:blipFill>
          <a:blip r:embed="rId3"/>
          <a:srcRect/>
          <a:stretch/>
        </p:blipFill>
        <p:spPr>
          <a:xfrm>
            <a:off x="5969000" y="2143658"/>
            <a:ext cx="254000" cy="127000"/>
          </a:xfrm>
          <a:prstGeom prst="rect">
            <a:avLst/>
          </a:prstGeom>
        </p:spPr>
      </p:pic>
      <p:sp>
        <p:nvSpPr>
          <p:cNvPr id="16" name="Shape 11"/>
          <p:cNvSpPr/>
          <p:nvPr/>
        </p:nvSpPr>
        <p:spPr>
          <a:xfrm>
            <a:off x="6299200" y="1854138"/>
            <a:ext cx="1422400" cy="706041"/>
          </a:xfrm>
          <a:prstGeom prst="roundRect">
            <a:avLst>
              <a:gd name="adj" fmla="val 10793"/>
            </a:avLst>
          </a:prstGeom>
          <a:solidFill>
            <a:srgbClr val="14213D"/>
          </a:solidFill>
          <a:ln/>
        </p:spPr>
      </p:sp>
      <p:sp>
        <p:nvSpPr>
          <p:cNvPr id="17" name="Text 12"/>
          <p:cNvSpPr/>
          <p:nvPr/>
        </p:nvSpPr>
        <p:spPr>
          <a:xfrm>
            <a:off x="6400800" y="1981138"/>
            <a:ext cx="1270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4B"/>
                </a:solidFill>
                <a:latin typeface="Nunito Sans" pitchFamily="34" charset="0"/>
                <a:ea typeface="Nunito Sans" pitchFamily="34" charset="-122"/>
                <a:cs typeface="Nunito Sans" pitchFamily="34" charset="-120"/>
              </a:rPr>
              <a:t>Test case</a:t>
            </a:r>
            <a:endParaRPr lang="en-US" sz="1200" dirty="0"/>
          </a:p>
        </p:txBody>
      </p:sp>
      <p:sp>
        <p:nvSpPr>
          <p:cNvPr id="18" name="Text 13"/>
          <p:cNvSpPr/>
          <p:nvPr/>
        </p:nvSpPr>
        <p:spPr>
          <a:xfrm>
            <a:off x="6400800" y="2219858"/>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FBF8"/>
                </a:solidFill>
                <a:latin typeface="Nunito Sans" pitchFamily="34" charset="0"/>
                <a:ea typeface="Nunito Sans" pitchFamily="34" charset="-122"/>
                <a:cs typeface="Nunito Sans" pitchFamily="34" charset="-120"/>
              </a:rPr>
              <a:t>TC_LOGIN_001</a:t>
            </a:r>
            <a:endParaRPr lang="en-US" sz="1200" dirty="0"/>
          </a:p>
        </p:txBody>
      </p:sp>
      <p:pic>
        <p:nvPicPr>
          <p:cNvPr id="19" name="Image 3" descr="arrow-right"/>
          <p:cNvPicPr>
            <a:picLocks noChangeAspect="1"/>
          </p:cNvPicPr>
          <p:nvPr/>
        </p:nvPicPr>
        <p:blipFill>
          <a:blip r:embed="rId3"/>
          <a:srcRect/>
          <a:stretch/>
        </p:blipFill>
        <p:spPr>
          <a:xfrm>
            <a:off x="7797800" y="2143658"/>
            <a:ext cx="254000" cy="127000"/>
          </a:xfrm>
          <a:prstGeom prst="rect">
            <a:avLst/>
          </a:prstGeom>
        </p:spPr>
      </p:pic>
      <p:sp>
        <p:nvSpPr>
          <p:cNvPr id="20" name="Shape 14"/>
          <p:cNvSpPr/>
          <p:nvPr/>
        </p:nvSpPr>
        <p:spPr>
          <a:xfrm>
            <a:off x="8128000" y="1854138"/>
            <a:ext cx="1422400" cy="706041"/>
          </a:xfrm>
          <a:prstGeom prst="roundRect">
            <a:avLst>
              <a:gd name="adj" fmla="val 10793"/>
            </a:avLst>
          </a:prstGeom>
          <a:solidFill>
            <a:srgbClr val="FBFBF8"/>
          </a:solidFill>
          <a:ln/>
        </p:spPr>
      </p:sp>
      <p:sp>
        <p:nvSpPr>
          <p:cNvPr id="21" name="Text 15"/>
          <p:cNvSpPr/>
          <p:nvPr/>
        </p:nvSpPr>
        <p:spPr>
          <a:xfrm>
            <a:off x="8229600" y="1981138"/>
            <a:ext cx="1270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Result</a:t>
            </a:r>
            <a:endParaRPr lang="en-US" sz="1200" dirty="0"/>
          </a:p>
        </p:txBody>
      </p:sp>
      <p:sp>
        <p:nvSpPr>
          <p:cNvPr id="22" name="Text 16"/>
          <p:cNvSpPr/>
          <p:nvPr/>
        </p:nvSpPr>
        <p:spPr>
          <a:xfrm>
            <a:off x="8229600" y="2219858"/>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Fail</a:t>
            </a:r>
            <a:endParaRPr lang="en-US" sz="1200" dirty="0"/>
          </a:p>
        </p:txBody>
      </p:sp>
      <p:pic>
        <p:nvPicPr>
          <p:cNvPr id="23" name="Image 4" descr="arrow-right"/>
          <p:cNvPicPr>
            <a:picLocks noChangeAspect="1"/>
          </p:cNvPicPr>
          <p:nvPr/>
        </p:nvPicPr>
        <p:blipFill>
          <a:blip r:embed="rId3"/>
          <a:srcRect/>
          <a:stretch/>
        </p:blipFill>
        <p:spPr>
          <a:xfrm>
            <a:off x="9626600" y="2143658"/>
            <a:ext cx="254000" cy="127000"/>
          </a:xfrm>
          <a:prstGeom prst="rect">
            <a:avLst/>
          </a:prstGeom>
        </p:spPr>
      </p:pic>
      <p:sp>
        <p:nvSpPr>
          <p:cNvPr id="24" name="Shape 17"/>
          <p:cNvSpPr/>
          <p:nvPr/>
        </p:nvSpPr>
        <p:spPr>
          <a:xfrm>
            <a:off x="9956800" y="1854138"/>
            <a:ext cx="1422400" cy="706041"/>
          </a:xfrm>
          <a:prstGeom prst="roundRect">
            <a:avLst>
              <a:gd name="adj" fmla="val 10793"/>
            </a:avLst>
          </a:prstGeom>
          <a:solidFill>
            <a:srgbClr val="FBFBF8"/>
          </a:solidFill>
          <a:ln/>
        </p:spPr>
      </p:sp>
      <p:sp>
        <p:nvSpPr>
          <p:cNvPr id="25" name="Text 18"/>
          <p:cNvSpPr/>
          <p:nvPr/>
        </p:nvSpPr>
        <p:spPr>
          <a:xfrm>
            <a:off x="10058400" y="1981138"/>
            <a:ext cx="12700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Defect</a:t>
            </a:r>
            <a:endParaRPr lang="en-US" sz="1200" dirty="0"/>
          </a:p>
        </p:txBody>
      </p:sp>
      <p:sp>
        <p:nvSpPr>
          <p:cNvPr id="26" name="Text 19"/>
          <p:cNvSpPr/>
          <p:nvPr/>
        </p:nvSpPr>
        <p:spPr>
          <a:xfrm>
            <a:off x="10058400" y="2219858"/>
            <a:ext cx="1270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BUG-245</a:t>
            </a:r>
            <a:endParaRPr lang="en-US" sz="1200" dirty="0"/>
          </a:p>
        </p:txBody>
      </p:sp>
      <p:sp>
        <p:nvSpPr>
          <p:cNvPr id="27" name="Shape 20"/>
          <p:cNvSpPr/>
          <p:nvPr/>
        </p:nvSpPr>
        <p:spPr>
          <a:xfrm>
            <a:off x="812800" y="2864979"/>
            <a:ext cx="5207000" cy="817827"/>
          </a:xfrm>
          <a:prstGeom prst="roundRect">
            <a:avLst>
              <a:gd name="adj" fmla="val 10870"/>
            </a:avLst>
          </a:prstGeom>
          <a:solidFill>
            <a:srgbClr val="FBFBF8"/>
          </a:solidFill>
          <a:ln/>
        </p:spPr>
      </p:sp>
      <p:pic>
        <p:nvPicPr>
          <p:cNvPr id="28" name="Image 5" descr="Search"/>
          <p:cNvPicPr>
            <a:picLocks noChangeAspect="1"/>
          </p:cNvPicPr>
          <p:nvPr/>
        </p:nvPicPr>
        <p:blipFill>
          <a:blip r:embed="rId4"/>
          <a:srcRect/>
          <a:stretch/>
        </p:blipFill>
        <p:spPr>
          <a:xfrm>
            <a:off x="990600" y="3042779"/>
            <a:ext cx="254000" cy="254000"/>
          </a:xfrm>
          <a:prstGeom prst="rect">
            <a:avLst/>
          </a:prstGeom>
        </p:spPr>
      </p:pic>
      <p:sp>
        <p:nvSpPr>
          <p:cNvPr id="29" name="Text 21"/>
          <p:cNvSpPr/>
          <p:nvPr/>
        </p:nvSpPr>
        <p:spPr>
          <a:xfrm>
            <a:off x="1371600" y="3042779"/>
            <a:ext cx="450723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Coverage:</a:t>
            </a:r>
            <a:r>
              <a:rPr lang="en-US" sz="1300" dirty="0">
                <a:solidFill>
                  <a:srgbClr val="3D4A5C"/>
                </a:solidFill>
                <a:latin typeface="Nunito Sans" pitchFamily="34" charset="0"/>
                <a:ea typeface="Nunito Sans" pitchFamily="34" charset="-122"/>
                <a:cs typeface="Nunito Sans" pitchFamily="34" charset="-120"/>
              </a:rPr>
              <a:t> shows which requirements are untested</a:t>
            </a:r>
            <a:endParaRPr lang="en-US" sz="1300" dirty="0"/>
          </a:p>
        </p:txBody>
      </p:sp>
      <p:sp>
        <p:nvSpPr>
          <p:cNvPr id="30" name="Shape 22"/>
          <p:cNvSpPr/>
          <p:nvPr/>
        </p:nvSpPr>
        <p:spPr>
          <a:xfrm>
            <a:off x="6172200" y="2864979"/>
            <a:ext cx="5207000" cy="817827"/>
          </a:xfrm>
          <a:prstGeom prst="roundRect">
            <a:avLst>
              <a:gd name="adj" fmla="val 10870"/>
            </a:avLst>
          </a:prstGeom>
          <a:solidFill>
            <a:srgbClr val="FBFBF8"/>
          </a:solidFill>
          <a:ln/>
        </p:spPr>
      </p:sp>
      <p:pic>
        <p:nvPicPr>
          <p:cNvPr id="31" name="Image 6" descr="Link"/>
          <p:cNvPicPr>
            <a:picLocks noChangeAspect="1"/>
          </p:cNvPicPr>
          <p:nvPr/>
        </p:nvPicPr>
        <p:blipFill>
          <a:blip r:embed="rId5"/>
          <a:srcRect t="-639" b="-639"/>
          <a:stretch/>
        </p:blipFill>
        <p:spPr>
          <a:xfrm>
            <a:off x="6350000" y="3042779"/>
            <a:ext cx="206904" cy="254000"/>
          </a:xfrm>
          <a:prstGeom prst="rect">
            <a:avLst/>
          </a:prstGeom>
        </p:spPr>
      </p:pic>
      <p:sp>
        <p:nvSpPr>
          <p:cNvPr id="32" name="Text 23"/>
          <p:cNvSpPr/>
          <p:nvPr/>
        </p:nvSpPr>
        <p:spPr>
          <a:xfrm>
            <a:off x="6683904" y="3042779"/>
            <a:ext cx="4653021"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Impact analysis:</a:t>
            </a:r>
            <a:r>
              <a:rPr lang="en-US" sz="1300" dirty="0">
                <a:solidFill>
                  <a:srgbClr val="3D4A5C"/>
                </a:solidFill>
                <a:latin typeface="Nunito Sans" pitchFamily="34" charset="0"/>
                <a:ea typeface="Nunito Sans" pitchFamily="34" charset="-122"/>
                <a:cs typeface="Nunito Sans" pitchFamily="34" charset="-120"/>
              </a:rPr>
              <a:t> when a criterion changes, you know which tests to update</a:t>
            </a:r>
            <a:endParaRPr lang="en-US" sz="1300" dirty="0"/>
          </a:p>
        </p:txBody>
      </p:sp>
      <p:sp>
        <p:nvSpPr>
          <p:cNvPr id="33" name="Shape 24"/>
          <p:cNvSpPr/>
          <p:nvPr/>
        </p:nvSpPr>
        <p:spPr>
          <a:xfrm>
            <a:off x="812800" y="3835202"/>
            <a:ext cx="5207000" cy="817827"/>
          </a:xfrm>
          <a:prstGeom prst="roundRect">
            <a:avLst>
              <a:gd name="adj" fmla="val 10870"/>
            </a:avLst>
          </a:prstGeom>
          <a:solidFill>
            <a:srgbClr val="FBFBF8"/>
          </a:solidFill>
          <a:ln/>
        </p:spPr>
      </p:sp>
      <p:pic>
        <p:nvPicPr>
          <p:cNvPr id="34" name="Image 7" descr="Verified"/>
          <p:cNvPicPr>
            <a:picLocks noChangeAspect="1"/>
          </p:cNvPicPr>
          <p:nvPr/>
        </p:nvPicPr>
        <p:blipFill>
          <a:blip r:embed="rId6"/>
          <a:srcRect/>
          <a:stretch/>
        </p:blipFill>
        <p:spPr>
          <a:xfrm>
            <a:off x="990600" y="4013002"/>
            <a:ext cx="254000" cy="254000"/>
          </a:xfrm>
          <a:prstGeom prst="rect">
            <a:avLst/>
          </a:prstGeom>
        </p:spPr>
      </p:pic>
      <p:sp>
        <p:nvSpPr>
          <p:cNvPr id="35" name="Text 25"/>
          <p:cNvSpPr/>
          <p:nvPr/>
        </p:nvSpPr>
        <p:spPr>
          <a:xfrm>
            <a:off x="1371600" y="4013002"/>
            <a:ext cx="46482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Release decisions:</a:t>
            </a:r>
            <a:r>
              <a:rPr lang="en-US" sz="1300" dirty="0">
                <a:solidFill>
                  <a:srgbClr val="3D4A5C"/>
                </a:solidFill>
                <a:latin typeface="Nunito Sans" pitchFamily="34" charset="0"/>
                <a:ea typeface="Nunito Sans" pitchFamily="34" charset="-122"/>
                <a:cs typeface="Nunito Sans" pitchFamily="34" charset="-120"/>
              </a:rPr>
              <a:t> “Is every P1 requirement passing?”</a:t>
            </a:r>
            <a:endParaRPr lang="en-US" sz="1300" dirty="0"/>
          </a:p>
        </p:txBody>
      </p:sp>
      <p:sp>
        <p:nvSpPr>
          <p:cNvPr id="36" name="Shape 26"/>
          <p:cNvSpPr/>
          <p:nvPr/>
        </p:nvSpPr>
        <p:spPr>
          <a:xfrm>
            <a:off x="6172200" y="3835202"/>
            <a:ext cx="5207000" cy="817827"/>
          </a:xfrm>
          <a:prstGeom prst="roundRect">
            <a:avLst>
              <a:gd name="adj" fmla="val 10870"/>
            </a:avLst>
          </a:prstGeom>
          <a:solidFill>
            <a:srgbClr val="FBFBF8"/>
          </a:solidFill>
          <a:ln/>
        </p:spPr>
      </p:sp>
      <p:pic>
        <p:nvPicPr>
          <p:cNvPr id="37" name="Image 8" descr="Lock"/>
          <p:cNvPicPr>
            <a:picLocks noChangeAspect="1"/>
          </p:cNvPicPr>
          <p:nvPr/>
        </p:nvPicPr>
        <p:blipFill>
          <a:blip r:embed="rId7"/>
          <a:srcRect l="-74" r="-74"/>
          <a:stretch/>
        </p:blipFill>
        <p:spPr>
          <a:xfrm>
            <a:off x="6350000" y="4013002"/>
            <a:ext cx="222581" cy="254000"/>
          </a:xfrm>
          <a:prstGeom prst="rect">
            <a:avLst/>
          </a:prstGeom>
        </p:spPr>
      </p:pic>
      <p:sp>
        <p:nvSpPr>
          <p:cNvPr id="38" name="Text 27"/>
          <p:cNvSpPr/>
          <p:nvPr/>
        </p:nvSpPr>
        <p:spPr>
          <a:xfrm>
            <a:off x="6699581" y="4013002"/>
            <a:ext cx="4636874"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Audits:</a:t>
            </a:r>
            <a:r>
              <a:rPr lang="en-US" sz="1300" dirty="0">
                <a:solidFill>
                  <a:srgbClr val="3D4A5C"/>
                </a:solidFill>
                <a:latin typeface="Nunito Sans" pitchFamily="34" charset="0"/>
                <a:ea typeface="Nunito Sans" pitchFamily="34" charset="-122"/>
                <a:cs typeface="Nunito Sans" pitchFamily="34" charset="-120"/>
              </a:rPr>
              <a:t> required in banking, healthcare and other regulated industries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REQUIREMENTS TRACEABILITY MATRIX</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One table shows coverage at a glance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1796521"/>
        </p:xfrm>
        <a:graphic>
          <a:graphicData uri="http://schemas.openxmlformats.org/drawingml/2006/table">
            <a:tbl>
              <a:tblPr/>
              <a:tblGrid>
                <a:gridCol w="3588258">
                  <a:extLst>
                    <a:ext uri="{9D8B030D-6E8A-4147-A177-3AD203B41FA5}">
                      <a16:colId xmlns:a16="http://schemas.microsoft.com/office/drawing/2014/main" val="20000"/>
                    </a:ext>
                  </a:extLst>
                </a:gridCol>
                <a:gridCol w="1688592">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Req / AC</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Scenario</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Test cases</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Last result</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Defects</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US-101 AC1: valid login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TS_LOGIN_01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TC_LOGIN_001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2B5C9E"/>
                          </a:solidFill>
                          <a:latin typeface="Nunito Sans" pitchFamily="34" charset="0"/>
                          <a:ea typeface="Nunito Sans" pitchFamily="34" charset="-122"/>
                          <a:cs typeface="Nunito Sans" pitchFamily="34" charset="-120"/>
                        </a:rPr>
                        <a:t>Pass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US-101 AC2: invalid password shows error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TS_LOGIN_02</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TC_LOGIN_002, 003</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Fail</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BUG-245</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US-101 AC3: lock after 5 failures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TS_LOGIN_05</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TC_LOGIN_007, 008</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Blocked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US-101 AC4: password reset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No coverage</a:t>
                      </a:r>
                      <a:endParaRPr lang="en-US" sz="1300" dirty="0">
                        <a:latin typeface="Nunito Sans" charset="0"/>
                        <a:ea typeface="Nunito Sans" charset="0"/>
                        <a:cs typeface="Nunito Sans" charset="0"/>
                      </a:endParaRPr>
                    </a:p>
                  </a:txBody>
                  <a:tcPr marL="57785" marR="57785" marT="57785" marB="57785">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3866555"/>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The last row is the point: AC4 has </a:t>
            </a:r>
            <a:r>
              <a:rPr lang="en-US" sz="1500" b="1" dirty="0">
                <a:solidFill>
                  <a:srgbClr val="A14F0A"/>
                </a:solidFill>
                <a:latin typeface="Nunito Sans" pitchFamily="34" charset="0"/>
                <a:ea typeface="Nunito Sans" pitchFamily="34" charset="-122"/>
                <a:cs typeface="Nunito Sans" pitchFamily="34" charset="-120"/>
              </a:rPr>
              <a:t>no tests at all</a:t>
            </a:r>
            <a:r>
              <a:rPr lang="en-US" sz="1500" dirty="0">
                <a:solidFill>
                  <a:srgbClr val="14213D"/>
                </a:solidFill>
                <a:latin typeface="Nunito Sans" pitchFamily="34" charset="0"/>
                <a:ea typeface="Nunito Sans" pitchFamily="34" charset="-122"/>
                <a:cs typeface="Nunito Sans" pitchFamily="34" charset="-120"/>
              </a:rPr>
              <a:t>, and the matrix makes that impossible to miss.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POSITIVE AND NEGATIVE TEST CASES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Does it work, and does it fail safely?</a:t>
            </a:r>
            <a:endParaRPr lang="en-US" sz="3200" dirty="0"/>
          </a:p>
        </p:txBody>
      </p:sp>
      <p:sp>
        <p:nvSpPr>
          <p:cNvPr id="4" name="Shape 2"/>
          <p:cNvSpPr/>
          <p:nvPr/>
        </p:nvSpPr>
        <p:spPr>
          <a:xfrm>
            <a:off x="812800" y="1854138"/>
            <a:ext cx="5181600" cy="2087761"/>
          </a:xfrm>
          <a:prstGeom prst="roundRect">
            <a:avLst>
              <a:gd name="adj" fmla="val 4866"/>
            </a:avLst>
          </a:prstGeom>
          <a:solidFill>
            <a:srgbClr val="EEF2F7"/>
          </a:solidFill>
          <a:ln/>
        </p:spPr>
      </p:sp>
      <p:sp>
        <p:nvSpPr>
          <p:cNvPr id="5" name="Text 3"/>
          <p:cNvSpPr/>
          <p:nvPr/>
        </p:nvSpPr>
        <p:spPr>
          <a:xfrm>
            <a:off x="1066800" y="2108138"/>
            <a:ext cx="48138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5C9E"/>
                </a:solidFill>
                <a:latin typeface="Nunito Sans" pitchFamily="34" charset="0"/>
                <a:ea typeface="Nunito Sans" pitchFamily="34" charset="-122"/>
                <a:cs typeface="Nunito Sans" pitchFamily="34" charset="-120"/>
              </a:rPr>
              <a:t>Positive</a:t>
            </a:r>
            <a:endParaRPr lang="en-US" sz="1800" dirty="0"/>
          </a:p>
        </p:txBody>
      </p:sp>
      <p:sp>
        <p:nvSpPr>
          <p:cNvPr id="6" name="Text 4"/>
          <p:cNvSpPr/>
          <p:nvPr/>
        </p:nvSpPr>
        <p:spPr>
          <a:xfrm>
            <a:off x="1066800" y="2509441"/>
            <a:ext cx="481380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Input:</a:t>
            </a:r>
            <a:r>
              <a:rPr lang="en-US" sz="1300" dirty="0">
                <a:solidFill>
                  <a:srgbClr val="3D4A5C"/>
                </a:solidFill>
                <a:latin typeface="Nunito Sans" pitchFamily="34" charset="0"/>
                <a:ea typeface="Nunito Sans" pitchFamily="34" charset="-122"/>
                <a:cs typeface="Nunito Sans" pitchFamily="34" charset="-120"/>
              </a:rPr>
              <a:t> valid</a:t>
            </a:r>
            <a:endParaRPr lang="en-US" sz="1300" dirty="0"/>
          </a:p>
        </p:txBody>
      </p:sp>
      <p:sp>
        <p:nvSpPr>
          <p:cNvPr id="7" name="Text 5"/>
          <p:cNvSpPr/>
          <p:nvPr/>
        </p:nvSpPr>
        <p:spPr>
          <a:xfrm>
            <a:off x="1066800" y="2867558"/>
            <a:ext cx="481380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Goal:</a:t>
            </a:r>
            <a:r>
              <a:rPr lang="en-US" sz="1300" dirty="0">
                <a:solidFill>
                  <a:srgbClr val="3D4A5C"/>
                </a:solidFill>
                <a:latin typeface="Nunito Sans" pitchFamily="34" charset="0"/>
                <a:ea typeface="Nunito Sans" pitchFamily="34" charset="-122"/>
                <a:cs typeface="Nunito Sans" pitchFamily="34" charset="-120"/>
              </a:rPr>
              <a:t> the system does what it should</a:t>
            </a:r>
            <a:endParaRPr lang="en-US" sz="1300" dirty="0"/>
          </a:p>
        </p:txBody>
      </p:sp>
      <p:sp>
        <p:nvSpPr>
          <p:cNvPr id="8" name="Text 6"/>
          <p:cNvSpPr/>
          <p:nvPr/>
        </p:nvSpPr>
        <p:spPr>
          <a:xfrm>
            <a:off x="1066800" y="3225670"/>
            <a:ext cx="481380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Example:</a:t>
            </a:r>
            <a:r>
              <a:rPr lang="en-US" sz="1300" dirty="0">
                <a:solidFill>
                  <a:srgbClr val="3D4A5C"/>
                </a:solidFill>
                <a:latin typeface="Nunito Sans" pitchFamily="34" charset="0"/>
                <a:ea typeface="Nunito Sans" pitchFamily="34" charset="-122"/>
                <a:cs typeface="Nunito Sans" pitchFamily="34" charset="-120"/>
              </a:rPr>
              <a:t> valid credentials → dashboard</a:t>
            </a:r>
            <a:endParaRPr lang="en-US" sz="1300" dirty="0"/>
          </a:p>
        </p:txBody>
      </p:sp>
      <p:sp>
        <p:nvSpPr>
          <p:cNvPr id="9" name="Shape 7"/>
          <p:cNvSpPr/>
          <p:nvPr/>
        </p:nvSpPr>
        <p:spPr>
          <a:xfrm>
            <a:off x="6197600" y="1854138"/>
            <a:ext cx="5181600" cy="2087761"/>
          </a:xfrm>
          <a:prstGeom prst="roundRect">
            <a:avLst>
              <a:gd name="adj" fmla="val 4866"/>
            </a:avLst>
          </a:prstGeom>
          <a:solidFill>
            <a:srgbClr val="14213D"/>
          </a:solidFill>
          <a:ln/>
        </p:spPr>
      </p:sp>
      <p:sp>
        <p:nvSpPr>
          <p:cNvPr id="10" name="Text 8"/>
          <p:cNvSpPr/>
          <p:nvPr/>
        </p:nvSpPr>
        <p:spPr>
          <a:xfrm>
            <a:off x="6451600" y="2108138"/>
            <a:ext cx="48138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A04B"/>
                </a:solidFill>
                <a:latin typeface="Nunito Sans" pitchFamily="34" charset="0"/>
                <a:ea typeface="Nunito Sans" pitchFamily="34" charset="-122"/>
                <a:cs typeface="Nunito Sans" pitchFamily="34" charset="-120"/>
              </a:rPr>
              <a:t>Negative</a:t>
            </a:r>
            <a:endParaRPr lang="en-US" sz="1800" dirty="0"/>
          </a:p>
        </p:txBody>
      </p:sp>
      <p:sp>
        <p:nvSpPr>
          <p:cNvPr id="11" name="Text 9"/>
          <p:cNvSpPr/>
          <p:nvPr/>
        </p:nvSpPr>
        <p:spPr>
          <a:xfrm>
            <a:off x="6451600" y="2509441"/>
            <a:ext cx="481380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BFBF8"/>
                </a:solidFill>
                <a:latin typeface="Nunito Sans" pitchFamily="34" charset="0"/>
                <a:ea typeface="Nunito Sans" pitchFamily="34" charset="-122"/>
                <a:cs typeface="Nunito Sans" pitchFamily="34" charset="-120"/>
              </a:rPr>
              <a:t>Input:</a:t>
            </a:r>
            <a:r>
              <a:rPr lang="en-US" sz="1300" dirty="0">
                <a:solidFill>
                  <a:srgbClr val="DCE4F0"/>
                </a:solidFill>
                <a:latin typeface="Nunito Sans" pitchFamily="34" charset="0"/>
                <a:ea typeface="Nunito Sans" pitchFamily="34" charset="-122"/>
                <a:cs typeface="Nunito Sans" pitchFamily="34" charset="-120"/>
              </a:rPr>
              <a:t> invalid, unexpected or missing</a:t>
            </a:r>
            <a:endParaRPr lang="en-US" sz="1300" dirty="0"/>
          </a:p>
        </p:txBody>
      </p:sp>
      <p:sp>
        <p:nvSpPr>
          <p:cNvPr id="12" name="Text 10"/>
          <p:cNvSpPr/>
          <p:nvPr/>
        </p:nvSpPr>
        <p:spPr>
          <a:xfrm>
            <a:off x="6451600" y="2867558"/>
            <a:ext cx="4813808"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BFBF8"/>
                </a:solidFill>
                <a:latin typeface="Nunito Sans" pitchFamily="34" charset="0"/>
                <a:ea typeface="Nunito Sans" pitchFamily="34" charset="-122"/>
                <a:cs typeface="Nunito Sans" pitchFamily="34" charset="-120"/>
              </a:rPr>
              <a:t>Goal:</a:t>
            </a:r>
            <a:r>
              <a:rPr lang="en-US" sz="1300" dirty="0">
                <a:solidFill>
                  <a:srgbClr val="DCE4F0"/>
                </a:solidFill>
                <a:latin typeface="Nunito Sans" pitchFamily="34" charset="0"/>
                <a:ea typeface="Nunito Sans" pitchFamily="34" charset="-122"/>
                <a:cs typeface="Nunito Sans" pitchFamily="34" charset="-120"/>
              </a:rPr>
              <a:t> errors handled gracefully, and nothing happens that shouldn't</a:t>
            </a:r>
            <a:endParaRPr lang="en-US" sz="1300" dirty="0"/>
          </a:p>
        </p:txBody>
      </p:sp>
      <p:sp>
        <p:nvSpPr>
          <p:cNvPr id="13" name="Text 11"/>
          <p:cNvSpPr/>
          <p:nvPr/>
        </p:nvSpPr>
        <p:spPr>
          <a:xfrm>
            <a:off x="6451600" y="3456781"/>
            <a:ext cx="481380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BFBF8"/>
                </a:solidFill>
                <a:latin typeface="Nunito Sans" pitchFamily="34" charset="0"/>
                <a:ea typeface="Nunito Sans" pitchFamily="34" charset="-122"/>
                <a:cs typeface="Nunito Sans" pitchFamily="34" charset="-120"/>
              </a:rPr>
              <a:t>Example:</a:t>
            </a:r>
            <a:r>
              <a:rPr lang="en-US" sz="1300" dirty="0">
                <a:solidFill>
                  <a:srgbClr val="DCE4F0"/>
                </a:solidFill>
                <a:latin typeface="Nunito Sans" pitchFamily="34" charset="0"/>
                <a:ea typeface="Nunito Sans" pitchFamily="34" charset="-122"/>
                <a:cs typeface="Nunito Sans" pitchFamily="34" charset="-120"/>
              </a:rPr>
              <a:t> wrong password → error, no session</a:t>
            </a:r>
            <a:endParaRPr lang="en-US" sz="1300" dirty="0"/>
          </a:p>
        </p:txBody>
      </p:sp>
      <p:sp>
        <p:nvSpPr>
          <p:cNvPr id="14" name="Shape 12"/>
          <p:cNvSpPr/>
          <p:nvPr/>
        </p:nvSpPr>
        <p:spPr>
          <a:xfrm>
            <a:off x="838200" y="4246699"/>
            <a:ext cx="0" cy="667941"/>
          </a:xfrm>
          <a:prstGeom prst="line">
            <a:avLst/>
          </a:prstGeom>
          <a:noFill/>
          <a:ln w="50800">
            <a:solidFill>
              <a:srgbClr val="A14F0A"/>
            </a:solidFill>
            <a:prstDash val="solid"/>
          </a:ln>
        </p:spPr>
      </p:sp>
      <p:sp>
        <p:nvSpPr>
          <p:cNvPr id="15" name="Text 13"/>
          <p:cNvSpPr/>
          <p:nvPr/>
        </p:nvSpPr>
        <p:spPr>
          <a:xfrm>
            <a:off x="1066800" y="4272099"/>
            <a:ext cx="10621772"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4213D"/>
                </a:solidFill>
                <a:latin typeface="Domine" pitchFamily="18" charset="0"/>
                <a:ea typeface="Domine" pitchFamily="18" charset="-122"/>
                <a:cs typeface="Domine" pitchFamily="18" charset="-120"/>
              </a:rPr>
              <a:t>In mature suites, negative test cases often outnumber positive ones. That is where the defects live.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EXAMPLE SET: LOGIN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Valid login and input errors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2849166"/>
        </p:xfrm>
        <a:graphic>
          <a:graphicData uri="http://schemas.openxmlformats.org/drawingml/2006/table">
            <a:tbl>
              <a:tblPr/>
              <a:tblGrid>
                <a:gridCol w="1899666">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955036">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Title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Test data</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Expected result</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Valid login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asha@example.com / Shop@1234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Dashboard displayed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Wrong password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asha@example.com / Wrong@123</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“Invalid email or password”; stays on login page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Unregistered email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nobody@example.com / Shop@1234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Same generic message as 002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Empty fields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 / ""</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“Email and password are required”; not submitted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Invalid email format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asha@ / Shop@1234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“Enter a valid email address”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EXAMPLE SET: LOGIN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Edges, rules and security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2635845"/>
        </p:xfrm>
        <a:graphic>
          <a:graphicData uri="http://schemas.openxmlformats.org/drawingml/2006/table">
            <a:tbl>
              <a:tblPr/>
              <a:tblGrid>
                <a:gridCol w="1899666">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gridCol w="2743962">
                  <a:extLst>
                    <a:ext uri="{9D8B030D-6E8A-4147-A177-3AD203B41FA5}">
                      <a16:colId xmlns:a16="http://schemas.microsoft.com/office/drawing/2014/main" val="20003"/>
                    </a:ext>
                  </a:extLst>
                </a:gridCol>
                <a:gridCol w="1688592">
                  <a:extLst>
                    <a:ext uri="{9D8B030D-6E8A-4147-A177-3AD203B41FA5}">
                      <a16:colId xmlns:a16="http://schemas.microsoft.com/office/drawing/2014/main" val="20004"/>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Title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Test data</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Expected result</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Leading / trailing spaces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 asha@example.com "</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Spaces trimmed; login succeeds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 (edge)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5th wrong password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5 × wrong password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Locked; “Account locked for 15 minutes”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 / Rule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TC_LOGIN_008</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Correct password while locked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Correct password after lock</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Still locked; login refused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TC_LOGIN_009</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SQL injection in email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 OR '1'='1 / x</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Rejected safely; no DB error shown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 / Security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TC_LOGIN_010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Back button after logout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Dashboard not accessible; back to login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 / Security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PART B · WHY TECHNIQUES?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Good design beats more test cases</a:t>
            </a:r>
            <a:endParaRPr lang="en-US" sz="3200" dirty="0"/>
          </a:p>
        </p:txBody>
      </p:sp>
      <p:sp>
        <p:nvSpPr>
          <p:cNvPr id="4" name="Shape 2"/>
          <p:cNvSpPr/>
          <p:nvPr/>
        </p:nvSpPr>
        <p:spPr>
          <a:xfrm>
            <a:off x="838200" y="1904938"/>
            <a:ext cx="0" cy="370814"/>
          </a:xfrm>
          <a:prstGeom prst="line">
            <a:avLst/>
          </a:prstGeom>
          <a:noFill/>
          <a:ln w="50800">
            <a:solidFill>
              <a:srgbClr val="F0A04B"/>
            </a:solidFill>
            <a:prstDash val="solid"/>
          </a:ln>
        </p:spPr>
      </p:sp>
      <p:sp>
        <p:nvSpPr>
          <p:cNvPr id="5" name="Text 3"/>
          <p:cNvSpPr/>
          <p:nvPr/>
        </p:nvSpPr>
        <p:spPr>
          <a:xfrm>
            <a:off x="1066800" y="1930338"/>
            <a:ext cx="10621772" cy="345414"/>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BFBF8"/>
                </a:solidFill>
                <a:latin typeface="Domine" pitchFamily="18" charset="0"/>
                <a:ea typeface="Domine" pitchFamily="18" charset="-122"/>
                <a:cs typeface="Domine" pitchFamily="18" charset="-120"/>
              </a:rPr>
              <a:t>Requirement: User must be between 18 and 60 years old.</a:t>
            </a:r>
            <a:endParaRPr lang="en-US" sz="1800" dirty="0"/>
          </a:p>
        </p:txBody>
      </p:sp>
      <p:sp>
        <p:nvSpPr>
          <p:cNvPr id="6" name="Shape 4"/>
          <p:cNvSpPr/>
          <p:nvPr/>
        </p:nvSpPr>
        <p:spPr>
          <a:xfrm>
            <a:off x="812800" y="2631356"/>
            <a:ext cx="5143500" cy="1869414"/>
          </a:xfrm>
          <a:prstGeom prst="roundRect">
            <a:avLst>
              <a:gd name="adj" fmla="val 5435"/>
            </a:avLst>
          </a:prstGeom>
          <a:solidFill>
            <a:srgbClr val="24345A"/>
          </a:solidFill>
          <a:ln/>
        </p:spPr>
      </p:sp>
      <p:sp>
        <p:nvSpPr>
          <p:cNvPr id="7" name="Text 5"/>
          <p:cNvSpPr/>
          <p:nvPr/>
        </p:nvSpPr>
        <p:spPr>
          <a:xfrm>
            <a:off x="1066800" y="2885356"/>
            <a:ext cx="4774565"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C9D3E3"/>
                </a:solidFill>
                <a:latin typeface="Domine" pitchFamily="18" charset="0"/>
                <a:ea typeface="Domine" pitchFamily="18" charset="-122"/>
                <a:cs typeface="Domine" pitchFamily="18" charset="-120"/>
              </a:rPr>
              <a:t>121</a:t>
            </a:r>
            <a:endParaRPr lang="en-US" sz="6000" dirty="0"/>
          </a:p>
        </p:txBody>
      </p:sp>
      <p:sp>
        <p:nvSpPr>
          <p:cNvPr id="8" name="Text 6"/>
          <p:cNvSpPr/>
          <p:nvPr/>
        </p:nvSpPr>
        <p:spPr>
          <a:xfrm>
            <a:off x="1066800" y="3723556"/>
            <a:ext cx="477456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tests if you try every age from 0 to 120. Slow, and adds almost nothing.</a:t>
            </a:r>
            <a:endParaRPr lang="en-US" sz="1400" dirty="0"/>
          </a:p>
        </p:txBody>
      </p:sp>
      <p:sp>
        <p:nvSpPr>
          <p:cNvPr id="9" name="Shape 7"/>
          <p:cNvSpPr/>
          <p:nvPr/>
        </p:nvSpPr>
        <p:spPr>
          <a:xfrm>
            <a:off x="6216650" y="2637706"/>
            <a:ext cx="5156200" cy="1856714"/>
          </a:xfrm>
          <a:prstGeom prst="roundRect">
            <a:avLst>
              <a:gd name="adj" fmla="val 5130"/>
            </a:avLst>
          </a:prstGeom>
          <a:solidFill>
            <a:srgbClr val="24345A"/>
          </a:solidFill>
          <a:ln w="12700">
            <a:solidFill>
              <a:srgbClr val="F0A04B"/>
            </a:solidFill>
            <a:prstDash val="solid"/>
          </a:ln>
        </p:spPr>
      </p:sp>
      <p:sp>
        <p:nvSpPr>
          <p:cNvPr id="10" name="Text 8"/>
          <p:cNvSpPr/>
          <p:nvPr/>
        </p:nvSpPr>
        <p:spPr>
          <a:xfrm>
            <a:off x="6477000" y="2898056"/>
            <a:ext cx="4774565" cy="787400"/>
          </a:xfrm>
          <a:prstGeom prst="rect">
            <a:avLst/>
          </a:prstGeom>
          <a:noFill/>
          <a:ln/>
        </p:spPr>
        <p:txBody>
          <a:bodyPr wrap="square" lIns="0" tIns="0" rIns="0" bIns="0" rtlCol="0" anchor="t">
            <a:normAutofit fontScale="92500"/>
          </a:bodyPr>
          <a:lstStyle/>
          <a:p>
            <a:pPr marL="0" indent="0" algn="l">
              <a:lnSpc>
                <a:spcPts val="6000"/>
              </a:lnSpc>
              <a:buNone/>
            </a:pPr>
            <a:r>
              <a:rPr lang="en-US" sz="6000" b="1" dirty="0">
                <a:solidFill>
                  <a:srgbClr val="F0A04B"/>
                </a:solidFill>
                <a:latin typeface="Domine" pitchFamily="18" charset="0"/>
                <a:ea typeface="Domine" pitchFamily="18" charset="-122"/>
                <a:cs typeface="Domine" pitchFamily="18" charset="-120"/>
              </a:rPr>
              <a:t>6</a:t>
            </a:r>
            <a:endParaRPr lang="en-US" sz="6000" dirty="0"/>
          </a:p>
        </p:txBody>
      </p:sp>
      <p:sp>
        <p:nvSpPr>
          <p:cNvPr id="11" name="Text 9"/>
          <p:cNvSpPr/>
          <p:nvPr/>
        </p:nvSpPr>
        <p:spPr>
          <a:xfrm>
            <a:off x="6477000" y="3736256"/>
            <a:ext cx="4774565"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well-chosen values that catch practically every realistic defect.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TOOLKIT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Seven techniques, each with a job</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3087688"/>
        </p:xfrm>
        <a:graphic>
          <a:graphicData uri="http://schemas.openxmlformats.org/drawingml/2006/table">
            <a:tbl>
              <a:tblPr/>
              <a:tblGrid>
                <a:gridCol w="844296">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548792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Technique</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Best for</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1</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Equivalence Partitioning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Input ranges and categories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2</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Boundary Value Analysis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Limits and edges of ranges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3</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Decision Table Testing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Combinations of conditions and rules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4</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State Transition Testing</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Objects that move through states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5</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Pairwise Testing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Many parameters or configurations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6</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Error Guessing</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Known weak spots, from experience</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7</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Exploratory Testing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Learning and finding the unexpected</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1 · EQUIVALENCE PARTITIONING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One value stands in for the whole class</a:t>
            </a:r>
            <a:endParaRPr lang="en-US" sz="3200" dirty="0"/>
          </a:p>
        </p:txBody>
      </p:sp>
      <p:sp>
        <p:nvSpPr>
          <p:cNvPr id="4" name="Text 2"/>
          <p:cNvSpPr/>
          <p:nvPr/>
        </p:nvSpPr>
        <p:spPr>
          <a:xfrm>
            <a:off x="812800" y="1777938"/>
            <a:ext cx="1088339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Split inputs into partitions where the system should behave the same way, then test one representative from each. Age must be 18–60.</a:t>
            </a:r>
            <a:endParaRPr lang="en-US" sz="1400" dirty="0"/>
          </a:p>
        </p:txBody>
      </p:sp>
      <p:sp>
        <p:nvSpPr>
          <p:cNvPr id="5" name="Text 3"/>
          <p:cNvSpPr/>
          <p:nvPr/>
        </p:nvSpPr>
        <p:spPr>
          <a:xfrm>
            <a:off x="812800" y="2504356"/>
            <a:ext cx="531088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Core partitions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806576"/>
          <a:ext cx="5143500" cy="1437217"/>
        </p:xfrm>
        <a:graphic>
          <a:graphicData uri="http://schemas.openxmlformats.org/drawingml/2006/table">
            <a:tbl>
              <a:tblPr/>
              <a:tblGrid>
                <a:gridCol w="226314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851660">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Partition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Value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Expected</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Below 18 (invalid)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10</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18–60 (valid)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35</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Above 60 (invalid)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75</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223000" y="2504356"/>
            <a:ext cx="531088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14F0A"/>
                </a:solidFill>
                <a:latin typeface="Nunito Sans" pitchFamily="34" charset="0"/>
                <a:ea typeface="Nunito Sans" pitchFamily="34" charset="-122"/>
                <a:cs typeface="Nunito Sans" pitchFamily="34" charset="-120"/>
              </a:rPr>
              <a:t>Non-obvious partitions</a:t>
            </a:r>
            <a:endParaRPr lang="en-US" sz="14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235700" y="2806576"/>
          <a:ext cx="5143500" cy="2155825"/>
        </p:xfrm>
        <a:graphic>
          <a:graphicData uri="http://schemas.openxmlformats.org/drawingml/2006/table">
            <a:tbl>
              <a:tblPr/>
              <a:tblGrid>
                <a:gridCol w="226314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851660">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Partition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Value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Expected</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Non-numeric</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abc</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Empty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“Age is required”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Decimal</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25.5</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 or ask!</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Negative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-5</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Special characters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2 · BOUNDARY VALUE ANALYSIS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Defects cluster at the edges</a:t>
            </a:r>
            <a:endParaRPr lang="en-US" sz="3200" dirty="0"/>
          </a:p>
        </p:txBody>
      </p:sp>
      <p:sp>
        <p:nvSpPr>
          <p:cNvPr id="4" name="Text 2"/>
          <p:cNvSpPr/>
          <p:nvPr/>
        </p:nvSpPr>
        <p:spPr>
          <a:xfrm>
            <a:off x="812800" y="18541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Developers write </a:t>
            </a:r>
            <a:r>
              <a:rPr lang="en-US" sz="1400" b="1" dirty="0">
                <a:solidFill>
                  <a:srgbClr val="3D4A5C"/>
                </a:solidFill>
                <a:latin typeface="Nunito Sans" pitchFamily="34" charset="0"/>
                <a:ea typeface="Nunito Sans" pitchFamily="34" charset="-122"/>
                <a:cs typeface="Nunito Sans" pitchFamily="34" charset="-120"/>
              </a:rPr>
              <a:t>&lt;</a:t>
            </a:r>
            <a:r>
              <a:rPr lang="en-US" sz="1400" dirty="0">
                <a:solidFill>
                  <a:srgbClr val="3D4A5C"/>
                </a:solidFill>
                <a:latin typeface="Nunito Sans" pitchFamily="34" charset="0"/>
                <a:ea typeface="Nunito Sans" pitchFamily="34" charset="-122"/>
                <a:cs typeface="Nunito Sans" pitchFamily="34" charset="-120"/>
              </a:rPr>
              <a:t> instead of </a:t>
            </a:r>
            <a:r>
              <a:rPr lang="en-US" sz="1400" b="1" dirty="0">
                <a:solidFill>
                  <a:srgbClr val="3D4A5C"/>
                </a:solidFill>
                <a:latin typeface="Nunito Sans" pitchFamily="34" charset="0"/>
                <a:ea typeface="Nunito Sans" pitchFamily="34" charset="-122"/>
                <a:cs typeface="Nunito Sans" pitchFamily="34" charset="-120"/>
              </a:rPr>
              <a:t>&lt;=</a:t>
            </a:r>
            <a:r>
              <a:rPr lang="en-US" sz="1400" dirty="0">
                <a:solidFill>
                  <a:srgbClr val="3D4A5C"/>
                </a:solidFill>
                <a:latin typeface="Nunito Sans" pitchFamily="34" charset="0"/>
                <a:ea typeface="Nunito Sans" pitchFamily="34" charset="-122"/>
                <a:cs typeface="Nunito Sans" pitchFamily="34" charset="-120"/>
              </a:rPr>
              <a:t>. So test at, just below and just above each boundary of 18–60.</a:t>
            </a:r>
            <a:endParaRPr lang="en-US" sz="1400" dirty="0"/>
          </a:p>
        </p:txBody>
      </p:sp>
      <p:sp>
        <p:nvSpPr>
          <p:cNvPr id="5" name="Shape 3"/>
          <p:cNvSpPr/>
          <p:nvPr/>
        </p:nvSpPr>
        <p:spPr>
          <a:xfrm>
            <a:off x="812800" y="2407841"/>
            <a:ext cx="1566333" cy="1650868"/>
          </a:xfrm>
          <a:prstGeom prst="roundRect">
            <a:avLst>
              <a:gd name="adj" fmla="val 5676"/>
            </a:avLst>
          </a:prstGeom>
          <a:solidFill>
            <a:srgbClr val="FBEBDD"/>
          </a:solidFill>
          <a:ln/>
        </p:spPr>
      </p:sp>
      <p:sp>
        <p:nvSpPr>
          <p:cNvPr id="6" name="Text 4"/>
          <p:cNvSpPr/>
          <p:nvPr/>
        </p:nvSpPr>
        <p:spPr>
          <a:xfrm>
            <a:off x="939800" y="2585641"/>
            <a:ext cx="13631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A14F0A"/>
                </a:solidFill>
                <a:latin typeface="Domine" pitchFamily="18" charset="0"/>
                <a:ea typeface="Domine" pitchFamily="18" charset="-122"/>
                <a:cs typeface="Domine" pitchFamily="18" charset="-120"/>
              </a:rPr>
              <a:t>17</a:t>
            </a:r>
            <a:endParaRPr lang="en-US" sz="3200" dirty="0"/>
          </a:p>
        </p:txBody>
      </p:sp>
      <p:sp>
        <p:nvSpPr>
          <p:cNvPr id="7" name="Text 5"/>
          <p:cNvSpPr/>
          <p:nvPr/>
        </p:nvSpPr>
        <p:spPr>
          <a:xfrm>
            <a:off x="939800" y="3205361"/>
            <a:ext cx="1363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Just below lower</a:t>
            </a:r>
            <a:endParaRPr lang="en-US" sz="1200" dirty="0"/>
          </a:p>
        </p:txBody>
      </p:sp>
      <p:sp>
        <p:nvSpPr>
          <p:cNvPr id="8" name="Text 6"/>
          <p:cNvSpPr/>
          <p:nvPr/>
        </p:nvSpPr>
        <p:spPr>
          <a:xfrm>
            <a:off x="939800" y="3461879"/>
            <a:ext cx="13631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Rejected</a:t>
            </a:r>
            <a:endParaRPr lang="en-US" sz="1200" dirty="0"/>
          </a:p>
        </p:txBody>
      </p:sp>
      <p:sp>
        <p:nvSpPr>
          <p:cNvPr id="9" name="Shape 7"/>
          <p:cNvSpPr/>
          <p:nvPr/>
        </p:nvSpPr>
        <p:spPr>
          <a:xfrm>
            <a:off x="2506133" y="2407841"/>
            <a:ext cx="1566333" cy="1650868"/>
          </a:xfrm>
          <a:prstGeom prst="roundRect">
            <a:avLst>
              <a:gd name="adj" fmla="val 5676"/>
            </a:avLst>
          </a:prstGeom>
          <a:solidFill>
            <a:srgbClr val="EEF2F7"/>
          </a:solidFill>
          <a:ln/>
        </p:spPr>
      </p:sp>
      <p:sp>
        <p:nvSpPr>
          <p:cNvPr id="10" name="Text 8"/>
          <p:cNvSpPr/>
          <p:nvPr/>
        </p:nvSpPr>
        <p:spPr>
          <a:xfrm>
            <a:off x="2633133" y="2585641"/>
            <a:ext cx="13631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B5C9E"/>
                </a:solidFill>
                <a:latin typeface="Domine" pitchFamily="18" charset="0"/>
                <a:ea typeface="Domine" pitchFamily="18" charset="-122"/>
                <a:cs typeface="Domine" pitchFamily="18" charset="-120"/>
              </a:rPr>
              <a:t>18</a:t>
            </a:r>
            <a:endParaRPr lang="en-US" sz="3200" dirty="0"/>
          </a:p>
        </p:txBody>
      </p:sp>
      <p:sp>
        <p:nvSpPr>
          <p:cNvPr id="11" name="Text 9"/>
          <p:cNvSpPr/>
          <p:nvPr/>
        </p:nvSpPr>
        <p:spPr>
          <a:xfrm>
            <a:off x="2633133" y="3205361"/>
            <a:ext cx="1363133"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On lower boundary</a:t>
            </a:r>
            <a:endParaRPr lang="en-US" sz="1200" dirty="0"/>
          </a:p>
        </p:txBody>
      </p:sp>
      <p:sp>
        <p:nvSpPr>
          <p:cNvPr id="12" name="Text 10"/>
          <p:cNvSpPr/>
          <p:nvPr/>
        </p:nvSpPr>
        <p:spPr>
          <a:xfrm>
            <a:off x="2633133" y="3667596"/>
            <a:ext cx="13631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Accepted</a:t>
            </a:r>
            <a:endParaRPr lang="en-US" sz="1200" dirty="0"/>
          </a:p>
        </p:txBody>
      </p:sp>
      <p:sp>
        <p:nvSpPr>
          <p:cNvPr id="13" name="Shape 11"/>
          <p:cNvSpPr/>
          <p:nvPr/>
        </p:nvSpPr>
        <p:spPr>
          <a:xfrm>
            <a:off x="4199467" y="2407841"/>
            <a:ext cx="1566333" cy="1650868"/>
          </a:xfrm>
          <a:prstGeom prst="roundRect">
            <a:avLst>
              <a:gd name="adj" fmla="val 5676"/>
            </a:avLst>
          </a:prstGeom>
          <a:solidFill>
            <a:srgbClr val="EEF2F7"/>
          </a:solidFill>
          <a:ln/>
        </p:spPr>
      </p:sp>
      <p:sp>
        <p:nvSpPr>
          <p:cNvPr id="14" name="Text 12"/>
          <p:cNvSpPr/>
          <p:nvPr/>
        </p:nvSpPr>
        <p:spPr>
          <a:xfrm>
            <a:off x="4326467" y="2585641"/>
            <a:ext cx="13631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B5C9E"/>
                </a:solidFill>
                <a:latin typeface="Domine" pitchFamily="18" charset="0"/>
                <a:ea typeface="Domine" pitchFamily="18" charset="-122"/>
                <a:cs typeface="Domine" pitchFamily="18" charset="-120"/>
              </a:rPr>
              <a:t>19</a:t>
            </a:r>
            <a:endParaRPr lang="en-US" sz="3200" dirty="0"/>
          </a:p>
        </p:txBody>
      </p:sp>
      <p:sp>
        <p:nvSpPr>
          <p:cNvPr id="15" name="Text 13"/>
          <p:cNvSpPr/>
          <p:nvPr/>
        </p:nvSpPr>
        <p:spPr>
          <a:xfrm>
            <a:off x="4326467" y="3205361"/>
            <a:ext cx="1363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Just above lower</a:t>
            </a:r>
            <a:endParaRPr lang="en-US" sz="1200" dirty="0"/>
          </a:p>
        </p:txBody>
      </p:sp>
      <p:sp>
        <p:nvSpPr>
          <p:cNvPr id="16" name="Text 14"/>
          <p:cNvSpPr/>
          <p:nvPr/>
        </p:nvSpPr>
        <p:spPr>
          <a:xfrm>
            <a:off x="4326467" y="3461879"/>
            <a:ext cx="13631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Accepted</a:t>
            </a:r>
            <a:endParaRPr lang="en-US" sz="1200" dirty="0"/>
          </a:p>
        </p:txBody>
      </p:sp>
      <p:sp>
        <p:nvSpPr>
          <p:cNvPr id="17" name="Text 15"/>
          <p:cNvSpPr/>
          <p:nvPr/>
        </p:nvSpPr>
        <p:spPr>
          <a:xfrm>
            <a:off x="5961459" y="3019896"/>
            <a:ext cx="269081" cy="452107"/>
          </a:xfrm>
          <a:prstGeom prst="rect">
            <a:avLst/>
          </a:prstGeom>
          <a:noFill/>
          <a:ln/>
        </p:spPr>
        <p:txBody>
          <a:bodyPr wrap="square" lIns="0" tIns="0" rIns="0" bIns="0" rtlCol="0" anchor="t">
            <a:normAutofit/>
          </a:bodyPr>
          <a:lstStyle/>
          <a:p>
            <a:pPr marL="0" indent="0" algn="ctr">
              <a:lnSpc>
                <a:spcPts val="3360"/>
              </a:lnSpc>
              <a:buNone/>
            </a:pPr>
            <a:r>
              <a:rPr lang="en-US" sz="2400" dirty="0">
                <a:solidFill>
                  <a:srgbClr val="3D4A5C"/>
                </a:solidFill>
                <a:latin typeface="Domine" pitchFamily="18" charset="0"/>
                <a:ea typeface="Domine" pitchFamily="18" charset="-122"/>
                <a:cs typeface="Domine" pitchFamily="18" charset="-120"/>
              </a:rPr>
              <a:t>…</a:t>
            </a:r>
            <a:endParaRPr lang="en-US" sz="2400" dirty="0"/>
          </a:p>
        </p:txBody>
      </p:sp>
      <p:sp>
        <p:nvSpPr>
          <p:cNvPr id="18" name="Shape 16"/>
          <p:cNvSpPr/>
          <p:nvPr/>
        </p:nvSpPr>
        <p:spPr>
          <a:xfrm>
            <a:off x="6426200" y="2407841"/>
            <a:ext cx="1566333" cy="1650868"/>
          </a:xfrm>
          <a:prstGeom prst="roundRect">
            <a:avLst>
              <a:gd name="adj" fmla="val 5676"/>
            </a:avLst>
          </a:prstGeom>
          <a:solidFill>
            <a:srgbClr val="EEF2F7"/>
          </a:solidFill>
          <a:ln/>
        </p:spPr>
      </p:sp>
      <p:sp>
        <p:nvSpPr>
          <p:cNvPr id="19" name="Text 17"/>
          <p:cNvSpPr/>
          <p:nvPr/>
        </p:nvSpPr>
        <p:spPr>
          <a:xfrm>
            <a:off x="6553200" y="2585641"/>
            <a:ext cx="13631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B5C9E"/>
                </a:solidFill>
                <a:latin typeface="Domine" pitchFamily="18" charset="0"/>
                <a:ea typeface="Domine" pitchFamily="18" charset="-122"/>
                <a:cs typeface="Domine" pitchFamily="18" charset="-120"/>
              </a:rPr>
              <a:t>59</a:t>
            </a:r>
            <a:endParaRPr lang="en-US" sz="3200" dirty="0"/>
          </a:p>
        </p:txBody>
      </p:sp>
      <p:sp>
        <p:nvSpPr>
          <p:cNvPr id="20" name="Text 18"/>
          <p:cNvSpPr/>
          <p:nvPr/>
        </p:nvSpPr>
        <p:spPr>
          <a:xfrm>
            <a:off x="6553200" y="3205361"/>
            <a:ext cx="1363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Just below upper</a:t>
            </a:r>
            <a:endParaRPr lang="en-US" sz="1200" dirty="0"/>
          </a:p>
        </p:txBody>
      </p:sp>
      <p:sp>
        <p:nvSpPr>
          <p:cNvPr id="21" name="Text 19"/>
          <p:cNvSpPr/>
          <p:nvPr/>
        </p:nvSpPr>
        <p:spPr>
          <a:xfrm>
            <a:off x="6553200" y="3461879"/>
            <a:ext cx="13631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Accepted</a:t>
            </a:r>
            <a:endParaRPr lang="en-US" sz="1200" dirty="0"/>
          </a:p>
        </p:txBody>
      </p:sp>
      <p:sp>
        <p:nvSpPr>
          <p:cNvPr id="22" name="Shape 20"/>
          <p:cNvSpPr/>
          <p:nvPr/>
        </p:nvSpPr>
        <p:spPr>
          <a:xfrm>
            <a:off x="8119534" y="2407841"/>
            <a:ext cx="1566333" cy="1650868"/>
          </a:xfrm>
          <a:prstGeom prst="roundRect">
            <a:avLst>
              <a:gd name="adj" fmla="val 5676"/>
            </a:avLst>
          </a:prstGeom>
          <a:solidFill>
            <a:srgbClr val="EEF2F7"/>
          </a:solidFill>
          <a:ln/>
        </p:spPr>
      </p:sp>
      <p:sp>
        <p:nvSpPr>
          <p:cNvPr id="23" name="Text 21"/>
          <p:cNvSpPr/>
          <p:nvPr/>
        </p:nvSpPr>
        <p:spPr>
          <a:xfrm>
            <a:off x="8246534" y="2585641"/>
            <a:ext cx="13631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B5C9E"/>
                </a:solidFill>
                <a:latin typeface="Domine" pitchFamily="18" charset="0"/>
                <a:ea typeface="Domine" pitchFamily="18" charset="-122"/>
                <a:cs typeface="Domine" pitchFamily="18" charset="-120"/>
              </a:rPr>
              <a:t>60</a:t>
            </a:r>
            <a:endParaRPr lang="en-US" sz="3200" dirty="0"/>
          </a:p>
        </p:txBody>
      </p:sp>
      <p:sp>
        <p:nvSpPr>
          <p:cNvPr id="24" name="Text 22"/>
          <p:cNvSpPr/>
          <p:nvPr/>
        </p:nvSpPr>
        <p:spPr>
          <a:xfrm>
            <a:off x="8246534" y="3205361"/>
            <a:ext cx="1363133"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On upper boundary</a:t>
            </a:r>
            <a:endParaRPr lang="en-US" sz="1200" dirty="0"/>
          </a:p>
        </p:txBody>
      </p:sp>
      <p:sp>
        <p:nvSpPr>
          <p:cNvPr id="25" name="Text 23"/>
          <p:cNvSpPr/>
          <p:nvPr/>
        </p:nvSpPr>
        <p:spPr>
          <a:xfrm>
            <a:off x="8246534" y="3667596"/>
            <a:ext cx="13631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Accepted</a:t>
            </a:r>
            <a:endParaRPr lang="en-US" sz="1200" dirty="0"/>
          </a:p>
        </p:txBody>
      </p:sp>
      <p:sp>
        <p:nvSpPr>
          <p:cNvPr id="26" name="Shape 24"/>
          <p:cNvSpPr/>
          <p:nvPr/>
        </p:nvSpPr>
        <p:spPr>
          <a:xfrm>
            <a:off x="9812867" y="2407841"/>
            <a:ext cx="1566333" cy="1650868"/>
          </a:xfrm>
          <a:prstGeom prst="roundRect">
            <a:avLst>
              <a:gd name="adj" fmla="val 5676"/>
            </a:avLst>
          </a:prstGeom>
          <a:solidFill>
            <a:srgbClr val="FBEBDD"/>
          </a:solidFill>
          <a:ln/>
        </p:spPr>
      </p:sp>
      <p:sp>
        <p:nvSpPr>
          <p:cNvPr id="27" name="Text 25"/>
          <p:cNvSpPr/>
          <p:nvPr/>
        </p:nvSpPr>
        <p:spPr>
          <a:xfrm>
            <a:off x="9939867" y="2585641"/>
            <a:ext cx="13631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A14F0A"/>
                </a:solidFill>
                <a:latin typeface="Domine" pitchFamily="18" charset="0"/>
                <a:ea typeface="Domine" pitchFamily="18" charset="-122"/>
                <a:cs typeface="Domine" pitchFamily="18" charset="-120"/>
              </a:rPr>
              <a:t>61</a:t>
            </a:r>
            <a:endParaRPr lang="en-US" sz="3200" dirty="0"/>
          </a:p>
        </p:txBody>
      </p:sp>
      <p:sp>
        <p:nvSpPr>
          <p:cNvPr id="28" name="Text 26"/>
          <p:cNvSpPr/>
          <p:nvPr/>
        </p:nvSpPr>
        <p:spPr>
          <a:xfrm>
            <a:off x="9939867" y="3205361"/>
            <a:ext cx="1363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Just above upper</a:t>
            </a:r>
            <a:endParaRPr lang="en-US" sz="1200" dirty="0"/>
          </a:p>
        </p:txBody>
      </p:sp>
      <p:sp>
        <p:nvSpPr>
          <p:cNvPr id="29" name="Text 27"/>
          <p:cNvSpPr/>
          <p:nvPr/>
        </p:nvSpPr>
        <p:spPr>
          <a:xfrm>
            <a:off x="9939867" y="3461879"/>
            <a:ext cx="13631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Rejected</a:t>
            </a:r>
            <a:endParaRPr lang="en-US" sz="1200" dirty="0"/>
          </a:p>
        </p:txBody>
      </p:sp>
      <p:sp>
        <p:nvSpPr>
          <p:cNvPr id="30" name="Text 28"/>
          <p:cNvSpPr/>
          <p:nvPr/>
        </p:nvSpPr>
        <p:spPr>
          <a:xfrm>
            <a:off x="812800" y="436351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This is </a:t>
            </a:r>
            <a:r>
              <a:rPr lang="en-US" sz="1400" b="1" dirty="0">
                <a:solidFill>
                  <a:srgbClr val="14213D"/>
                </a:solidFill>
                <a:latin typeface="Nunito Sans" pitchFamily="34" charset="0"/>
                <a:ea typeface="Nunito Sans" pitchFamily="34" charset="-122"/>
                <a:cs typeface="Nunito Sans" pitchFamily="34" charset="-120"/>
              </a:rPr>
              <a:t>3-value BVA</a:t>
            </a:r>
            <a:r>
              <a:rPr lang="en-US" sz="1400" dirty="0">
                <a:solidFill>
                  <a:srgbClr val="14213D"/>
                </a:solidFill>
                <a:latin typeface="Nunito Sans" pitchFamily="34" charset="0"/>
                <a:ea typeface="Nunito Sans" pitchFamily="34" charset="-122"/>
                <a:cs typeface="Nunito Sans" pitchFamily="34" charset="-120"/>
              </a:rPr>
              <a:t>. Some teams use </a:t>
            </a:r>
            <a:r>
              <a:rPr lang="en-US" sz="1400" b="1" dirty="0">
                <a:solidFill>
                  <a:srgbClr val="14213D"/>
                </a:solidFill>
                <a:latin typeface="Nunito Sans" pitchFamily="34" charset="0"/>
                <a:ea typeface="Nunito Sans" pitchFamily="34" charset="-122"/>
                <a:cs typeface="Nunito Sans" pitchFamily="34" charset="-120"/>
              </a:rPr>
              <a:t>2-value BVA</a:t>
            </a:r>
            <a:r>
              <a:rPr lang="en-US" sz="1400" dirty="0">
                <a:solidFill>
                  <a:srgbClr val="14213D"/>
                </a:solidFill>
                <a:latin typeface="Nunito Sans" pitchFamily="34" charset="0"/>
                <a:ea typeface="Nunito Sans" pitchFamily="34" charset="-122"/>
                <a:cs typeface="Nunito Sans" pitchFamily="34" charset="-120"/>
              </a:rPr>
              <a:t> (17, 18, 60, 61), which catches most of the same bugs with fewer tests.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THE BUG BVA CATCHES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EP misses it. BVA finds it.</a:t>
            </a:r>
            <a:endParaRPr lang="en-US" sz="3200" dirty="0"/>
          </a:p>
        </p:txBody>
      </p:sp>
      <p:sp>
        <p:nvSpPr>
          <p:cNvPr id="4" name="Shape 2"/>
          <p:cNvSpPr/>
          <p:nvPr/>
        </p:nvSpPr>
        <p:spPr>
          <a:xfrm>
            <a:off x="812800" y="1854138"/>
            <a:ext cx="10566400" cy="1153120"/>
          </a:xfrm>
          <a:prstGeom prst="roundRect">
            <a:avLst>
              <a:gd name="adj" fmla="val 8811"/>
            </a:avLst>
          </a:prstGeom>
          <a:solidFill>
            <a:srgbClr val="24345A"/>
          </a:solidFill>
          <a:ln/>
        </p:spPr>
      </p:sp>
      <p:sp>
        <p:nvSpPr>
          <p:cNvPr id="5" name="Text 3"/>
          <p:cNvSpPr/>
          <p:nvPr/>
        </p:nvSpPr>
        <p:spPr>
          <a:xfrm>
            <a:off x="1066800" y="2108138"/>
            <a:ext cx="10360152" cy="345414"/>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BFBF8"/>
                </a:solidFill>
                <a:latin typeface="JetBrains Mono" pitchFamily="49" charset="0"/>
                <a:ea typeface="JetBrains Mono" pitchFamily="49" charset="-122"/>
                <a:cs typeface="JetBrains Mono" pitchFamily="49" charset="-120"/>
              </a:rPr>
              <a:t>if (age &gt; 18 &amp;&amp; age &lt;= 60)</a:t>
            </a:r>
            <a:endParaRPr lang="en-US" sz="1800" dirty="0"/>
          </a:p>
        </p:txBody>
      </p:sp>
      <p:sp>
        <p:nvSpPr>
          <p:cNvPr id="6" name="Text 4"/>
          <p:cNvSpPr/>
          <p:nvPr/>
        </p:nvSpPr>
        <p:spPr>
          <a:xfrm>
            <a:off x="1066800" y="2504356"/>
            <a:ext cx="1036015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A04B"/>
                </a:solidFill>
                <a:latin typeface="JetBrains Mono" pitchFamily="49" charset="0"/>
                <a:ea typeface="JetBrains Mono" pitchFamily="49" charset="-122"/>
                <a:cs typeface="JetBrains Mono" pitchFamily="49" charset="-120"/>
              </a:rPr>
              <a:t>// wrong: should be age &gt;= 18</a:t>
            </a:r>
            <a:endParaRPr lang="en-US" sz="1400" dirty="0"/>
          </a:p>
        </p:txBody>
      </p:sp>
      <p:sp>
        <p:nvSpPr>
          <p:cNvPr id="7" name="Shape 5"/>
          <p:cNvSpPr/>
          <p:nvPr/>
        </p:nvSpPr>
        <p:spPr>
          <a:xfrm>
            <a:off x="812800" y="3312058"/>
            <a:ext cx="5168900" cy="1015934"/>
          </a:xfrm>
          <a:prstGeom prst="roundRect">
            <a:avLst>
              <a:gd name="adj" fmla="val 10001"/>
            </a:avLst>
          </a:prstGeom>
          <a:solidFill>
            <a:srgbClr val="24345A"/>
          </a:solidFill>
          <a:ln/>
        </p:spPr>
      </p:sp>
      <p:sp>
        <p:nvSpPr>
          <p:cNvPr id="8" name="Text 6"/>
          <p:cNvSpPr/>
          <p:nvPr/>
        </p:nvSpPr>
        <p:spPr>
          <a:xfrm>
            <a:off x="1016000" y="3515258"/>
            <a:ext cx="4905375"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9D3E3"/>
                </a:solidFill>
                <a:latin typeface="Nunito Sans" pitchFamily="34" charset="0"/>
                <a:ea typeface="Nunito Sans" pitchFamily="34" charset="-122"/>
                <a:cs typeface="Nunito Sans" pitchFamily="34" charset="-120"/>
              </a:rPr>
              <a:t>EP test · age 35</a:t>
            </a:r>
            <a:endParaRPr lang="en-US" sz="1400" dirty="0"/>
          </a:p>
        </p:txBody>
      </p:sp>
      <p:sp>
        <p:nvSpPr>
          <p:cNvPr id="9" name="Text 7"/>
          <p:cNvSpPr/>
          <p:nvPr/>
        </p:nvSpPr>
        <p:spPr>
          <a:xfrm>
            <a:off x="1016000" y="3814961"/>
            <a:ext cx="4905375"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BFBF8"/>
                </a:solidFill>
                <a:latin typeface="Nunito Sans" pitchFamily="34" charset="0"/>
                <a:ea typeface="Nunito Sans" pitchFamily="34" charset="-122"/>
                <a:cs typeface="Nunito Sans" pitchFamily="34" charset="-120"/>
              </a:rPr>
              <a:t>Passes: bug not found</a:t>
            </a:r>
            <a:endParaRPr lang="en-US" sz="1600" dirty="0"/>
          </a:p>
        </p:txBody>
      </p:sp>
      <p:sp>
        <p:nvSpPr>
          <p:cNvPr id="10" name="Shape 8"/>
          <p:cNvSpPr/>
          <p:nvPr/>
        </p:nvSpPr>
        <p:spPr>
          <a:xfrm>
            <a:off x="6191250" y="3318408"/>
            <a:ext cx="5181600" cy="1003234"/>
          </a:xfrm>
          <a:prstGeom prst="roundRect">
            <a:avLst>
              <a:gd name="adj" fmla="val 9494"/>
            </a:avLst>
          </a:prstGeom>
          <a:solidFill>
            <a:srgbClr val="24345A"/>
          </a:solidFill>
          <a:ln w="12700">
            <a:solidFill>
              <a:srgbClr val="F0A04B"/>
            </a:solidFill>
            <a:prstDash val="solid"/>
          </a:ln>
        </p:spPr>
      </p:sp>
      <p:sp>
        <p:nvSpPr>
          <p:cNvPr id="11" name="Text 9"/>
          <p:cNvSpPr/>
          <p:nvPr/>
        </p:nvSpPr>
        <p:spPr>
          <a:xfrm>
            <a:off x="6400800" y="3527958"/>
            <a:ext cx="4905375"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04B"/>
                </a:solidFill>
                <a:latin typeface="Nunito Sans" pitchFamily="34" charset="0"/>
                <a:ea typeface="Nunito Sans" pitchFamily="34" charset="-122"/>
                <a:cs typeface="Nunito Sans" pitchFamily="34" charset="-120"/>
              </a:rPr>
              <a:t>BVA test · age 18</a:t>
            </a:r>
            <a:endParaRPr lang="en-US" sz="1400" dirty="0"/>
          </a:p>
        </p:txBody>
      </p:sp>
      <p:sp>
        <p:nvSpPr>
          <p:cNvPr id="12" name="Text 10"/>
          <p:cNvSpPr/>
          <p:nvPr/>
        </p:nvSpPr>
        <p:spPr>
          <a:xfrm>
            <a:off x="6400800" y="3827661"/>
            <a:ext cx="4905375"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BFBF8"/>
                </a:solidFill>
                <a:latin typeface="Nunito Sans" pitchFamily="34" charset="0"/>
                <a:ea typeface="Nunito Sans" pitchFamily="34" charset="-122"/>
                <a:cs typeface="Nunito Sans" pitchFamily="34" charset="-120"/>
              </a:rPr>
              <a:t>Fails: bug found</a:t>
            </a:r>
            <a:endParaRPr lang="en-US" sz="1600" dirty="0"/>
          </a:p>
        </p:txBody>
      </p:sp>
      <p:sp>
        <p:nvSpPr>
          <p:cNvPr id="13" name="Text 11"/>
          <p:cNvSpPr/>
          <p:nvPr/>
        </p:nvSpPr>
        <p:spPr>
          <a:xfrm>
            <a:off x="812800" y="4632796"/>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EP picks the partitions; BVA tests their edges. Together: </a:t>
            </a:r>
            <a:r>
              <a:rPr lang="en-US" sz="1500" b="1" dirty="0">
                <a:solidFill>
                  <a:srgbClr val="F0A04B"/>
                </a:solidFill>
                <a:latin typeface="Nunito Sans" pitchFamily="34" charset="0"/>
                <a:ea typeface="Nunito Sans" pitchFamily="34" charset="-122"/>
                <a:cs typeface="Nunito Sans" pitchFamily="34" charset="-120"/>
              </a:rPr>
              <a:t>121 tests become 6–9 high-value tests.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BVA BEYOND NUMBERS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Every limit has edges</a:t>
            </a:r>
            <a:endParaRPr lang="en-US" sz="3200" dirty="0"/>
          </a:p>
        </p:txBody>
      </p:sp>
      <p:sp>
        <p:nvSpPr>
          <p:cNvPr id="4" name="Shape 2"/>
          <p:cNvSpPr/>
          <p:nvPr/>
        </p:nvSpPr>
        <p:spPr>
          <a:xfrm>
            <a:off x="812800" y="1854138"/>
            <a:ext cx="10566400" cy="546100"/>
          </a:xfrm>
          <a:prstGeom prst="roundRect">
            <a:avLst>
              <a:gd name="adj" fmla="val 13953"/>
            </a:avLst>
          </a:prstGeom>
          <a:solidFill>
            <a:srgbClr val="EEF2F7"/>
          </a:solidFill>
          <a:ln/>
        </p:spPr>
      </p:sp>
      <p:sp>
        <p:nvSpPr>
          <p:cNvPr id="5" name="Text 3"/>
          <p:cNvSpPr/>
          <p:nvPr/>
        </p:nvSpPr>
        <p:spPr>
          <a:xfrm>
            <a:off x="1016000" y="1993838"/>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5C9E"/>
                </a:solidFill>
                <a:latin typeface="Nunito Sans" pitchFamily="34" charset="0"/>
                <a:ea typeface="Nunito Sans" pitchFamily="34" charset="-122"/>
                <a:cs typeface="Nunito Sans" pitchFamily="34" charset="-120"/>
              </a:rPr>
              <a:t>String length</a:t>
            </a:r>
            <a:endParaRPr lang="en-US" sz="1500" dirty="0"/>
          </a:p>
        </p:txBody>
      </p:sp>
      <p:sp>
        <p:nvSpPr>
          <p:cNvPr id="6" name="Text 4"/>
          <p:cNvSpPr/>
          <p:nvPr/>
        </p:nvSpPr>
        <p:spPr>
          <a:xfrm>
            <a:off x="3124200" y="2002706"/>
            <a:ext cx="829335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Password 8–20 chars → 7, 8, 9, 19, 20, 21 characters</a:t>
            </a:r>
            <a:endParaRPr lang="en-US" sz="1400" dirty="0"/>
          </a:p>
        </p:txBody>
      </p:sp>
      <p:sp>
        <p:nvSpPr>
          <p:cNvPr id="7" name="Shape 5"/>
          <p:cNvSpPr/>
          <p:nvPr/>
        </p:nvSpPr>
        <p:spPr>
          <a:xfrm>
            <a:off x="812800" y="2527238"/>
            <a:ext cx="10566400" cy="546100"/>
          </a:xfrm>
          <a:prstGeom prst="roundRect">
            <a:avLst>
              <a:gd name="adj" fmla="val 13953"/>
            </a:avLst>
          </a:prstGeom>
          <a:solidFill>
            <a:srgbClr val="EEF2F7"/>
          </a:solidFill>
          <a:ln/>
        </p:spPr>
      </p:sp>
      <p:sp>
        <p:nvSpPr>
          <p:cNvPr id="8" name="Text 6"/>
          <p:cNvSpPr/>
          <p:nvPr/>
        </p:nvSpPr>
        <p:spPr>
          <a:xfrm>
            <a:off x="1016000" y="2666938"/>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5C9E"/>
                </a:solidFill>
                <a:latin typeface="Nunito Sans" pitchFamily="34" charset="0"/>
                <a:ea typeface="Nunito Sans" pitchFamily="34" charset="-122"/>
                <a:cs typeface="Nunito Sans" pitchFamily="34" charset="-120"/>
              </a:rPr>
              <a:t>Dates</a:t>
            </a:r>
            <a:endParaRPr lang="en-US" sz="1500" dirty="0"/>
          </a:p>
        </p:txBody>
      </p:sp>
      <p:sp>
        <p:nvSpPr>
          <p:cNvPr id="9" name="Text 7"/>
          <p:cNvSpPr/>
          <p:nvPr/>
        </p:nvSpPr>
        <p:spPr>
          <a:xfrm>
            <a:off x="3124200" y="2675806"/>
            <a:ext cx="829335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Coupon valid until 31-Dec → 30-Dec, 31-Dec, 1-Jan</a:t>
            </a:r>
            <a:endParaRPr lang="en-US" sz="1400" dirty="0"/>
          </a:p>
        </p:txBody>
      </p:sp>
      <p:sp>
        <p:nvSpPr>
          <p:cNvPr id="10" name="Shape 8"/>
          <p:cNvSpPr/>
          <p:nvPr/>
        </p:nvSpPr>
        <p:spPr>
          <a:xfrm>
            <a:off x="812800" y="3200338"/>
            <a:ext cx="10566400" cy="546100"/>
          </a:xfrm>
          <a:prstGeom prst="roundRect">
            <a:avLst>
              <a:gd name="adj" fmla="val 13953"/>
            </a:avLst>
          </a:prstGeom>
          <a:solidFill>
            <a:srgbClr val="EEF2F7"/>
          </a:solidFill>
          <a:ln/>
        </p:spPr>
      </p:sp>
      <p:sp>
        <p:nvSpPr>
          <p:cNvPr id="11" name="Text 9"/>
          <p:cNvSpPr/>
          <p:nvPr/>
        </p:nvSpPr>
        <p:spPr>
          <a:xfrm>
            <a:off x="1016000" y="3340038"/>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5C9E"/>
                </a:solidFill>
                <a:latin typeface="Nunito Sans" pitchFamily="34" charset="0"/>
                <a:ea typeface="Nunito Sans" pitchFamily="34" charset="-122"/>
                <a:cs typeface="Nunito Sans" pitchFamily="34" charset="-120"/>
              </a:rPr>
              <a:t>Time</a:t>
            </a:r>
            <a:endParaRPr lang="en-US" sz="1500" dirty="0"/>
          </a:p>
        </p:txBody>
      </p:sp>
      <p:sp>
        <p:nvSpPr>
          <p:cNvPr id="12" name="Text 10"/>
          <p:cNvSpPr/>
          <p:nvPr/>
        </p:nvSpPr>
        <p:spPr>
          <a:xfrm>
            <a:off x="3124200" y="3348906"/>
            <a:ext cx="829335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Link valid 30 minutes → 29:59, 30:00, 30:01</a:t>
            </a:r>
            <a:endParaRPr lang="en-US" sz="1400" dirty="0"/>
          </a:p>
        </p:txBody>
      </p:sp>
      <p:sp>
        <p:nvSpPr>
          <p:cNvPr id="13" name="Shape 11"/>
          <p:cNvSpPr/>
          <p:nvPr/>
        </p:nvSpPr>
        <p:spPr>
          <a:xfrm>
            <a:off x="812800" y="3873438"/>
            <a:ext cx="10566400" cy="546100"/>
          </a:xfrm>
          <a:prstGeom prst="roundRect">
            <a:avLst>
              <a:gd name="adj" fmla="val 13953"/>
            </a:avLst>
          </a:prstGeom>
          <a:solidFill>
            <a:srgbClr val="EEF2F7"/>
          </a:solidFill>
          <a:ln/>
        </p:spPr>
      </p:sp>
      <p:sp>
        <p:nvSpPr>
          <p:cNvPr id="14" name="Text 12"/>
          <p:cNvSpPr/>
          <p:nvPr/>
        </p:nvSpPr>
        <p:spPr>
          <a:xfrm>
            <a:off x="1016000" y="4013138"/>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5C9E"/>
                </a:solidFill>
                <a:latin typeface="Nunito Sans" pitchFamily="34" charset="0"/>
                <a:ea typeface="Nunito Sans" pitchFamily="34" charset="-122"/>
                <a:cs typeface="Nunito Sans" pitchFamily="34" charset="-120"/>
              </a:rPr>
              <a:t>Quantity</a:t>
            </a:r>
            <a:endParaRPr lang="en-US" sz="1500" dirty="0"/>
          </a:p>
        </p:txBody>
      </p:sp>
      <p:sp>
        <p:nvSpPr>
          <p:cNvPr id="15" name="Text 13"/>
          <p:cNvSpPr/>
          <p:nvPr/>
        </p:nvSpPr>
        <p:spPr>
          <a:xfrm>
            <a:off x="3124200" y="4022006"/>
            <a:ext cx="829335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Max 10 per product → 9, 10, 11 (and 0, 1 on the lower side)</a:t>
            </a:r>
            <a:endParaRPr lang="en-US" sz="1400" dirty="0"/>
          </a:p>
        </p:txBody>
      </p:sp>
      <p:sp>
        <p:nvSpPr>
          <p:cNvPr id="16" name="Shape 14"/>
          <p:cNvSpPr/>
          <p:nvPr/>
        </p:nvSpPr>
        <p:spPr>
          <a:xfrm>
            <a:off x="812800" y="4546538"/>
            <a:ext cx="10566400" cy="546100"/>
          </a:xfrm>
          <a:prstGeom prst="roundRect">
            <a:avLst>
              <a:gd name="adj" fmla="val 13953"/>
            </a:avLst>
          </a:prstGeom>
          <a:solidFill>
            <a:srgbClr val="EEF2F7"/>
          </a:solidFill>
          <a:ln/>
        </p:spPr>
      </p:sp>
      <p:sp>
        <p:nvSpPr>
          <p:cNvPr id="17" name="Text 15"/>
          <p:cNvSpPr/>
          <p:nvPr/>
        </p:nvSpPr>
        <p:spPr>
          <a:xfrm>
            <a:off x="1016000" y="4686238"/>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5C9E"/>
                </a:solidFill>
                <a:latin typeface="Nunito Sans" pitchFamily="34" charset="0"/>
                <a:ea typeface="Nunito Sans" pitchFamily="34" charset="-122"/>
                <a:cs typeface="Nunito Sans" pitchFamily="34" charset="-120"/>
              </a:rPr>
              <a:t>Money</a:t>
            </a:r>
            <a:endParaRPr lang="en-US" sz="1500" dirty="0"/>
          </a:p>
        </p:txBody>
      </p:sp>
      <p:sp>
        <p:nvSpPr>
          <p:cNvPr id="18" name="Text 16"/>
          <p:cNvSpPr/>
          <p:nvPr/>
        </p:nvSpPr>
        <p:spPr>
          <a:xfrm>
            <a:off x="3124200" y="4695106"/>
            <a:ext cx="829335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Free shipping ≥ ₹999 → ₹998.99, ₹999.00, ₹999.01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3 · DECISION TABLE TESTING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List every combination so none is missed</a:t>
            </a:r>
            <a:endParaRPr lang="en-US" sz="3200" dirty="0"/>
          </a:p>
        </p:txBody>
      </p:sp>
      <p:sp>
        <p:nvSpPr>
          <p:cNvPr id="4" name="Text 2"/>
          <p:cNvSpPr/>
          <p:nvPr/>
        </p:nvSpPr>
        <p:spPr>
          <a:xfrm>
            <a:off x="812800" y="17779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Free shipping if </a:t>
            </a:r>
            <a:r>
              <a:rPr lang="en-US" sz="1400" b="1" dirty="0">
                <a:solidFill>
                  <a:srgbClr val="3D4A5C"/>
                </a:solidFill>
                <a:latin typeface="Nunito Sans" pitchFamily="34" charset="0"/>
                <a:ea typeface="Nunito Sans" pitchFamily="34" charset="-122"/>
                <a:cs typeface="Nunito Sans" pitchFamily="34" charset="-120"/>
              </a:rPr>
              <a:t>Premium</a:t>
            </a:r>
            <a:r>
              <a:rPr lang="en-US" sz="1400" dirty="0">
                <a:solidFill>
                  <a:srgbClr val="3D4A5C"/>
                </a:solidFill>
                <a:latin typeface="Nunito Sans" pitchFamily="34" charset="0"/>
                <a:ea typeface="Nunito Sans" pitchFamily="34" charset="-122"/>
                <a:cs typeface="Nunito Sans" pitchFamily="34" charset="-120"/>
              </a:rPr>
              <a:t> OR order </a:t>
            </a:r>
            <a:r>
              <a:rPr lang="en-US" sz="1400" b="1" dirty="0">
                <a:solidFill>
                  <a:srgbClr val="3D4A5C"/>
                </a:solidFill>
                <a:latin typeface="Nunito Sans" pitchFamily="34" charset="0"/>
                <a:ea typeface="Nunito Sans" pitchFamily="34" charset="-122"/>
                <a:cs typeface="Nunito Sans" pitchFamily="34" charset="-120"/>
              </a:rPr>
              <a:t>≥ ₹999</a:t>
            </a:r>
            <a:r>
              <a:rPr lang="en-US" sz="1400" dirty="0">
                <a:solidFill>
                  <a:srgbClr val="3D4A5C"/>
                </a:solidFill>
                <a:latin typeface="Nunito Sans" pitchFamily="34" charset="0"/>
                <a:ea typeface="Nunito Sans" pitchFamily="34" charset="-122"/>
                <a:cs typeface="Nunito Sans" pitchFamily="34" charset="-120"/>
              </a:rPr>
              <a:t>, else ₹50. A valid coupon gives </a:t>
            </a:r>
            <a:r>
              <a:rPr lang="en-US" sz="1400" b="1" dirty="0">
                <a:solidFill>
                  <a:srgbClr val="3D4A5C"/>
                </a:solidFill>
                <a:latin typeface="Nunito Sans" pitchFamily="34" charset="0"/>
                <a:ea typeface="Nunito Sans" pitchFamily="34" charset="-122"/>
                <a:cs typeface="Nunito Sans" pitchFamily="34" charset="-120"/>
              </a:rPr>
              <a:t>10% off</a:t>
            </a:r>
            <a:r>
              <a:rPr lang="en-US" sz="1400" dirty="0">
                <a:solidFill>
                  <a:srgbClr val="3D4A5C"/>
                </a:solidFill>
                <a:latin typeface="Nunito Sans" pitchFamily="34" charset="0"/>
                <a:ea typeface="Nunito Sans" pitchFamily="34" charset="-122"/>
                <a:cs typeface="Nunito Sans" pitchFamily="34" charset="-120"/>
              </a:rPr>
              <a:t>. Three Y/N conditions → 2³ = </a:t>
            </a:r>
            <a:r>
              <a:rPr lang="en-US" sz="1400" b="1" dirty="0">
                <a:solidFill>
                  <a:srgbClr val="A14F0A"/>
                </a:solidFill>
                <a:latin typeface="Nunito Sans" pitchFamily="34" charset="0"/>
                <a:ea typeface="Nunito Sans" pitchFamily="34" charset="-122"/>
                <a:cs typeface="Nunito Sans" pitchFamily="34" charset="-120"/>
              </a:rPr>
              <a:t>8 rules</a:t>
            </a:r>
            <a:r>
              <a:rPr lang="en-US" sz="1400" dirty="0">
                <a:solidFill>
                  <a:srgbClr val="3D4A5C"/>
                </a:solidFill>
                <a:latin typeface="Nunito Sans" pitchFamily="34" charset="0"/>
                <a:ea typeface="Nunito Sans" pitchFamily="34" charset="-122"/>
                <a:cs typeface="Nunito Sans" pitchFamily="34" charset="-120"/>
              </a:rPr>
              <a: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68141"/>
          <a:ext cx="10553700" cy="2515129"/>
        </p:xfrm>
        <a:graphic>
          <a:graphicData uri="http://schemas.openxmlformats.org/drawingml/2006/table">
            <a:tbl>
              <a:tblPr/>
              <a:tblGrid>
                <a:gridCol w="2955036">
                  <a:extLst>
                    <a:ext uri="{9D8B030D-6E8A-4147-A177-3AD203B41FA5}">
                      <a16:colId xmlns:a16="http://schemas.microsoft.com/office/drawing/2014/main" val="20000"/>
                    </a:ext>
                  </a:extLst>
                </a:gridCol>
                <a:gridCol w="949833">
                  <a:extLst>
                    <a:ext uri="{9D8B030D-6E8A-4147-A177-3AD203B41FA5}">
                      <a16:colId xmlns:a16="http://schemas.microsoft.com/office/drawing/2014/main" val="20001"/>
                    </a:ext>
                  </a:extLst>
                </a:gridCol>
                <a:gridCol w="949833">
                  <a:extLst>
                    <a:ext uri="{9D8B030D-6E8A-4147-A177-3AD203B41FA5}">
                      <a16:colId xmlns:a16="http://schemas.microsoft.com/office/drawing/2014/main" val="20002"/>
                    </a:ext>
                  </a:extLst>
                </a:gridCol>
                <a:gridCol w="949833">
                  <a:extLst>
                    <a:ext uri="{9D8B030D-6E8A-4147-A177-3AD203B41FA5}">
                      <a16:colId xmlns:a16="http://schemas.microsoft.com/office/drawing/2014/main" val="20003"/>
                    </a:ext>
                  </a:extLst>
                </a:gridCol>
                <a:gridCol w="949833">
                  <a:extLst>
                    <a:ext uri="{9D8B030D-6E8A-4147-A177-3AD203B41FA5}">
                      <a16:colId xmlns:a16="http://schemas.microsoft.com/office/drawing/2014/main" val="20004"/>
                    </a:ext>
                  </a:extLst>
                </a:gridCol>
                <a:gridCol w="949833">
                  <a:extLst>
                    <a:ext uri="{9D8B030D-6E8A-4147-A177-3AD203B41FA5}">
                      <a16:colId xmlns:a16="http://schemas.microsoft.com/office/drawing/2014/main" val="20005"/>
                    </a:ext>
                  </a:extLst>
                </a:gridCol>
                <a:gridCol w="949833">
                  <a:extLst>
                    <a:ext uri="{9D8B030D-6E8A-4147-A177-3AD203B41FA5}">
                      <a16:colId xmlns:a16="http://schemas.microsoft.com/office/drawing/2014/main" val="20006"/>
                    </a:ext>
                  </a:extLst>
                </a:gridCol>
                <a:gridCol w="949833">
                  <a:extLst>
                    <a:ext uri="{9D8B030D-6E8A-4147-A177-3AD203B41FA5}">
                      <a16:colId xmlns:a16="http://schemas.microsoft.com/office/drawing/2014/main" val="20007"/>
                    </a:ext>
                  </a:extLst>
                </a:gridCol>
                <a:gridCol w="949833">
                  <a:extLst>
                    <a:ext uri="{9D8B030D-6E8A-4147-A177-3AD203B41FA5}">
                      <a16:colId xmlns:a16="http://schemas.microsoft.com/office/drawing/2014/main" val="20008"/>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Conditions / Actions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R1</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R2</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R3</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R4</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R5</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R6</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R7</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R8</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C1 Premium member?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C2 Order ≥ ₹999?</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C3 Valid coupon?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A1 Free shipping</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A2 ₹50 shipping</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A3 10% discount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DECISION TABLES IN PRACTICE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Each rule is a test, and gaps show up</a:t>
            </a:r>
            <a:endParaRPr lang="en-US" sz="3200" dirty="0"/>
          </a:p>
        </p:txBody>
      </p:sp>
      <p:sp>
        <p:nvSpPr>
          <p:cNvPr id="4" name="Shape 2"/>
          <p:cNvSpPr/>
          <p:nvPr/>
        </p:nvSpPr>
        <p:spPr>
          <a:xfrm>
            <a:off x="812800" y="1803338"/>
            <a:ext cx="5181600" cy="1168334"/>
          </a:xfrm>
          <a:prstGeom prst="roundRect">
            <a:avLst>
              <a:gd name="adj" fmla="val 8696"/>
            </a:avLst>
          </a:prstGeom>
          <a:solidFill>
            <a:srgbClr val="EEF2F7"/>
          </a:solidFill>
          <a:ln/>
        </p:spPr>
      </p:sp>
      <p:sp>
        <p:nvSpPr>
          <p:cNvPr id="5" name="Text 3"/>
          <p:cNvSpPr/>
          <p:nvPr/>
        </p:nvSpPr>
        <p:spPr>
          <a:xfrm>
            <a:off x="1016000" y="2006538"/>
            <a:ext cx="491845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C9E"/>
                </a:solidFill>
                <a:latin typeface="Nunito Sans" pitchFamily="34" charset="0"/>
                <a:ea typeface="Nunito Sans" pitchFamily="34" charset="-122"/>
                <a:cs typeface="Nunito Sans" pitchFamily="34" charset="-120"/>
              </a:rPr>
              <a:t>R7</a:t>
            </a:r>
            <a:endParaRPr lang="en-US" sz="1400" dirty="0"/>
          </a:p>
        </p:txBody>
      </p:sp>
      <p:sp>
        <p:nvSpPr>
          <p:cNvPr id="6" name="Text 4"/>
          <p:cNvSpPr/>
          <p:nvPr/>
        </p:nvSpPr>
        <p:spPr>
          <a:xfrm>
            <a:off x="1016000" y="2306241"/>
            <a:ext cx="491845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Non-premium, order ₹500, valid coupon → </a:t>
            </a:r>
            <a:r>
              <a:rPr lang="en-US" sz="1300" b="1" dirty="0">
                <a:solidFill>
                  <a:srgbClr val="14213D"/>
                </a:solidFill>
                <a:latin typeface="Nunito Sans" pitchFamily="34" charset="0"/>
                <a:ea typeface="Nunito Sans" pitchFamily="34" charset="-122"/>
                <a:cs typeface="Nunito Sans" pitchFamily="34" charset="-120"/>
              </a:rPr>
              <a:t>₹50 shipping + 10% discount</a:t>
            </a:r>
            <a:endParaRPr lang="en-US" sz="1300" dirty="0"/>
          </a:p>
        </p:txBody>
      </p:sp>
      <p:sp>
        <p:nvSpPr>
          <p:cNvPr id="7" name="Shape 5"/>
          <p:cNvSpPr/>
          <p:nvPr/>
        </p:nvSpPr>
        <p:spPr>
          <a:xfrm>
            <a:off x="6197600" y="1803338"/>
            <a:ext cx="5181600" cy="1168334"/>
          </a:xfrm>
          <a:prstGeom prst="roundRect">
            <a:avLst>
              <a:gd name="adj" fmla="val 8696"/>
            </a:avLst>
          </a:prstGeom>
          <a:solidFill>
            <a:srgbClr val="EEF2F7"/>
          </a:solidFill>
          <a:ln/>
        </p:spPr>
      </p:sp>
      <p:sp>
        <p:nvSpPr>
          <p:cNvPr id="8" name="Text 6"/>
          <p:cNvSpPr/>
          <p:nvPr/>
        </p:nvSpPr>
        <p:spPr>
          <a:xfrm>
            <a:off x="6400800" y="2006538"/>
            <a:ext cx="491845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C9E"/>
                </a:solidFill>
                <a:latin typeface="Nunito Sans" pitchFamily="34" charset="0"/>
                <a:ea typeface="Nunito Sans" pitchFamily="34" charset="-122"/>
                <a:cs typeface="Nunito Sans" pitchFamily="34" charset="-120"/>
              </a:rPr>
              <a:t>R8</a:t>
            </a:r>
            <a:endParaRPr lang="en-US" sz="1400" dirty="0"/>
          </a:p>
        </p:txBody>
      </p:sp>
      <p:sp>
        <p:nvSpPr>
          <p:cNvPr id="9" name="Text 7"/>
          <p:cNvSpPr/>
          <p:nvPr/>
        </p:nvSpPr>
        <p:spPr>
          <a:xfrm>
            <a:off x="6400800" y="2306241"/>
            <a:ext cx="491845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Non-premium, order ₹500, no coupon → </a:t>
            </a:r>
            <a:r>
              <a:rPr lang="en-US" sz="1300" b="1" dirty="0">
                <a:solidFill>
                  <a:srgbClr val="14213D"/>
                </a:solidFill>
                <a:latin typeface="Nunito Sans" pitchFamily="34" charset="0"/>
                <a:ea typeface="Nunito Sans" pitchFamily="34" charset="-122"/>
                <a:cs typeface="Nunito Sans" pitchFamily="34" charset="-120"/>
              </a:rPr>
              <a:t>₹50 shipping, no discount</a:t>
            </a:r>
            <a:endParaRPr lang="en-US" sz="1300" dirty="0"/>
          </a:p>
        </p:txBody>
      </p:sp>
      <p:sp>
        <p:nvSpPr>
          <p:cNvPr id="10" name="Shape 8"/>
          <p:cNvSpPr/>
          <p:nvPr/>
        </p:nvSpPr>
        <p:spPr>
          <a:xfrm>
            <a:off x="812800" y="3225676"/>
            <a:ext cx="10566400" cy="1285214"/>
          </a:xfrm>
          <a:prstGeom prst="roundRect">
            <a:avLst>
              <a:gd name="adj" fmla="val 7905"/>
            </a:avLst>
          </a:prstGeom>
          <a:solidFill>
            <a:srgbClr val="14213D"/>
          </a:solidFill>
          <a:ln/>
        </p:spPr>
      </p:sp>
      <p:pic>
        <p:nvPicPr>
          <p:cNvPr id="11" name="Image 0" descr="Lightbulb"/>
          <p:cNvPicPr>
            <a:picLocks noChangeAspect="1"/>
          </p:cNvPicPr>
          <p:nvPr/>
        </p:nvPicPr>
        <p:blipFill>
          <a:blip r:embed="rId3"/>
          <a:srcRect/>
          <a:stretch/>
        </p:blipFill>
        <p:spPr>
          <a:xfrm>
            <a:off x="1041400" y="3454276"/>
            <a:ext cx="304800" cy="304800"/>
          </a:xfrm>
          <a:prstGeom prst="rect">
            <a:avLst/>
          </a:prstGeom>
        </p:spPr>
      </p:pic>
      <p:sp>
        <p:nvSpPr>
          <p:cNvPr id="12" name="Text 9"/>
          <p:cNvSpPr/>
          <p:nvPr/>
        </p:nvSpPr>
        <p:spPr>
          <a:xfrm>
            <a:off x="1524000" y="3454276"/>
            <a:ext cx="991539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0A04B"/>
                </a:solidFill>
                <a:latin typeface="Nunito Sans" pitchFamily="34" charset="0"/>
                <a:ea typeface="Nunito Sans" pitchFamily="34" charset="-122"/>
                <a:cs typeface="Nunito Sans" pitchFamily="34" charset="-120"/>
              </a:rPr>
              <a:t>The table exposes a missing rule</a:t>
            </a:r>
            <a:endParaRPr lang="en-US" sz="1500" dirty="0"/>
          </a:p>
        </p:txBody>
      </p:sp>
      <p:sp>
        <p:nvSpPr>
          <p:cNvPr id="13" name="Text 10"/>
          <p:cNvSpPr/>
          <p:nvPr/>
        </p:nvSpPr>
        <p:spPr>
          <a:xfrm>
            <a:off x="1524000" y="3784476"/>
            <a:ext cx="991539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Is ₹999 checked before or after the discount? ₹1,050 becomes ₹945 after 10% off. Free shipping or not? Ask the product owner; it's a likely defect if nobody did.</a:t>
            </a:r>
            <a:endParaRPr lang="en-US" sz="1400" dirty="0"/>
          </a:p>
        </p:txBody>
      </p:sp>
      <p:sp>
        <p:nvSpPr>
          <p:cNvPr id="14" name="Text 11"/>
          <p:cNvSpPr/>
          <p:nvPr/>
        </p:nvSpPr>
        <p:spPr>
          <a:xfrm>
            <a:off x="812800" y="4764881"/>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Collapsing:</a:t>
            </a:r>
            <a:r>
              <a:rPr lang="en-US" sz="1400" dirty="0">
                <a:solidFill>
                  <a:srgbClr val="3D4A5C"/>
                </a:solidFill>
                <a:latin typeface="Nunito Sans" pitchFamily="34" charset="0"/>
                <a:ea typeface="Nunito Sans" pitchFamily="34" charset="-122"/>
                <a:cs typeface="Nunito Sans" pitchFamily="34" charset="-120"/>
              </a:rPr>
              <a:t> R1–R4 all give free shipping whatever C2 says, so they could merge. As a beginner, write the full table first.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4 · STATE TRANSITION TESTING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ShopEasy order status</a:t>
            </a:r>
            <a:endParaRPr lang="en-US" sz="3200" dirty="0"/>
          </a:p>
        </p:txBody>
      </p:sp>
      <p:sp>
        <p:nvSpPr>
          <p:cNvPr id="4" name="Text 2"/>
          <p:cNvSpPr/>
          <p:nvPr/>
        </p:nvSpPr>
        <p:spPr>
          <a:xfrm>
            <a:off x="812800" y="1904938"/>
            <a:ext cx="1206500" cy="604507"/>
          </a:xfrm>
          <a:custGeom>
            <a:avLst/>
            <a:gdLst/>
            <a:ahLst/>
            <a:cxnLst/>
            <a:rect l="l" t="t" r="r" b="b"/>
            <a:pathLst>
              <a:path w="1206500" h="604507">
                <a:moveTo>
                  <a:pt x="88900" y="0"/>
                </a:moveTo>
                <a:lnTo>
                  <a:pt x="1117600" y="0"/>
                </a:lnTo>
                <a:arcTo wR="88900" hR="88900" stAng="16200000" swAng="5400000"/>
                <a:lnTo>
                  <a:pt x="1206500" y="515607"/>
                </a:lnTo>
                <a:arcTo wR="88900" hR="88900" stAng="0" swAng="5400000"/>
                <a:lnTo>
                  <a:pt x="88900" y="604507"/>
                </a:lnTo>
                <a:arcTo wR="88900" hR="88900" stAng="5400000" swAng="5400000"/>
                <a:lnTo>
                  <a:pt x="0" y="88900"/>
                </a:lnTo>
                <a:arcTo wR="88900" hR="88900" stAng="10800000" swAng="5400000"/>
                <a:close/>
              </a:path>
            </a:pathLst>
          </a:custGeom>
          <a:solidFill>
            <a:srgbClr val="14213D"/>
          </a:solidFill>
          <a:ln/>
        </p:spPr>
        <p:txBody>
          <a:bodyPr wrap="square" lIns="38100" tIns="177800" rIns="38100" bIns="152400" rtlCol="0" anchor="t">
            <a:normAutofit/>
          </a:bodyPr>
          <a:lstStyle/>
          <a:p>
            <a:pPr marL="0" indent="0" algn="ctr">
              <a:lnSpc>
                <a:spcPts val="1960"/>
              </a:lnSpc>
              <a:buNone/>
            </a:pPr>
            <a:r>
              <a:rPr lang="en-US" sz="1400" b="1" dirty="0">
                <a:solidFill>
                  <a:srgbClr val="FBFBF8"/>
                </a:solidFill>
                <a:latin typeface="Nunito Sans" pitchFamily="34" charset="0"/>
                <a:ea typeface="Nunito Sans" pitchFamily="34" charset="-122"/>
                <a:cs typeface="Nunito Sans" pitchFamily="34" charset="-120"/>
              </a:rPr>
              <a:t>Created</a:t>
            </a:r>
            <a:endParaRPr lang="en-US" sz="1400" dirty="0"/>
          </a:p>
        </p:txBody>
      </p:sp>
      <p:pic>
        <p:nvPicPr>
          <p:cNvPr id="5" name="Image 0" descr="arrow-right"/>
          <p:cNvPicPr>
            <a:picLocks noChangeAspect="1"/>
          </p:cNvPicPr>
          <p:nvPr/>
        </p:nvPicPr>
        <p:blipFill>
          <a:blip r:embed="rId3"/>
          <a:srcRect/>
          <a:stretch/>
        </p:blipFill>
        <p:spPr>
          <a:xfrm>
            <a:off x="2408238" y="1910035"/>
            <a:ext cx="355600" cy="177800"/>
          </a:xfrm>
          <a:prstGeom prst="rect">
            <a:avLst/>
          </a:prstGeom>
        </p:spPr>
      </p:pic>
      <p:sp>
        <p:nvSpPr>
          <p:cNvPr id="6" name="Text 3"/>
          <p:cNvSpPr/>
          <p:nvPr/>
        </p:nvSpPr>
        <p:spPr>
          <a:xfrm>
            <a:off x="2044700" y="2138635"/>
            <a:ext cx="1082675" cy="39105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3D4A5C"/>
                </a:solidFill>
                <a:latin typeface="Nunito Sans" pitchFamily="34" charset="0"/>
                <a:ea typeface="Nunito Sans" pitchFamily="34" charset="-122"/>
                <a:cs typeface="Nunito Sans" pitchFamily="34" charset="-120"/>
              </a:rPr>
              <a:t>payment authorised</a:t>
            </a:r>
            <a:endParaRPr lang="en-US" sz="1200" dirty="0"/>
          </a:p>
        </p:txBody>
      </p:sp>
      <p:sp>
        <p:nvSpPr>
          <p:cNvPr id="7" name="Text 4"/>
          <p:cNvSpPr/>
          <p:nvPr/>
        </p:nvSpPr>
        <p:spPr>
          <a:xfrm>
            <a:off x="3152775" y="1904938"/>
            <a:ext cx="1206500" cy="604507"/>
          </a:xfrm>
          <a:custGeom>
            <a:avLst/>
            <a:gdLst/>
            <a:ahLst/>
            <a:cxnLst/>
            <a:rect l="l" t="t" r="r" b="b"/>
            <a:pathLst>
              <a:path w="1206500" h="604507">
                <a:moveTo>
                  <a:pt x="88900" y="0"/>
                </a:moveTo>
                <a:lnTo>
                  <a:pt x="1117600" y="0"/>
                </a:lnTo>
                <a:arcTo wR="88900" hR="88900" stAng="16200000" swAng="5400000"/>
                <a:lnTo>
                  <a:pt x="1206500" y="515607"/>
                </a:lnTo>
                <a:arcTo wR="88900" hR="88900" stAng="0" swAng="5400000"/>
                <a:lnTo>
                  <a:pt x="88900" y="604507"/>
                </a:lnTo>
                <a:arcTo wR="88900" hR="88900" stAng="5400000" swAng="5400000"/>
                <a:lnTo>
                  <a:pt x="0" y="88900"/>
                </a:lnTo>
                <a:arcTo wR="88900" hR="88900" stAng="10800000" swAng="5400000"/>
                <a:close/>
              </a:path>
            </a:pathLst>
          </a:custGeom>
          <a:solidFill>
            <a:srgbClr val="14213D"/>
          </a:solidFill>
          <a:ln/>
        </p:spPr>
        <p:txBody>
          <a:bodyPr wrap="square" lIns="38100" tIns="177800" rIns="38100" bIns="152400" rtlCol="0" anchor="t">
            <a:normAutofit/>
          </a:bodyPr>
          <a:lstStyle/>
          <a:p>
            <a:pPr marL="0" indent="0" algn="ctr">
              <a:lnSpc>
                <a:spcPts val="1960"/>
              </a:lnSpc>
              <a:buNone/>
            </a:pPr>
            <a:r>
              <a:rPr lang="en-US" sz="1400" b="1" dirty="0">
                <a:solidFill>
                  <a:srgbClr val="FBFBF8"/>
                </a:solidFill>
                <a:latin typeface="Nunito Sans" pitchFamily="34" charset="0"/>
                <a:ea typeface="Nunito Sans" pitchFamily="34" charset="-122"/>
                <a:cs typeface="Nunito Sans" pitchFamily="34" charset="-120"/>
              </a:rPr>
              <a:t>Paid</a:t>
            </a:r>
            <a:endParaRPr lang="en-US" sz="1400" dirty="0"/>
          </a:p>
        </p:txBody>
      </p:sp>
      <p:pic>
        <p:nvPicPr>
          <p:cNvPr id="8" name="Image 1" descr="arrow-right"/>
          <p:cNvPicPr>
            <a:picLocks noChangeAspect="1"/>
          </p:cNvPicPr>
          <p:nvPr/>
        </p:nvPicPr>
        <p:blipFill>
          <a:blip r:embed="rId3"/>
          <a:srcRect/>
          <a:stretch/>
        </p:blipFill>
        <p:spPr>
          <a:xfrm>
            <a:off x="4748213" y="1910035"/>
            <a:ext cx="355600" cy="177800"/>
          </a:xfrm>
          <a:prstGeom prst="rect">
            <a:avLst/>
          </a:prstGeom>
        </p:spPr>
      </p:pic>
      <p:sp>
        <p:nvSpPr>
          <p:cNvPr id="9" name="Text 5"/>
          <p:cNvSpPr/>
          <p:nvPr/>
        </p:nvSpPr>
        <p:spPr>
          <a:xfrm>
            <a:off x="4384675" y="2138635"/>
            <a:ext cx="1082675" cy="39105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3D4A5C"/>
                </a:solidFill>
                <a:latin typeface="Nunito Sans" pitchFamily="34" charset="0"/>
                <a:ea typeface="Nunito Sans" pitchFamily="34" charset="-122"/>
                <a:cs typeface="Nunito Sans" pitchFamily="34" charset="-120"/>
              </a:rPr>
              <a:t>warehouse dispatches</a:t>
            </a:r>
            <a:endParaRPr lang="en-US" sz="1200" dirty="0"/>
          </a:p>
        </p:txBody>
      </p:sp>
      <p:sp>
        <p:nvSpPr>
          <p:cNvPr id="10" name="Text 6"/>
          <p:cNvSpPr/>
          <p:nvPr/>
        </p:nvSpPr>
        <p:spPr>
          <a:xfrm>
            <a:off x="5492750" y="1904938"/>
            <a:ext cx="1206500" cy="604507"/>
          </a:xfrm>
          <a:custGeom>
            <a:avLst/>
            <a:gdLst/>
            <a:ahLst/>
            <a:cxnLst/>
            <a:rect l="l" t="t" r="r" b="b"/>
            <a:pathLst>
              <a:path w="1206500" h="604507">
                <a:moveTo>
                  <a:pt x="88900" y="0"/>
                </a:moveTo>
                <a:lnTo>
                  <a:pt x="1117600" y="0"/>
                </a:lnTo>
                <a:arcTo wR="88900" hR="88900" stAng="16200000" swAng="5400000"/>
                <a:lnTo>
                  <a:pt x="1206500" y="515607"/>
                </a:lnTo>
                <a:arcTo wR="88900" hR="88900" stAng="0" swAng="5400000"/>
                <a:lnTo>
                  <a:pt x="88900" y="604507"/>
                </a:lnTo>
                <a:arcTo wR="88900" hR="88900" stAng="5400000" swAng="5400000"/>
                <a:lnTo>
                  <a:pt x="0" y="88900"/>
                </a:lnTo>
                <a:arcTo wR="88900" hR="88900" stAng="10800000" swAng="5400000"/>
                <a:close/>
              </a:path>
            </a:pathLst>
          </a:custGeom>
          <a:solidFill>
            <a:srgbClr val="14213D"/>
          </a:solidFill>
          <a:ln/>
        </p:spPr>
        <p:txBody>
          <a:bodyPr wrap="square" lIns="38100" tIns="177800" rIns="38100" bIns="152400" rtlCol="0" anchor="t">
            <a:normAutofit/>
          </a:bodyPr>
          <a:lstStyle/>
          <a:p>
            <a:pPr marL="0" indent="0" algn="ctr">
              <a:lnSpc>
                <a:spcPts val="1960"/>
              </a:lnSpc>
              <a:buNone/>
            </a:pPr>
            <a:r>
              <a:rPr lang="en-US" sz="1400" b="1" dirty="0">
                <a:solidFill>
                  <a:srgbClr val="FBFBF8"/>
                </a:solidFill>
                <a:latin typeface="Nunito Sans" pitchFamily="34" charset="0"/>
                <a:ea typeface="Nunito Sans" pitchFamily="34" charset="-122"/>
                <a:cs typeface="Nunito Sans" pitchFamily="34" charset="-120"/>
              </a:rPr>
              <a:t>Shipped</a:t>
            </a:r>
            <a:endParaRPr lang="en-US" sz="1400" dirty="0"/>
          </a:p>
        </p:txBody>
      </p:sp>
      <p:pic>
        <p:nvPicPr>
          <p:cNvPr id="11" name="Image 2" descr="arrow-right"/>
          <p:cNvPicPr>
            <a:picLocks noChangeAspect="1"/>
          </p:cNvPicPr>
          <p:nvPr/>
        </p:nvPicPr>
        <p:blipFill>
          <a:blip r:embed="rId3"/>
          <a:srcRect/>
          <a:stretch/>
        </p:blipFill>
        <p:spPr>
          <a:xfrm>
            <a:off x="7088188" y="1910035"/>
            <a:ext cx="355600" cy="177800"/>
          </a:xfrm>
          <a:prstGeom prst="rect">
            <a:avLst/>
          </a:prstGeom>
        </p:spPr>
      </p:pic>
      <p:sp>
        <p:nvSpPr>
          <p:cNvPr id="12" name="Text 7"/>
          <p:cNvSpPr/>
          <p:nvPr/>
        </p:nvSpPr>
        <p:spPr>
          <a:xfrm>
            <a:off x="6724650" y="2138635"/>
            <a:ext cx="1082675" cy="39105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3D4A5C"/>
                </a:solidFill>
                <a:latin typeface="Nunito Sans" pitchFamily="34" charset="0"/>
                <a:ea typeface="Nunito Sans" pitchFamily="34" charset="-122"/>
                <a:cs typeface="Nunito Sans" pitchFamily="34" charset="-120"/>
              </a:rPr>
              <a:t>courier confirms</a:t>
            </a:r>
            <a:endParaRPr lang="en-US" sz="1200" dirty="0"/>
          </a:p>
        </p:txBody>
      </p:sp>
      <p:sp>
        <p:nvSpPr>
          <p:cNvPr id="13" name="Text 8"/>
          <p:cNvSpPr/>
          <p:nvPr/>
        </p:nvSpPr>
        <p:spPr>
          <a:xfrm>
            <a:off x="7832725" y="1904938"/>
            <a:ext cx="1206500" cy="604507"/>
          </a:xfrm>
          <a:custGeom>
            <a:avLst/>
            <a:gdLst/>
            <a:ahLst/>
            <a:cxnLst/>
            <a:rect l="l" t="t" r="r" b="b"/>
            <a:pathLst>
              <a:path w="1206500" h="604507">
                <a:moveTo>
                  <a:pt x="88900" y="0"/>
                </a:moveTo>
                <a:lnTo>
                  <a:pt x="1117600" y="0"/>
                </a:lnTo>
                <a:arcTo wR="88900" hR="88900" stAng="16200000" swAng="5400000"/>
                <a:lnTo>
                  <a:pt x="1206500" y="515607"/>
                </a:lnTo>
                <a:arcTo wR="88900" hR="88900" stAng="0" swAng="5400000"/>
                <a:lnTo>
                  <a:pt x="88900" y="604507"/>
                </a:lnTo>
                <a:arcTo wR="88900" hR="88900" stAng="5400000" swAng="5400000"/>
                <a:lnTo>
                  <a:pt x="0" y="88900"/>
                </a:lnTo>
                <a:arcTo wR="88900" hR="88900" stAng="10800000" swAng="5400000"/>
                <a:close/>
              </a:path>
            </a:pathLst>
          </a:custGeom>
          <a:solidFill>
            <a:srgbClr val="14213D"/>
          </a:solidFill>
          <a:ln/>
        </p:spPr>
        <p:txBody>
          <a:bodyPr wrap="square" lIns="38100" tIns="177800" rIns="38100" bIns="152400" rtlCol="0" anchor="t">
            <a:normAutofit/>
          </a:bodyPr>
          <a:lstStyle/>
          <a:p>
            <a:pPr marL="0" indent="0" algn="ctr">
              <a:lnSpc>
                <a:spcPts val="1960"/>
              </a:lnSpc>
              <a:buNone/>
            </a:pPr>
            <a:r>
              <a:rPr lang="en-US" sz="1400" b="1" dirty="0">
                <a:solidFill>
                  <a:srgbClr val="FBFBF8"/>
                </a:solidFill>
                <a:latin typeface="Nunito Sans" pitchFamily="34" charset="0"/>
                <a:ea typeface="Nunito Sans" pitchFamily="34" charset="-122"/>
                <a:cs typeface="Nunito Sans" pitchFamily="34" charset="-120"/>
              </a:rPr>
              <a:t>Delivered</a:t>
            </a:r>
            <a:endParaRPr lang="en-US" sz="1400" dirty="0"/>
          </a:p>
        </p:txBody>
      </p:sp>
      <p:pic>
        <p:nvPicPr>
          <p:cNvPr id="14" name="Image 3" descr="arrow-right"/>
          <p:cNvPicPr>
            <a:picLocks noChangeAspect="1"/>
          </p:cNvPicPr>
          <p:nvPr/>
        </p:nvPicPr>
        <p:blipFill>
          <a:blip r:embed="rId3"/>
          <a:srcRect/>
          <a:stretch/>
        </p:blipFill>
        <p:spPr>
          <a:xfrm>
            <a:off x="9428163" y="1910035"/>
            <a:ext cx="355600" cy="177800"/>
          </a:xfrm>
          <a:prstGeom prst="rect">
            <a:avLst/>
          </a:prstGeom>
        </p:spPr>
      </p:pic>
      <p:sp>
        <p:nvSpPr>
          <p:cNvPr id="15" name="Text 9"/>
          <p:cNvSpPr/>
          <p:nvPr/>
        </p:nvSpPr>
        <p:spPr>
          <a:xfrm>
            <a:off x="9064625" y="2138635"/>
            <a:ext cx="1082675" cy="39105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3D4A5C"/>
                </a:solidFill>
                <a:latin typeface="Nunito Sans" pitchFamily="34" charset="0"/>
                <a:ea typeface="Nunito Sans" pitchFamily="34" charset="-122"/>
                <a:cs typeface="Nunito Sans" pitchFamily="34" charset="-120"/>
              </a:rPr>
              <a:t>return within 7 days</a:t>
            </a:r>
            <a:endParaRPr lang="en-US" sz="1200" dirty="0"/>
          </a:p>
        </p:txBody>
      </p:sp>
      <p:sp>
        <p:nvSpPr>
          <p:cNvPr id="16" name="Text 10"/>
          <p:cNvSpPr/>
          <p:nvPr/>
        </p:nvSpPr>
        <p:spPr>
          <a:xfrm>
            <a:off x="10172700" y="1904938"/>
            <a:ext cx="1206500" cy="604507"/>
          </a:xfrm>
          <a:custGeom>
            <a:avLst/>
            <a:gdLst/>
            <a:ahLst/>
            <a:cxnLst/>
            <a:rect l="l" t="t" r="r" b="b"/>
            <a:pathLst>
              <a:path w="1206500" h="604507">
                <a:moveTo>
                  <a:pt x="88900" y="0"/>
                </a:moveTo>
                <a:lnTo>
                  <a:pt x="1117600" y="0"/>
                </a:lnTo>
                <a:arcTo wR="88900" hR="88900" stAng="16200000" swAng="5400000"/>
                <a:lnTo>
                  <a:pt x="1206500" y="515607"/>
                </a:lnTo>
                <a:arcTo wR="88900" hR="88900" stAng="0" swAng="5400000"/>
                <a:lnTo>
                  <a:pt x="88900" y="604507"/>
                </a:lnTo>
                <a:arcTo wR="88900" hR="88900" stAng="5400000" swAng="5400000"/>
                <a:lnTo>
                  <a:pt x="0" y="88900"/>
                </a:lnTo>
                <a:arcTo wR="88900" hR="88900" stAng="10800000" swAng="5400000"/>
                <a:close/>
              </a:path>
            </a:pathLst>
          </a:custGeom>
          <a:solidFill>
            <a:srgbClr val="14213D"/>
          </a:solidFill>
          <a:ln/>
        </p:spPr>
        <p:txBody>
          <a:bodyPr wrap="square" lIns="38100" tIns="177800" rIns="38100" bIns="152400" rtlCol="0" anchor="t">
            <a:normAutofit/>
          </a:bodyPr>
          <a:lstStyle/>
          <a:p>
            <a:pPr marL="0" indent="0" algn="ctr">
              <a:lnSpc>
                <a:spcPts val="1960"/>
              </a:lnSpc>
              <a:buNone/>
            </a:pPr>
            <a:r>
              <a:rPr lang="en-US" sz="1400" b="1" dirty="0">
                <a:solidFill>
                  <a:srgbClr val="FBFBF8"/>
                </a:solidFill>
                <a:latin typeface="Nunito Sans" pitchFamily="34" charset="0"/>
                <a:ea typeface="Nunito Sans" pitchFamily="34" charset="-122"/>
                <a:cs typeface="Nunito Sans" pitchFamily="34" charset="-120"/>
              </a:rPr>
              <a:t>Returned</a:t>
            </a:r>
            <a:endParaRPr lang="en-US" sz="1400" dirty="0"/>
          </a:p>
        </p:txBody>
      </p:sp>
      <p:sp>
        <p:nvSpPr>
          <p:cNvPr id="17" name="Shape 11"/>
          <p:cNvSpPr/>
          <p:nvPr/>
        </p:nvSpPr>
        <p:spPr>
          <a:xfrm>
            <a:off x="812800" y="2865041"/>
            <a:ext cx="10566400" cy="909307"/>
          </a:xfrm>
          <a:prstGeom prst="roundRect">
            <a:avLst>
              <a:gd name="adj" fmla="val 9777"/>
            </a:avLst>
          </a:prstGeom>
          <a:solidFill>
            <a:srgbClr val="FBFBF8"/>
          </a:solidFill>
          <a:ln/>
        </p:spPr>
      </p:sp>
      <p:sp>
        <p:nvSpPr>
          <p:cNvPr id="18" name="Text 12"/>
          <p:cNvSpPr/>
          <p:nvPr/>
        </p:nvSpPr>
        <p:spPr>
          <a:xfrm>
            <a:off x="1016000" y="3042841"/>
            <a:ext cx="1333500" cy="553707"/>
          </a:xfrm>
          <a:prstGeom prst="roundRect">
            <a:avLst>
              <a:gd name="adj" fmla="val 16055"/>
            </a:avLst>
          </a:prstGeom>
          <a:solidFill>
            <a:srgbClr val="A14F0A"/>
          </a:solidFill>
          <a:ln/>
        </p:spPr>
        <p:txBody>
          <a:bodyPr wrap="square" lIns="50162" tIns="126362" rIns="50162" bIns="100962" rtlCol="0" anchor="t">
            <a:normAutofit/>
          </a:bodyPr>
          <a:lstStyle/>
          <a:p>
            <a:pPr marL="0" indent="0" algn="ctr">
              <a:lnSpc>
                <a:spcPts val="1960"/>
              </a:lnSpc>
              <a:buNone/>
            </a:pPr>
            <a:r>
              <a:rPr lang="en-US" sz="1400" b="1" dirty="0">
                <a:solidFill>
                  <a:srgbClr val="FBFBF8"/>
                </a:solidFill>
                <a:latin typeface="Nunito Sans" pitchFamily="34" charset="0"/>
                <a:ea typeface="Nunito Sans" pitchFamily="34" charset="-122"/>
                <a:cs typeface="Nunito Sans" pitchFamily="34" charset="-120"/>
              </a:rPr>
              <a:t>Cancelled</a:t>
            </a:r>
            <a:endParaRPr lang="en-US" sz="1400" dirty="0"/>
          </a:p>
        </p:txBody>
      </p:sp>
      <p:sp>
        <p:nvSpPr>
          <p:cNvPr id="19" name="Text 13"/>
          <p:cNvSpPr/>
          <p:nvPr/>
        </p:nvSpPr>
        <p:spPr>
          <a:xfrm>
            <a:off x="2552700" y="3088556"/>
            <a:ext cx="8881999"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Reached from </a:t>
            </a:r>
            <a:r>
              <a:rPr lang="en-US" sz="1300" b="1" dirty="0">
                <a:solidFill>
                  <a:srgbClr val="14213D"/>
                </a:solidFill>
                <a:latin typeface="Nunito Sans" pitchFamily="34" charset="0"/>
                <a:ea typeface="Nunito Sans" pitchFamily="34" charset="-122"/>
                <a:cs typeface="Nunito Sans" pitchFamily="34" charset="-120"/>
              </a:rPr>
              <a:t>Created</a:t>
            </a:r>
            <a:r>
              <a:rPr lang="en-US" sz="1300" dirty="0">
                <a:solidFill>
                  <a:srgbClr val="3D4A5C"/>
                </a:solidFill>
                <a:latin typeface="Nunito Sans" pitchFamily="34" charset="0"/>
                <a:ea typeface="Nunito Sans" pitchFamily="34" charset="-122"/>
                <a:cs typeface="Nunito Sans" pitchFamily="34" charset="-120"/>
              </a:rPr>
              <a:t> (customer cancels or payment fails) or from </a:t>
            </a:r>
            <a:r>
              <a:rPr lang="en-US" sz="1300" b="1" dirty="0">
                <a:solidFill>
                  <a:srgbClr val="14213D"/>
                </a:solidFill>
                <a:latin typeface="Nunito Sans" pitchFamily="34" charset="0"/>
                <a:ea typeface="Nunito Sans" pitchFamily="34" charset="-122"/>
                <a:cs typeface="Nunito Sans" pitchFamily="34" charset="-120"/>
              </a:rPr>
              <a:t>Paid</a:t>
            </a:r>
            <a:r>
              <a:rPr lang="en-US" sz="1300" dirty="0">
                <a:solidFill>
                  <a:srgbClr val="3D4A5C"/>
                </a:solidFill>
                <a:latin typeface="Nunito Sans" pitchFamily="34" charset="0"/>
                <a:ea typeface="Nunito Sans" pitchFamily="34" charset="-122"/>
                <a:cs typeface="Nunito Sans" pitchFamily="34" charset="-120"/>
              </a:rPr>
              <a:t> (customer cancels, refund issued). Nowhere else.</a:t>
            </a:r>
            <a:endParaRPr lang="en-US" sz="1300" dirty="0"/>
          </a:p>
        </p:txBody>
      </p:sp>
      <p:sp>
        <p:nvSpPr>
          <p:cNvPr id="20" name="Text 14"/>
          <p:cNvSpPr/>
          <p:nvPr/>
        </p:nvSpPr>
        <p:spPr>
          <a:xfrm>
            <a:off x="812800" y="4129956"/>
            <a:ext cx="108833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Also: user account (Active → Locked → Active), defect life cycle (Ch 8), subscription (Trial → Active → Expired), ATM session (Ch 3).</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STATE TRANSITION TABLE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Valid moves work; invalid moves are blocked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8"/>
          <a:ext cx="10553700" cy="3659121"/>
        </p:xfrm>
        <a:graphic>
          <a:graphicData uri="http://schemas.openxmlformats.org/drawingml/2006/table">
            <a:tbl>
              <a:tblPr/>
              <a:tblGrid>
                <a:gridCol w="211074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Current state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Event</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Next state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Valid?</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Created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Payment authorised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Paid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Valid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Created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Payment fails / cancel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Cancelled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Valid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Paid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Dispatch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Shipped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Valid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Paid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Cancel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Cancelled (refund issued)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Valid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Shipped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Courier confirms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Delivered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Valid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Delivered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Return within 7 days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Returned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Valid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Shipped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Cancel</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Must be blocked</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Cancelled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Dispatch</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Must be blocked</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8"/>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Delivered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Return on day 8</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Blocked (boundary!)</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9"/>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Created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Dispatch (unpaid)</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Must be blocked</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5 · PAIRWISE TESTING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Cover every pair, not every combination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4873758" cy="1437217"/>
        </p:xfrm>
        <a:graphic>
          <a:graphicData uri="http://schemas.openxmlformats.org/drawingml/2006/table">
            <a:tbl>
              <a:tblPr/>
              <a:tblGrid>
                <a:gridCol w="1852028">
                  <a:extLst>
                    <a:ext uri="{9D8B030D-6E8A-4147-A177-3AD203B41FA5}">
                      <a16:colId xmlns:a16="http://schemas.microsoft.com/office/drawing/2014/main" val="20000"/>
                    </a:ext>
                  </a:extLst>
                </a:gridCol>
                <a:gridCol w="3021730">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Parameter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Values</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Browser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Chrome, Firefox, Safari</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Device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Desktop, Mobile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User type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Guest, Registered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3354859"/>
            <a:ext cx="5033051"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All combinations: 3 × 2 × 2 = </a:t>
            </a:r>
            <a:r>
              <a:rPr lang="en-US" sz="1400" b="1" dirty="0">
                <a:solidFill>
                  <a:srgbClr val="3D4A5C"/>
                </a:solidFill>
                <a:latin typeface="Nunito Sans" pitchFamily="34" charset="0"/>
                <a:ea typeface="Nunito Sans" pitchFamily="34" charset="-122"/>
                <a:cs typeface="Nunito Sans" pitchFamily="34" charset="-120"/>
              </a:rPr>
              <a:t>12</a:t>
            </a:r>
            <a:r>
              <a:rPr lang="en-US" sz="1400" dirty="0">
                <a:solidFill>
                  <a:srgbClr val="3D4A5C"/>
                </a:solidFill>
                <a:latin typeface="Nunito Sans" pitchFamily="34" charset="0"/>
                <a:ea typeface="Nunito Sans" pitchFamily="34" charset="-122"/>
                <a:cs typeface="Nunito Sans" pitchFamily="34" charset="-120"/>
              </a:rPr>
              <a:t>. Pairwise: </a:t>
            </a:r>
            <a:r>
              <a:rPr lang="en-US" sz="1400" b="1" dirty="0">
                <a:solidFill>
                  <a:srgbClr val="A14F0A"/>
                </a:solidFill>
                <a:latin typeface="Nunito Sans" pitchFamily="34" charset="0"/>
                <a:ea typeface="Nunito Sans" pitchFamily="34" charset="-122"/>
                <a:cs typeface="Nunito Sans" pitchFamily="34" charset="-120"/>
              </a:rPr>
              <a:t>6</a:t>
            </a:r>
            <a:r>
              <a:rPr lang="en-US" sz="1400" dirty="0">
                <a:solidFill>
                  <a:srgbClr val="3D4A5C"/>
                </a:solidFill>
                <a:latin typeface="Nunito Sans" pitchFamily="34" charset="0"/>
                <a:ea typeface="Nunito Sans" pitchFamily="34" charset="-122"/>
                <a:cs typeface="Nunito Sans" pitchFamily="34" charset="-120"/>
              </a:rPr>
              <a:t>. With 4 parameters × 3 values: 81 → as few as </a:t>
            </a:r>
            <a:r>
              <a:rPr lang="en-US" sz="1400" b="1" dirty="0">
                <a:solidFill>
                  <a:srgbClr val="A14F0A"/>
                </a:solidFill>
                <a:latin typeface="Nunito Sans" pitchFamily="34" charset="0"/>
                <a:ea typeface="Nunito Sans" pitchFamily="34" charset="-122"/>
                <a:cs typeface="Nunito Sans" pitchFamily="34" charset="-120"/>
              </a:rPr>
              <a:t>9</a:t>
            </a:r>
            <a:r>
              <a:rPr lang="en-US" sz="1400" dirty="0">
                <a:solidFill>
                  <a:srgbClr val="3D4A5C"/>
                </a:solidFill>
                <a:latin typeface="Nunito Sans" pitchFamily="34" charset="0"/>
                <a:ea typeface="Nunito Sans" pitchFamily="34" charset="-122"/>
                <a:cs typeface="Nunito Sans" pitchFamily="34" charset="-120"/>
              </a:rPr>
              <a:t>.</a:t>
            </a:r>
            <a:endParaRPr lang="en-US" sz="1400" dirty="0"/>
          </a:p>
        </p:txBody>
      </p:sp>
      <p:sp>
        <p:nvSpPr>
          <p:cNvPr id="6" name="Text 3"/>
          <p:cNvSpPr/>
          <p:nvPr/>
        </p:nvSpPr>
        <p:spPr>
          <a:xfrm>
            <a:off x="812800" y="3979664"/>
            <a:ext cx="50330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Tools: PICT (Microsoft), AllPairs, online generators.</a:t>
            </a:r>
            <a:endParaRPr lang="en-US" sz="12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016758" y="1790638"/>
          <a:ext cx="5362443" cy="2515129"/>
        </p:xfrm>
        <a:graphic>
          <a:graphicData uri="http://schemas.openxmlformats.org/drawingml/2006/table">
            <a:tbl>
              <a:tblPr/>
              <a:tblGrid>
                <a:gridCol w="536244">
                  <a:extLst>
                    <a:ext uri="{9D8B030D-6E8A-4147-A177-3AD203B41FA5}">
                      <a16:colId xmlns:a16="http://schemas.microsoft.com/office/drawing/2014/main" val="20000"/>
                    </a:ext>
                  </a:extLst>
                </a:gridCol>
                <a:gridCol w="1608733">
                  <a:extLst>
                    <a:ext uri="{9D8B030D-6E8A-4147-A177-3AD203B41FA5}">
                      <a16:colId xmlns:a16="http://schemas.microsoft.com/office/drawing/2014/main" val="20001"/>
                    </a:ext>
                  </a:extLst>
                </a:gridCol>
                <a:gridCol w="1608733">
                  <a:extLst>
                    <a:ext uri="{9D8B030D-6E8A-4147-A177-3AD203B41FA5}">
                      <a16:colId xmlns:a16="http://schemas.microsoft.com/office/drawing/2014/main" val="20002"/>
                    </a:ext>
                  </a:extLst>
                </a:gridCol>
                <a:gridCol w="1608733">
                  <a:extLst>
                    <a:ext uri="{9D8B030D-6E8A-4147-A177-3AD203B41FA5}">
                      <a16:colId xmlns:a16="http://schemas.microsoft.com/office/drawing/2014/main" val="20003"/>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Browser</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Device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User</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Chrome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Desktop</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Guest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2</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Chrome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Mobile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Registered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3</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Firefox</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Desktop</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Registered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4</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Firefox</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Mobile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Guest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5</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Safari</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Desktop</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Guest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6</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Safari</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Mobile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Registered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8" name="Text 4"/>
          <p:cNvSpPr/>
          <p:nvPr/>
        </p:nvSpPr>
        <p:spPr>
          <a:xfrm>
            <a:off x="812800" y="4534371"/>
            <a:ext cx="10566400" cy="459714"/>
          </a:xfrm>
          <a:prstGeom prst="roundRect">
            <a:avLst>
              <a:gd name="adj" fmla="val 16576"/>
            </a:avLst>
          </a:prstGeom>
          <a:solidFill>
            <a:srgbClr val="FBEBDD"/>
          </a:solidFill>
          <a:ln/>
        </p:spPr>
        <p:txBody>
          <a:bodyPr wrap="square" lIns="155482" tIns="91982" rIns="0" bIns="66582"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 shortcut, not a guarantee.</a:t>
            </a:r>
            <a:r>
              <a:rPr lang="en-US" sz="1300" dirty="0">
                <a:solidFill>
                  <a:srgbClr val="14213D"/>
                </a:solidFill>
                <a:latin typeface="Nunito Sans" pitchFamily="34" charset="0"/>
                <a:ea typeface="Nunito Sans" pitchFamily="34" charset="-122"/>
                <a:cs typeface="Nunito Sans" pitchFamily="34" charset="-120"/>
              </a:rPr>
              <a:t> For critical combinations, such as Safari + Mobile + saved card, add explicit tests.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6 · ERROR GUESSING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 tester's checklist of weak spots</a:t>
            </a:r>
            <a:endParaRPr lang="en-US" sz="3200" dirty="0"/>
          </a:p>
        </p:txBody>
      </p:sp>
      <p:sp>
        <p:nvSpPr>
          <p:cNvPr id="4" name="Shape 2"/>
          <p:cNvSpPr/>
          <p:nvPr/>
        </p:nvSpPr>
        <p:spPr>
          <a:xfrm>
            <a:off x="812800" y="1803338"/>
            <a:ext cx="2546350" cy="980347"/>
          </a:xfrm>
          <a:prstGeom prst="roundRect">
            <a:avLst>
              <a:gd name="adj" fmla="val 9068"/>
            </a:avLst>
          </a:prstGeom>
          <a:solidFill>
            <a:srgbClr val="EEF2F7"/>
          </a:solidFill>
          <a:ln/>
        </p:spPr>
      </p:sp>
      <p:sp>
        <p:nvSpPr>
          <p:cNvPr id="5" name="Text 3"/>
          <p:cNvSpPr/>
          <p:nvPr/>
        </p:nvSpPr>
        <p:spPr>
          <a:xfrm>
            <a:off x="965200" y="1955738"/>
            <a:ext cx="2308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Inputs</a:t>
            </a:r>
            <a:endParaRPr lang="en-US" sz="1400" dirty="0"/>
          </a:p>
        </p:txBody>
      </p:sp>
      <p:sp>
        <p:nvSpPr>
          <p:cNvPr id="6" name="Text 4"/>
          <p:cNvSpPr/>
          <p:nvPr/>
        </p:nvSpPr>
        <p:spPr>
          <a:xfrm>
            <a:off x="965200" y="2219858"/>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Empty, spaces, 5,000 chars, Unicode, HTML, script tags, SQL</a:t>
            </a:r>
            <a:endParaRPr lang="en-US" sz="1200" dirty="0"/>
          </a:p>
        </p:txBody>
      </p:sp>
      <p:sp>
        <p:nvSpPr>
          <p:cNvPr id="7" name="Shape 5"/>
          <p:cNvSpPr/>
          <p:nvPr/>
        </p:nvSpPr>
        <p:spPr>
          <a:xfrm>
            <a:off x="3486150" y="1803338"/>
            <a:ext cx="2546350" cy="980347"/>
          </a:xfrm>
          <a:prstGeom prst="roundRect">
            <a:avLst>
              <a:gd name="adj" fmla="val 9068"/>
            </a:avLst>
          </a:prstGeom>
          <a:solidFill>
            <a:srgbClr val="EEF2F7"/>
          </a:solidFill>
          <a:ln/>
        </p:spPr>
      </p:sp>
      <p:sp>
        <p:nvSpPr>
          <p:cNvPr id="8" name="Text 6"/>
          <p:cNvSpPr/>
          <p:nvPr/>
        </p:nvSpPr>
        <p:spPr>
          <a:xfrm>
            <a:off x="3638550" y="1955738"/>
            <a:ext cx="2308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Numbers</a:t>
            </a:r>
            <a:endParaRPr lang="en-US" sz="1400" dirty="0"/>
          </a:p>
        </p:txBody>
      </p:sp>
      <p:sp>
        <p:nvSpPr>
          <p:cNvPr id="9" name="Text 7"/>
          <p:cNvSpPr/>
          <p:nvPr/>
        </p:nvSpPr>
        <p:spPr>
          <a:xfrm>
            <a:off x="3638550" y="2219858"/>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0, negative, decimals, 999999999, 007, 1e5</a:t>
            </a:r>
            <a:endParaRPr lang="en-US" sz="1200" dirty="0"/>
          </a:p>
        </p:txBody>
      </p:sp>
      <p:sp>
        <p:nvSpPr>
          <p:cNvPr id="10" name="Shape 8"/>
          <p:cNvSpPr/>
          <p:nvPr/>
        </p:nvSpPr>
        <p:spPr>
          <a:xfrm>
            <a:off x="6159500" y="1803338"/>
            <a:ext cx="2546350" cy="980347"/>
          </a:xfrm>
          <a:prstGeom prst="roundRect">
            <a:avLst>
              <a:gd name="adj" fmla="val 9068"/>
            </a:avLst>
          </a:prstGeom>
          <a:solidFill>
            <a:srgbClr val="EEF2F7"/>
          </a:solidFill>
          <a:ln/>
        </p:spPr>
      </p:sp>
      <p:sp>
        <p:nvSpPr>
          <p:cNvPr id="11" name="Text 9"/>
          <p:cNvSpPr/>
          <p:nvPr/>
        </p:nvSpPr>
        <p:spPr>
          <a:xfrm>
            <a:off x="6311900" y="1955738"/>
            <a:ext cx="2308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Dates</a:t>
            </a:r>
            <a:endParaRPr lang="en-US" sz="1400" dirty="0"/>
          </a:p>
        </p:txBody>
      </p:sp>
      <p:sp>
        <p:nvSpPr>
          <p:cNvPr id="12" name="Text 10"/>
          <p:cNvSpPr/>
          <p:nvPr/>
        </p:nvSpPr>
        <p:spPr>
          <a:xfrm>
            <a:off x="6311900" y="2219858"/>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29-Feb, 31-Apr, past and future, time zones, daylight saving</a:t>
            </a:r>
            <a:endParaRPr lang="en-US" sz="1200" dirty="0"/>
          </a:p>
        </p:txBody>
      </p:sp>
      <p:sp>
        <p:nvSpPr>
          <p:cNvPr id="13" name="Shape 11"/>
          <p:cNvSpPr/>
          <p:nvPr/>
        </p:nvSpPr>
        <p:spPr>
          <a:xfrm>
            <a:off x="8832850" y="1803338"/>
            <a:ext cx="2546350" cy="980347"/>
          </a:xfrm>
          <a:prstGeom prst="roundRect">
            <a:avLst>
              <a:gd name="adj" fmla="val 9068"/>
            </a:avLst>
          </a:prstGeom>
          <a:solidFill>
            <a:srgbClr val="EEF2F7"/>
          </a:solidFill>
          <a:ln/>
        </p:spPr>
      </p:sp>
      <p:sp>
        <p:nvSpPr>
          <p:cNvPr id="14" name="Text 12"/>
          <p:cNvSpPr/>
          <p:nvPr/>
        </p:nvSpPr>
        <p:spPr>
          <a:xfrm>
            <a:off x="8985250" y="1955738"/>
            <a:ext cx="2308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Actions</a:t>
            </a:r>
            <a:endParaRPr lang="en-US" sz="1400" dirty="0"/>
          </a:p>
        </p:txBody>
      </p:sp>
      <p:sp>
        <p:nvSpPr>
          <p:cNvPr id="15" name="Text 13"/>
          <p:cNvSpPr/>
          <p:nvPr/>
        </p:nvSpPr>
        <p:spPr>
          <a:xfrm>
            <a:off x="8985250" y="2219858"/>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Double-click, Back or Refresh mid-process, two tabs, paste</a:t>
            </a:r>
            <a:endParaRPr lang="en-US" sz="1200" dirty="0"/>
          </a:p>
        </p:txBody>
      </p:sp>
      <p:sp>
        <p:nvSpPr>
          <p:cNvPr id="16" name="Shape 14"/>
          <p:cNvSpPr/>
          <p:nvPr/>
        </p:nvSpPr>
        <p:spPr>
          <a:xfrm>
            <a:off x="812800" y="2910681"/>
            <a:ext cx="2546350" cy="980347"/>
          </a:xfrm>
          <a:prstGeom prst="roundRect">
            <a:avLst>
              <a:gd name="adj" fmla="val 9068"/>
            </a:avLst>
          </a:prstGeom>
          <a:solidFill>
            <a:srgbClr val="EEF2F7"/>
          </a:solidFill>
          <a:ln/>
        </p:spPr>
      </p:sp>
      <p:sp>
        <p:nvSpPr>
          <p:cNvPr id="17" name="Text 15"/>
          <p:cNvSpPr/>
          <p:nvPr/>
        </p:nvSpPr>
        <p:spPr>
          <a:xfrm>
            <a:off x="965200" y="3063081"/>
            <a:ext cx="2308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Session</a:t>
            </a:r>
            <a:endParaRPr lang="en-US" sz="1400" dirty="0"/>
          </a:p>
        </p:txBody>
      </p:sp>
      <p:sp>
        <p:nvSpPr>
          <p:cNvPr id="18" name="Text 16"/>
          <p:cNvSpPr/>
          <p:nvPr/>
        </p:nvSpPr>
        <p:spPr>
          <a:xfrm>
            <a:off x="965200" y="3327202"/>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Timeout mid-flow, logout in another tab, expired token</a:t>
            </a:r>
            <a:endParaRPr lang="en-US" sz="1200" dirty="0"/>
          </a:p>
        </p:txBody>
      </p:sp>
      <p:sp>
        <p:nvSpPr>
          <p:cNvPr id="19" name="Shape 17"/>
          <p:cNvSpPr/>
          <p:nvPr/>
        </p:nvSpPr>
        <p:spPr>
          <a:xfrm>
            <a:off x="3486150" y="2910681"/>
            <a:ext cx="2546350" cy="980347"/>
          </a:xfrm>
          <a:prstGeom prst="roundRect">
            <a:avLst>
              <a:gd name="adj" fmla="val 9068"/>
            </a:avLst>
          </a:prstGeom>
          <a:solidFill>
            <a:srgbClr val="EEF2F7"/>
          </a:solidFill>
          <a:ln/>
        </p:spPr>
      </p:sp>
      <p:sp>
        <p:nvSpPr>
          <p:cNvPr id="20" name="Text 18"/>
          <p:cNvSpPr/>
          <p:nvPr/>
        </p:nvSpPr>
        <p:spPr>
          <a:xfrm>
            <a:off x="3638550" y="3063081"/>
            <a:ext cx="2308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Network</a:t>
            </a:r>
            <a:endParaRPr lang="en-US" sz="1400" dirty="0"/>
          </a:p>
        </p:txBody>
      </p:sp>
      <p:sp>
        <p:nvSpPr>
          <p:cNvPr id="21" name="Text 19"/>
          <p:cNvSpPr/>
          <p:nvPr/>
        </p:nvSpPr>
        <p:spPr>
          <a:xfrm>
            <a:off x="3638550" y="3327202"/>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Slow 3G, disconnect mid-request, retry after timeout</a:t>
            </a:r>
            <a:endParaRPr lang="en-US" sz="1200" dirty="0"/>
          </a:p>
        </p:txBody>
      </p:sp>
      <p:sp>
        <p:nvSpPr>
          <p:cNvPr id="22" name="Shape 20"/>
          <p:cNvSpPr/>
          <p:nvPr/>
        </p:nvSpPr>
        <p:spPr>
          <a:xfrm>
            <a:off x="6159500" y="2910681"/>
            <a:ext cx="2546350" cy="980347"/>
          </a:xfrm>
          <a:prstGeom prst="roundRect">
            <a:avLst>
              <a:gd name="adj" fmla="val 9068"/>
            </a:avLst>
          </a:prstGeom>
          <a:solidFill>
            <a:srgbClr val="EEF2F7"/>
          </a:solidFill>
          <a:ln/>
        </p:spPr>
      </p:sp>
      <p:sp>
        <p:nvSpPr>
          <p:cNvPr id="23" name="Text 21"/>
          <p:cNvSpPr/>
          <p:nvPr/>
        </p:nvSpPr>
        <p:spPr>
          <a:xfrm>
            <a:off x="6311900" y="3063081"/>
            <a:ext cx="2308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Files</a:t>
            </a:r>
            <a:endParaRPr lang="en-US" sz="1400" dirty="0"/>
          </a:p>
        </p:txBody>
      </p:sp>
      <p:sp>
        <p:nvSpPr>
          <p:cNvPr id="24" name="Text 22"/>
          <p:cNvSpPr/>
          <p:nvPr/>
        </p:nvSpPr>
        <p:spPr>
          <a:xfrm>
            <a:off x="6311900" y="3327202"/>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Empty, huge, wrong extension, .exe renamed .jpg</a:t>
            </a:r>
            <a:endParaRPr lang="en-US" sz="1200" dirty="0"/>
          </a:p>
        </p:txBody>
      </p:sp>
      <p:sp>
        <p:nvSpPr>
          <p:cNvPr id="25" name="Shape 23"/>
          <p:cNvSpPr/>
          <p:nvPr/>
        </p:nvSpPr>
        <p:spPr>
          <a:xfrm>
            <a:off x="8832850" y="2910681"/>
            <a:ext cx="2546350" cy="980347"/>
          </a:xfrm>
          <a:prstGeom prst="roundRect">
            <a:avLst>
              <a:gd name="adj" fmla="val 9068"/>
            </a:avLst>
          </a:prstGeom>
          <a:solidFill>
            <a:srgbClr val="EEF2F7"/>
          </a:solidFill>
          <a:ln/>
        </p:spPr>
      </p:sp>
      <p:sp>
        <p:nvSpPr>
          <p:cNvPr id="26" name="Text 24"/>
          <p:cNvSpPr/>
          <p:nvPr/>
        </p:nvSpPr>
        <p:spPr>
          <a:xfrm>
            <a:off x="8985250" y="3063081"/>
            <a:ext cx="2308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Data state</a:t>
            </a:r>
            <a:endParaRPr lang="en-US" sz="1400" dirty="0"/>
          </a:p>
        </p:txBody>
      </p:sp>
      <p:sp>
        <p:nvSpPr>
          <p:cNvPr id="27" name="Text 25"/>
          <p:cNvSpPr/>
          <p:nvPr/>
        </p:nvSpPr>
        <p:spPr>
          <a:xfrm>
            <a:off x="8985250" y="3327202"/>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Nunito Sans" pitchFamily="34" charset="0"/>
                <a:ea typeface="Nunito Sans" pitchFamily="34" charset="-122"/>
                <a:cs typeface="Nunito Sans" pitchFamily="34" charset="-120"/>
              </a:rPr>
              <a:t>Item deleted while in a cart; price changed during checkout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ERROR GUESSING AT CHECKOUT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Three tests every checkout needs</a:t>
            </a:r>
            <a:endParaRPr lang="en-US" sz="3200" dirty="0"/>
          </a:p>
        </p:txBody>
      </p:sp>
      <p:sp>
        <p:nvSpPr>
          <p:cNvPr id="4" name="Shape 2"/>
          <p:cNvSpPr/>
          <p:nvPr/>
        </p:nvSpPr>
        <p:spPr>
          <a:xfrm>
            <a:off x="812800" y="1854138"/>
            <a:ext cx="3386667" cy="1656027"/>
          </a:xfrm>
          <a:prstGeom prst="roundRect">
            <a:avLst>
              <a:gd name="adj" fmla="val 6135"/>
            </a:avLst>
          </a:prstGeom>
          <a:solidFill>
            <a:srgbClr val="24345A"/>
          </a:solidFill>
          <a:ln/>
        </p:spPr>
      </p:sp>
      <p:pic>
        <p:nvPicPr>
          <p:cNvPr id="5" name="Image 0" descr="Lightning"/>
          <p:cNvPicPr>
            <a:picLocks noChangeAspect="1"/>
          </p:cNvPicPr>
          <p:nvPr/>
        </p:nvPicPr>
        <p:blipFill>
          <a:blip r:embed="rId3"/>
          <a:srcRect/>
          <a:stretch/>
        </p:blipFill>
        <p:spPr>
          <a:xfrm>
            <a:off x="1041400" y="2082738"/>
            <a:ext cx="304800" cy="304800"/>
          </a:xfrm>
          <a:prstGeom prst="rect">
            <a:avLst/>
          </a:prstGeom>
        </p:spPr>
      </p:pic>
      <p:sp>
        <p:nvSpPr>
          <p:cNvPr id="6" name="Text 3"/>
          <p:cNvSpPr/>
          <p:nvPr/>
        </p:nvSpPr>
        <p:spPr>
          <a:xfrm>
            <a:off x="1041400" y="2489138"/>
            <a:ext cx="30173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BFBF8"/>
                </a:solidFill>
                <a:latin typeface="Nunito Sans" pitchFamily="34" charset="0"/>
                <a:ea typeface="Nunito Sans" pitchFamily="34" charset="-122"/>
                <a:cs typeface="Nunito Sans" pitchFamily="34" charset="-120"/>
              </a:rPr>
              <a:t>Double-click Place Order</a:t>
            </a:r>
            <a:endParaRPr lang="en-US" sz="1500" dirty="0"/>
          </a:p>
        </p:txBody>
      </p:sp>
      <p:sp>
        <p:nvSpPr>
          <p:cNvPr id="7" name="Text 4"/>
          <p:cNvSpPr/>
          <p:nvPr/>
        </p:nvSpPr>
        <p:spPr>
          <a:xfrm>
            <a:off x="1041400" y="2819338"/>
            <a:ext cx="3017351"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Only one order and one charge must be created.</a:t>
            </a:r>
            <a:endParaRPr lang="en-US" sz="1300" dirty="0"/>
          </a:p>
        </p:txBody>
      </p:sp>
      <p:sp>
        <p:nvSpPr>
          <p:cNvPr id="8" name="Shape 5"/>
          <p:cNvSpPr/>
          <p:nvPr/>
        </p:nvSpPr>
        <p:spPr>
          <a:xfrm>
            <a:off x="4402667" y="1854138"/>
            <a:ext cx="3386667" cy="1656027"/>
          </a:xfrm>
          <a:prstGeom prst="roundRect">
            <a:avLst>
              <a:gd name="adj" fmla="val 6135"/>
            </a:avLst>
          </a:prstGeom>
          <a:solidFill>
            <a:srgbClr val="24345A"/>
          </a:solidFill>
          <a:ln/>
        </p:spPr>
      </p:sp>
      <p:pic>
        <p:nvPicPr>
          <p:cNvPr id="9" name="Image 1" descr="Activity"/>
          <p:cNvPicPr>
            <a:picLocks noChangeAspect="1"/>
          </p:cNvPicPr>
          <p:nvPr/>
        </p:nvPicPr>
        <p:blipFill>
          <a:blip r:embed="rId4"/>
          <a:srcRect/>
          <a:stretch/>
        </p:blipFill>
        <p:spPr>
          <a:xfrm>
            <a:off x="4631267" y="2082738"/>
            <a:ext cx="304800" cy="304800"/>
          </a:xfrm>
          <a:prstGeom prst="rect">
            <a:avLst/>
          </a:prstGeom>
        </p:spPr>
      </p:pic>
      <p:sp>
        <p:nvSpPr>
          <p:cNvPr id="10" name="Text 6"/>
          <p:cNvSpPr/>
          <p:nvPr/>
        </p:nvSpPr>
        <p:spPr>
          <a:xfrm>
            <a:off x="4631267" y="2489138"/>
            <a:ext cx="30173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BFBF8"/>
                </a:solidFill>
                <a:latin typeface="Nunito Sans" pitchFamily="34" charset="0"/>
                <a:ea typeface="Nunito Sans" pitchFamily="34" charset="-122"/>
                <a:cs typeface="Nunito Sans" pitchFamily="34" charset="-120"/>
              </a:rPr>
              <a:t>Back after payment success</a:t>
            </a:r>
            <a:endParaRPr lang="en-US" sz="1500" dirty="0"/>
          </a:p>
        </p:txBody>
      </p:sp>
      <p:sp>
        <p:nvSpPr>
          <p:cNvPr id="11" name="Text 7"/>
          <p:cNvSpPr/>
          <p:nvPr/>
        </p:nvSpPr>
        <p:spPr>
          <a:xfrm>
            <a:off x="4631267" y="2819338"/>
            <a:ext cx="3017351"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Must not show the payment form again or charge again.</a:t>
            </a:r>
            <a:endParaRPr lang="en-US" sz="1300" dirty="0"/>
          </a:p>
        </p:txBody>
      </p:sp>
      <p:sp>
        <p:nvSpPr>
          <p:cNvPr id="12" name="Shape 8"/>
          <p:cNvSpPr/>
          <p:nvPr/>
        </p:nvSpPr>
        <p:spPr>
          <a:xfrm>
            <a:off x="7992534" y="1854138"/>
            <a:ext cx="3386667" cy="1656027"/>
          </a:xfrm>
          <a:prstGeom prst="roundRect">
            <a:avLst>
              <a:gd name="adj" fmla="val 6135"/>
            </a:avLst>
          </a:prstGeom>
          <a:solidFill>
            <a:srgbClr val="24345A"/>
          </a:solidFill>
          <a:ln/>
        </p:spPr>
      </p:sp>
      <p:pic>
        <p:nvPicPr>
          <p:cNvPr id="13" name="Image 2" descr="Users"/>
          <p:cNvPicPr>
            <a:picLocks noChangeAspect="1"/>
          </p:cNvPicPr>
          <p:nvPr/>
        </p:nvPicPr>
        <p:blipFill>
          <a:blip r:embed="rId5"/>
          <a:srcRect/>
          <a:stretch/>
        </p:blipFill>
        <p:spPr>
          <a:xfrm>
            <a:off x="8221134" y="2082738"/>
            <a:ext cx="304800" cy="304800"/>
          </a:xfrm>
          <a:prstGeom prst="rect">
            <a:avLst/>
          </a:prstGeom>
        </p:spPr>
      </p:pic>
      <p:sp>
        <p:nvSpPr>
          <p:cNvPr id="14" name="Text 9"/>
          <p:cNvSpPr/>
          <p:nvPr/>
        </p:nvSpPr>
        <p:spPr>
          <a:xfrm>
            <a:off x="8221134" y="2489138"/>
            <a:ext cx="30173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BFBF8"/>
                </a:solidFill>
                <a:latin typeface="Nunito Sans" pitchFamily="34" charset="0"/>
                <a:ea typeface="Nunito Sans" pitchFamily="34" charset="-122"/>
                <a:cs typeface="Nunito Sans" pitchFamily="34" charset="-120"/>
              </a:rPr>
              <a:t>Two tabs, last item in stock</a:t>
            </a:r>
            <a:endParaRPr lang="en-US" sz="1500" dirty="0"/>
          </a:p>
        </p:txBody>
      </p:sp>
      <p:sp>
        <p:nvSpPr>
          <p:cNvPr id="15" name="Text 10"/>
          <p:cNvSpPr/>
          <p:nvPr/>
        </p:nvSpPr>
        <p:spPr>
          <a:xfrm>
            <a:off x="8221134" y="2819338"/>
            <a:ext cx="3017351"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Both check out at once. Only one should succeed.</a:t>
            </a:r>
            <a:endParaRPr lang="en-US" sz="1300" dirty="0"/>
          </a:p>
        </p:txBody>
      </p:sp>
      <p:sp>
        <p:nvSpPr>
          <p:cNvPr id="16" name="Text 11"/>
          <p:cNvSpPr/>
          <p:nvPr/>
        </p:nvSpPr>
        <p:spPr>
          <a:xfrm>
            <a:off x="812800" y="38149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Error guessing is unstructured. Use it </a:t>
            </a:r>
            <a:r>
              <a:rPr lang="en-US" sz="1500" b="1" dirty="0">
                <a:solidFill>
                  <a:srgbClr val="F0A04B"/>
                </a:solidFill>
                <a:latin typeface="Nunito Sans" pitchFamily="34" charset="0"/>
                <a:ea typeface="Nunito Sans" pitchFamily="34" charset="-122"/>
                <a:cs typeface="Nunito Sans" pitchFamily="34" charset="-120"/>
              </a:rPr>
              <a:t>in addition to</a:t>
            </a:r>
            <a:r>
              <a:rPr lang="en-US" sz="1500" dirty="0">
                <a:solidFill>
                  <a:srgbClr val="DCE4F0"/>
                </a:solidFill>
                <a:latin typeface="Nunito Sans" pitchFamily="34" charset="0"/>
                <a:ea typeface="Nunito Sans" pitchFamily="34" charset="-122"/>
                <a:cs typeface="Nunito Sans" pitchFamily="34" charset="-120"/>
              </a:rPr>
              <a:t> formal techniques, never instead of them.</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7 · EXPLORATORY TESTING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Design and run tests at the same time</a:t>
            </a:r>
            <a:endParaRPr lang="en-US" sz="3200" dirty="0"/>
          </a:p>
        </p:txBody>
      </p:sp>
      <p:sp>
        <p:nvSpPr>
          <p:cNvPr id="4" name="Shape 2"/>
          <p:cNvSpPr/>
          <p:nvPr/>
        </p:nvSpPr>
        <p:spPr>
          <a:xfrm>
            <a:off x="838200" y="1803338"/>
            <a:ext cx="0" cy="584200"/>
          </a:xfrm>
          <a:prstGeom prst="line">
            <a:avLst/>
          </a:prstGeom>
          <a:noFill/>
          <a:ln w="50800">
            <a:solidFill>
              <a:srgbClr val="A14F0A"/>
            </a:solidFill>
            <a:prstDash val="solid"/>
          </a:ln>
        </p:spPr>
      </p:sp>
      <p:sp>
        <p:nvSpPr>
          <p:cNvPr id="5" name="Text 3"/>
          <p:cNvSpPr/>
          <p:nvPr/>
        </p:nvSpPr>
        <p:spPr>
          <a:xfrm>
            <a:off x="1066800" y="1828738"/>
            <a:ext cx="1062177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Domine" pitchFamily="18" charset="0"/>
                <a:ea typeface="Domine" pitchFamily="18" charset="-122"/>
                <a:cs typeface="Domine" pitchFamily="18" charset="-120"/>
              </a:rPr>
              <a:t>Charter:</a:t>
            </a:r>
            <a:r>
              <a:rPr lang="en-US" sz="1500" dirty="0">
                <a:solidFill>
                  <a:srgbClr val="14213D"/>
                </a:solidFill>
                <a:latin typeface="Domine" pitchFamily="18" charset="0"/>
                <a:ea typeface="Domine" pitchFamily="18" charset="-122"/>
                <a:cs typeface="Domine" pitchFamily="18" charset="-120"/>
              </a:rPr>
              <a:t> “Explore the checkout payment step using different card types and network conditions to discover error-handling and duplicate-charge issues.”</a:t>
            </a:r>
            <a:endParaRPr lang="en-US" sz="1500" dirty="0"/>
          </a:p>
        </p:txBody>
      </p:sp>
      <p:sp>
        <p:nvSpPr>
          <p:cNvPr id="6" name="Text 4"/>
          <p:cNvSpPr/>
          <p:nvPr/>
        </p:nvSpPr>
        <p:spPr>
          <a:xfrm>
            <a:off x="812800" y="2641538"/>
            <a:ext cx="2032000" cy="485114"/>
          </a:xfrm>
          <a:prstGeom prst="roundRect">
            <a:avLst>
              <a:gd name="adj" fmla="val 15708"/>
            </a:avLst>
          </a:prstGeom>
          <a:solidFill>
            <a:srgbClr val="EEF2F7"/>
          </a:solidFill>
          <a:ln/>
        </p:spPr>
        <p:txBody>
          <a:bodyPr wrap="square" lIns="130082" tIns="104682" rIns="78266" bIns="79282" rtlCol="0" anchor="t">
            <a:normAutofit/>
          </a:bodyPr>
          <a:lstStyle/>
          <a:p>
            <a:pPr marL="0" indent="0" algn="l">
              <a:lnSpc>
                <a:spcPts val="1820"/>
              </a:lnSpc>
              <a:buNone/>
            </a:pPr>
            <a:r>
              <a:rPr lang="en-US" sz="1300" b="1" dirty="0">
                <a:solidFill>
                  <a:srgbClr val="2B5C9E"/>
                </a:solidFill>
                <a:latin typeface="Nunito Sans" pitchFamily="34" charset="0"/>
                <a:ea typeface="Nunito Sans" pitchFamily="34" charset="-122"/>
                <a:cs typeface="Nunito Sans" pitchFamily="34" charset="-120"/>
              </a:rPr>
              <a:t>1 · Charter</a:t>
            </a:r>
            <a:endParaRPr lang="en-US" sz="1300" dirty="0"/>
          </a:p>
        </p:txBody>
      </p:sp>
      <p:sp>
        <p:nvSpPr>
          <p:cNvPr id="7" name="Text 5"/>
          <p:cNvSpPr/>
          <p:nvPr/>
        </p:nvSpPr>
        <p:spPr>
          <a:xfrm>
            <a:off x="2946400" y="2641538"/>
            <a:ext cx="2032000" cy="485114"/>
          </a:xfrm>
          <a:prstGeom prst="roundRect">
            <a:avLst>
              <a:gd name="adj" fmla="val 15708"/>
            </a:avLst>
          </a:prstGeom>
          <a:solidFill>
            <a:srgbClr val="EEF2F7"/>
          </a:solidFill>
          <a:ln/>
        </p:spPr>
        <p:txBody>
          <a:bodyPr wrap="square" lIns="130082" tIns="104682" rIns="78266" bIns="79282" rtlCol="0" anchor="t">
            <a:normAutofit/>
          </a:bodyPr>
          <a:lstStyle/>
          <a:p>
            <a:pPr marL="0" indent="0" algn="l">
              <a:lnSpc>
                <a:spcPts val="1820"/>
              </a:lnSpc>
              <a:buNone/>
            </a:pPr>
            <a:r>
              <a:rPr lang="en-US" sz="1300" b="1" dirty="0">
                <a:solidFill>
                  <a:srgbClr val="2B5C9E"/>
                </a:solidFill>
                <a:latin typeface="Nunito Sans" pitchFamily="34" charset="0"/>
                <a:ea typeface="Nunito Sans" pitchFamily="34" charset="-122"/>
                <a:cs typeface="Nunito Sans" pitchFamily="34" charset="-120"/>
              </a:rPr>
              <a:t>2 · Time-box 60 min</a:t>
            </a:r>
            <a:endParaRPr lang="en-US" sz="1300" dirty="0"/>
          </a:p>
        </p:txBody>
      </p:sp>
      <p:sp>
        <p:nvSpPr>
          <p:cNvPr id="8" name="Text 6"/>
          <p:cNvSpPr/>
          <p:nvPr/>
        </p:nvSpPr>
        <p:spPr>
          <a:xfrm>
            <a:off x="5080000" y="2641538"/>
            <a:ext cx="2032000" cy="485114"/>
          </a:xfrm>
          <a:prstGeom prst="roundRect">
            <a:avLst>
              <a:gd name="adj" fmla="val 15708"/>
            </a:avLst>
          </a:prstGeom>
          <a:solidFill>
            <a:srgbClr val="EEF2F7"/>
          </a:solidFill>
          <a:ln/>
        </p:spPr>
        <p:txBody>
          <a:bodyPr wrap="square" lIns="130082" tIns="104682" rIns="78266" bIns="79282" rtlCol="0" anchor="t">
            <a:normAutofit/>
          </a:bodyPr>
          <a:lstStyle/>
          <a:p>
            <a:pPr marL="0" indent="0" algn="l">
              <a:lnSpc>
                <a:spcPts val="1820"/>
              </a:lnSpc>
              <a:buNone/>
            </a:pPr>
            <a:r>
              <a:rPr lang="en-US" sz="1300" b="1" dirty="0">
                <a:solidFill>
                  <a:srgbClr val="2B5C9E"/>
                </a:solidFill>
                <a:latin typeface="Nunito Sans" pitchFamily="34" charset="0"/>
                <a:ea typeface="Nunito Sans" pitchFamily="34" charset="-122"/>
                <a:cs typeface="Nunito Sans" pitchFamily="34" charset="-120"/>
              </a:rPr>
              <a:t>3 · Explore</a:t>
            </a:r>
            <a:endParaRPr lang="en-US" sz="1300" dirty="0"/>
          </a:p>
        </p:txBody>
      </p:sp>
      <p:sp>
        <p:nvSpPr>
          <p:cNvPr id="9" name="Text 7"/>
          <p:cNvSpPr/>
          <p:nvPr/>
        </p:nvSpPr>
        <p:spPr>
          <a:xfrm>
            <a:off x="7213600" y="2641538"/>
            <a:ext cx="2032000" cy="485114"/>
          </a:xfrm>
          <a:prstGeom prst="roundRect">
            <a:avLst>
              <a:gd name="adj" fmla="val 15708"/>
            </a:avLst>
          </a:prstGeom>
          <a:solidFill>
            <a:srgbClr val="EEF2F7"/>
          </a:solidFill>
          <a:ln/>
        </p:spPr>
        <p:txBody>
          <a:bodyPr wrap="square" lIns="130082" tIns="104682" rIns="78266" bIns="79282" rtlCol="0" anchor="t">
            <a:normAutofit/>
          </a:bodyPr>
          <a:lstStyle/>
          <a:p>
            <a:pPr marL="0" indent="0" algn="l">
              <a:lnSpc>
                <a:spcPts val="1820"/>
              </a:lnSpc>
              <a:buNone/>
            </a:pPr>
            <a:r>
              <a:rPr lang="en-US" sz="1300" b="1" dirty="0">
                <a:solidFill>
                  <a:srgbClr val="2B5C9E"/>
                </a:solidFill>
                <a:latin typeface="Nunito Sans" pitchFamily="34" charset="0"/>
                <a:ea typeface="Nunito Sans" pitchFamily="34" charset="-122"/>
                <a:cs typeface="Nunito Sans" pitchFamily="34" charset="-120"/>
              </a:rPr>
              <a:t>4 · Take notes</a:t>
            </a:r>
            <a:endParaRPr lang="en-US" sz="1300" dirty="0"/>
          </a:p>
        </p:txBody>
      </p:sp>
      <p:sp>
        <p:nvSpPr>
          <p:cNvPr id="10" name="Text 8"/>
          <p:cNvSpPr/>
          <p:nvPr/>
        </p:nvSpPr>
        <p:spPr>
          <a:xfrm>
            <a:off x="9347200" y="2641538"/>
            <a:ext cx="2032000" cy="485114"/>
          </a:xfrm>
          <a:prstGeom prst="roundRect">
            <a:avLst>
              <a:gd name="adj" fmla="val 15708"/>
            </a:avLst>
          </a:prstGeom>
          <a:solidFill>
            <a:srgbClr val="EEF2F7"/>
          </a:solidFill>
          <a:ln/>
        </p:spPr>
        <p:txBody>
          <a:bodyPr wrap="square" lIns="130082" tIns="104682" rIns="78266" bIns="79282" rtlCol="0" anchor="t">
            <a:normAutofit/>
          </a:bodyPr>
          <a:lstStyle/>
          <a:p>
            <a:pPr marL="0" indent="0" algn="l">
              <a:lnSpc>
                <a:spcPts val="1820"/>
              </a:lnSpc>
              <a:buNone/>
            </a:pPr>
            <a:r>
              <a:rPr lang="en-US" sz="1300" b="1" dirty="0">
                <a:solidFill>
                  <a:srgbClr val="2B5C9E"/>
                </a:solidFill>
                <a:latin typeface="Nunito Sans" pitchFamily="34" charset="0"/>
                <a:ea typeface="Nunito Sans" pitchFamily="34" charset="-122"/>
                <a:cs typeface="Nunito Sans" pitchFamily="34" charset="-120"/>
              </a:rPr>
              <a:t>5 · Debrief</a:t>
            </a:r>
            <a:endParaRPr lang="en-US" sz="1300" dirty="0"/>
          </a:p>
        </p:txBody>
      </p:sp>
      <p:sp>
        <p:nvSpPr>
          <p:cNvPr id="11" name="Text 9"/>
          <p:cNvSpPr/>
          <p:nvPr/>
        </p:nvSpPr>
        <p:spPr>
          <a:xfrm>
            <a:off x="812800" y="3380656"/>
            <a:ext cx="544169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CRUD:</a:t>
            </a:r>
            <a:r>
              <a:rPr lang="en-US" sz="1300" dirty="0">
                <a:solidFill>
                  <a:srgbClr val="3D4A5C"/>
                </a:solidFill>
                <a:latin typeface="Nunito Sans" pitchFamily="34" charset="0"/>
                <a:ea typeface="Nunito Sans" pitchFamily="34" charset="-122"/>
                <a:cs typeface="Nunito Sans" pitchFamily="34" charset="-120"/>
              </a:rPr>
              <a:t> create, read, update, delete each thing you see</a:t>
            </a:r>
            <a:endParaRPr lang="en-US" sz="1300" dirty="0"/>
          </a:p>
        </p:txBody>
      </p:sp>
      <p:sp>
        <p:nvSpPr>
          <p:cNvPr id="12" name="Text 10"/>
          <p:cNvSpPr/>
          <p:nvPr/>
        </p:nvSpPr>
        <p:spPr>
          <a:xfrm>
            <a:off x="6096000" y="3380656"/>
            <a:ext cx="544169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Goldilocks:</a:t>
            </a:r>
            <a:r>
              <a:rPr lang="en-US" sz="1300" dirty="0">
                <a:solidFill>
                  <a:srgbClr val="3D4A5C"/>
                </a:solidFill>
                <a:latin typeface="Nunito Sans" pitchFamily="34" charset="0"/>
                <a:ea typeface="Nunito Sans" pitchFamily="34" charset="-122"/>
                <a:cs typeface="Nunito Sans" pitchFamily="34" charset="-120"/>
              </a:rPr>
              <a:t> too small, too big, just right</a:t>
            </a:r>
            <a:endParaRPr lang="en-US" sz="1300" dirty="0"/>
          </a:p>
        </p:txBody>
      </p:sp>
      <p:sp>
        <p:nvSpPr>
          <p:cNvPr id="13" name="Text 11"/>
          <p:cNvSpPr/>
          <p:nvPr/>
        </p:nvSpPr>
        <p:spPr>
          <a:xfrm>
            <a:off x="812800" y="3611761"/>
            <a:ext cx="544169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Interrupt:</a:t>
            </a:r>
            <a:r>
              <a:rPr lang="en-US" sz="1300" dirty="0">
                <a:solidFill>
                  <a:srgbClr val="3D4A5C"/>
                </a:solidFill>
                <a:latin typeface="Nunito Sans" pitchFamily="34" charset="0"/>
                <a:ea typeface="Nunito Sans" pitchFamily="34" charset="-122"/>
                <a:cs typeface="Nunito Sans" pitchFamily="34" charset="-120"/>
              </a:rPr>
              <a:t> refresh, back or close tab midway</a:t>
            </a:r>
            <a:endParaRPr lang="en-US" sz="1300" dirty="0"/>
          </a:p>
        </p:txBody>
      </p:sp>
      <p:sp>
        <p:nvSpPr>
          <p:cNvPr id="14" name="Text 12"/>
          <p:cNvSpPr/>
          <p:nvPr/>
        </p:nvSpPr>
        <p:spPr>
          <a:xfrm>
            <a:off x="6096000" y="3611761"/>
            <a:ext cx="544169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Follow the data:</a:t>
            </a:r>
            <a:r>
              <a:rPr lang="en-US" sz="1300" dirty="0">
                <a:solidFill>
                  <a:srgbClr val="3D4A5C"/>
                </a:solidFill>
                <a:latin typeface="Nunito Sans" pitchFamily="34" charset="0"/>
                <a:ea typeface="Nunito Sans" pitchFamily="34" charset="-122"/>
                <a:cs typeface="Nunito Sans" pitchFamily="34" charset="-120"/>
              </a:rPr>
              <a:t> email, invoice, database, admin panel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SCRIPTED VS. EXPLORATORY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Script the known; explore the unknown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38"/>
          <a:ext cx="10553700" cy="1792751"/>
        </p:xfrm>
        <a:graphic>
          <a:graphicData uri="http://schemas.openxmlformats.org/drawingml/2006/table">
            <a:tbl>
              <a:tblPr/>
              <a:tblGrid>
                <a:gridCol w="1899666">
                  <a:extLst>
                    <a:ext uri="{9D8B030D-6E8A-4147-A177-3AD203B41FA5}">
                      <a16:colId xmlns:a16="http://schemas.microsoft.com/office/drawing/2014/main" val="20000"/>
                    </a:ext>
                  </a:extLst>
                </a:gridCol>
                <a:gridCol w="4327017">
                  <a:extLst>
                    <a:ext uri="{9D8B030D-6E8A-4147-A177-3AD203B41FA5}">
                      <a16:colId xmlns:a16="http://schemas.microsoft.com/office/drawing/2014/main" val="20001"/>
                    </a:ext>
                  </a:extLst>
                </a:gridCol>
                <a:gridCol w="4327017">
                  <a:extLst>
                    <a:ext uri="{9D8B030D-6E8A-4147-A177-3AD203B41FA5}">
                      <a16:colId xmlns:a16="http://schemas.microsoft.com/office/drawing/2014/main" val="20002"/>
                    </a:ext>
                  </a:extLst>
                </a:gridCol>
              </a:tblGrid>
              <a:tr h="385961">
                <a:tc>
                  <a:txBody>
                    <a:bodyPr/>
                    <a:lstStyle/>
                    <a:p>
                      <a:pPr marL="0" indent="0">
                        <a:lnSpc>
                          <a:spcPts val="1960"/>
                        </a:lnSpc>
                        <a:buNone/>
                      </a:pP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Scripted test cases</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Exploratory testing</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Designed</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Before execution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During execution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634868">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Strength</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Repeatable, traceable; good for regression and audits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Finds unexpected bugs, adapts quickly, uses tester skill</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Weakness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Only finds what you anticipated</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Harder to repeat or measure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2800" y="3964384"/>
            <a:ext cx="10566400" cy="635000"/>
          </a:xfrm>
          <a:prstGeom prst="roundRect">
            <a:avLst>
              <a:gd name="adj" fmla="val 14000"/>
            </a:avLst>
          </a:prstGeom>
          <a:solidFill>
            <a:srgbClr val="FBEBDD"/>
          </a:solidFill>
          <a:ln/>
        </p:spPr>
      </p:sp>
      <p:pic>
        <p:nvPicPr>
          <p:cNvPr id="6" name="Image 0" descr="Lightbulb"/>
          <p:cNvPicPr>
            <a:picLocks noChangeAspect="1"/>
          </p:cNvPicPr>
          <p:nvPr/>
        </p:nvPicPr>
        <p:blipFill>
          <a:blip r:embed="rId3"/>
          <a:srcRect/>
          <a:stretch/>
        </p:blipFill>
        <p:spPr>
          <a:xfrm>
            <a:off x="1016000" y="4142184"/>
            <a:ext cx="279400" cy="279400"/>
          </a:xfrm>
          <a:prstGeom prst="rect">
            <a:avLst/>
          </a:prstGeom>
        </p:spPr>
      </p:pic>
      <p:sp>
        <p:nvSpPr>
          <p:cNvPr id="7" name="Text 3"/>
          <p:cNvSpPr/>
          <p:nvPr/>
        </p:nvSpPr>
        <p:spPr>
          <a:xfrm>
            <a:off x="1447800" y="4157402"/>
            <a:ext cx="1002004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 good exploratory session </a:t>
            </a:r>
            <a:r>
              <a:rPr lang="en-US" sz="1400" b="1" dirty="0">
                <a:solidFill>
                  <a:srgbClr val="14213D"/>
                </a:solidFill>
                <a:latin typeface="Nunito Sans" pitchFamily="34" charset="0"/>
                <a:ea typeface="Nunito Sans" pitchFamily="34" charset="-122"/>
                <a:cs typeface="Nunito Sans" pitchFamily="34" charset="-120"/>
              </a:rPr>
              <a:t>produces new scripted test cases</a:t>
            </a:r>
            <a:r>
              <a:rPr lang="en-US" sz="1400" dirty="0">
                <a:solidFill>
                  <a:srgbClr val="14213D"/>
                </a:solidFill>
                <a:latin typeface="Nunito Sans" pitchFamily="34" charset="0"/>
                <a:ea typeface="Nunito Sans" pitchFamily="34" charset="-122"/>
                <a:cs typeface="Nunito Sans" pitchFamily="34" charset="-120"/>
              </a:rPr>
              <a:t>: any important bug you find becomes a regression test.</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CHOOSING THE RIGHT TECHNIQUE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Let the requirement pick the tool</a:t>
            </a:r>
            <a:endParaRPr lang="en-US" sz="3200" dirty="0"/>
          </a:p>
        </p:txBody>
      </p:sp>
      <p:sp>
        <p:nvSpPr>
          <p:cNvPr id="4" name="Shape 2"/>
          <p:cNvSpPr/>
          <p:nvPr/>
        </p:nvSpPr>
        <p:spPr>
          <a:xfrm>
            <a:off x="812800" y="1803338"/>
            <a:ext cx="10566400" cy="2714427"/>
          </a:xfrm>
          <a:prstGeom prst="rect">
            <a:avLst/>
          </a:prstGeom>
          <a:solidFill>
            <a:srgbClr val="FBFB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701727"/>
        </p:xfrm>
        <a:graphic>
          <a:graphicData uri="http://schemas.openxmlformats.org/drawingml/2006/table">
            <a:tbl>
              <a:tblPr/>
              <a:tblGrid>
                <a:gridCol w="6543294">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If the requirement has…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Use</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Input ranges: age, amount, length</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EP + BVA</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Multiple conditions → different outcomes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Decision table</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Statuses or workflows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State transition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Many configurations: browser, device, OS, payment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Pairwise</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Known risky patterns, past bugs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Error guessing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New, unclear or complex features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Exploratory</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6" name="Text 3"/>
          <p:cNvSpPr/>
          <p:nvPr/>
        </p:nvSpPr>
        <p:spPr>
          <a:xfrm>
            <a:off x="812800" y="477177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Real features need several at once. Checkout uses all of them.</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COMMON BEGINNER MISTAKES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Seven habits that weaken test cases</a:t>
            </a:r>
            <a:endParaRPr lang="en-US" sz="3200" dirty="0"/>
          </a:p>
        </p:txBody>
      </p:sp>
      <p:pic>
        <p:nvPicPr>
          <p:cNvPr id="4" name="Image 0" descr="Warning"/>
          <p:cNvPicPr>
            <a:picLocks noChangeAspect="1"/>
          </p:cNvPicPr>
          <p:nvPr/>
        </p:nvPicPr>
        <p:blipFill>
          <a:blip r:embed="rId3"/>
          <a:srcRect/>
          <a:stretch/>
        </p:blipFill>
        <p:spPr>
          <a:xfrm>
            <a:off x="812800" y="1838871"/>
            <a:ext cx="228600" cy="228600"/>
          </a:xfrm>
          <a:prstGeom prst="rect">
            <a:avLst/>
          </a:prstGeom>
        </p:spPr>
      </p:pic>
      <p:sp>
        <p:nvSpPr>
          <p:cNvPr id="5" name="Text 2"/>
          <p:cNvSpPr/>
          <p:nvPr/>
        </p:nvSpPr>
        <p:spPr>
          <a:xfrm>
            <a:off x="1193800" y="1828750"/>
            <a:ext cx="5209699"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Vague expected results:</a:t>
            </a:r>
            <a:r>
              <a:rPr lang="en-US" sz="1400" dirty="0">
                <a:solidFill>
                  <a:srgbClr val="3D4A5C"/>
                </a:solidFill>
                <a:latin typeface="Nunito Sans" pitchFamily="34" charset="0"/>
                <a:ea typeface="Nunito Sans" pitchFamily="34" charset="-122"/>
                <a:cs typeface="Nunito Sans" pitchFamily="34" charset="-120"/>
              </a:rPr>
              <a:t> “should work”, “error shown”.</a:t>
            </a:r>
            <a:endParaRPr lang="en-US" sz="1400" dirty="0"/>
          </a:p>
        </p:txBody>
      </p:sp>
      <p:pic>
        <p:nvPicPr>
          <p:cNvPr id="6" name="Image 1" descr="Warning"/>
          <p:cNvPicPr>
            <a:picLocks noChangeAspect="1"/>
          </p:cNvPicPr>
          <p:nvPr/>
        </p:nvPicPr>
        <p:blipFill>
          <a:blip r:embed="rId3"/>
          <a:srcRect/>
          <a:stretch/>
        </p:blipFill>
        <p:spPr>
          <a:xfrm>
            <a:off x="812800" y="2214761"/>
            <a:ext cx="228600" cy="228600"/>
          </a:xfrm>
          <a:prstGeom prst="rect">
            <a:avLst/>
          </a:prstGeom>
        </p:spPr>
      </p:pic>
      <p:sp>
        <p:nvSpPr>
          <p:cNvPr id="7" name="Text 3"/>
          <p:cNvSpPr/>
          <p:nvPr/>
        </p:nvSpPr>
        <p:spPr>
          <a:xfrm>
            <a:off x="1193800" y="2204641"/>
            <a:ext cx="7205901"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Expected result copied from current behaviour:</a:t>
            </a:r>
            <a:r>
              <a:rPr lang="en-US" sz="1400" dirty="0">
                <a:solidFill>
                  <a:srgbClr val="3D4A5C"/>
                </a:solidFill>
                <a:latin typeface="Nunito Sans" pitchFamily="34" charset="0"/>
                <a:ea typeface="Nunito Sans" pitchFamily="34" charset="-122"/>
                <a:cs typeface="Nunito Sans" pitchFamily="34" charset="-120"/>
              </a:rPr>
              <a:t> you end up verifying bugs.</a:t>
            </a:r>
            <a:endParaRPr lang="en-US" sz="1400" dirty="0"/>
          </a:p>
        </p:txBody>
      </p:sp>
      <p:pic>
        <p:nvPicPr>
          <p:cNvPr id="8" name="Image 2" descr="Warning"/>
          <p:cNvPicPr>
            <a:picLocks noChangeAspect="1"/>
          </p:cNvPicPr>
          <p:nvPr/>
        </p:nvPicPr>
        <p:blipFill>
          <a:blip r:embed="rId3"/>
          <a:srcRect/>
          <a:stretch/>
        </p:blipFill>
        <p:spPr>
          <a:xfrm>
            <a:off x="812800" y="2590676"/>
            <a:ext cx="228600" cy="228600"/>
          </a:xfrm>
          <a:prstGeom prst="rect">
            <a:avLst/>
          </a:prstGeom>
        </p:spPr>
      </p:pic>
      <p:sp>
        <p:nvSpPr>
          <p:cNvPr id="9" name="Text 4"/>
          <p:cNvSpPr/>
          <p:nvPr/>
        </p:nvSpPr>
        <p:spPr>
          <a:xfrm>
            <a:off x="1193800" y="2580556"/>
            <a:ext cx="7020719"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Several conditions in one test:</a:t>
            </a:r>
            <a:r>
              <a:rPr lang="en-US" sz="1400" dirty="0">
                <a:solidFill>
                  <a:srgbClr val="3D4A5C"/>
                </a:solidFill>
                <a:latin typeface="Nunito Sans" pitchFamily="34" charset="0"/>
                <a:ea typeface="Nunito Sans" pitchFamily="34" charset="-122"/>
                <a:cs typeface="Nunito Sans" pitchFamily="34" charset="-120"/>
              </a:rPr>
              <a:t> when it fails, you don't know which broke.</a:t>
            </a:r>
            <a:endParaRPr lang="en-US" sz="1400" dirty="0"/>
          </a:p>
        </p:txBody>
      </p:sp>
      <p:pic>
        <p:nvPicPr>
          <p:cNvPr id="10" name="Image 3" descr="Warning"/>
          <p:cNvPicPr>
            <a:picLocks noChangeAspect="1"/>
          </p:cNvPicPr>
          <p:nvPr/>
        </p:nvPicPr>
        <p:blipFill>
          <a:blip r:embed="rId3"/>
          <a:srcRect/>
          <a:stretch/>
        </p:blipFill>
        <p:spPr>
          <a:xfrm>
            <a:off x="812800" y="2966591"/>
            <a:ext cx="228600" cy="228600"/>
          </a:xfrm>
          <a:prstGeom prst="rect">
            <a:avLst/>
          </a:prstGeom>
        </p:spPr>
      </p:pic>
      <p:sp>
        <p:nvSpPr>
          <p:cNvPr id="11" name="Text 5"/>
          <p:cNvSpPr/>
          <p:nvPr/>
        </p:nvSpPr>
        <p:spPr>
          <a:xfrm>
            <a:off x="1193800" y="2956471"/>
            <a:ext cx="3924141"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No test data</a:t>
            </a:r>
            <a:r>
              <a:rPr lang="en-US" sz="1400" dirty="0">
                <a:solidFill>
                  <a:srgbClr val="3D4A5C"/>
                </a:solidFill>
                <a:latin typeface="Nunito Sans" pitchFamily="34" charset="0"/>
                <a:ea typeface="Nunito Sans" pitchFamily="34" charset="-122"/>
                <a:cs typeface="Nunito Sans" pitchFamily="34" charset="-120"/>
              </a:rPr>
              <a:t>, or real customer data used.</a:t>
            </a:r>
            <a:endParaRPr lang="en-US" sz="1400" dirty="0"/>
          </a:p>
        </p:txBody>
      </p:sp>
      <p:pic>
        <p:nvPicPr>
          <p:cNvPr id="12" name="Image 4" descr="Warning"/>
          <p:cNvPicPr>
            <a:picLocks noChangeAspect="1"/>
          </p:cNvPicPr>
          <p:nvPr/>
        </p:nvPicPr>
        <p:blipFill>
          <a:blip r:embed="rId3"/>
          <a:srcRect/>
          <a:stretch/>
        </p:blipFill>
        <p:spPr>
          <a:xfrm>
            <a:off x="812800" y="3342481"/>
            <a:ext cx="228600" cy="228600"/>
          </a:xfrm>
          <a:prstGeom prst="rect">
            <a:avLst/>
          </a:prstGeom>
        </p:spPr>
      </p:pic>
      <p:sp>
        <p:nvSpPr>
          <p:cNvPr id="13" name="Text 6"/>
          <p:cNvSpPr/>
          <p:nvPr/>
        </p:nvSpPr>
        <p:spPr>
          <a:xfrm>
            <a:off x="1193800" y="3332361"/>
            <a:ext cx="4690983"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Only mid-range values</a:t>
            </a:r>
            <a:r>
              <a:rPr lang="en-US" sz="1400" dirty="0">
                <a:solidFill>
                  <a:srgbClr val="3D4A5C"/>
                </a:solidFill>
                <a:latin typeface="Nunito Sans" pitchFamily="34" charset="0"/>
                <a:ea typeface="Nunito Sans" pitchFamily="34" charset="-122"/>
                <a:cs typeface="Nunito Sans" pitchFamily="34" charset="-120"/>
              </a:rPr>
              <a:t>, skipping the boundaries.</a:t>
            </a:r>
            <a:endParaRPr lang="en-US" sz="1400" dirty="0"/>
          </a:p>
        </p:txBody>
      </p:sp>
      <p:pic>
        <p:nvPicPr>
          <p:cNvPr id="14" name="Image 5" descr="Warning"/>
          <p:cNvPicPr>
            <a:picLocks noChangeAspect="1"/>
          </p:cNvPicPr>
          <p:nvPr/>
        </p:nvPicPr>
        <p:blipFill>
          <a:blip r:embed="rId3"/>
          <a:srcRect/>
          <a:stretch/>
        </p:blipFill>
        <p:spPr>
          <a:xfrm>
            <a:off x="812800" y="3718396"/>
            <a:ext cx="228600" cy="228600"/>
          </a:xfrm>
          <a:prstGeom prst="rect">
            <a:avLst/>
          </a:prstGeom>
        </p:spPr>
      </p:pic>
      <p:sp>
        <p:nvSpPr>
          <p:cNvPr id="15" name="Text 7"/>
          <p:cNvSpPr/>
          <p:nvPr/>
        </p:nvSpPr>
        <p:spPr>
          <a:xfrm>
            <a:off x="1193800" y="3708276"/>
            <a:ext cx="741021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“Pass” when something was slightly off.</a:t>
            </a:r>
            <a:r>
              <a:rPr lang="en-US" sz="1400" dirty="0">
                <a:solidFill>
                  <a:srgbClr val="3D4A5C"/>
                </a:solidFill>
                <a:latin typeface="Nunito Sans" pitchFamily="34" charset="0"/>
                <a:ea typeface="Nunito Sans" pitchFamily="34" charset="-122"/>
                <a:cs typeface="Nunito Sans" pitchFamily="34" charset="-120"/>
              </a:rPr>
              <a:t> If it doesn't match, it's a Fail, or ask.</a:t>
            </a:r>
            <a:endParaRPr lang="en-US" sz="1400" dirty="0"/>
          </a:p>
        </p:txBody>
      </p:sp>
      <p:pic>
        <p:nvPicPr>
          <p:cNvPr id="16" name="Image 6" descr="Warning"/>
          <p:cNvPicPr>
            <a:picLocks noChangeAspect="1"/>
          </p:cNvPicPr>
          <p:nvPr/>
        </p:nvPicPr>
        <p:blipFill>
          <a:blip r:embed="rId3"/>
          <a:srcRect/>
          <a:stretch/>
        </p:blipFill>
        <p:spPr>
          <a:xfrm>
            <a:off x="812800" y="4094311"/>
            <a:ext cx="228600" cy="228600"/>
          </a:xfrm>
          <a:prstGeom prst="rect">
            <a:avLst/>
          </a:prstGeom>
        </p:spPr>
      </p:pic>
      <p:sp>
        <p:nvSpPr>
          <p:cNvPr id="17" name="Text 8"/>
          <p:cNvSpPr/>
          <p:nvPr/>
        </p:nvSpPr>
        <p:spPr>
          <a:xfrm>
            <a:off x="1193800" y="4084191"/>
            <a:ext cx="736830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More tests instead of better tests.</a:t>
            </a:r>
            <a:r>
              <a:rPr lang="en-US" sz="1400" dirty="0">
                <a:solidFill>
                  <a:srgbClr val="3D4A5C"/>
                </a:solidFill>
                <a:latin typeface="Nunito Sans" pitchFamily="34" charset="0"/>
                <a:ea typeface="Nunito Sans" pitchFamily="34" charset="-122"/>
                <a:cs typeface="Nunito Sans" pitchFamily="34" charset="-120"/>
              </a:rPr>
              <a:t> Six boundary tests beat ten random ones.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 20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Three exercises</a:t>
            </a:r>
            <a:endParaRPr lang="en-US" sz="3200" dirty="0"/>
          </a:p>
        </p:txBody>
      </p:sp>
      <p:sp>
        <p:nvSpPr>
          <p:cNvPr id="4" name="Shape 2"/>
          <p:cNvSpPr/>
          <p:nvPr/>
        </p:nvSpPr>
        <p:spPr>
          <a:xfrm>
            <a:off x="812800" y="1854150"/>
            <a:ext cx="3386667" cy="2655425"/>
          </a:xfrm>
          <a:prstGeom prst="roundRect">
            <a:avLst>
              <a:gd name="adj" fmla="val 3826"/>
            </a:avLst>
          </a:prstGeom>
          <a:solidFill>
            <a:srgbClr val="24345A"/>
          </a:solidFill>
          <a:ln/>
        </p:spPr>
      </p:sp>
      <p:sp>
        <p:nvSpPr>
          <p:cNvPr id="5" name="Text 3"/>
          <p:cNvSpPr/>
          <p:nvPr/>
        </p:nvSpPr>
        <p:spPr>
          <a:xfrm>
            <a:off x="1041400" y="2082750"/>
            <a:ext cx="301735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1 · 7 MIN</a:t>
            </a:r>
            <a:endParaRPr lang="en-US" sz="1200" dirty="0"/>
          </a:p>
        </p:txBody>
      </p:sp>
      <p:sp>
        <p:nvSpPr>
          <p:cNvPr id="6" name="Text 4"/>
          <p:cNvSpPr/>
          <p:nvPr/>
        </p:nvSpPr>
        <p:spPr>
          <a:xfrm>
            <a:off x="1041400" y="2397671"/>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Nunito Sans" pitchFamily="34" charset="0"/>
                <a:ea typeface="Nunito Sans" pitchFamily="34" charset="-122"/>
                <a:cs typeface="Nunito Sans" pitchFamily="34" charset="-120"/>
              </a:rPr>
              <a:t>Write test cases</a:t>
            </a:r>
            <a:endParaRPr lang="en-US" sz="1600" dirty="0"/>
          </a:p>
        </p:txBody>
      </p:sp>
      <p:sp>
        <p:nvSpPr>
          <p:cNvPr id="7" name="Text 5"/>
          <p:cNvSpPr/>
          <p:nvPr/>
        </p:nvSpPr>
        <p:spPr>
          <a:xfrm>
            <a:off x="1041400" y="2743076"/>
            <a:ext cx="3017351" cy="98292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Using the Chapter 6 fund transfer scenarios, write full test cases (ID, title, preconditions, data, steps, expected) for:</a:t>
            </a:r>
            <a:endParaRPr lang="en-US" sz="1300" dirty="0"/>
          </a:p>
        </p:txBody>
      </p:sp>
      <p:sp>
        <p:nvSpPr>
          <p:cNvPr id="8" name="Text 6"/>
          <p:cNvSpPr/>
          <p:nvPr/>
        </p:nvSpPr>
        <p:spPr>
          <a:xfrm>
            <a:off x="1041400" y="3802211"/>
            <a:ext cx="3017351"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(a) transfer a valid amount</a:t>
            </a:r>
            <a:endParaRPr lang="en-US" sz="1300" dirty="0"/>
          </a:p>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(b) transfer more than the balance</a:t>
            </a:r>
            <a:endParaRPr lang="en-US" sz="1300" dirty="0"/>
          </a:p>
        </p:txBody>
      </p:sp>
      <p:sp>
        <p:nvSpPr>
          <p:cNvPr id="9" name="Shape 7"/>
          <p:cNvSpPr/>
          <p:nvPr/>
        </p:nvSpPr>
        <p:spPr>
          <a:xfrm>
            <a:off x="4402667" y="1854150"/>
            <a:ext cx="3386667" cy="2655425"/>
          </a:xfrm>
          <a:prstGeom prst="roundRect">
            <a:avLst>
              <a:gd name="adj" fmla="val 3826"/>
            </a:avLst>
          </a:prstGeom>
          <a:solidFill>
            <a:srgbClr val="24345A"/>
          </a:solidFill>
          <a:ln/>
        </p:spPr>
      </p:sp>
      <p:sp>
        <p:nvSpPr>
          <p:cNvPr id="10" name="Text 8"/>
          <p:cNvSpPr/>
          <p:nvPr/>
        </p:nvSpPr>
        <p:spPr>
          <a:xfrm>
            <a:off x="4631267" y="2082750"/>
            <a:ext cx="301735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2 · 5 MIN</a:t>
            </a:r>
            <a:endParaRPr lang="en-US" sz="1200" dirty="0"/>
          </a:p>
        </p:txBody>
      </p:sp>
      <p:sp>
        <p:nvSpPr>
          <p:cNvPr id="11" name="Text 9"/>
          <p:cNvSpPr/>
          <p:nvPr/>
        </p:nvSpPr>
        <p:spPr>
          <a:xfrm>
            <a:off x="4631267" y="2397671"/>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Nunito Sans" pitchFamily="34" charset="0"/>
                <a:ea typeface="Nunito Sans" pitchFamily="34" charset="-122"/>
                <a:cs typeface="Nunito Sans" pitchFamily="34" charset="-120"/>
              </a:rPr>
              <a:t>EP and BVA</a:t>
            </a:r>
            <a:endParaRPr lang="en-US" sz="1600" dirty="0"/>
          </a:p>
        </p:txBody>
      </p:sp>
      <p:sp>
        <p:nvSpPr>
          <p:cNvPr id="12" name="Text 10"/>
          <p:cNvSpPr/>
          <p:nvPr/>
        </p:nvSpPr>
        <p:spPr>
          <a:xfrm>
            <a:off x="4631267" y="2743076"/>
            <a:ext cx="3017351"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Cart quantity per product must be between 1 and 10.</a:t>
            </a:r>
            <a:endParaRPr lang="en-US" sz="1300" dirty="0"/>
          </a:p>
        </p:txBody>
      </p:sp>
      <p:sp>
        <p:nvSpPr>
          <p:cNvPr id="13" name="Text 11"/>
          <p:cNvSpPr/>
          <p:nvPr/>
        </p:nvSpPr>
        <p:spPr>
          <a:xfrm>
            <a:off x="4631267" y="3323431"/>
            <a:ext cx="3017351" cy="504164"/>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List the partitions and the BVA values with expected results.</a:t>
            </a:r>
            <a:endParaRPr lang="en-US" sz="1300" dirty="0"/>
          </a:p>
        </p:txBody>
      </p:sp>
      <p:sp>
        <p:nvSpPr>
          <p:cNvPr id="14" name="Shape 12"/>
          <p:cNvSpPr/>
          <p:nvPr/>
        </p:nvSpPr>
        <p:spPr>
          <a:xfrm>
            <a:off x="7992534" y="1854150"/>
            <a:ext cx="3386667" cy="2655425"/>
          </a:xfrm>
          <a:prstGeom prst="roundRect">
            <a:avLst>
              <a:gd name="adj" fmla="val 3826"/>
            </a:avLst>
          </a:prstGeom>
          <a:solidFill>
            <a:srgbClr val="24345A"/>
          </a:solidFill>
          <a:ln/>
        </p:spPr>
      </p:sp>
      <p:sp>
        <p:nvSpPr>
          <p:cNvPr id="15" name="Text 13"/>
          <p:cNvSpPr/>
          <p:nvPr/>
        </p:nvSpPr>
        <p:spPr>
          <a:xfrm>
            <a:off x="8221134" y="2082750"/>
            <a:ext cx="301735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3 · 8 MIN</a:t>
            </a:r>
            <a:endParaRPr lang="en-US" sz="1200" dirty="0"/>
          </a:p>
        </p:txBody>
      </p:sp>
      <p:sp>
        <p:nvSpPr>
          <p:cNvPr id="16" name="Text 14"/>
          <p:cNvSpPr/>
          <p:nvPr/>
        </p:nvSpPr>
        <p:spPr>
          <a:xfrm>
            <a:off x="8221134" y="2397671"/>
            <a:ext cx="301735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BF8"/>
                </a:solidFill>
                <a:latin typeface="Nunito Sans" pitchFamily="34" charset="0"/>
                <a:ea typeface="Nunito Sans" pitchFamily="34" charset="-122"/>
                <a:cs typeface="Nunito Sans" pitchFamily="34" charset="-120"/>
              </a:rPr>
              <a:t>Decision table</a:t>
            </a:r>
            <a:endParaRPr lang="en-US" sz="1600" dirty="0"/>
          </a:p>
        </p:txBody>
      </p:sp>
      <p:sp>
        <p:nvSpPr>
          <p:cNvPr id="17" name="Text 15"/>
          <p:cNvSpPr/>
          <p:nvPr/>
        </p:nvSpPr>
        <p:spPr>
          <a:xfrm>
            <a:off x="8221134" y="2743076"/>
            <a:ext cx="3017351" cy="146169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Login succeeds only if the email is registered, the password is correct and the account is not locked. Locked: “Account locked”, whatever the password. Otherwise a wrong email or password: “Invalid email or password”.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EXERCISE 1A</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TC_TRF_001: valid transfer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50"/>
          <a:ext cx="10553700" cy="2755173"/>
        </p:xfrm>
        <a:graphic>
          <a:graphicData uri="http://schemas.openxmlformats.org/drawingml/2006/table">
            <a:tbl>
              <a:tblPr/>
              <a:tblGrid>
                <a:gridCol w="2110740">
                  <a:extLst>
                    <a:ext uri="{9D8B030D-6E8A-4147-A177-3AD203B41FA5}">
                      <a16:colId xmlns:a16="http://schemas.microsoft.com/office/drawing/2014/main" val="20000"/>
                    </a:ext>
                  </a:extLst>
                </a:gridCol>
                <a:gridCol w="8442960">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Field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Value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Title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successful transfer of a valid amount between own accounts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Req · Scenario · Priority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US-210 AC1 · TS_TRF_01 · P1</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Preconditions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User ravi01 logged in; Savings …1234 balance ₹10,000; Current …5678 balance ₹2,000; daily limit ₹50,000 unused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Test data</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From …1234, To …5678, Amount 2500, Remark “Rent”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Steps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1. Transfers → Own Accounts · 2. From …1234 · 3. To …5678 · 4. Amount 2500, Remark Rent · 5. Click Transfer · 6. Enter valid OTP and confirm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Expected result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1. Success message with transaction reference. 2. …1234 = ₹7,500. 3. …5678 = ₹4,500. 4. Transaction in both statements with remark “Rent”. 5. SMS / email confirmation sent.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EXERCISE 1B</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TC_TRF_002: amount exceeds balance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50"/>
          <a:ext cx="10553700" cy="2541852"/>
        </p:xfrm>
        <a:graphic>
          <a:graphicData uri="http://schemas.openxmlformats.org/drawingml/2006/table">
            <a:tbl>
              <a:tblPr/>
              <a:tblGrid>
                <a:gridCol w="2110740">
                  <a:extLst>
                    <a:ext uri="{9D8B030D-6E8A-4147-A177-3AD203B41FA5}">
                      <a16:colId xmlns:a16="http://schemas.microsoft.com/office/drawing/2014/main" val="20000"/>
                    </a:ext>
                  </a:extLst>
                </a:gridCol>
                <a:gridCol w="8442960">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Field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Value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Title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transfer is rejected when amount exceeds available balance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Req · Scenario · Priority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US-210 AC3 · TS_TRF_02 · P1</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Preconditions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User ravi01 logged in; Savings …1234 balance ₹5,000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Test data</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From …1234, To …5678, Amount 5001</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Steps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1. Transfers → Own Accounts · 2. From …1234 · 3. To …5678 · 4. Amount 5001 · 5. Click Transfer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Expected result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1. Error “Insufficient balance” displayed. 2. OTP is not requested. 3. …1234 balance remains ₹5,000. 4. No transaction created in either statement.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510286"/>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₹5,001 against ₹5,000 is a boundary value, and three of the four expected results describe what must </a:t>
            </a:r>
            <a:r>
              <a:rPr lang="en-US" sz="1400" b="1" dirty="0">
                <a:solidFill>
                  <a:srgbClr val="A14F0A"/>
                </a:solidFill>
                <a:latin typeface="Nunito Sans" pitchFamily="34" charset="0"/>
                <a:ea typeface="Nunito Sans" pitchFamily="34" charset="-122"/>
                <a:cs typeface="Nunito Sans" pitchFamily="34" charset="-120"/>
              </a:rPr>
              <a:t>not</a:t>
            </a:r>
            <a:r>
              <a:rPr lang="en-US" sz="1400" dirty="0">
                <a:solidFill>
                  <a:srgbClr val="14213D"/>
                </a:solidFill>
                <a:latin typeface="Nunito Sans" pitchFamily="34" charset="0"/>
                <a:ea typeface="Nunito Sans" pitchFamily="34" charset="-122"/>
                <a:cs typeface="Nunito Sans" pitchFamily="34" charset="-120"/>
              </a:rPr>
              <a:t> happen.</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EXERCISE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Cart quantity 1–10</a:t>
            </a:r>
            <a:endParaRPr lang="en-US" sz="3200" dirty="0"/>
          </a:p>
        </p:txBody>
      </p:sp>
      <p:sp>
        <p:nvSpPr>
          <p:cNvPr id="4" name="Text 2"/>
          <p:cNvSpPr/>
          <p:nvPr/>
        </p:nvSpPr>
        <p:spPr>
          <a:xfrm>
            <a:off x="812800" y="1777950"/>
            <a:ext cx="10566400" cy="502907"/>
          </a:xfrm>
          <a:prstGeom prst="roundRect">
            <a:avLst>
              <a:gd name="adj" fmla="val 15152"/>
            </a:avLst>
          </a:prstGeom>
          <a:solidFill>
            <a:srgbClr val="EEF2F7"/>
          </a:solidFill>
          <a:ln/>
        </p:spPr>
        <p:txBody>
          <a:bodyPr wrap="square" lIns="155482" tIns="104682" rIns="0" bIns="79282"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Partitions:</a:t>
            </a:r>
            <a:r>
              <a:rPr lang="en-US" sz="1400" dirty="0">
                <a:solidFill>
                  <a:srgbClr val="3D4A5C"/>
                </a:solidFill>
                <a:latin typeface="Nunito Sans" pitchFamily="34" charset="0"/>
                <a:ea typeface="Nunito Sans" pitchFamily="34" charset="-122"/>
                <a:cs typeface="Nunito Sans" pitchFamily="34" charset="-120"/>
              </a:rPr>
              <a:t> &lt; 1 invalid · 1–10 valid · &gt; 10 invalid · non-numeric, empty, decimal invalid</a:t>
            </a:r>
            <a:endParaRPr lang="en-US" sz="1400" dirty="0"/>
          </a:p>
        </p:txBody>
      </p:sp>
      <p:sp>
        <p:nvSpPr>
          <p:cNvPr id="5" name="Text 3"/>
          <p:cNvSpPr/>
          <p:nvPr/>
        </p:nvSpPr>
        <p:spPr>
          <a:xfrm>
            <a:off x="812800" y="2509441"/>
            <a:ext cx="60036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Boundary values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811661"/>
          <a:ext cx="5816071" cy="2515129"/>
        </p:xfrm>
        <a:graphic>
          <a:graphicData uri="http://schemas.openxmlformats.org/drawingml/2006/table">
            <a:tbl>
              <a:tblPr/>
              <a:tblGrid>
                <a:gridCol w="930571">
                  <a:extLst>
                    <a:ext uri="{9D8B030D-6E8A-4147-A177-3AD203B41FA5}">
                      <a16:colId xmlns:a16="http://schemas.microsoft.com/office/drawing/2014/main" val="20000"/>
                    </a:ext>
                  </a:extLst>
                </a:gridCol>
                <a:gridCol w="2210107">
                  <a:extLst>
                    <a:ext uri="{9D8B030D-6E8A-4147-A177-3AD203B41FA5}">
                      <a16:colId xmlns:a16="http://schemas.microsoft.com/office/drawing/2014/main" val="20001"/>
                    </a:ext>
                  </a:extLst>
                </a:gridCol>
                <a:gridCol w="2675393">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Value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Position</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Expected</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0</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Below lower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Lower boundary</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2</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Above lower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9</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Below upper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10</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Upper boundary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11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Above upper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“Maximum 10 per product”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7" name="Text 4"/>
          <p:cNvSpPr/>
          <p:nvPr/>
        </p:nvSpPr>
        <p:spPr>
          <a:xfrm>
            <a:off x="6895571" y="2509441"/>
            <a:ext cx="461813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14F0A"/>
                </a:solidFill>
                <a:latin typeface="Nunito Sans" pitchFamily="34" charset="0"/>
                <a:ea typeface="Nunito Sans" pitchFamily="34" charset="-122"/>
                <a:cs typeface="Nunito Sans" pitchFamily="34" charset="-120"/>
              </a:rPr>
              <a:t>Partition representatives</a:t>
            </a:r>
            <a:endParaRPr lang="en-US" sz="14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908271" y="2811661"/>
          <a:ext cx="4470929" cy="1437217"/>
        </p:xfrm>
        <a:graphic>
          <a:graphicData uri="http://schemas.openxmlformats.org/drawingml/2006/table">
            <a:tbl>
              <a:tblPr/>
              <a:tblGrid>
                <a:gridCol w="1609535">
                  <a:extLst>
                    <a:ext uri="{9D8B030D-6E8A-4147-A177-3AD203B41FA5}">
                      <a16:colId xmlns:a16="http://schemas.microsoft.com/office/drawing/2014/main" val="20000"/>
                    </a:ext>
                  </a:extLst>
                </a:gridCol>
                <a:gridCol w="2861395">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Value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Expected</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5</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 (valid)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-3</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 (negative)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abc, "", 2.5</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Rejected (format)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EXERCISE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Login decision table: five tests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515129"/>
        </p:xfrm>
        <a:graphic>
          <a:graphicData uri="http://schemas.openxmlformats.org/drawingml/2006/table">
            <a:tbl>
              <a:tblPr/>
              <a:tblGrid>
                <a:gridCol w="4221480">
                  <a:extLst>
                    <a:ext uri="{9D8B030D-6E8A-4147-A177-3AD203B41FA5}">
                      <a16:colId xmlns:a16="http://schemas.microsoft.com/office/drawing/2014/main" val="20000"/>
                    </a:ext>
                  </a:extLst>
                </a:gridCol>
                <a:gridCol w="1266444">
                  <a:extLst>
                    <a:ext uri="{9D8B030D-6E8A-4147-A177-3AD203B41FA5}">
                      <a16:colId xmlns:a16="http://schemas.microsoft.com/office/drawing/2014/main" val="20001"/>
                    </a:ext>
                  </a:extLst>
                </a:gridCol>
                <a:gridCol w="1266444">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gridCol w="1266444">
                  <a:extLst>
                    <a:ext uri="{9D8B030D-6E8A-4147-A177-3AD203B41FA5}">
                      <a16:colId xmlns:a16="http://schemas.microsoft.com/office/drawing/2014/main" val="20005"/>
                    </a:ext>
                  </a:extLst>
                </a:gridCol>
              </a:tblGrid>
              <a:tr h="359304">
                <a:tc>
                  <a:txBody>
                    <a:bodyPr/>
                    <a:lstStyle/>
                    <a:p>
                      <a:pPr marL="0" indent="0">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R1</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R2</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R3</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R4</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R5</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C1 Email registered?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C2 Password correct?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C3 Account locked?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A1 Login success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A2 “Invalid email or password”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A3 “Account locked”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ctr">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534371"/>
            <a:ext cx="5180076" cy="741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R5 is collapsed:</a:t>
            </a:r>
            <a:r>
              <a:rPr lang="en-US" sz="1300" dirty="0">
                <a:solidFill>
                  <a:srgbClr val="3D4A5C"/>
                </a:solidFill>
                <a:latin typeface="Nunito Sans" pitchFamily="34" charset="0"/>
                <a:ea typeface="Nunito Sans" pitchFamily="34" charset="-122"/>
                <a:cs typeface="Nunito Sans" pitchFamily="34" charset="-120"/>
              </a:rPr>
              <a:t> if the email isn't registered, password and lock don't matter. The full table has 8 rules; the 4 with C1 = N give the same outcome.</a:t>
            </a:r>
            <a:endParaRPr lang="en-US" sz="1300" dirty="0"/>
          </a:p>
        </p:txBody>
      </p:sp>
      <p:sp>
        <p:nvSpPr>
          <p:cNvPr id="6" name="Text 3"/>
          <p:cNvSpPr/>
          <p:nvPr/>
        </p:nvSpPr>
        <p:spPr>
          <a:xfrm>
            <a:off x="6045200" y="4534371"/>
            <a:ext cx="5334000" cy="716227"/>
          </a:xfrm>
          <a:prstGeom prst="roundRect">
            <a:avLst>
              <a:gd name="adj" fmla="val 10639"/>
            </a:avLst>
          </a:prstGeom>
          <a:solidFill>
            <a:srgbClr val="FBEBDD"/>
          </a:solidFill>
          <a:ln/>
        </p:spPr>
        <p:txBody>
          <a:bodyPr wrap="square" lIns="130082" tIns="104682" rIns="0" bIns="79282"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Watch R3:</a:t>
            </a:r>
            <a:r>
              <a:rPr lang="en-US" sz="1300" dirty="0">
                <a:solidFill>
                  <a:srgbClr val="14213D"/>
                </a:solidFill>
                <a:latin typeface="Nunito Sans" pitchFamily="34" charset="0"/>
                <a:ea typeface="Nunito Sans" pitchFamily="34" charset="-122"/>
                <a:cs typeface="Nunito Sans" pitchFamily="34" charset="-120"/>
              </a:rPr>
              <a:t> a correct password on a locked account must still be refused. A classic bug.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Six questions</a:t>
            </a:r>
            <a:endParaRPr lang="en-US" sz="3200" dirty="0"/>
          </a:p>
        </p:txBody>
      </p:sp>
      <p:sp>
        <p:nvSpPr>
          <p:cNvPr id="4" name="Text 2"/>
          <p:cNvSpPr/>
          <p:nvPr/>
        </p:nvSpPr>
        <p:spPr>
          <a:xfrm>
            <a:off x="812800" y="1828750"/>
            <a:ext cx="406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Domine" pitchFamily="18" charset="0"/>
                <a:ea typeface="Domine" pitchFamily="18" charset="-122"/>
                <a:cs typeface="Domine" pitchFamily="18" charset="-120"/>
              </a:rPr>
              <a:t>1</a:t>
            </a:r>
            <a:endParaRPr lang="en-US" sz="1800" dirty="0"/>
          </a:p>
        </p:txBody>
      </p:sp>
      <p:sp>
        <p:nvSpPr>
          <p:cNvPr id="5" name="Text 3"/>
          <p:cNvSpPr/>
          <p:nvPr/>
        </p:nvSpPr>
        <p:spPr>
          <a:xfrm>
            <a:off x="1371600" y="1883767"/>
            <a:ext cx="776795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Which field must come from the requirement, not from current system behaviour?</a:t>
            </a:r>
            <a:endParaRPr lang="en-US" sz="1400" dirty="0"/>
          </a:p>
        </p:txBody>
      </p:sp>
      <p:sp>
        <p:nvSpPr>
          <p:cNvPr id="6" name="Text 4"/>
          <p:cNvSpPr/>
          <p:nvPr/>
        </p:nvSpPr>
        <p:spPr>
          <a:xfrm>
            <a:off x="812800" y="2288456"/>
            <a:ext cx="406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Domine" pitchFamily="18" charset="0"/>
                <a:ea typeface="Domine" pitchFamily="18" charset="-122"/>
                <a:cs typeface="Domine" pitchFamily="18" charset="-120"/>
              </a:rPr>
              <a:t>2</a:t>
            </a:r>
            <a:endParaRPr lang="en-US" sz="1800" dirty="0"/>
          </a:p>
        </p:txBody>
      </p:sp>
      <p:sp>
        <p:nvSpPr>
          <p:cNvPr id="7" name="Text 5"/>
          <p:cNvSpPr/>
          <p:nvPr/>
        </p:nvSpPr>
        <p:spPr>
          <a:xfrm>
            <a:off x="1371600" y="2343497"/>
            <a:ext cx="561443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Password length 8–20: what are the 3-value BVA lengths?</a:t>
            </a:r>
            <a:endParaRPr lang="en-US" sz="1400" dirty="0"/>
          </a:p>
        </p:txBody>
      </p:sp>
      <p:sp>
        <p:nvSpPr>
          <p:cNvPr id="8" name="Text 6"/>
          <p:cNvSpPr/>
          <p:nvPr/>
        </p:nvSpPr>
        <p:spPr>
          <a:xfrm>
            <a:off x="812800" y="2748161"/>
            <a:ext cx="406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Domine" pitchFamily="18" charset="0"/>
                <a:ea typeface="Domine" pitchFamily="18" charset="-122"/>
                <a:cs typeface="Domine" pitchFamily="18" charset="-120"/>
              </a:rPr>
              <a:t>3</a:t>
            </a:r>
            <a:endParaRPr lang="en-US" sz="1800" dirty="0"/>
          </a:p>
        </p:txBody>
      </p:sp>
      <p:sp>
        <p:nvSpPr>
          <p:cNvPr id="9" name="Text 7"/>
          <p:cNvSpPr/>
          <p:nvPr/>
        </p:nvSpPr>
        <p:spPr>
          <a:xfrm>
            <a:off x="1371600" y="2803203"/>
            <a:ext cx="603805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Three Y/N conditions: how many rules in the full decision table?</a:t>
            </a:r>
            <a:endParaRPr lang="en-US" sz="1400" dirty="0"/>
          </a:p>
        </p:txBody>
      </p:sp>
      <p:sp>
        <p:nvSpPr>
          <p:cNvPr id="10" name="Text 8"/>
          <p:cNvSpPr/>
          <p:nvPr/>
        </p:nvSpPr>
        <p:spPr>
          <a:xfrm>
            <a:off x="812800" y="3207891"/>
            <a:ext cx="406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Domine" pitchFamily="18" charset="0"/>
                <a:ea typeface="Domine" pitchFamily="18" charset="-122"/>
                <a:cs typeface="Domine" pitchFamily="18" charset="-120"/>
              </a:rPr>
              <a:t>4</a:t>
            </a:r>
            <a:endParaRPr lang="en-US" sz="1800" dirty="0"/>
          </a:p>
        </p:txBody>
      </p:sp>
      <p:sp>
        <p:nvSpPr>
          <p:cNvPr id="11" name="Text 9"/>
          <p:cNvSpPr/>
          <p:nvPr/>
        </p:nvSpPr>
        <p:spPr>
          <a:xfrm>
            <a:off x="1371600" y="3262908"/>
            <a:ext cx="664360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Which technique fits a subscription moving Trial → Active → Expired?</a:t>
            </a:r>
            <a:endParaRPr lang="en-US" sz="1400" dirty="0"/>
          </a:p>
        </p:txBody>
      </p:sp>
      <p:sp>
        <p:nvSpPr>
          <p:cNvPr id="12" name="Text 10"/>
          <p:cNvSpPr/>
          <p:nvPr/>
        </p:nvSpPr>
        <p:spPr>
          <a:xfrm>
            <a:off x="812800" y="3667596"/>
            <a:ext cx="406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Domine" pitchFamily="18" charset="0"/>
                <a:ea typeface="Domine" pitchFamily="18" charset="-122"/>
                <a:cs typeface="Domine" pitchFamily="18" charset="-120"/>
              </a:rPr>
              <a:t>5</a:t>
            </a:r>
            <a:endParaRPr lang="en-US" sz="1800" dirty="0"/>
          </a:p>
        </p:txBody>
      </p:sp>
      <p:sp>
        <p:nvSpPr>
          <p:cNvPr id="13" name="Text 11"/>
          <p:cNvSpPr/>
          <p:nvPr/>
        </p:nvSpPr>
        <p:spPr>
          <a:xfrm>
            <a:off x="1371600" y="3722638"/>
            <a:ext cx="427696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What is the main benefit of pairwise testing?</a:t>
            </a:r>
            <a:endParaRPr lang="en-US" sz="1400" dirty="0"/>
          </a:p>
        </p:txBody>
      </p:sp>
      <p:sp>
        <p:nvSpPr>
          <p:cNvPr id="14" name="Text 12"/>
          <p:cNvSpPr/>
          <p:nvPr/>
        </p:nvSpPr>
        <p:spPr>
          <a:xfrm>
            <a:off x="812800" y="4127302"/>
            <a:ext cx="406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Domine" pitchFamily="18" charset="0"/>
                <a:ea typeface="Domine" pitchFamily="18" charset="-122"/>
                <a:cs typeface="Domine" pitchFamily="18" charset="-120"/>
              </a:rPr>
              <a:t>6</a:t>
            </a:r>
            <a:endParaRPr lang="en-US" sz="1800" dirty="0"/>
          </a:p>
        </p:txBody>
      </p:sp>
      <p:sp>
        <p:nvSpPr>
          <p:cNvPr id="15" name="Text 13"/>
          <p:cNvSpPr/>
          <p:nvPr/>
        </p:nvSpPr>
        <p:spPr>
          <a:xfrm>
            <a:off x="1371600" y="4182343"/>
            <a:ext cx="641548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Three expected results: two match, one doesn't. What's the status?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Better tests, </a:t>
            </a:r>
            <a:r>
              <a:rPr lang="en-US" sz="3200" b="1" i="0" dirty="0">
                <a:solidFill>
                  <a:srgbClr val="F0A04B"/>
                </a:solidFill>
                <a:latin typeface="Domine" pitchFamily="18" charset="0"/>
                <a:ea typeface="Domine" pitchFamily="18" charset="-122"/>
                <a:cs typeface="Domine" pitchFamily="18" charset="-120"/>
              </a:rPr>
              <a:t>not more tests</a:t>
            </a:r>
            <a:endParaRPr lang="en-US" sz="3200" dirty="0"/>
          </a:p>
        </p:txBody>
      </p:sp>
      <p:pic>
        <p:nvPicPr>
          <p:cNvPr id="4" name="Image 0" descr="CheckCircle"/>
          <p:cNvPicPr>
            <a:picLocks noChangeAspect="1"/>
          </p:cNvPicPr>
          <p:nvPr/>
        </p:nvPicPr>
        <p:blipFill>
          <a:blip r:embed="rId3"/>
          <a:srcRect/>
          <a:stretch/>
        </p:blipFill>
        <p:spPr>
          <a:xfrm>
            <a:off x="812800" y="1838871"/>
            <a:ext cx="228600" cy="228600"/>
          </a:xfrm>
          <a:prstGeom prst="rect">
            <a:avLst/>
          </a:prstGeom>
        </p:spPr>
      </p:pic>
      <p:sp>
        <p:nvSpPr>
          <p:cNvPr id="5" name="Text 2"/>
          <p:cNvSpPr/>
          <p:nvPr/>
        </p:nvSpPr>
        <p:spPr>
          <a:xfrm>
            <a:off x="1193800" y="1828750"/>
            <a:ext cx="864195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A test case: ID, preconditions, data, steps, expected, actual, status, traced to a requirement.</a:t>
            </a:r>
            <a:endParaRPr lang="en-US" sz="1400" dirty="0"/>
          </a:p>
        </p:txBody>
      </p:sp>
      <p:pic>
        <p:nvPicPr>
          <p:cNvPr id="6" name="Image 1" descr="CheckCircle"/>
          <p:cNvPicPr>
            <a:picLocks noChangeAspect="1"/>
          </p:cNvPicPr>
          <p:nvPr/>
        </p:nvPicPr>
        <p:blipFill>
          <a:blip r:embed="rId3"/>
          <a:srcRect/>
          <a:stretch/>
        </p:blipFill>
        <p:spPr>
          <a:xfrm>
            <a:off x="812800" y="2214761"/>
            <a:ext cx="228600" cy="228600"/>
          </a:xfrm>
          <a:prstGeom prst="rect">
            <a:avLst/>
          </a:prstGeom>
        </p:spPr>
      </p:pic>
      <p:sp>
        <p:nvSpPr>
          <p:cNvPr id="7" name="Text 3"/>
          <p:cNvSpPr/>
          <p:nvPr/>
        </p:nvSpPr>
        <p:spPr>
          <a:xfrm>
            <a:off x="1193800" y="2204641"/>
            <a:ext cx="825674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Expected results are specific, from the requirement, including what should not happen.</a:t>
            </a:r>
            <a:endParaRPr lang="en-US" sz="1400" dirty="0"/>
          </a:p>
        </p:txBody>
      </p:sp>
      <p:pic>
        <p:nvPicPr>
          <p:cNvPr id="8" name="Image 2" descr="CheckCircle"/>
          <p:cNvPicPr>
            <a:picLocks noChangeAspect="1"/>
          </p:cNvPicPr>
          <p:nvPr/>
        </p:nvPicPr>
        <p:blipFill>
          <a:blip r:embed="rId3"/>
          <a:srcRect/>
          <a:stretch/>
        </p:blipFill>
        <p:spPr>
          <a:xfrm>
            <a:off x="812800" y="2590676"/>
            <a:ext cx="228600" cy="228600"/>
          </a:xfrm>
          <a:prstGeom prst="rect">
            <a:avLst/>
          </a:prstGeom>
        </p:spPr>
      </p:pic>
      <p:sp>
        <p:nvSpPr>
          <p:cNvPr id="9" name="Text 4"/>
          <p:cNvSpPr/>
          <p:nvPr/>
        </p:nvSpPr>
        <p:spPr>
          <a:xfrm>
            <a:off x="1193800" y="2580556"/>
            <a:ext cx="528208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An RTM proves coverage and supports impact analysis.</a:t>
            </a:r>
            <a:endParaRPr lang="en-US" sz="1400" dirty="0"/>
          </a:p>
        </p:txBody>
      </p:sp>
      <p:pic>
        <p:nvPicPr>
          <p:cNvPr id="10" name="Image 3" descr="CheckCircle"/>
          <p:cNvPicPr>
            <a:picLocks noChangeAspect="1"/>
          </p:cNvPicPr>
          <p:nvPr/>
        </p:nvPicPr>
        <p:blipFill>
          <a:blip r:embed="rId3"/>
          <a:srcRect/>
          <a:stretch/>
        </p:blipFill>
        <p:spPr>
          <a:xfrm>
            <a:off x="812800" y="2966591"/>
            <a:ext cx="228600" cy="228600"/>
          </a:xfrm>
          <a:prstGeom prst="rect">
            <a:avLst/>
          </a:prstGeom>
        </p:spPr>
      </p:pic>
      <p:sp>
        <p:nvSpPr>
          <p:cNvPr id="11" name="Text 5"/>
          <p:cNvSpPr/>
          <p:nvPr/>
        </p:nvSpPr>
        <p:spPr>
          <a:xfrm>
            <a:off x="1193800" y="2956471"/>
            <a:ext cx="688141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EP picks representative values; BVA tests the edges where bugs cluster.</a:t>
            </a:r>
            <a:endParaRPr lang="en-US" sz="1400" dirty="0"/>
          </a:p>
        </p:txBody>
      </p:sp>
      <p:pic>
        <p:nvPicPr>
          <p:cNvPr id="12" name="Image 4" descr="CheckCircle"/>
          <p:cNvPicPr>
            <a:picLocks noChangeAspect="1"/>
          </p:cNvPicPr>
          <p:nvPr/>
        </p:nvPicPr>
        <p:blipFill>
          <a:blip r:embed="rId3"/>
          <a:srcRect/>
          <a:stretch/>
        </p:blipFill>
        <p:spPr>
          <a:xfrm>
            <a:off x="812800" y="3342481"/>
            <a:ext cx="228600" cy="228600"/>
          </a:xfrm>
          <a:prstGeom prst="rect">
            <a:avLst/>
          </a:prstGeom>
        </p:spPr>
      </p:pic>
      <p:sp>
        <p:nvSpPr>
          <p:cNvPr id="13" name="Text 6"/>
          <p:cNvSpPr/>
          <p:nvPr/>
        </p:nvSpPr>
        <p:spPr>
          <a:xfrm>
            <a:off x="1193800" y="3332361"/>
            <a:ext cx="801639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Decision tables for rules, state transitions for workflows, pairwise for configurations.</a:t>
            </a:r>
            <a:endParaRPr lang="en-US" sz="1400" dirty="0"/>
          </a:p>
        </p:txBody>
      </p:sp>
      <p:pic>
        <p:nvPicPr>
          <p:cNvPr id="14" name="Image 5" descr="CheckCircle"/>
          <p:cNvPicPr>
            <a:picLocks noChangeAspect="1"/>
          </p:cNvPicPr>
          <p:nvPr/>
        </p:nvPicPr>
        <p:blipFill>
          <a:blip r:embed="rId3"/>
          <a:srcRect/>
          <a:stretch/>
        </p:blipFill>
        <p:spPr>
          <a:xfrm>
            <a:off x="812800" y="3718396"/>
            <a:ext cx="228600" cy="228600"/>
          </a:xfrm>
          <a:prstGeom prst="rect">
            <a:avLst/>
          </a:prstGeom>
        </p:spPr>
      </p:pic>
      <p:sp>
        <p:nvSpPr>
          <p:cNvPr id="15" name="Text 7"/>
          <p:cNvSpPr/>
          <p:nvPr/>
        </p:nvSpPr>
        <p:spPr>
          <a:xfrm>
            <a:off x="1193800" y="3708276"/>
            <a:ext cx="817141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Error guessing and exploratory testing add the human insight formal techniques miss.</a:t>
            </a:r>
            <a:endParaRPr lang="en-US" sz="1400" dirty="0"/>
          </a:p>
        </p:txBody>
      </p:sp>
      <p:sp>
        <p:nvSpPr>
          <p:cNvPr id="16" name="Text 8"/>
          <p:cNvSpPr/>
          <p:nvPr/>
        </p:nvSpPr>
        <p:spPr>
          <a:xfrm>
            <a:off x="812800" y="4236591"/>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 Unit 8, Defect Life Cycle: what to do when a test case fails.</a:t>
            </a:r>
            <a:endParaRPr lang="en-US" sz="1400" dirty="0"/>
          </a:p>
        </p:txBody>
      </p:sp>
    </p:spTree>
  </p:cSld>
  <p:clrMapOvr>
    <a:masterClrMapping/>
  </p:clrMapOvr>
</p:sld>
</file>

<file path=ppt/theme/theme1.xml><?xml version="1.0" encoding="utf-8"?>
<a:theme xmlns:a="http://schemas.openxmlformats.org/drawingml/2006/main" name="Test Case Design">
  <a:themeElements>
    <a:clrScheme name="Test Case Design">
      <a:dk1>
        <a:srgbClr val="14213D"/>
      </a:dk1>
      <a:lt1>
        <a:srgbClr val="FBFBF8"/>
      </a:lt1>
      <a:dk2>
        <a:srgbClr val="4E586C"/>
      </a:dk2>
      <a:lt2>
        <a:srgbClr val="E4E5E5"/>
      </a:lt2>
      <a:accent1>
        <a:srgbClr val="A14F0A"/>
      </a:accent1>
      <a:accent2>
        <a:srgbClr val="2B5C9E"/>
      </a:accent2>
      <a:accent3>
        <a:srgbClr val="F0A04B"/>
      </a:accent3>
      <a:accent4>
        <a:srgbClr val="24345A"/>
      </a:accent4>
      <a:accent5>
        <a:srgbClr val="3D4A5C"/>
      </a:accent5>
      <a:accent6>
        <a:srgbClr val="DCE4F0"/>
      </a:accent6>
      <a:hlink>
        <a:srgbClr val="0563C1"/>
      </a:hlink>
      <a:folHlink>
        <a:srgbClr val="954F72"/>
      </a:folHlink>
    </a:clrScheme>
    <a:fontScheme name="Test Case Design">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5858</Words>
  <Application>Microsoft Office PowerPoint</Application>
  <PresentationFormat>Widescreen</PresentationFormat>
  <Paragraphs>854</Paragraphs>
  <Slides>39</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Domine</vt:lpstr>
      <vt:lpstr>JetBrains Mono</vt:lpstr>
      <vt:lpstr>Nunito Sans</vt:lpstr>
      <vt:lpstr>Test Case Design</vt:lpstr>
      <vt:lpstr>Test Case Design</vt:lpstr>
      <vt:lpstr>What this unit covers:</vt:lpstr>
      <vt:lpstr>Everything so far flows into test cases</vt:lpstr>
      <vt:lpstr>One specific condition, fully documented</vt:lpstr>
      <vt:lpstr>Eight fields to start with</vt:lpstr>
      <vt:lpstr>Identity, setup and data</vt:lpstr>
      <vt:lpstr>Steps, expected result and execution</vt:lpstr>
      <vt:lpstr>Preconditions and test data</vt:lpstr>
      <vt:lpstr>Steps and the expected result</vt:lpstr>
      <vt:lpstr>Actual result and status</vt:lpstr>
      <vt:lpstr>Link back to requirements, forward to results</vt:lpstr>
      <vt:lpstr>One table shows coverage at a glance</vt:lpstr>
      <vt:lpstr>Does it work, and does it fail safely?</vt:lpstr>
      <vt:lpstr>Valid login and input errors</vt:lpstr>
      <vt:lpstr>Edges, rules and security</vt:lpstr>
      <vt:lpstr>Good design beats more test cases</vt:lpstr>
      <vt:lpstr>Seven techniques, each with a job</vt:lpstr>
      <vt:lpstr>One value stands in for the whole class</vt:lpstr>
      <vt:lpstr>Defects cluster at the edges</vt:lpstr>
      <vt:lpstr>EP misses it. BVA finds it.</vt:lpstr>
      <vt:lpstr>Every limit has edges</vt:lpstr>
      <vt:lpstr>List every combination so none is missed</vt:lpstr>
      <vt:lpstr>Each rule is a test, and gaps show up</vt:lpstr>
      <vt:lpstr>ShopEasy order status</vt:lpstr>
      <vt:lpstr>Valid moves work; invalid moves are blocked</vt:lpstr>
      <vt:lpstr>Cover every pair, not every combination</vt:lpstr>
      <vt:lpstr>A tester's checklist of weak spots</vt:lpstr>
      <vt:lpstr>Three tests every checkout needs</vt:lpstr>
      <vt:lpstr>Design and run tests at the same time</vt:lpstr>
      <vt:lpstr>Script the known; explore the unknown</vt:lpstr>
      <vt:lpstr>Let the requirement pick the tool</vt:lpstr>
      <vt:lpstr>Seven habits that weaken test cases</vt:lpstr>
      <vt:lpstr>Three exercises</vt:lpstr>
      <vt:lpstr>TC_TRF_001: valid transfer</vt:lpstr>
      <vt:lpstr>TC_TRF_002: amount exceeds balance</vt:lpstr>
      <vt:lpstr>Cart quantity 1–10</vt:lpstr>
      <vt:lpstr>Login decision table: five tests</vt:lpstr>
      <vt:lpstr>Six questions</vt:lpstr>
      <vt:lpstr>Better tests, not more tests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Case Design</dc:title>
  <dc:subject/>
  <dc:creator/>
  <cp:lastModifiedBy>Saurabh Kamath</cp:lastModifiedBy>
  <cp:revision>4</cp:revision>
  <dcterms:created xsi:type="dcterms:W3CDTF">2026-10-06T17:32:24Z</dcterms:created>
  <dcterms:modified xsi:type="dcterms:W3CDTF">2026-10-06T18:22:23Z</dcterms:modified>
</cp:coreProperties>
</file>