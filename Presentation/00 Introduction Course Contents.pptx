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1692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Software Testing Foundation course: ten chapters in four hours, roughly half reading and half hands-on practice in every chapter. We start with the kinds of testing and how to plan it, move through requirements as use cases, user stories and acceptance criteria, then design scenarios and test cases, manage defects and estimate effort. Chapter seven, test case design, is the biggest at forty-five minutes. Chapter ten is a capstone where you apply everything to one e-commerce checkout feature. The bar at the bottom shows each chapter's share of the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4705813"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3D4A5C"/>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4705813"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3D4A5C"/>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564697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Test Design &amp; Strategy</a:t>
            </a:r>
            <a:endParaRPr lang="en-US" sz="1200" dirty="0"/>
          </a:p>
        </p:txBody>
      </p:sp>
      <p:sp>
        <p:nvSpPr>
          <p:cNvPr id="3" name="Text 1"/>
          <p:cNvSpPr>
            <a:spLocks noGrp="1"/>
          </p:cNvSpPr>
          <p:nvPr>
            <p:ph type="title"/>
          </p:nvPr>
        </p:nvSpPr>
        <p:spPr>
          <a:xfrm>
            <a:off x="812800" y="1102320"/>
            <a:ext cx="8702136"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are we going to cover? </a:t>
            </a:r>
            <a:endParaRPr lang="en-US" sz="3200" dirty="0"/>
          </a:p>
        </p:txBody>
      </p:sp>
      <p:sp>
        <p:nvSpPr>
          <p:cNvPr id="4" name="Text 2"/>
          <p:cNvSpPr/>
          <p:nvPr/>
        </p:nvSpPr>
        <p:spPr>
          <a:xfrm>
            <a:off x="8564497" y="1158214"/>
            <a:ext cx="2899145" cy="416520"/>
          </a:xfrm>
          <a:prstGeom prst="rect">
            <a:avLst/>
          </a:prstGeom>
          <a:noFill/>
          <a:ln/>
        </p:spPr>
        <p:txBody>
          <a:bodyPr wrap="none" lIns="0" tIns="0" rIns="0" bIns="0" rtlCol="0" anchor="t">
            <a:normAutofit/>
          </a:bodyPr>
          <a:lstStyle/>
          <a:p>
            <a:pPr marL="0" indent="0" algn="r">
              <a:lnSpc>
                <a:spcPts val="3080"/>
              </a:lnSpc>
              <a:buNone/>
            </a:pPr>
            <a:r>
              <a:rPr lang="en-US" sz="2200" b="1" dirty="0">
                <a:solidFill>
                  <a:srgbClr val="A14F0A"/>
                </a:solidFill>
                <a:latin typeface="Domine" pitchFamily="18" charset="0"/>
                <a:ea typeface="Domine" pitchFamily="18" charset="-122"/>
                <a:cs typeface="Domine" pitchFamily="18" charset="-120"/>
              </a:rPr>
              <a:t>10 units</a:t>
            </a:r>
            <a:endParaRPr lang="en-US" sz="2200" dirty="0"/>
          </a:p>
        </p:txBody>
      </p:sp>
      <p:sp>
        <p:nvSpPr>
          <p:cNvPr id="5" name="Shape 3"/>
          <p:cNvSpPr/>
          <p:nvPr/>
        </p:nvSpPr>
        <p:spPr>
          <a:xfrm>
            <a:off x="812800" y="1803334"/>
            <a:ext cx="5283200" cy="487627"/>
          </a:xfrm>
          <a:prstGeom prst="roundRect">
            <a:avLst>
              <a:gd name="adj" fmla="val 15627"/>
            </a:avLst>
          </a:prstGeom>
          <a:solidFill>
            <a:srgbClr val="EEF2F7"/>
          </a:solidFill>
          <a:ln/>
        </p:spPr>
      </p:sp>
      <p:sp>
        <p:nvSpPr>
          <p:cNvPr id="6" name="Text 4"/>
          <p:cNvSpPr/>
          <p:nvPr/>
        </p:nvSpPr>
        <p:spPr>
          <a:xfrm>
            <a:off x="990600" y="1904934"/>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1</a:t>
            </a:r>
            <a:endParaRPr lang="en-US" sz="1600" dirty="0"/>
          </a:p>
        </p:txBody>
      </p:sp>
      <p:sp>
        <p:nvSpPr>
          <p:cNvPr id="7" name="Text 5"/>
          <p:cNvSpPr/>
          <p:nvPr/>
        </p:nvSpPr>
        <p:spPr>
          <a:xfrm>
            <a:off x="1447800" y="1922661"/>
            <a:ext cx="387742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Testing Types</a:t>
            </a:r>
            <a:endParaRPr lang="en-US" sz="1400" dirty="0"/>
          </a:p>
        </p:txBody>
      </p:sp>
      <p:sp>
        <p:nvSpPr>
          <p:cNvPr id="8" name="Text 6"/>
          <p:cNvSpPr/>
          <p:nvPr/>
        </p:nvSpPr>
        <p:spPr>
          <a:xfrm>
            <a:off x="5364692" y="1922661"/>
            <a:ext cx="66421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30 min</a:t>
            </a:r>
            <a:endParaRPr lang="en-US" sz="1400" dirty="0"/>
          </a:p>
        </p:txBody>
      </p:sp>
      <p:sp>
        <p:nvSpPr>
          <p:cNvPr id="9" name="Shape 7"/>
          <p:cNvSpPr/>
          <p:nvPr/>
        </p:nvSpPr>
        <p:spPr>
          <a:xfrm>
            <a:off x="6096000" y="1803334"/>
            <a:ext cx="5283200" cy="487627"/>
          </a:xfrm>
          <a:prstGeom prst="roundRect">
            <a:avLst>
              <a:gd name="adj" fmla="val 15627"/>
            </a:avLst>
          </a:prstGeom>
          <a:solidFill>
            <a:srgbClr val="EEF2F7"/>
          </a:solidFill>
          <a:ln/>
        </p:spPr>
      </p:sp>
      <p:sp>
        <p:nvSpPr>
          <p:cNvPr id="10" name="Text 8"/>
          <p:cNvSpPr/>
          <p:nvPr/>
        </p:nvSpPr>
        <p:spPr>
          <a:xfrm>
            <a:off x="6273800" y="1904934"/>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6</a:t>
            </a:r>
            <a:endParaRPr lang="en-US" sz="1600" dirty="0"/>
          </a:p>
        </p:txBody>
      </p:sp>
      <p:sp>
        <p:nvSpPr>
          <p:cNvPr id="11" name="Text 9"/>
          <p:cNvSpPr/>
          <p:nvPr/>
        </p:nvSpPr>
        <p:spPr>
          <a:xfrm>
            <a:off x="6731000" y="1922661"/>
            <a:ext cx="387742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Test Scenarios</a:t>
            </a:r>
            <a:endParaRPr lang="en-US" sz="1400" dirty="0"/>
          </a:p>
        </p:txBody>
      </p:sp>
      <p:sp>
        <p:nvSpPr>
          <p:cNvPr id="12" name="Text 10"/>
          <p:cNvSpPr/>
          <p:nvPr/>
        </p:nvSpPr>
        <p:spPr>
          <a:xfrm>
            <a:off x="10647892" y="1922661"/>
            <a:ext cx="66421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30 min</a:t>
            </a:r>
            <a:endParaRPr lang="en-US" sz="1400" dirty="0"/>
          </a:p>
        </p:txBody>
      </p:sp>
      <p:sp>
        <p:nvSpPr>
          <p:cNvPr id="13" name="Shape 11"/>
          <p:cNvSpPr/>
          <p:nvPr/>
        </p:nvSpPr>
        <p:spPr>
          <a:xfrm>
            <a:off x="812800" y="2290961"/>
            <a:ext cx="5283200" cy="487627"/>
          </a:xfrm>
          <a:prstGeom prst="roundRect">
            <a:avLst>
              <a:gd name="adj" fmla="val 15627"/>
            </a:avLst>
          </a:prstGeom>
          <a:solidFill>
            <a:srgbClr val="EEF2F7"/>
          </a:solidFill>
          <a:ln/>
        </p:spPr>
      </p:sp>
      <p:sp>
        <p:nvSpPr>
          <p:cNvPr id="14" name="Text 12"/>
          <p:cNvSpPr/>
          <p:nvPr/>
        </p:nvSpPr>
        <p:spPr>
          <a:xfrm>
            <a:off x="990600" y="2392561"/>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2</a:t>
            </a:r>
            <a:endParaRPr lang="en-US" sz="1600" dirty="0"/>
          </a:p>
        </p:txBody>
      </p:sp>
      <p:sp>
        <p:nvSpPr>
          <p:cNvPr id="15" name="Text 13"/>
          <p:cNvSpPr/>
          <p:nvPr/>
        </p:nvSpPr>
        <p:spPr>
          <a:xfrm>
            <a:off x="1447800" y="2410288"/>
            <a:ext cx="387742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Test Strategies</a:t>
            </a:r>
            <a:endParaRPr lang="en-US" sz="1400" dirty="0"/>
          </a:p>
        </p:txBody>
      </p:sp>
      <p:sp>
        <p:nvSpPr>
          <p:cNvPr id="16" name="Text 14"/>
          <p:cNvSpPr/>
          <p:nvPr/>
        </p:nvSpPr>
        <p:spPr>
          <a:xfrm>
            <a:off x="5364692" y="2410288"/>
            <a:ext cx="66421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30 min</a:t>
            </a:r>
            <a:endParaRPr lang="en-US" sz="1400" dirty="0"/>
          </a:p>
        </p:txBody>
      </p:sp>
      <p:sp>
        <p:nvSpPr>
          <p:cNvPr id="17" name="Shape 15"/>
          <p:cNvSpPr/>
          <p:nvPr/>
        </p:nvSpPr>
        <p:spPr>
          <a:xfrm>
            <a:off x="6096000" y="2290961"/>
            <a:ext cx="5283200" cy="487627"/>
          </a:xfrm>
          <a:prstGeom prst="roundRect">
            <a:avLst>
              <a:gd name="adj" fmla="val 15627"/>
            </a:avLst>
          </a:prstGeom>
          <a:solidFill>
            <a:srgbClr val="FBEBDD"/>
          </a:solidFill>
          <a:ln/>
        </p:spPr>
      </p:sp>
      <p:sp>
        <p:nvSpPr>
          <p:cNvPr id="18" name="Text 16"/>
          <p:cNvSpPr/>
          <p:nvPr/>
        </p:nvSpPr>
        <p:spPr>
          <a:xfrm>
            <a:off x="6273800" y="2392561"/>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7</a:t>
            </a:r>
            <a:endParaRPr lang="en-US" sz="1600" dirty="0"/>
          </a:p>
        </p:txBody>
      </p:sp>
      <p:sp>
        <p:nvSpPr>
          <p:cNvPr id="19" name="Text 17"/>
          <p:cNvSpPr/>
          <p:nvPr/>
        </p:nvSpPr>
        <p:spPr>
          <a:xfrm>
            <a:off x="6731000" y="2410288"/>
            <a:ext cx="3863869"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Test Case Design </a:t>
            </a:r>
            <a:r>
              <a:rPr lang="en-US" sz="1400" b="1" dirty="0">
                <a:solidFill>
                  <a:srgbClr val="A14F0A"/>
                </a:solidFill>
                <a:latin typeface="Nunito Sans" pitchFamily="34" charset="0"/>
                <a:ea typeface="Nunito Sans" pitchFamily="34" charset="-122"/>
                <a:cs typeface="Nunito Sans" pitchFamily="34" charset="-120"/>
              </a:rPr>
              <a:t>(largest)</a:t>
            </a:r>
            <a:endParaRPr lang="en-US" sz="1400" dirty="0"/>
          </a:p>
        </p:txBody>
      </p:sp>
      <p:sp>
        <p:nvSpPr>
          <p:cNvPr id="20" name="Text 18"/>
          <p:cNvSpPr/>
          <p:nvPr/>
        </p:nvSpPr>
        <p:spPr>
          <a:xfrm>
            <a:off x="10634729" y="2410288"/>
            <a:ext cx="6800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60 min</a:t>
            </a:r>
            <a:endParaRPr lang="en-US" sz="1400" dirty="0"/>
          </a:p>
        </p:txBody>
      </p:sp>
      <p:sp>
        <p:nvSpPr>
          <p:cNvPr id="21" name="Shape 19"/>
          <p:cNvSpPr/>
          <p:nvPr/>
        </p:nvSpPr>
        <p:spPr>
          <a:xfrm>
            <a:off x="812800" y="2778588"/>
            <a:ext cx="5283200" cy="487627"/>
          </a:xfrm>
          <a:prstGeom prst="roundRect">
            <a:avLst>
              <a:gd name="adj" fmla="val 15627"/>
            </a:avLst>
          </a:prstGeom>
          <a:solidFill>
            <a:srgbClr val="EEF2F7"/>
          </a:solidFill>
          <a:ln/>
        </p:spPr>
      </p:sp>
      <p:sp>
        <p:nvSpPr>
          <p:cNvPr id="22" name="Text 20"/>
          <p:cNvSpPr/>
          <p:nvPr/>
        </p:nvSpPr>
        <p:spPr>
          <a:xfrm>
            <a:off x="990600" y="2880188"/>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3</a:t>
            </a:r>
            <a:endParaRPr lang="en-US" sz="1600" dirty="0"/>
          </a:p>
        </p:txBody>
      </p:sp>
      <p:sp>
        <p:nvSpPr>
          <p:cNvPr id="23" name="Text 21"/>
          <p:cNvSpPr/>
          <p:nvPr/>
        </p:nvSpPr>
        <p:spPr>
          <a:xfrm>
            <a:off x="1447800" y="2897915"/>
            <a:ext cx="387742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Use Cases</a:t>
            </a:r>
            <a:endParaRPr lang="en-US" sz="1400" dirty="0"/>
          </a:p>
        </p:txBody>
      </p:sp>
      <p:sp>
        <p:nvSpPr>
          <p:cNvPr id="24" name="Text 22"/>
          <p:cNvSpPr/>
          <p:nvPr/>
        </p:nvSpPr>
        <p:spPr>
          <a:xfrm>
            <a:off x="5364692" y="2897915"/>
            <a:ext cx="66421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20 min</a:t>
            </a:r>
            <a:endParaRPr lang="en-US" sz="1400" dirty="0"/>
          </a:p>
        </p:txBody>
      </p:sp>
      <p:sp>
        <p:nvSpPr>
          <p:cNvPr id="25" name="Shape 23"/>
          <p:cNvSpPr/>
          <p:nvPr/>
        </p:nvSpPr>
        <p:spPr>
          <a:xfrm>
            <a:off x="6096000" y="2778588"/>
            <a:ext cx="5283200" cy="487627"/>
          </a:xfrm>
          <a:prstGeom prst="roundRect">
            <a:avLst>
              <a:gd name="adj" fmla="val 15627"/>
            </a:avLst>
          </a:prstGeom>
          <a:solidFill>
            <a:srgbClr val="EEF2F7"/>
          </a:solidFill>
          <a:ln/>
        </p:spPr>
      </p:sp>
      <p:sp>
        <p:nvSpPr>
          <p:cNvPr id="26" name="Text 24"/>
          <p:cNvSpPr/>
          <p:nvPr/>
        </p:nvSpPr>
        <p:spPr>
          <a:xfrm>
            <a:off x="6273800" y="2880188"/>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8</a:t>
            </a:r>
            <a:endParaRPr lang="en-US" sz="1600" dirty="0"/>
          </a:p>
        </p:txBody>
      </p:sp>
      <p:sp>
        <p:nvSpPr>
          <p:cNvPr id="27" name="Text 25"/>
          <p:cNvSpPr/>
          <p:nvPr/>
        </p:nvSpPr>
        <p:spPr>
          <a:xfrm>
            <a:off x="6731000" y="2897915"/>
            <a:ext cx="387742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Defect Life Cycle</a:t>
            </a:r>
            <a:endParaRPr lang="en-US" sz="1400" dirty="0"/>
          </a:p>
        </p:txBody>
      </p:sp>
      <p:sp>
        <p:nvSpPr>
          <p:cNvPr id="28" name="Text 26"/>
          <p:cNvSpPr/>
          <p:nvPr/>
        </p:nvSpPr>
        <p:spPr>
          <a:xfrm>
            <a:off x="10647892" y="2897915"/>
            <a:ext cx="66421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30 min</a:t>
            </a:r>
            <a:endParaRPr lang="en-US" sz="1400" dirty="0"/>
          </a:p>
        </p:txBody>
      </p:sp>
      <p:sp>
        <p:nvSpPr>
          <p:cNvPr id="29" name="Shape 27"/>
          <p:cNvSpPr/>
          <p:nvPr/>
        </p:nvSpPr>
        <p:spPr>
          <a:xfrm>
            <a:off x="812800" y="3266215"/>
            <a:ext cx="5283200" cy="487627"/>
          </a:xfrm>
          <a:prstGeom prst="roundRect">
            <a:avLst>
              <a:gd name="adj" fmla="val 15627"/>
            </a:avLst>
          </a:prstGeom>
          <a:solidFill>
            <a:srgbClr val="EEF2F7"/>
          </a:solidFill>
          <a:ln/>
        </p:spPr>
      </p:sp>
      <p:sp>
        <p:nvSpPr>
          <p:cNvPr id="30" name="Text 28"/>
          <p:cNvSpPr/>
          <p:nvPr/>
        </p:nvSpPr>
        <p:spPr>
          <a:xfrm>
            <a:off x="990600" y="3367815"/>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4</a:t>
            </a:r>
            <a:endParaRPr lang="en-US" sz="1600" dirty="0"/>
          </a:p>
        </p:txBody>
      </p:sp>
      <p:sp>
        <p:nvSpPr>
          <p:cNvPr id="31" name="Text 29"/>
          <p:cNvSpPr/>
          <p:nvPr/>
        </p:nvSpPr>
        <p:spPr>
          <a:xfrm>
            <a:off x="1447800" y="3385542"/>
            <a:ext cx="387742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User Stories</a:t>
            </a:r>
            <a:endParaRPr lang="en-US" sz="1400" dirty="0"/>
          </a:p>
        </p:txBody>
      </p:sp>
      <p:sp>
        <p:nvSpPr>
          <p:cNvPr id="32" name="Text 30"/>
          <p:cNvSpPr/>
          <p:nvPr/>
        </p:nvSpPr>
        <p:spPr>
          <a:xfrm>
            <a:off x="5364692" y="3385542"/>
            <a:ext cx="66421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20 min</a:t>
            </a:r>
            <a:endParaRPr lang="en-US" sz="1400" dirty="0"/>
          </a:p>
        </p:txBody>
      </p:sp>
      <p:sp>
        <p:nvSpPr>
          <p:cNvPr id="33" name="Shape 31"/>
          <p:cNvSpPr/>
          <p:nvPr/>
        </p:nvSpPr>
        <p:spPr>
          <a:xfrm>
            <a:off x="6096000" y="3266215"/>
            <a:ext cx="5283200" cy="487627"/>
          </a:xfrm>
          <a:prstGeom prst="roundRect">
            <a:avLst>
              <a:gd name="adj" fmla="val 15627"/>
            </a:avLst>
          </a:prstGeom>
          <a:solidFill>
            <a:srgbClr val="EEF2F7"/>
          </a:solidFill>
          <a:ln/>
        </p:spPr>
      </p:sp>
      <p:sp>
        <p:nvSpPr>
          <p:cNvPr id="34" name="Text 32"/>
          <p:cNvSpPr/>
          <p:nvPr/>
        </p:nvSpPr>
        <p:spPr>
          <a:xfrm>
            <a:off x="6273800" y="3367815"/>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9</a:t>
            </a:r>
            <a:endParaRPr lang="en-US" sz="1600" dirty="0"/>
          </a:p>
        </p:txBody>
      </p:sp>
      <p:sp>
        <p:nvSpPr>
          <p:cNvPr id="35" name="Text 33"/>
          <p:cNvSpPr/>
          <p:nvPr/>
        </p:nvSpPr>
        <p:spPr>
          <a:xfrm>
            <a:off x="6731000" y="3385542"/>
            <a:ext cx="387742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Test Estimation</a:t>
            </a:r>
            <a:endParaRPr lang="en-US" sz="1400" dirty="0"/>
          </a:p>
        </p:txBody>
      </p:sp>
      <p:sp>
        <p:nvSpPr>
          <p:cNvPr id="36" name="Text 34"/>
          <p:cNvSpPr/>
          <p:nvPr/>
        </p:nvSpPr>
        <p:spPr>
          <a:xfrm>
            <a:off x="10647892" y="3385542"/>
            <a:ext cx="66421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30 min</a:t>
            </a:r>
            <a:endParaRPr lang="en-US" sz="1400" dirty="0"/>
          </a:p>
        </p:txBody>
      </p:sp>
      <p:sp>
        <p:nvSpPr>
          <p:cNvPr id="37" name="Shape 35"/>
          <p:cNvSpPr/>
          <p:nvPr/>
        </p:nvSpPr>
        <p:spPr>
          <a:xfrm>
            <a:off x="812800" y="3753842"/>
            <a:ext cx="5283200" cy="487627"/>
          </a:xfrm>
          <a:prstGeom prst="roundRect">
            <a:avLst>
              <a:gd name="adj" fmla="val 15627"/>
            </a:avLst>
          </a:prstGeom>
          <a:solidFill>
            <a:srgbClr val="EEF2F7"/>
          </a:solidFill>
          <a:ln/>
        </p:spPr>
      </p:sp>
      <p:sp>
        <p:nvSpPr>
          <p:cNvPr id="38" name="Text 36"/>
          <p:cNvSpPr/>
          <p:nvPr/>
        </p:nvSpPr>
        <p:spPr>
          <a:xfrm>
            <a:off x="990600" y="3855442"/>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5</a:t>
            </a:r>
            <a:endParaRPr lang="en-US" sz="1600" dirty="0"/>
          </a:p>
        </p:txBody>
      </p:sp>
      <p:sp>
        <p:nvSpPr>
          <p:cNvPr id="39" name="Text 37"/>
          <p:cNvSpPr/>
          <p:nvPr/>
        </p:nvSpPr>
        <p:spPr>
          <a:xfrm>
            <a:off x="1447800" y="3873169"/>
            <a:ext cx="387742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Acceptance Criteria</a:t>
            </a:r>
            <a:endParaRPr lang="en-US" sz="1400" dirty="0"/>
          </a:p>
        </p:txBody>
      </p:sp>
      <p:sp>
        <p:nvSpPr>
          <p:cNvPr id="40" name="Text 38"/>
          <p:cNvSpPr/>
          <p:nvPr/>
        </p:nvSpPr>
        <p:spPr>
          <a:xfrm>
            <a:off x="5364692" y="3873169"/>
            <a:ext cx="66421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30 min</a:t>
            </a:r>
            <a:endParaRPr lang="en-US" sz="1400" dirty="0"/>
          </a:p>
        </p:txBody>
      </p:sp>
      <p:sp>
        <p:nvSpPr>
          <p:cNvPr id="41" name="Shape 39"/>
          <p:cNvSpPr/>
          <p:nvPr/>
        </p:nvSpPr>
        <p:spPr>
          <a:xfrm>
            <a:off x="6096000" y="3753842"/>
            <a:ext cx="5283200" cy="487627"/>
          </a:xfrm>
          <a:prstGeom prst="roundRect">
            <a:avLst>
              <a:gd name="adj" fmla="val 15627"/>
            </a:avLst>
          </a:prstGeom>
          <a:solidFill>
            <a:srgbClr val="14213D"/>
          </a:solidFill>
          <a:ln/>
        </p:spPr>
      </p:sp>
      <p:sp>
        <p:nvSpPr>
          <p:cNvPr id="42" name="Text 40"/>
          <p:cNvSpPr/>
          <p:nvPr/>
        </p:nvSpPr>
        <p:spPr>
          <a:xfrm>
            <a:off x="6273800" y="3855442"/>
            <a:ext cx="3556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04B"/>
                </a:solidFill>
                <a:latin typeface="Domine" pitchFamily="18" charset="0"/>
                <a:ea typeface="Domine" pitchFamily="18" charset="-122"/>
                <a:cs typeface="Domine" pitchFamily="18" charset="-120"/>
              </a:rPr>
              <a:t>10</a:t>
            </a:r>
            <a:endParaRPr lang="en-US" sz="1600" dirty="0"/>
          </a:p>
        </p:txBody>
      </p:sp>
      <p:sp>
        <p:nvSpPr>
          <p:cNvPr id="43" name="Text 41"/>
          <p:cNvSpPr/>
          <p:nvPr/>
        </p:nvSpPr>
        <p:spPr>
          <a:xfrm>
            <a:off x="6731000" y="3873169"/>
            <a:ext cx="3863869"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BF8"/>
                </a:solidFill>
                <a:latin typeface="Nunito Sans" pitchFamily="34" charset="0"/>
                <a:ea typeface="Nunito Sans" pitchFamily="34" charset="-122"/>
                <a:cs typeface="Nunito Sans" pitchFamily="34" charset="-120"/>
              </a:rPr>
              <a:t>Capstone: E-Commerce Checkout</a:t>
            </a:r>
            <a:endParaRPr lang="en-US" sz="1400" dirty="0"/>
          </a:p>
        </p:txBody>
      </p:sp>
      <p:sp>
        <p:nvSpPr>
          <p:cNvPr id="44" name="Text 42"/>
          <p:cNvSpPr/>
          <p:nvPr/>
        </p:nvSpPr>
        <p:spPr>
          <a:xfrm>
            <a:off x="10634729" y="3873169"/>
            <a:ext cx="6800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04B"/>
                </a:solidFill>
                <a:latin typeface="Nunito Sans" pitchFamily="34" charset="0"/>
                <a:ea typeface="Nunito Sans" pitchFamily="34" charset="-122"/>
                <a:cs typeface="Nunito Sans" pitchFamily="34" charset="-120"/>
              </a:rPr>
              <a:t>45 min</a:t>
            </a:r>
            <a:endParaRPr lang="en-US" sz="1400" dirty="0"/>
          </a:p>
        </p:txBody>
      </p:sp>
    </p:spTree>
  </p:cSld>
  <p:clrMapOvr>
    <a:masterClrMapping/>
  </p:clrMapOvr>
</p:sld>
</file>

<file path=ppt/theme/theme1.xml><?xml version="1.0" encoding="utf-8"?>
<a:theme xmlns:a="http://schemas.openxmlformats.org/drawingml/2006/main" name="Introduction: Course Contents">
  <a:themeElements>
    <a:clrScheme name="Introduction: Course Contents">
      <a:dk1>
        <a:srgbClr val="3D4A5C"/>
      </a:dk1>
      <a:lt1>
        <a:srgbClr val="FBFBF8"/>
      </a:lt1>
      <a:dk2>
        <a:srgbClr val="6D7683"/>
      </a:dk2>
      <a:lt2>
        <a:srgbClr val="E8E9E8"/>
      </a:lt2>
      <a:accent1>
        <a:srgbClr val="14213D"/>
      </a:accent1>
      <a:accent2>
        <a:srgbClr val="A14F0A"/>
      </a:accent2>
      <a:accent3>
        <a:srgbClr val="2B5C9E"/>
      </a:accent3>
      <a:accent4>
        <a:srgbClr val="F0A04B"/>
      </a:accent4>
      <a:accent5>
        <a:srgbClr val="FBEBDD"/>
      </a:accent5>
      <a:accent6>
        <a:srgbClr val="9AA0A6"/>
      </a:accent6>
      <a:hlink>
        <a:srgbClr val="0563C1"/>
      </a:hlink>
      <a:folHlink>
        <a:srgbClr val="954F72"/>
      </a:folHlink>
    </a:clrScheme>
    <a:fontScheme name="Introduction: Course Contents">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177</Words>
  <Application>Microsoft Office PowerPoint</Application>
  <PresentationFormat>Widescreen</PresentationFormat>
  <Paragraphs>35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Domine</vt:lpstr>
      <vt:lpstr>Nunito Sans</vt:lpstr>
      <vt:lpstr>Introduction: Course Contents</vt:lpstr>
      <vt:lpstr>What are we going to cover?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Course Contents</dc:title>
  <dc:subject/>
  <dc:creator/>
  <cp:lastModifiedBy>Saurabh Kamath</cp:lastModifiedBy>
  <cp:revision>3</cp:revision>
  <dcterms:created xsi:type="dcterms:W3CDTF">2026-10-06T17:55:40Z</dcterms:created>
  <dcterms:modified xsi:type="dcterms:W3CDTF">2026-10-06T18:11:04Z</dcterms:modified>
</cp:coreProperties>
</file>