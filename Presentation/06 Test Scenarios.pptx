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116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have requirements as use cases or user stories, with acceptance criteria. Before writing detailed test cases in chapter seven, we need to decide what situations to test. That list is our set of test scenarios: the map of our testing.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The second and third are the core: knowing the types of scenario, and having a system for finding them rather than relying on inspiration.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scenario states what to verify, without steps or data. Why write scenarios first? You can list thirty of them in the time it takes to write three detailed test cases, a product owner can read the list and spot gaps, you can rank them by risk before investing in detail, and in fast-moving teams a scenario list plus exploratory testing may be enough for low-risk features.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row shows one example at each level, all about the same money transfer feature. One requirement produces many scenarios, and each scenario produces one or more test cases. The test case version is what we will learn to write in chapter seven.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use one requirement throughout. Positive and negative are familiar. Boundary scenarios sit at the edges of limits. Alternate flows are valid variations, such as a saved beneficiary versus a new one, or scheduling a future-dated transfer. Exceptions are failures of the system or environment. End-to-end covers the whole business flow: add a beneficiary, transfer, receive the SMS, check both account statements.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list most people come up with. Some scenarios carry two types: transferring more than the balance is both a negative scenario and a boundary. Ask the room before the next slide: what is missing?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more scenarios just by thinking systematically. Orange cards are the ones beginners most often miss. Thirteen is error guessing: only one transfer should happen on a double click. Fourteen is two browser tabs each transferring money that together exceed the balance. Sixteen covers the OTP. Eighteen is an unauthorised user changing the account in the URL. Missing scenarios lead to missed bugs.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techniques start from the requirements you already have: acceptance criteria and use case flows. Input analysis looks at every field and every data entity. Role analysis asks how the same feature behaves for each kind of user.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State-based testing comes back in chapter seven as a formal technique. Error guessing is where experience pays off: the bugs that live in double clicks and refreshes. Integration touchpoints are where many production incidents start. Mind maps tie all of these together, as the next slide shows.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fund transfer feature as a mind map. Five branches, and each leaf is one scenario. Compare this with the eighteen-scenario list: almost every item appears here. A mind map is quick to draw on a whiteboard and easy for a product owner to review.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scenario names one specific situation and stops there. Too vague and nobody knows what to test; too detailed and you have written a test case too early. The format tips at the bottom are common conventions: start with Verify or Check, one situation per line, give it an ID, and trace it to the requirement or acceptance criterion so you can prove coverage.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 each scenario with a priority before investing in detailed test cases. P1 is anything touching money, security, data loss or the core flow. P2 covers important validations. P3 is rare or cosmetic. Ask the room where they would put network failure, session expiry, the cooling period and the end-to-end SMS check; there is no single right answer, which is the point of a risk discussion.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mistakes all reduce coverage before a single test is run. The last one is particularly common in teams split by module: everyone tests their own piece and nobody tests the journey from search to delivery.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eight minutes. Suggest they run through the techniques: the rules give boundaries, roles give guest versus logged-in, error guessing gives rapid clicks. Note any questions for the product owner that come up.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pair 04 and 05: quantity 10 accepted, quantity 11 rejected. That is a boundary pair. Scenario 03 checks that a second add increases the quantity rather than creating a duplicate line. Scenario 08 is an exception that is easy to miss: stock changes after the item is already in the cart.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14 is error guessing, and 15 is also a business rule. Scenario 11 raised a question nobody had answered: when a guest cart merges into an existing user cart and the same product exceeds ten units combined, what should happen? Finding that gap is as valuable as any scenario on the list.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What to test; how exactly to test it. 2. Exception. 3. Any three of: acceptance criteria walkthrough, use case flow analysis, input analysis and CRUD, user role analysis, state-based thinking, error guessing, integration touchpoints, mind maps. 4. They are fast to write, easy to review for gaps, and easy to prioritise before investing in detail.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Next is chapter seven, the biggest chapter of the module: turning these scenarios into detailed, executable test cases, and the formal techniques that make them efficient.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663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0A04B"/>
                </a:solidFill>
                <a:latin typeface="Nunito Sans" pitchFamily="34" charset="0"/>
                <a:ea typeface="Nunito Sans" pitchFamily="34" charset="-122"/>
                <a:cs typeface="Nunito Sans" pitchFamily="34" charset="-120"/>
              </a:rPr>
              <a:t>Test Design &amp; Strategy · Unit 6</a:t>
            </a:r>
            <a:endParaRPr lang="en-US" sz="1200" dirty="0"/>
          </a:p>
        </p:txBody>
      </p:sp>
      <p:sp>
        <p:nvSpPr>
          <p:cNvPr id="3" name="Text 1"/>
          <p:cNvSpPr>
            <a:spLocks noGrp="1"/>
          </p:cNvSpPr>
          <p:nvPr>
            <p:ph type="title"/>
          </p:nvPr>
        </p:nvSpPr>
        <p:spPr>
          <a:xfrm>
            <a:off x="812800" y="2533650"/>
            <a:ext cx="10883392" cy="878814"/>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BFBF8"/>
                </a:solidFill>
                <a:latin typeface="Domine" pitchFamily="18" charset="0"/>
                <a:ea typeface="Domine" pitchFamily="18" charset="-122"/>
                <a:cs typeface="Domine" pitchFamily="18" charset="-120"/>
              </a:rPr>
              <a:t>Test Scenarios</a:t>
            </a:r>
            <a:endParaRPr lang="en-US" sz="6400" dirty="0"/>
          </a:p>
        </p:txBody>
      </p:sp>
      <p:sp>
        <p:nvSpPr>
          <p:cNvPr id="4" name="Text 2"/>
          <p:cNvSpPr/>
          <p:nvPr/>
        </p:nvSpPr>
        <p:spPr>
          <a:xfrm>
            <a:off x="812800" y="3641064"/>
            <a:ext cx="850265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D3E3"/>
                </a:solidFill>
                <a:latin typeface="Nunito Sans" pitchFamily="34" charset="0"/>
                <a:ea typeface="Nunito Sans" pitchFamily="34" charset="-122"/>
                <a:cs typeface="Nunito Sans" pitchFamily="34" charset="-120"/>
              </a:rPr>
              <a:t>Deciding what situations to test before deciding how to test them</a:t>
            </a:r>
            <a:endParaRPr lang="en-US" sz="2000" dirty="0"/>
          </a:p>
        </p:txBody>
      </p:sp>
      <p:sp>
        <p:nvSpPr>
          <p:cNvPr id="5" name="Shape 3"/>
          <p:cNvSpPr/>
          <p:nvPr/>
        </p:nvSpPr>
        <p:spPr>
          <a:xfrm>
            <a:off x="812800" y="4250664"/>
            <a:ext cx="1016000" cy="38100"/>
          </a:xfrm>
          <a:prstGeom prst="roundRect">
            <a:avLst>
              <a:gd name="adj" fmla="val 50000"/>
            </a:avLst>
          </a:prstGeom>
          <a:solidFill>
            <a:srgbClr val="F0A04B"/>
          </a:solidFill>
          <a:ln/>
        </p:spPr>
      </p:sp>
      <p:sp>
        <p:nvSpPr>
          <p:cNvPr id="6" name="Text 4"/>
          <p:cNvSpPr/>
          <p:nvPr/>
        </p:nvSpPr>
        <p:spPr>
          <a:xfrm>
            <a:off x="812800" y="454276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30 minutes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LEARNING OBJECTIVES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this unit covers:</a:t>
            </a:r>
            <a:endParaRPr lang="en-US" sz="3200" dirty="0"/>
          </a:p>
        </p:txBody>
      </p:sp>
      <p:sp>
        <p:nvSpPr>
          <p:cNvPr id="4" name="Text 2"/>
          <p:cNvSpPr/>
          <p:nvPr/>
        </p:nvSpPr>
        <p:spPr>
          <a:xfrm>
            <a:off x="812800" y="1854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896467"/>
            <a:ext cx="849860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3D4A5C"/>
                </a:solidFill>
                <a:latin typeface="Nunito Sans" pitchFamily="34" charset="0"/>
                <a:ea typeface="Nunito Sans" pitchFamily="34" charset="-122"/>
                <a:cs typeface="Nunito Sans" pitchFamily="34" charset="-120"/>
              </a:rPr>
              <a:t>Define a test scenario and tell it apart from a requirement and a test case.</a:t>
            </a:r>
            <a:endParaRPr lang="en-US" sz="1700" dirty="0"/>
          </a:p>
        </p:txBody>
      </p:sp>
      <p:sp>
        <p:nvSpPr>
          <p:cNvPr id="6" name="Text 4"/>
          <p:cNvSpPr/>
          <p:nvPr/>
        </p:nvSpPr>
        <p:spPr>
          <a:xfrm>
            <a:off x="812800" y="24129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55267"/>
            <a:ext cx="9703038"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3D4A5C"/>
                </a:solidFill>
                <a:latin typeface="Nunito Sans" pitchFamily="34" charset="0"/>
                <a:ea typeface="Nunito Sans" pitchFamily="34" charset="-122"/>
                <a:cs typeface="Nunito Sans" pitchFamily="34" charset="-120"/>
              </a:rPr>
              <a:t>Identify positive, negative, boundary, alternate, exception and end-to-end scenarios.</a:t>
            </a:r>
            <a:endParaRPr lang="en-US" sz="1700" dirty="0"/>
          </a:p>
        </p:txBody>
      </p:sp>
      <p:sp>
        <p:nvSpPr>
          <p:cNvPr id="8" name="Text 6"/>
          <p:cNvSpPr/>
          <p:nvPr/>
        </p:nvSpPr>
        <p:spPr>
          <a:xfrm>
            <a:off x="812800" y="29717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3014067"/>
            <a:ext cx="5966540"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3D4A5C"/>
                </a:solidFill>
                <a:latin typeface="Nunito Sans" pitchFamily="34" charset="0"/>
                <a:ea typeface="Nunito Sans" pitchFamily="34" charset="-122"/>
                <a:cs typeface="Nunito Sans" pitchFamily="34" charset="-120"/>
              </a:rPr>
              <a:t>Apply systematic scenario identification techniques.</a:t>
            </a:r>
            <a:endParaRPr lang="en-US" sz="1700" dirty="0"/>
          </a:p>
        </p:txBody>
      </p:sp>
      <p:sp>
        <p:nvSpPr>
          <p:cNvPr id="10" name="Text 8"/>
          <p:cNvSpPr/>
          <p:nvPr/>
        </p:nvSpPr>
        <p:spPr>
          <a:xfrm>
            <a:off x="812800" y="35305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572867"/>
            <a:ext cx="5939155"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3D4A5C"/>
                </a:solidFill>
                <a:latin typeface="Nunito Sans" pitchFamily="34" charset="0"/>
                <a:ea typeface="Nunito Sans" pitchFamily="34" charset="-122"/>
                <a:cs typeface="Nunito Sans" pitchFamily="34" charset="-120"/>
              </a:rPr>
              <a:t>Produce a scenario list for a feature and prioritise it.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WHAT IS A TEST SCENARIO?</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A one-line situation that needs testing</a:t>
            </a:r>
            <a:endParaRPr lang="en-US" sz="3200" dirty="0"/>
          </a:p>
        </p:txBody>
      </p:sp>
      <p:sp>
        <p:nvSpPr>
          <p:cNvPr id="4" name="Shape 2"/>
          <p:cNvSpPr/>
          <p:nvPr/>
        </p:nvSpPr>
        <p:spPr>
          <a:xfrm>
            <a:off x="812800" y="1803335"/>
            <a:ext cx="5181600" cy="1094714"/>
          </a:xfrm>
          <a:prstGeom prst="roundRect">
            <a:avLst>
              <a:gd name="adj" fmla="val 9281"/>
            </a:avLst>
          </a:prstGeom>
          <a:solidFill>
            <a:srgbClr val="14213D"/>
          </a:solidFill>
          <a:ln/>
        </p:spPr>
      </p:sp>
      <p:sp>
        <p:nvSpPr>
          <p:cNvPr id="5" name="Text 3"/>
          <p:cNvSpPr/>
          <p:nvPr/>
        </p:nvSpPr>
        <p:spPr>
          <a:xfrm>
            <a:off x="1041400" y="2031935"/>
            <a:ext cx="486613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0A04B"/>
                </a:solidFill>
                <a:latin typeface="Nunito Sans" pitchFamily="34" charset="0"/>
                <a:ea typeface="Nunito Sans" pitchFamily="34" charset="-122"/>
                <a:cs typeface="Nunito Sans" pitchFamily="34" charset="-120"/>
              </a:rPr>
              <a:t>TEST SCENARIO</a:t>
            </a:r>
            <a:endParaRPr lang="en-US" sz="1300" dirty="0"/>
          </a:p>
        </p:txBody>
      </p:sp>
      <p:sp>
        <p:nvSpPr>
          <p:cNvPr id="6" name="Text 4"/>
          <p:cNvSpPr/>
          <p:nvPr/>
        </p:nvSpPr>
        <p:spPr>
          <a:xfrm>
            <a:off x="1041400" y="2313848"/>
            <a:ext cx="486613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FBFBF8"/>
                </a:solidFill>
                <a:latin typeface="Domine" pitchFamily="18" charset="0"/>
                <a:ea typeface="Domine" pitchFamily="18" charset="-122"/>
                <a:cs typeface="Domine" pitchFamily="18" charset="-120"/>
              </a:rPr>
              <a:t>What should we test?</a:t>
            </a:r>
            <a:endParaRPr lang="en-US" sz="2000" dirty="0"/>
          </a:p>
        </p:txBody>
      </p:sp>
      <p:sp>
        <p:nvSpPr>
          <p:cNvPr id="7" name="Shape 5"/>
          <p:cNvSpPr/>
          <p:nvPr/>
        </p:nvSpPr>
        <p:spPr>
          <a:xfrm>
            <a:off x="6197600" y="1803335"/>
            <a:ext cx="5181600" cy="1094714"/>
          </a:xfrm>
          <a:prstGeom prst="roundRect">
            <a:avLst>
              <a:gd name="adj" fmla="val 9281"/>
            </a:avLst>
          </a:prstGeom>
          <a:solidFill>
            <a:srgbClr val="EEF2F7"/>
          </a:solidFill>
          <a:ln/>
        </p:spPr>
      </p:sp>
      <p:sp>
        <p:nvSpPr>
          <p:cNvPr id="8" name="Text 6"/>
          <p:cNvSpPr/>
          <p:nvPr/>
        </p:nvSpPr>
        <p:spPr>
          <a:xfrm>
            <a:off x="6426200" y="2031935"/>
            <a:ext cx="486613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5C9E"/>
                </a:solidFill>
                <a:latin typeface="Nunito Sans" pitchFamily="34" charset="0"/>
                <a:ea typeface="Nunito Sans" pitchFamily="34" charset="-122"/>
                <a:cs typeface="Nunito Sans" pitchFamily="34" charset="-120"/>
              </a:rPr>
              <a:t>TEST CASE</a:t>
            </a:r>
            <a:endParaRPr lang="en-US" sz="1300" dirty="0"/>
          </a:p>
        </p:txBody>
      </p:sp>
      <p:sp>
        <p:nvSpPr>
          <p:cNvPr id="9" name="Text 7"/>
          <p:cNvSpPr/>
          <p:nvPr/>
        </p:nvSpPr>
        <p:spPr>
          <a:xfrm>
            <a:off x="6426200" y="2313848"/>
            <a:ext cx="486613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4213D"/>
                </a:solidFill>
                <a:latin typeface="Domine" pitchFamily="18" charset="0"/>
                <a:ea typeface="Domine" pitchFamily="18" charset="-122"/>
                <a:cs typeface="Domine" pitchFamily="18" charset="-120"/>
              </a:rPr>
              <a:t>How exactly will we test it?</a:t>
            </a:r>
            <a:endParaRPr lang="en-US" sz="2000" dirty="0"/>
          </a:p>
        </p:txBody>
      </p:sp>
      <p:sp>
        <p:nvSpPr>
          <p:cNvPr id="10" name="Text 8"/>
          <p:cNvSpPr/>
          <p:nvPr/>
        </p:nvSpPr>
        <p:spPr>
          <a:xfrm>
            <a:off x="812800" y="3152048"/>
            <a:ext cx="10566400" cy="571500"/>
          </a:xfrm>
          <a:prstGeom prst="roundRect">
            <a:avLst>
              <a:gd name="adj" fmla="val 13333"/>
            </a:avLst>
          </a:prstGeom>
          <a:solidFill>
            <a:srgbClr val="FBEBDD"/>
          </a:solidFill>
          <a:ln/>
        </p:spPr>
        <p:txBody>
          <a:bodyPr wrap="square" lIns="180882" tIns="130082" rIns="0" bIns="104682" rtlCol="0" anchor="t">
            <a:normAutofit/>
          </a:bodyPr>
          <a:lstStyle/>
          <a:p>
            <a:pPr marL="0" indent="0" algn="l">
              <a:lnSpc>
                <a:spcPts val="2100"/>
              </a:lnSpc>
              <a:buNone/>
            </a:pPr>
            <a:r>
              <a:rPr lang="en-US" sz="1500" b="1" dirty="0">
                <a:solidFill>
                  <a:srgbClr val="3D4A5C"/>
                </a:solidFill>
                <a:latin typeface="Nunito Sans" pitchFamily="34" charset="0"/>
                <a:ea typeface="Nunito Sans" pitchFamily="34" charset="-122"/>
                <a:cs typeface="Nunito Sans" pitchFamily="34" charset="-120"/>
              </a:rPr>
              <a:t>Example:</a:t>
            </a:r>
            <a:r>
              <a:rPr lang="en-US" sz="1500" dirty="0">
                <a:solidFill>
                  <a:srgbClr val="3D4A5C"/>
                </a:solidFill>
                <a:latin typeface="Nunito Sans" pitchFamily="34" charset="0"/>
                <a:ea typeface="Nunito Sans" pitchFamily="34" charset="-122"/>
                <a:cs typeface="Nunito Sans" pitchFamily="34" charset="-120"/>
              </a:rPr>
              <a:t> “Verify that a user cannot transfer more money than the available balance.”</a:t>
            </a:r>
            <a:endParaRPr lang="en-US" sz="1500" dirty="0"/>
          </a:p>
        </p:txBody>
      </p:sp>
      <p:sp>
        <p:nvSpPr>
          <p:cNvPr id="11" name="Text 9"/>
          <p:cNvSpPr/>
          <p:nvPr/>
        </p:nvSpPr>
        <p:spPr>
          <a:xfrm>
            <a:off x="812800" y="3977548"/>
            <a:ext cx="2603119"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14F0A"/>
                </a:solidFill>
                <a:latin typeface="Nunito Sans" pitchFamily="34" charset="0"/>
                <a:ea typeface="Nunito Sans" pitchFamily="34" charset="-122"/>
                <a:cs typeface="Nunito Sans" pitchFamily="34" charset="-120"/>
              </a:rPr>
              <a:t>Fast</a:t>
            </a:r>
            <a:endParaRPr lang="en-US" sz="1300" dirty="0"/>
          </a:p>
        </p:txBody>
      </p:sp>
      <p:sp>
        <p:nvSpPr>
          <p:cNvPr id="12" name="Text 10"/>
          <p:cNvSpPr/>
          <p:nvPr/>
        </p:nvSpPr>
        <p:spPr>
          <a:xfrm>
            <a:off x="812800" y="4246761"/>
            <a:ext cx="260311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30 scenarios in the time of 3 test cases</a:t>
            </a:r>
            <a:endParaRPr lang="en-US" sz="1200" dirty="0"/>
          </a:p>
        </p:txBody>
      </p:sp>
      <p:sp>
        <p:nvSpPr>
          <p:cNvPr id="13" name="Text 11"/>
          <p:cNvSpPr/>
          <p:nvPr/>
        </p:nvSpPr>
        <p:spPr>
          <a:xfrm>
            <a:off x="3492500" y="3977548"/>
            <a:ext cx="2603119"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14F0A"/>
                </a:solidFill>
                <a:latin typeface="Nunito Sans" pitchFamily="34" charset="0"/>
                <a:ea typeface="Nunito Sans" pitchFamily="34" charset="-122"/>
                <a:cs typeface="Nunito Sans" pitchFamily="34" charset="-120"/>
              </a:rPr>
              <a:t>Reviewable</a:t>
            </a:r>
            <a:endParaRPr lang="en-US" sz="1300" dirty="0"/>
          </a:p>
        </p:txBody>
      </p:sp>
      <p:sp>
        <p:nvSpPr>
          <p:cNvPr id="14" name="Text 12"/>
          <p:cNvSpPr/>
          <p:nvPr/>
        </p:nvSpPr>
        <p:spPr>
          <a:xfrm>
            <a:off x="3492500" y="4246761"/>
            <a:ext cx="26031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A product owner can spot gaps</a:t>
            </a:r>
            <a:endParaRPr lang="en-US" sz="1200" dirty="0"/>
          </a:p>
        </p:txBody>
      </p:sp>
      <p:sp>
        <p:nvSpPr>
          <p:cNvPr id="15" name="Text 13"/>
          <p:cNvSpPr/>
          <p:nvPr/>
        </p:nvSpPr>
        <p:spPr>
          <a:xfrm>
            <a:off x="6172200" y="3977548"/>
            <a:ext cx="2603119"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14F0A"/>
                </a:solidFill>
                <a:latin typeface="Nunito Sans" pitchFamily="34" charset="0"/>
                <a:ea typeface="Nunito Sans" pitchFamily="34" charset="-122"/>
                <a:cs typeface="Nunito Sans" pitchFamily="34" charset="-120"/>
              </a:rPr>
              <a:t>Prioritisable</a:t>
            </a:r>
            <a:endParaRPr lang="en-US" sz="1300" dirty="0"/>
          </a:p>
        </p:txBody>
      </p:sp>
      <p:sp>
        <p:nvSpPr>
          <p:cNvPr id="16" name="Text 14"/>
          <p:cNvSpPr/>
          <p:nvPr/>
        </p:nvSpPr>
        <p:spPr>
          <a:xfrm>
            <a:off x="6172200" y="4246761"/>
            <a:ext cx="26031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Rank by risk before adding detail</a:t>
            </a:r>
            <a:endParaRPr lang="en-US" sz="1200" dirty="0"/>
          </a:p>
        </p:txBody>
      </p:sp>
      <p:sp>
        <p:nvSpPr>
          <p:cNvPr id="17" name="Text 15"/>
          <p:cNvSpPr/>
          <p:nvPr/>
        </p:nvSpPr>
        <p:spPr>
          <a:xfrm>
            <a:off x="8851900" y="3977548"/>
            <a:ext cx="2603119"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14F0A"/>
                </a:solidFill>
                <a:latin typeface="Nunito Sans" pitchFamily="34" charset="0"/>
                <a:ea typeface="Nunito Sans" pitchFamily="34" charset="-122"/>
                <a:cs typeface="Nunito Sans" pitchFamily="34" charset="-120"/>
              </a:rPr>
              <a:t>Agile-friendly</a:t>
            </a:r>
            <a:endParaRPr lang="en-US" sz="1300" dirty="0"/>
          </a:p>
        </p:txBody>
      </p:sp>
      <p:sp>
        <p:nvSpPr>
          <p:cNvPr id="18" name="Text 16"/>
          <p:cNvSpPr/>
          <p:nvPr/>
        </p:nvSpPr>
        <p:spPr>
          <a:xfrm>
            <a:off x="8851900" y="4246761"/>
            <a:ext cx="30327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Can be enough for low-risk features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THREE LEVELS OF DETAIL</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Requirement, scenario, test case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5"/>
          <a:ext cx="10553700" cy="1796521"/>
        </p:xfrm>
        <a:graphic>
          <a:graphicData uri="http://schemas.openxmlformats.org/drawingml/2006/table">
            <a:tbl>
              <a:tblPr/>
              <a:tblGrid>
                <a:gridCol w="1688592">
                  <a:extLst>
                    <a:ext uri="{9D8B030D-6E8A-4147-A177-3AD203B41FA5}">
                      <a16:colId xmlns:a16="http://schemas.microsoft.com/office/drawing/2014/main" val="20000"/>
                    </a:ext>
                  </a:extLst>
                </a:gridCol>
                <a:gridCol w="2955036">
                  <a:extLst>
                    <a:ext uri="{9D8B030D-6E8A-4147-A177-3AD203B41FA5}">
                      <a16:colId xmlns:a16="http://schemas.microsoft.com/office/drawing/2014/main" val="20001"/>
                    </a:ext>
                  </a:extLst>
                </a:gridCol>
                <a:gridCol w="2955036">
                  <a:extLst>
                    <a:ext uri="{9D8B030D-6E8A-4147-A177-3AD203B41FA5}">
                      <a16:colId xmlns:a16="http://schemas.microsoft.com/office/drawing/2014/main" val="20002"/>
                    </a:ext>
                  </a:extLst>
                </a:gridCol>
                <a:gridCol w="2955036">
                  <a:extLst>
                    <a:ext uri="{9D8B030D-6E8A-4147-A177-3AD203B41FA5}">
                      <a16:colId xmlns:a16="http://schemas.microsoft.com/office/drawing/2014/main" val="20003"/>
                    </a:ext>
                  </a:extLst>
                </a:gridCol>
              </a:tblGrid>
              <a:tr h="359304">
                <a:tc>
                  <a:txBody>
                    <a:bodyPr/>
                    <a:lstStyle/>
                    <a:p>
                      <a:pPr marL="0" indent="0">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Requirement</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Test scenario</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Test case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Describes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What the system should do</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 situation to verify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Exact steps and expected result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Owner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Business / product owner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Tester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Tester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Detail</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Business level</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One line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Preconditions, data, steps, result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Ratio</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1</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 many</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 many more</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3815755"/>
            <a:ext cx="3053953" cy="731441"/>
          </a:xfrm>
          <a:prstGeom prst="roundRect">
            <a:avLst>
              <a:gd name="adj" fmla="val 10418"/>
            </a:avLst>
          </a:prstGeom>
          <a:solidFill>
            <a:srgbClr val="EEF2F7"/>
          </a:solidFill>
          <a:ln/>
        </p:spPr>
        <p:txBody>
          <a:bodyPr wrap="square" lIns="130082" tIns="130082" rIns="47607" bIns="104682"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“User can transfer money between accounts.”</a:t>
            </a:r>
            <a:endParaRPr lang="en-US" sz="1200" dirty="0"/>
          </a:p>
        </p:txBody>
      </p:sp>
      <p:sp>
        <p:nvSpPr>
          <p:cNvPr id="6" name="Text 3"/>
          <p:cNvSpPr/>
          <p:nvPr/>
        </p:nvSpPr>
        <p:spPr>
          <a:xfrm>
            <a:off x="4019153" y="3815755"/>
            <a:ext cx="3054019" cy="731441"/>
          </a:xfrm>
          <a:prstGeom prst="roundRect">
            <a:avLst>
              <a:gd name="adj" fmla="val 10418"/>
            </a:avLst>
          </a:prstGeom>
          <a:solidFill>
            <a:srgbClr val="EEF2F7"/>
          </a:solidFill>
          <a:ln/>
        </p:spPr>
        <p:txBody>
          <a:bodyPr wrap="square" lIns="130082" tIns="130082" rIns="47605" bIns="130082"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“Transfer amount exceeding balance.”</a:t>
            </a:r>
            <a:endParaRPr lang="en-US" sz="1200" dirty="0"/>
          </a:p>
        </p:txBody>
      </p:sp>
      <p:sp>
        <p:nvSpPr>
          <p:cNvPr id="7" name="Text 4"/>
          <p:cNvSpPr/>
          <p:nvPr/>
        </p:nvSpPr>
        <p:spPr>
          <a:xfrm>
            <a:off x="7225573" y="3815755"/>
            <a:ext cx="4153628" cy="731441"/>
          </a:xfrm>
          <a:prstGeom prst="roundRect">
            <a:avLst>
              <a:gd name="adj" fmla="val 10418"/>
            </a:avLst>
          </a:prstGeom>
          <a:solidFill>
            <a:srgbClr val="FBEBDD"/>
          </a:solidFill>
          <a:ln/>
        </p:spPr>
        <p:txBody>
          <a:bodyPr wrap="square" lIns="130082" tIns="130082" rIns="14617" bIns="104682"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Login as A (₹5,000) → Transfer ₹5,001 → Submit → “Insufficient balance”, balance unchanged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TYPES OF SCENARIOS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Six types, one requirement</a:t>
            </a:r>
            <a:endParaRPr lang="en-US" sz="3200" dirty="0"/>
          </a:p>
        </p:txBody>
      </p:sp>
      <p:sp>
        <p:nvSpPr>
          <p:cNvPr id="4" name="Shape 2"/>
          <p:cNvSpPr/>
          <p:nvPr/>
        </p:nvSpPr>
        <p:spPr>
          <a:xfrm>
            <a:off x="838200" y="1777935"/>
            <a:ext cx="0" cy="335227"/>
          </a:xfrm>
          <a:prstGeom prst="line">
            <a:avLst/>
          </a:prstGeom>
          <a:noFill/>
          <a:ln w="50800">
            <a:solidFill>
              <a:srgbClr val="A14F0A"/>
            </a:solidFill>
            <a:prstDash val="solid"/>
          </a:ln>
        </p:spPr>
      </p:sp>
      <p:sp>
        <p:nvSpPr>
          <p:cNvPr id="5" name="Text 3"/>
          <p:cNvSpPr/>
          <p:nvPr/>
        </p:nvSpPr>
        <p:spPr>
          <a:xfrm>
            <a:off x="1041400" y="1803335"/>
            <a:ext cx="10647934"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Domine" pitchFamily="18" charset="0"/>
                <a:ea typeface="Domine" pitchFamily="18" charset="-122"/>
                <a:cs typeface="Domine" pitchFamily="18" charset="-120"/>
              </a:rPr>
              <a:t>Requirement: User can transfer money between accounts.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54461"/>
          <a:ext cx="10553700" cy="2515129"/>
        </p:xfrm>
        <a:graphic>
          <a:graphicData uri="http://schemas.openxmlformats.org/drawingml/2006/table">
            <a:tbl>
              <a:tblPr/>
              <a:tblGrid>
                <a:gridCol w="2110740">
                  <a:extLst>
                    <a:ext uri="{9D8B030D-6E8A-4147-A177-3AD203B41FA5}">
                      <a16:colId xmlns:a16="http://schemas.microsoft.com/office/drawing/2014/main" val="20000"/>
                    </a:ext>
                  </a:extLst>
                </a:gridCol>
                <a:gridCol w="3588258">
                  <a:extLst>
                    <a:ext uri="{9D8B030D-6E8A-4147-A177-3AD203B41FA5}">
                      <a16:colId xmlns:a16="http://schemas.microsoft.com/office/drawing/2014/main" val="20001"/>
                    </a:ext>
                  </a:extLst>
                </a:gridCol>
                <a:gridCol w="4854702">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Type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Purpose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Example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Positive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Valid input → success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Transfer a valid amount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Negative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Invalid input handled gracefully</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Negative amount; invalid account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Boundary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Values at or around limits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Zero; exactly the balance; over daily limit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Alternate flow</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Valid variations of the main path</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Saved vs. new payee; future-dated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Exception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System or environment failures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Network failure; session expires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End-to-end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Full business flow across systems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Add payee → transfer → SMS → statements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THE CLASSIC LIST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Eight scenarios, classified</a:t>
            </a:r>
            <a:endParaRPr lang="en-US" sz="3200" dirty="0"/>
          </a:p>
        </p:txBody>
      </p:sp>
      <p:sp>
        <p:nvSpPr>
          <p:cNvPr id="4" name="Shape 2"/>
          <p:cNvSpPr/>
          <p:nvPr/>
        </p:nvSpPr>
        <p:spPr>
          <a:xfrm>
            <a:off x="812800" y="1803335"/>
            <a:ext cx="10566400" cy="3486348"/>
          </a:xfrm>
          <a:prstGeom prst="rect">
            <a:avLst/>
          </a:prstGeom>
          <a:solidFill>
            <a:srgbClr val="FBFBF8"/>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16035"/>
          <a:ext cx="10553700" cy="3473648"/>
        </p:xfrm>
        <a:graphic>
          <a:graphicData uri="http://schemas.openxmlformats.org/drawingml/2006/table">
            <a:tbl>
              <a:tblPr/>
              <a:tblGrid>
                <a:gridCol w="844296">
                  <a:extLst>
                    <a:ext uri="{9D8B030D-6E8A-4147-A177-3AD203B41FA5}">
                      <a16:colId xmlns:a16="http://schemas.microsoft.com/office/drawing/2014/main" val="20000"/>
                    </a:ext>
                  </a:extLst>
                </a:gridCol>
                <a:gridCol w="5910072">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Scenario</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Type</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1</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Transfer valid amount</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Positive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2</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Transfer amount exceeding balance</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Negative / Boundary</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3</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Transfer zero amount</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Boundary / Negative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4</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Transfer negative amount</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Negative</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5</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Transfer to invalid account</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Negative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6</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Transfer above daily limit</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Boundary / Business rule</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7</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Network failure during transfer</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Exception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8</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Session expires during transfer</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Exception</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A THOUGHTFUL TESTER ADDS MORE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8 scenarios become </a:t>
            </a:r>
            <a:r>
              <a:rPr lang="en-US" sz="3200" b="1" i="0" dirty="0">
                <a:solidFill>
                  <a:srgbClr val="A14F0A"/>
                </a:solidFill>
                <a:latin typeface="Domine" pitchFamily="18" charset="0"/>
                <a:ea typeface="Domine" pitchFamily="18" charset="-122"/>
                <a:cs typeface="Domine" pitchFamily="18" charset="-120"/>
              </a:rPr>
              <a:t>18</a:t>
            </a:r>
            <a:endParaRPr lang="en-US" sz="3200" dirty="0"/>
          </a:p>
        </p:txBody>
      </p:sp>
      <p:sp>
        <p:nvSpPr>
          <p:cNvPr id="4" name="Shape 2"/>
          <p:cNvSpPr/>
          <p:nvPr/>
        </p:nvSpPr>
        <p:spPr>
          <a:xfrm>
            <a:off x="812800" y="1803335"/>
            <a:ext cx="5283200" cy="434314"/>
          </a:xfrm>
          <a:prstGeom prst="roundRect">
            <a:avLst>
              <a:gd name="adj" fmla="val 14621"/>
            </a:avLst>
          </a:prstGeom>
          <a:solidFill>
            <a:srgbClr val="EEF2F7"/>
          </a:solidFill>
          <a:ln/>
        </p:spPr>
      </p:sp>
      <p:sp>
        <p:nvSpPr>
          <p:cNvPr id="5" name="Text 3"/>
          <p:cNvSpPr/>
          <p:nvPr/>
        </p:nvSpPr>
        <p:spPr>
          <a:xfrm>
            <a:off x="965200" y="1904935"/>
            <a:ext cx="23352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9</a:t>
            </a:r>
            <a:r>
              <a:rPr lang="en-US" sz="1300" dirty="0">
                <a:solidFill>
                  <a:srgbClr val="14213D"/>
                </a:solidFill>
                <a:latin typeface="Nunito Sans" pitchFamily="34" charset="0"/>
                <a:ea typeface="Nunito Sans" pitchFamily="34" charset="-122"/>
                <a:cs typeface="Nunito Sans" pitchFamily="34" charset="-120"/>
              </a:rPr>
              <a:t> · Exactly the full balance</a:t>
            </a:r>
            <a:endParaRPr lang="en-US" sz="1300" dirty="0"/>
          </a:p>
        </p:txBody>
      </p:sp>
      <p:sp>
        <p:nvSpPr>
          <p:cNvPr id="6" name="Text 4"/>
          <p:cNvSpPr/>
          <p:nvPr/>
        </p:nvSpPr>
        <p:spPr>
          <a:xfrm>
            <a:off x="5116433" y="1904935"/>
            <a:ext cx="827167" cy="256514"/>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5C9E"/>
                </a:solidFill>
                <a:latin typeface="Nunito Sans" pitchFamily="34" charset="0"/>
                <a:ea typeface="Nunito Sans" pitchFamily="34" charset="-122"/>
                <a:cs typeface="Nunito Sans" pitchFamily="34" charset="-120"/>
              </a:rPr>
              <a:t>Boundary</a:t>
            </a:r>
            <a:endParaRPr lang="en-US" sz="1200" dirty="0"/>
          </a:p>
        </p:txBody>
      </p:sp>
      <p:sp>
        <p:nvSpPr>
          <p:cNvPr id="7" name="Shape 5"/>
          <p:cNvSpPr/>
          <p:nvPr/>
        </p:nvSpPr>
        <p:spPr>
          <a:xfrm>
            <a:off x="6096000" y="1803335"/>
            <a:ext cx="5283200" cy="434314"/>
          </a:xfrm>
          <a:prstGeom prst="roundRect">
            <a:avLst>
              <a:gd name="adj" fmla="val 14621"/>
            </a:avLst>
          </a:prstGeom>
          <a:solidFill>
            <a:srgbClr val="EEF2F7"/>
          </a:solidFill>
          <a:ln/>
        </p:spPr>
      </p:sp>
      <p:sp>
        <p:nvSpPr>
          <p:cNvPr id="8" name="Text 6"/>
          <p:cNvSpPr/>
          <p:nvPr/>
        </p:nvSpPr>
        <p:spPr>
          <a:xfrm>
            <a:off x="6248400" y="1904935"/>
            <a:ext cx="228219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10</a:t>
            </a:r>
            <a:r>
              <a:rPr lang="en-US" sz="1300" dirty="0">
                <a:solidFill>
                  <a:srgbClr val="14213D"/>
                </a:solidFill>
                <a:latin typeface="Nunito Sans" pitchFamily="34" charset="0"/>
                <a:ea typeface="Nunito Sans" pitchFamily="34" charset="-122"/>
                <a:cs typeface="Nunito Sans" pitchFamily="34" charset="-120"/>
              </a:rPr>
              <a:t> · Exactly the daily limit</a:t>
            </a:r>
            <a:endParaRPr lang="en-US" sz="1300" dirty="0"/>
          </a:p>
        </p:txBody>
      </p:sp>
      <p:sp>
        <p:nvSpPr>
          <p:cNvPr id="9" name="Text 7"/>
          <p:cNvSpPr/>
          <p:nvPr/>
        </p:nvSpPr>
        <p:spPr>
          <a:xfrm>
            <a:off x="10399634" y="1904935"/>
            <a:ext cx="827167" cy="256514"/>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5C9E"/>
                </a:solidFill>
                <a:latin typeface="Nunito Sans" pitchFamily="34" charset="0"/>
                <a:ea typeface="Nunito Sans" pitchFamily="34" charset="-122"/>
                <a:cs typeface="Nunito Sans" pitchFamily="34" charset="-120"/>
              </a:rPr>
              <a:t>Boundary</a:t>
            </a:r>
            <a:endParaRPr lang="en-US" sz="1200" dirty="0"/>
          </a:p>
        </p:txBody>
      </p:sp>
      <p:sp>
        <p:nvSpPr>
          <p:cNvPr id="10" name="Shape 8"/>
          <p:cNvSpPr/>
          <p:nvPr/>
        </p:nvSpPr>
        <p:spPr>
          <a:xfrm>
            <a:off x="812800" y="2237649"/>
            <a:ext cx="5283200" cy="434314"/>
          </a:xfrm>
          <a:prstGeom prst="roundRect">
            <a:avLst>
              <a:gd name="adj" fmla="val 14621"/>
            </a:avLst>
          </a:prstGeom>
          <a:solidFill>
            <a:srgbClr val="EEF2F7"/>
          </a:solidFill>
          <a:ln/>
        </p:spPr>
      </p:sp>
      <p:sp>
        <p:nvSpPr>
          <p:cNvPr id="11" name="Text 9"/>
          <p:cNvSpPr/>
          <p:nvPr/>
        </p:nvSpPr>
        <p:spPr>
          <a:xfrm>
            <a:off x="965200" y="2339249"/>
            <a:ext cx="2394585"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11</a:t>
            </a:r>
            <a:r>
              <a:rPr lang="en-US" sz="1300" dirty="0">
                <a:solidFill>
                  <a:srgbClr val="14213D"/>
                </a:solidFill>
                <a:latin typeface="Nunito Sans" pitchFamily="34" charset="0"/>
                <a:ea typeface="Nunito Sans" pitchFamily="34" charset="-122"/>
                <a:cs typeface="Nunito Sans" pitchFamily="34" charset="-120"/>
              </a:rPr>
              <a:t> · ₹100.555 (3 decimals)</a:t>
            </a:r>
            <a:endParaRPr lang="en-US" sz="1300" dirty="0"/>
          </a:p>
        </p:txBody>
      </p:sp>
      <p:sp>
        <p:nvSpPr>
          <p:cNvPr id="12" name="Text 10"/>
          <p:cNvSpPr/>
          <p:nvPr/>
        </p:nvSpPr>
        <p:spPr>
          <a:xfrm>
            <a:off x="5186601" y="2339249"/>
            <a:ext cx="756999" cy="256514"/>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5C9E"/>
                </a:solidFill>
                <a:latin typeface="Nunito Sans" pitchFamily="34" charset="0"/>
                <a:ea typeface="Nunito Sans" pitchFamily="34" charset="-122"/>
                <a:cs typeface="Nunito Sans" pitchFamily="34" charset="-120"/>
              </a:rPr>
              <a:t>Negative</a:t>
            </a:r>
            <a:endParaRPr lang="en-US" sz="1200" dirty="0"/>
          </a:p>
        </p:txBody>
      </p:sp>
      <p:sp>
        <p:nvSpPr>
          <p:cNvPr id="13" name="Shape 11"/>
          <p:cNvSpPr/>
          <p:nvPr/>
        </p:nvSpPr>
        <p:spPr>
          <a:xfrm>
            <a:off x="6096000" y="2237649"/>
            <a:ext cx="5283200" cy="434314"/>
          </a:xfrm>
          <a:prstGeom prst="roundRect">
            <a:avLst>
              <a:gd name="adj" fmla="val 14621"/>
            </a:avLst>
          </a:prstGeom>
          <a:solidFill>
            <a:srgbClr val="EEF2F7"/>
          </a:solidFill>
          <a:ln/>
        </p:spPr>
      </p:sp>
      <p:sp>
        <p:nvSpPr>
          <p:cNvPr id="14" name="Text 12"/>
          <p:cNvSpPr/>
          <p:nvPr/>
        </p:nvSpPr>
        <p:spPr>
          <a:xfrm>
            <a:off x="6248400" y="2339249"/>
            <a:ext cx="2302669"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12</a:t>
            </a:r>
            <a:r>
              <a:rPr lang="en-US" sz="1300" dirty="0">
                <a:solidFill>
                  <a:srgbClr val="14213D"/>
                </a:solidFill>
                <a:latin typeface="Nunito Sans" pitchFamily="34" charset="0"/>
                <a:ea typeface="Nunito Sans" pitchFamily="34" charset="-122"/>
                <a:cs typeface="Nunito Sans" pitchFamily="34" charset="-120"/>
              </a:rPr>
              <a:t> · To own same account</a:t>
            </a:r>
            <a:endParaRPr lang="en-US" sz="1300" dirty="0"/>
          </a:p>
        </p:txBody>
      </p:sp>
      <p:sp>
        <p:nvSpPr>
          <p:cNvPr id="15" name="Text 13"/>
          <p:cNvSpPr/>
          <p:nvPr/>
        </p:nvSpPr>
        <p:spPr>
          <a:xfrm>
            <a:off x="10469801" y="2339249"/>
            <a:ext cx="756999" cy="256514"/>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5C9E"/>
                </a:solidFill>
                <a:latin typeface="Nunito Sans" pitchFamily="34" charset="0"/>
                <a:ea typeface="Nunito Sans" pitchFamily="34" charset="-122"/>
                <a:cs typeface="Nunito Sans" pitchFamily="34" charset="-120"/>
              </a:rPr>
              <a:t>Negative</a:t>
            </a:r>
            <a:endParaRPr lang="en-US" sz="1200" dirty="0"/>
          </a:p>
        </p:txBody>
      </p:sp>
      <p:sp>
        <p:nvSpPr>
          <p:cNvPr id="16" name="Shape 14"/>
          <p:cNvSpPr/>
          <p:nvPr/>
        </p:nvSpPr>
        <p:spPr>
          <a:xfrm>
            <a:off x="812800" y="2671961"/>
            <a:ext cx="5283200" cy="434314"/>
          </a:xfrm>
          <a:prstGeom prst="roundRect">
            <a:avLst>
              <a:gd name="adj" fmla="val 14621"/>
            </a:avLst>
          </a:prstGeom>
          <a:solidFill>
            <a:srgbClr val="FBEBDD"/>
          </a:solidFill>
          <a:ln/>
        </p:spPr>
      </p:sp>
      <p:sp>
        <p:nvSpPr>
          <p:cNvPr id="17" name="Text 15"/>
          <p:cNvSpPr/>
          <p:nvPr/>
        </p:nvSpPr>
        <p:spPr>
          <a:xfrm>
            <a:off x="965200" y="2773561"/>
            <a:ext cx="219241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13</a:t>
            </a:r>
            <a:r>
              <a:rPr lang="en-US" sz="1300" dirty="0">
                <a:solidFill>
                  <a:srgbClr val="14213D"/>
                </a:solidFill>
                <a:latin typeface="Nunito Sans" pitchFamily="34" charset="0"/>
                <a:ea typeface="Nunito Sans" pitchFamily="34" charset="-122"/>
                <a:cs typeface="Nunito Sans" pitchFamily="34" charset="-120"/>
              </a:rPr>
              <a:t> · Double-click Submit</a:t>
            </a:r>
            <a:endParaRPr lang="en-US" sz="1300" dirty="0"/>
          </a:p>
        </p:txBody>
      </p:sp>
      <p:sp>
        <p:nvSpPr>
          <p:cNvPr id="18" name="Text 16"/>
          <p:cNvSpPr/>
          <p:nvPr/>
        </p:nvSpPr>
        <p:spPr>
          <a:xfrm>
            <a:off x="5115322" y="2773561"/>
            <a:ext cx="828278" cy="256514"/>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A14F0A"/>
                </a:solidFill>
                <a:latin typeface="Nunito Sans" pitchFamily="34" charset="0"/>
                <a:ea typeface="Nunito Sans" pitchFamily="34" charset="-122"/>
                <a:cs typeface="Nunito Sans" pitchFamily="34" charset="-120"/>
              </a:rPr>
              <a:t>Exception</a:t>
            </a:r>
            <a:endParaRPr lang="en-US" sz="1200" dirty="0"/>
          </a:p>
        </p:txBody>
      </p:sp>
      <p:sp>
        <p:nvSpPr>
          <p:cNvPr id="19" name="Shape 17"/>
          <p:cNvSpPr/>
          <p:nvPr/>
        </p:nvSpPr>
        <p:spPr>
          <a:xfrm>
            <a:off x="6096000" y="2671961"/>
            <a:ext cx="5283200" cy="434314"/>
          </a:xfrm>
          <a:prstGeom prst="roundRect">
            <a:avLst>
              <a:gd name="adj" fmla="val 14621"/>
            </a:avLst>
          </a:prstGeom>
          <a:solidFill>
            <a:srgbClr val="FBEBDD"/>
          </a:solidFill>
          <a:ln/>
        </p:spPr>
      </p:sp>
      <p:sp>
        <p:nvSpPr>
          <p:cNvPr id="20" name="Text 18"/>
          <p:cNvSpPr/>
          <p:nvPr/>
        </p:nvSpPr>
        <p:spPr>
          <a:xfrm>
            <a:off x="6248400" y="2773561"/>
            <a:ext cx="291790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14</a:t>
            </a:r>
            <a:r>
              <a:rPr lang="en-US" sz="1300" dirty="0">
                <a:solidFill>
                  <a:srgbClr val="14213D"/>
                </a:solidFill>
                <a:latin typeface="Nunito Sans" pitchFamily="34" charset="0"/>
                <a:ea typeface="Nunito Sans" pitchFamily="34" charset="-122"/>
                <a:cs typeface="Nunito Sans" pitchFamily="34" charset="-120"/>
              </a:rPr>
              <a:t> · Parallel tabs exceed balance</a:t>
            </a:r>
            <a:endParaRPr lang="en-US" sz="1300" dirty="0"/>
          </a:p>
        </p:txBody>
      </p:sp>
      <p:sp>
        <p:nvSpPr>
          <p:cNvPr id="21" name="Text 19"/>
          <p:cNvSpPr/>
          <p:nvPr/>
        </p:nvSpPr>
        <p:spPr>
          <a:xfrm>
            <a:off x="10172462" y="2773561"/>
            <a:ext cx="1054338" cy="256514"/>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A14F0A"/>
                </a:solidFill>
                <a:latin typeface="Nunito Sans" pitchFamily="34" charset="0"/>
                <a:ea typeface="Nunito Sans" pitchFamily="34" charset="-122"/>
                <a:cs typeface="Nunito Sans" pitchFamily="34" charset="-120"/>
              </a:rPr>
              <a:t>Concurrency</a:t>
            </a:r>
            <a:endParaRPr lang="en-US" sz="1200" dirty="0"/>
          </a:p>
        </p:txBody>
      </p:sp>
      <p:sp>
        <p:nvSpPr>
          <p:cNvPr id="22" name="Shape 20"/>
          <p:cNvSpPr/>
          <p:nvPr/>
        </p:nvSpPr>
        <p:spPr>
          <a:xfrm>
            <a:off x="812800" y="3106276"/>
            <a:ext cx="5283200" cy="434314"/>
          </a:xfrm>
          <a:prstGeom prst="roundRect">
            <a:avLst>
              <a:gd name="adj" fmla="val 14621"/>
            </a:avLst>
          </a:prstGeom>
          <a:solidFill>
            <a:srgbClr val="EEF2F7"/>
          </a:solidFill>
          <a:ln/>
        </p:spPr>
      </p:sp>
      <p:sp>
        <p:nvSpPr>
          <p:cNvPr id="23" name="Text 21"/>
          <p:cNvSpPr/>
          <p:nvPr/>
        </p:nvSpPr>
        <p:spPr>
          <a:xfrm>
            <a:off x="965200" y="3207876"/>
            <a:ext cx="2737565"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15</a:t>
            </a:r>
            <a:r>
              <a:rPr lang="en-US" sz="1300" dirty="0">
                <a:solidFill>
                  <a:srgbClr val="14213D"/>
                </a:solidFill>
                <a:latin typeface="Nunito Sans" pitchFamily="34" charset="0"/>
                <a:ea typeface="Nunito Sans" pitchFamily="34" charset="-122"/>
                <a:cs typeface="Nunito Sans" pitchFamily="34" charset="-120"/>
              </a:rPr>
              <a:t> · New payee, cooling period</a:t>
            </a:r>
            <a:endParaRPr lang="en-US" sz="1300" dirty="0"/>
          </a:p>
        </p:txBody>
      </p:sp>
      <p:sp>
        <p:nvSpPr>
          <p:cNvPr id="24" name="Text 22"/>
          <p:cNvSpPr/>
          <p:nvPr/>
        </p:nvSpPr>
        <p:spPr>
          <a:xfrm>
            <a:off x="4807903" y="3207876"/>
            <a:ext cx="1135698" cy="256514"/>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5C9E"/>
                </a:solidFill>
                <a:latin typeface="Nunito Sans" pitchFamily="34" charset="0"/>
                <a:ea typeface="Nunito Sans" pitchFamily="34" charset="-122"/>
                <a:cs typeface="Nunito Sans" pitchFamily="34" charset="-120"/>
              </a:rPr>
              <a:t>Business rule</a:t>
            </a:r>
            <a:endParaRPr lang="en-US" sz="1200" dirty="0"/>
          </a:p>
        </p:txBody>
      </p:sp>
      <p:sp>
        <p:nvSpPr>
          <p:cNvPr id="25" name="Shape 23"/>
          <p:cNvSpPr/>
          <p:nvPr/>
        </p:nvSpPr>
        <p:spPr>
          <a:xfrm>
            <a:off x="6096000" y="3106276"/>
            <a:ext cx="5283200" cy="434314"/>
          </a:xfrm>
          <a:prstGeom prst="roundRect">
            <a:avLst>
              <a:gd name="adj" fmla="val 14621"/>
            </a:avLst>
          </a:prstGeom>
          <a:solidFill>
            <a:srgbClr val="FBEBDD"/>
          </a:solidFill>
          <a:ln/>
        </p:spPr>
      </p:sp>
      <p:sp>
        <p:nvSpPr>
          <p:cNvPr id="26" name="Text 24"/>
          <p:cNvSpPr/>
          <p:nvPr/>
        </p:nvSpPr>
        <p:spPr>
          <a:xfrm>
            <a:off x="6248400" y="3207876"/>
            <a:ext cx="2382599"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16</a:t>
            </a:r>
            <a:r>
              <a:rPr lang="en-US" sz="1300" dirty="0">
                <a:solidFill>
                  <a:srgbClr val="14213D"/>
                </a:solidFill>
                <a:latin typeface="Nunito Sans" pitchFamily="34" charset="0"/>
                <a:ea typeface="Nunito Sans" pitchFamily="34" charset="-122"/>
                <a:cs typeface="Nunito Sans" pitchFamily="34" charset="-120"/>
              </a:rPr>
              <a:t> · Wrong or expired OTP</a:t>
            </a:r>
            <a:endParaRPr lang="en-US" sz="1300" dirty="0"/>
          </a:p>
        </p:txBody>
      </p:sp>
      <p:sp>
        <p:nvSpPr>
          <p:cNvPr id="27" name="Text 25"/>
          <p:cNvSpPr/>
          <p:nvPr/>
        </p:nvSpPr>
        <p:spPr>
          <a:xfrm>
            <a:off x="10533856" y="3207876"/>
            <a:ext cx="692944" cy="256514"/>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A14F0A"/>
                </a:solidFill>
                <a:latin typeface="Nunito Sans" pitchFamily="34" charset="0"/>
                <a:ea typeface="Nunito Sans" pitchFamily="34" charset="-122"/>
                <a:cs typeface="Nunito Sans" pitchFamily="34" charset="-120"/>
              </a:rPr>
              <a:t>Security</a:t>
            </a:r>
            <a:endParaRPr lang="en-US" sz="1200" dirty="0"/>
          </a:p>
        </p:txBody>
      </p:sp>
      <p:sp>
        <p:nvSpPr>
          <p:cNvPr id="28" name="Shape 26"/>
          <p:cNvSpPr/>
          <p:nvPr/>
        </p:nvSpPr>
        <p:spPr>
          <a:xfrm>
            <a:off x="812800" y="3540590"/>
            <a:ext cx="5283200" cy="434314"/>
          </a:xfrm>
          <a:prstGeom prst="roundRect">
            <a:avLst>
              <a:gd name="adj" fmla="val 14621"/>
            </a:avLst>
          </a:prstGeom>
          <a:solidFill>
            <a:srgbClr val="EEF2F7"/>
          </a:solidFill>
          <a:ln/>
        </p:spPr>
      </p:sp>
      <p:sp>
        <p:nvSpPr>
          <p:cNvPr id="29" name="Text 27"/>
          <p:cNvSpPr/>
          <p:nvPr/>
        </p:nvSpPr>
        <p:spPr>
          <a:xfrm>
            <a:off x="965200" y="3642190"/>
            <a:ext cx="248912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17</a:t>
            </a:r>
            <a:r>
              <a:rPr lang="en-US" sz="1300" dirty="0">
                <a:solidFill>
                  <a:srgbClr val="14213D"/>
                </a:solidFill>
                <a:latin typeface="Nunito Sans" pitchFamily="34" charset="0"/>
                <a:ea typeface="Nunito Sans" pitchFamily="34" charset="-122"/>
                <a:cs typeface="Nunito Sans" pitchFamily="34" charset="-120"/>
              </a:rPr>
              <a:t> · Both statements + SMS</a:t>
            </a:r>
            <a:endParaRPr lang="en-US" sz="1300" dirty="0"/>
          </a:p>
        </p:txBody>
      </p:sp>
      <p:sp>
        <p:nvSpPr>
          <p:cNvPr id="30" name="Text 28"/>
          <p:cNvSpPr/>
          <p:nvPr/>
        </p:nvSpPr>
        <p:spPr>
          <a:xfrm>
            <a:off x="4962922" y="3642190"/>
            <a:ext cx="980678" cy="256514"/>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5C9E"/>
                </a:solidFill>
                <a:latin typeface="Nunito Sans" pitchFamily="34" charset="0"/>
                <a:ea typeface="Nunito Sans" pitchFamily="34" charset="-122"/>
                <a:cs typeface="Nunito Sans" pitchFamily="34" charset="-120"/>
              </a:rPr>
              <a:t>End-to-end</a:t>
            </a:r>
            <a:endParaRPr lang="en-US" sz="1200" dirty="0"/>
          </a:p>
        </p:txBody>
      </p:sp>
      <p:sp>
        <p:nvSpPr>
          <p:cNvPr id="31" name="Shape 29"/>
          <p:cNvSpPr/>
          <p:nvPr/>
        </p:nvSpPr>
        <p:spPr>
          <a:xfrm>
            <a:off x="6096000" y="3540590"/>
            <a:ext cx="5283200" cy="434314"/>
          </a:xfrm>
          <a:prstGeom prst="roundRect">
            <a:avLst>
              <a:gd name="adj" fmla="val 14621"/>
            </a:avLst>
          </a:prstGeom>
          <a:solidFill>
            <a:srgbClr val="FBEBDD"/>
          </a:solidFill>
          <a:ln/>
        </p:spPr>
      </p:sp>
      <p:sp>
        <p:nvSpPr>
          <p:cNvPr id="32" name="Text 30"/>
          <p:cNvSpPr/>
          <p:nvPr/>
        </p:nvSpPr>
        <p:spPr>
          <a:xfrm>
            <a:off x="6248400" y="3642190"/>
            <a:ext cx="317158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18</a:t>
            </a:r>
            <a:r>
              <a:rPr lang="en-US" sz="1300" dirty="0">
                <a:solidFill>
                  <a:srgbClr val="14213D"/>
                </a:solidFill>
                <a:latin typeface="Nunito Sans" pitchFamily="34" charset="0"/>
                <a:ea typeface="Nunito Sans" pitchFamily="34" charset="-122"/>
                <a:cs typeface="Nunito Sans" pitchFamily="34" charset="-120"/>
              </a:rPr>
              <a:t> · URL tampering, other's account</a:t>
            </a:r>
            <a:endParaRPr lang="en-US" sz="1300" dirty="0"/>
          </a:p>
        </p:txBody>
      </p:sp>
      <p:sp>
        <p:nvSpPr>
          <p:cNvPr id="33" name="Text 31"/>
          <p:cNvSpPr/>
          <p:nvPr/>
        </p:nvSpPr>
        <p:spPr>
          <a:xfrm>
            <a:off x="10533856" y="3642190"/>
            <a:ext cx="692944" cy="256514"/>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A14F0A"/>
                </a:solidFill>
                <a:latin typeface="Nunito Sans" pitchFamily="34" charset="0"/>
                <a:ea typeface="Nunito Sans" pitchFamily="34" charset="-122"/>
                <a:cs typeface="Nunito Sans" pitchFamily="34" charset="-120"/>
              </a:rPr>
              <a:t>Security</a:t>
            </a:r>
            <a:endParaRPr lang="en-US" sz="1200" dirty="0"/>
          </a:p>
        </p:txBody>
      </p:sp>
      <p:sp>
        <p:nvSpPr>
          <p:cNvPr id="34" name="Text 32"/>
          <p:cNvSpPr/>
          <p:nvPr/>
        </p:nvSpPr>
        <p:spPr>
          <a:xfrm>
            <a:off x="812800" y="4228902"/>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Nunito Sans" pitchFamily="34" charset="0"/>
                <a:ea typeface="Nunito Sans" pitchFamily="34" charset="-122"/>
                <a:cs typeface="Nunito Sans" pitchFamily="34" charset="-120"/>
              </a:rPr>
              <a:t>No amount of test-case detail makes up for a scenario you never thought of.</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IDENTIFICATION TECHNIQUES · 1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Find scenarios systematically, not randomly</a:t>
            </a:r>
            <a:endParaRPr lang="en-US" sz="3200" dirty="0"/>
          </a:p>
        </p:txBody>
      </p:sp>
      <p:sp>
        <p:nvSpPr>
          <p:cNvPr id="4" name="Shape 2"/>
          <p:cNvSpPr/>
          <p:nvPr/>
        </p:nvSpPr>
        <p:spPr>
          <a:xfrm>
            <a:off x="812800" y="1854135"/>
            <a:ext cx="5181600" cy="1266164"/>
          </a:xfrm>
          <a:prstGeom prst="roundRect">
            <a:avLst>
              <a:gd name="adj" fmla="val 8024"/>
            </a:avLst>
          </a:prstGeom>
          <a:solidFill>
            <a:srgbClr val="EEF2F7"/>
          </a:solidFill>
          <a:ln/>
        </p:spPr>
      </p:sp>
      <p:pic>
        <p:nvPicPr>
          <p:cNvPr id="5" name="Image 0" descr="CheckCircle"/>
          <p:cNvPicPr>
            <a:picLocks noChangeAspect="1"/>
          </p:cNvPicPr>
          <p:nvPr/>
        </p:nvPicPr>
        <p:blipFill>
          <a:blip r:embed="rId3"/>
          <a:srcRect/>
          <a:stretch/>
        </p:blipFill>
        <p:spPr>
          <a:xfrm>
            <a:off x="1041400" y="2082735"/>
            <a:ext cx="254000" cy="254000"/>
          </a:xfrm>
          <a:prstGeom prst="rect">
            <a:avLst/>
          </a:prstGeom>
        </p:spPr>
      </p:pic>
      <p:sp>
        <p:nvSpPr>
          <p:cNvPr id="6" name="Text 3"/>
          <p:cNvSpPr/>
          <p:nvPr/>
        </p:nvSpPr>
        <p:spPr>
          <a:xfrm>
            <a:off x="1397000" y="2087829"/>
            <a:ext cx="1894999"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AC walkthrough</a:t>
            </a:r>
            <a:endParaRPr lang="en-US" sz="1600" dirty="0"/>
          </a:p>
        </p:txBody>
      </p:sp>
      <p:sp>
        <p:nvSpPr>
          <p:cNvPr id="7" name="Text 4"/>
          <p:cNvSpPr/>
          <p:nvPr/>
        </p:nvSpPr>
        <p:spPr>
          <a:xfrm>
            <a:off x="1041400" y="2412935"/>
            <a:ext cx="4866132"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A5C"/>
                </a:solidFill>
                <a:latin typeface="Nunito Sans" pitchFamily="34" charset="0"/>
                <a:ea typeface="Nunito Sans" pitchFamily="34" charset="-122"/>
                <a:cs typeface="Nunito Sans" pitchFamily="34" charset="-120"/>
              </a:rPr>
              <a:t>For each acceptance criterion, write at least one positive and one negative scenario.</a:t>
            </a:r>
            <a:endParaRPr lang="en-US" sz="1300" dirty="0"/>
          </a:p>
        </p:txBody>
      </p:sp>
      <p:sp>
        <p:nvSpPr>
          <p:cNvPr id="8" name="Shape 5"/>
          <p:cNvSpPr/>
          <p:nvPr/>
        </p:nvSpPr>
        <p:spPr>
          <a:xfrm>
            <a:off x="6197600" y="1854135"/>
            <a:ext cx="5181600" cy="1266164"/>
          </a:xfrm>
          <a:prstGeom prst="roundRect">
            <a:avLst>
              <a:gd name="adj" fmla="val 8024"/>
            </a:avLst>
          </a:prstGeom>
          <a:solidFill>
            <a:srgbClr val="EEF2F7"/>
          </a:solidFill>
          <a:ln/>
        </p:spPr>
      </p:sp>
      <p:pic>
        <p:nvPicPr>
          <p:cNvPr id="9" name="Image 1" descr="PaperPlane"/>
          <p:cNvPicPr>
            <a:picLocks noChangeAspect="1"/>
          </p:cNvPicPr>
          <p:nvPr/>
        </p:nvPicPr>
        <p:blipFill>
          <a:blip r:embed="rId4"/>
          <a:srcRect/>
          <a:stretch/>
        </p:blipFill>
        <p:spPr>
          <a:xfrm>
            <a:off x="6426200" y="2082735"/>
            <a:ext cx="254000" cy="254000"/>
          </a:xfrm>
          <a:prstGeom prst="rect">
            <a:avLst/>
          </a:prstGeom>
        </p:spPr>
      </p:pic>
      <p:sp>
        <p:nvSpPr>
          <p:cNvPr id="10" name="Text 6"/>
          <p:cNvSpPr/>
          <p:nvPr/>
        </p:nvSpPr>
        <p:spPr>
          <a:xfrm>
            <a:off x="6781800" y="2087829"/>
            <a:ext cx="2595642"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Use case flow analysis</a:t>
            </a:r>
            <a:endParaRPr lang="en-US" sz="1600" dirty="0"/>
          </a:p>
        </p:txBody>
      </p:sp>
      <p:sp>
        <p:nvSpPr>
          <p:cNvPr id="11" name="Text 7"/>
          <p:cNvSpPr/>
          <p:nvPr/>
        </p:nvSpPr>
        <p:spPr>
          <a:xfrm>
            <a:off x="6426200" y="2412935"/>
            <a:ext cx="4866132"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A5C"/>
                </a:solidFill>
                <a:latin typeface="Nunito Sans" pitchFamily="34" charset="0"/>
                <a:ea typeface="Nunito Sans" pitchFamily="34" charset="-122"/>
                <a:cs typeface="Nunito Sans" pitchFamily="34" charset="-120"/>
              </a:rPr>
              <a:t>One scenario per main flow, per alternate flow and per exception flow (Chapter 3).</a:t>
            </a:r>
            <a:endParaRPr lang="en-US" sz="1300" dirty="0"/>
          </a:p>
        </p:txBody>
      </p:sp>
      <p:sp>
        <p:nvSpPr>
          <p:cNvPr id="12" name="Shape 8"/>
          <p:cNvSpPr/>
          <p:nvPr/>
        </p:nvSpPr>
        <p:spPr>
          <a:xfrm>
            <a:off x="812800" y="3323499"/>
            <a:ext cx="5181600" cy="1266164"/>
          </a:xfrm>
          <a:prstGeom prst="roundRect">
            <a:avLst>
              <a:gd name="adj" fmla="val 8024"/>
            </a:avLst>
          </a:prstGeom>
          <a:solidFill>
            <a:srgbClr val="EEF2F7"/>
          </a:solidFill>
          <a:ln/>
        </p:spPr>
      </p:sp>
      <p:pic>
        <p:nvPicPr>
          <p:cNvPr id="13" name="Image 2" descr="Database"/>
          <p:cNvPicPr>
            <a:picLocks noChangeAspect="1"/>
          </p:cNvPicPr>
          <p:nvPr/>
        </p:nvPicPr>
        <p:blipFill>
          <a:blip r:embed="rId5"/>
          <a:srcRect/>
          <a:stretch/>
        </p:blipFill>
        <p:spPr>
          <a:xfrm>
            <a:off x="1041400" y="3552099"/>
            <a:ext cx="254000" cy="254000"/>
          </a:xfrm>
          <a:prstGeom prst="rect">
            <a:avLst/>
          </a:prstGeom>
        </p:spPr>
      </p:pic>
      <p:sp>
        <p:nvSpPr>
          <p:cNvPr id="14" name="Text 9"/>
          <p:cNvSpPr/>
          <p:nvPr/>
        </p:nvSpPr>
        <p:spPr>
          <a:xfrm>
            <a:off x="1397000" y="3557191"/>
            <a:ext cx="259167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Input analysis + CRUD</a:t>
            </a:r>
            <a:endParaRPr lang="en-US" sz="1600" dirty="0"/>
          </a:p>
        </p:txBody>
      </p:sp>
      <p:sp>
        <p:nvSpPr>
          <p:cNvPr id="15" name="Text 10"/>
          <p:cNvSpPr/>
          <p:nvPr/>
        </p:nvSpPr>
        <p:spPr>
          <a:xfrm>
            <a:off x="1041400" y="3882299"/>
            <a:ext cx="4866132"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A5C"/>
                </a:solidFill>
                <a:latin typeface="Nunito Sans" pitchFamily="34" charset="0"/>
                <a:ea typeface="Nunito Sans" pitchFamily="34" charset="-122"/>
                <a:cs typeface="Nunito Sans" pitchFamily="34" charset="-120"/>
              </a:rPr>
              <a:t>Each field: valid, invalid, empty, boundary, format, length, special characters. Each entity: Create, Read, Update, Delete.</a:t>
            </a:r>
            <a:endParaRPr lang="en-US" sz="1300" dirty="0"/>
          </a:p>
        </p:txBody>
      </p:sp>
      <p:sp>
        <p:nvSpPr>
          <p:cNvPr id="16" name="Shape 11"/>
          <p:cNvSpPr/>
          <p:nvPr/>
        </p:nvSpPr>
        <p:spPr>
          <a:xfrm>
            <a:off x="6197600" y="3323499"/>
            <a:ext cx="5181600" cy="1266164"/>
          </a:xfrm>
          <a:prstGeom prst="roundRect">
            <a:avLst>
              <a:gd name="adj" fmla="val 8024"/>
            </a:avLst>
          </a:prstGeom>
          <a:solidFill>
            <a:srgbClr val="EEF2F7"/>
          </a:solidFill>
          <a:ln/>
        </p:spPr>
      </p:sp>
      <p:pic>
        <p:nvPicPr>
          <p:cNvPr id="17" name="Image 3" descr="Users"/>
          <p:cNvPicPr>
            <a:picLocks noChangeAspect="1"/>
          </p:cNvPicPr>
          <p:nvPr/>
        </p:nvPicPr>
        <p:blipFill>
          <a:blip r:embed="rId6"/>
          <a:srcRect/>
          <a:stretch/>
        </p:blipFill>
        <p:spPr>
          <a:xfrm>
            <a:off x="6426200" y="3552099"/>
            <a:ext cx="254000" cy="254000"/>
          </a:xfrm>
          <a:prstGeom prst="rect">
            <a:avLst/>
          </a:prstGeom>
        </p:spPr>
      </p:pic>
      <p:sp>
        <p:nvSpPr>
          <p:cNvPr id="18" name="Text 12"/>
          <p:cNvSpPr/>
          <p:nvPr/>
        </p:nvSpPr>
        <p:spPr>
          <a:xfrm>
            <a:off x="6781800" y="3557191"/>
            <a:ext cx="205430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User role analysis</a:t>
            </a:r>
            <a:endParaRPr lang="en-US" sz="1600" dirty="0"/>
          </a:p>
        </p:txBody>
      </p:sp>
      <p:sp>
        <p:nvSpPr>
          <p:cNvPr id="19" name="Text 13"/>
          <p:cNvSpPr/>
          <p:nvPr/>
        </p:nvSpPr>
        <p:spPr>
          <a:xfrm>
            <a:off x="6426200" y="3882299"/>
            <a:ext cx="4866132"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A5C"/>
                </a:solidFill>
                <a:latin typeface="Nunito Sans" pitchFamily="34" charset="0"/>
                <a:ea typeface="Nunito Sans" pitchFamily="34" charset="-122"/>
                <a:cs typeface="Nunito Sans" pitchFamily="34" charset="-120"/>
              </a:rPr>
              <a:t>How does it behave for a guest, customer, premium customer, admin, blocked user?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IDENTIFICATION TECHNIQUES · 2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States, guesses and touchpoints</a:t>
            </a:r>
            <a:endParaRPr lang="en-US" sz="3200" dirty="0"/>
          </a:p>
        </p:txBody>
      </p:sp>
      <p:sp>
        <p:nvSpPr>
          <p:cNvPr id="4" name="Shape 2"/>
          <p:cNvSpPr/>
          <p:nvPr/>
        </p:nvSpPr>
        <p:spPr>
          <a:xfrm>
            <a:off x="812800" y="1854138"/>
            <a:ext cx="5181600" cy="1266164"/>
          </a:xfrm>
          <a:prstGeom prst="roundRect">
            <a:avLst>
              <a:gd name="adj" fmla="val 8024"/>
            </a:avLst>
          </a:prstGeom>
          <a:solidFill>
            <a:srgbClr val="EEF2F7"/>
          </a:solidFill>
          <a:ln/>
        </p:spPr>
      </p:sp>
      <p:pic>
        <p:nvPicPr>
          <p:cNvPr id="5" name="Image 0" descr="Key"/>
          <p:cNvPicPr>
            <a:picLocks noChangeAspect="1"/>
          </p:cNvPicPr>
          <p:nvPr/>
        </p:nvPicPr>
        <p:blipFill>
          <a:blip r:embed="rId3"/>
          <a:srcRect/>
          <a:stretch/>
        </p:blipFill>
        <p:spPr>
          <a:xfrm>
            <a:off x="1041400" y="2082738"/>
            <a:ext cx="254000" cy="254000"/>
          </a:xfrm>
          <a:prstGeom prst="rect">
            <a:avLst/>
          </a:prstGeom>
        </p:spPr>
      </p:pic>
      <p:sp>
        <p:nvSpPr>
          <p:cNvPr id="6" name="Text 3"/>
          <p:cNvSpPr/>
          <p:nvPr/>
        </p:nvSpPr>
        <p:spPr>
          <a:xfrm>
            <a:off x="1397000" y="2087829"/>
            <a:ext cx="243625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State-based thinking</a:t>
            </a:r>
            <a:endParaRPr lang="en-US" sz="1600" dirty="0"/>
          </a:p>
        </p:txBody>
      </p:sp>
      <p:sp>
        <p:nvSpPr>
          <p:cNvPr id="7" name="Text 4"/>
          <p:cNvSpPr/>
          <p:nvPr/>
        </p:nvSpPr>
        <p:spPr>
          <a:xfrm>
            <a:off x="1041400" y="2412938"/>
            <a:ext cx="4866132"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A5C"/>
                </a:solidFill>
                <a:latin typeface="Nunito Sans" pitchFamily="34" charset="0"/>
                <a:ea typeface="Nunito Sans" pitchFamily="34" charset="-122"/>
                <a:cs typeface="Nunito Sans" pitchFamily="34" charset="-120"/>
              </a:rPr>
              <a:t>Created → Paid → Shipped → Delivered → Cancelled. Test valid transitions; try the invalid ones.</a:t>
            </a:r>
            <a:endParaRPr lang="en-US" sz="1300" dirty="0"/>
          </a:p>
        </p:txBody>
      </p:sp>
      <p:sp>
        <p:nvSpPr>
          <p:cNvPr id="8" name="Shape 5"/>
          <p:cNvSpPr/>
          <p:nvPr/>
        </p:nvSpPr>
        <p:spPr>
          <a:xfrm>
            <a:off x="6197600" y="1854138"/>
            <a:ext cx="5181600" cy="1266164"/>
          </a:xfrm>
          <a:prstGeom prst="roundRect">
            <a:avLst>
              <a:gd name="adj" fmla="val 8024"/>
            </a:avLst>
          </a:prstGeom>
          <a:solidFill>
            <a:srgbClr val="FBEBDD"/>
          </a:solidFill>
          <a:ln/>
        </p:spPr>
      </p:sp>
      <p:pic>
        <p:nvPicPr>
          <p:cNvPr id="9" name="Image 1" descr="Lightbulb"/>
          <p:cNvPicPr>
            <a:picLocks noChangeAspect="1"/>
          </p:cNvPicPr>
          <p:nvPr/>
        </p:nvPicPr>
        <p:blipFill>
          <a:blip r:embed="rId4"/>
          <a:srcRect/>
          <a:stretch/>
        </p:blipFill>
        <p:spPr>
          <a:xfrm>
            <a:off x="6426200" y="2082738"/>
            <a:ext cx="254000" cy="254000"/>
          </a:xfrm>
          <a:prstGeom prst="rect">
            <a:avLst/>
          </a:prstGeom>
        </p:spPr>
      </p:pic>
      <p:sp>
        <p:nvSpPr>
          <p:cNvPr id="10" name="Text 6"/>
          <p:cNvSpPr/>
          <p:nvPr/>
        </p:nvSpPr>
        <p:spPr>
          <a:xfrm>
            <a:off x="6781800" y="2087829"/>
            <a:ext cx="3128248"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“What if?” / error guessing</a:t>
            </a:r>
            <a:endParaRPr lang="en-US" sz="1600" dirty="0"/>
          </a:p>
        </p:txBody>
      </p:sp>
      <p:sp>
        <p:nvSpPr>
          <p:cNvPr id="11" name="Text 7"/>
          <p:cNvSpPr/>
          <p:nvPr/>
        </p:nvSpPr>
        <p:spPr>
          <a:xfrm>
            <a:off x="6426200" y="2412938"/>
            <a:ext cx="4866132"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A5C"/>
                </a:solidFill>
                <a:latin typeface="Nunito Sans" pitchFamily="34" charset="0"/>
                <a:ea typeface="Nunito Sans" pitchFamily="34" charset="-122"/>
                <a:cs typeface="Nunito Sans" pitchFamily="34" charset="-120"/>
              </a:rPr>
              <a:t>Double-click, Back, refresh on submit, timeout, slow network, pasted spaces, emoji, huge numbers.</a:t>
            </a:r>
            <a:endParaRPr lang="en-US" sz="1300" dirty="0"/>
          </a:p>
        </p:txBody>
      </p:sp>
      <p:sp>
        <p:nvSpPr>
          <p:cNvPr id="12" name="Shape 8"/>
          <p:cNvSpPr/>
          <p:nvPr/>
        </p:nvSpPr>
        <p:spPr>
          <a:xfrm>
            <a:off x="812800" y="3323499"/>
            <a:ext cx="5181600" cy="1266164"/>
          </a:xfrm>
          <a:prstGeom prst="roundRect">
            <a:avLst>
              <a:gd name="adj" fmla="val 8024"/>
            </a:avLst>
          </a:prstGeom>
          <a:solidFill>
            <a:srgbClr val="EEF2F7"/>
          </a:solidFill>
          <a:ln/>
        </p:spPr>
      </p:sp>
      <p:pic>
        <p:nvPicPr>
          <p:cNvPr id="13" name="Image 2" descr="Globe"/>
          <p:cNvPicPr>
            <a:picLocks noChangeAspect="1"/>
          </p:cNvPicPr>
          <p:nvPr/>
        </p:nvPicPr>
        <p:blipFill>
          <a:blip r:embed="rId5"/>
          <a:srcRect/>
          <a:stretch/>
        </p:blipFill>
        <p:spPr>
          <a:xfrm>
            <a:off x="1041400" y="3552099"/>
            <a:ext cx="254000" cy="254000"/>
          </a:xfrm>
          <a:prstGeom prst="rect">
            <a:avLst/>
          </a:prstGeom>
        </p:spPr>
      </p:pic>
      <p:sp>
        <p:nvSpPr>
          <p:cNvPr id="14" name="Text 9"/>
          <p:cNvSpPr/>
          <p:nvPr/>
        </p:nvSpPr>
        <p:spPr>
          <a:xfrm>
            <a:off x="1397000" y="3557191"/>
            <a:ext cx="272153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Integration touchpoints</a:t>
            </a:r>
            <a:endParaRPr lang="en-US" sz="1600" dirty="0"/>
          </a:p>
        </p:txBody>
      </p:sp>
      <p:sp>
        <p:nvSpPr>
          <p:cNvPr id="15" name="Text 10"/>
          <p:cNvSpPr/>
          <p:nvPr/>
        </p:nvSpPr>
        <p:spPr>
          <a:xfrm>
            <a:off x="1041400" y="3882299"/>
            <a:ext cx="4866132"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A5C"/>
                </a:solidFill>
                <a:latin typeface="Nunito Sans" pitchFamily="34" charset="0"/>
                <a:ea typeface="Nunito Sans" pitchFamily="34" charset="-122"/>
                <a:cs typeface="Nunito Sans" pitchFamily="34" charset="-120"/>
              </a:rPr>
              <a:t>Payment, email, SMS, inventory. What if that system is slow, down or returns an error?</a:t>
            </a:r>
            <a:endParaRPr lang="en-US" sz="1300" dirty="0"/>
          </a:p>
        </p:txBody>
      </p:sp>
      <p:sp>
        <p:nvSpPr>
          <p:cNvPr id="16" name="Shape 11"/>
          <p:cNvSpPr/>
          <p:nvPr/>
        </p:nvSpPr>
        <p:spPr>
          <a:xfrm>
            <a:off x="6197600" y="3323499"/>
            <a:ext cx="5181600" cy="1266164"/>
          </a:xfrm>
          <a:prstGeom prst="roundRect">
            <a:avLst>
              <a:gd name="adj" fmla="val 8024"/>
            </a:avLst>
          </a:prstGeom>
          <a:solidFill>
            <a:srgbClr val="EEF2F7"/>
          </a:solidFill>
          <a:ln/>
        </p:spPr>
      </p:sp>
      <p:pic>
        <p:nvPicPr>
          <p:cNvPr id="17" name="Image 3" descr="Lightning"/>
          <p:cNvPicPr>
            <a:picLocks noChangeAspect="1"/>
          </p:cNvPicPr>
          <p:nvPr/>
        </p:nvPicPr>
        <p:blipFill>
          <a:blip r:embed="rId6"/>
          <a:srcRect/>
          <a:stretch/>
        </p:blipFill>
        <p:spPr>
          <a:xfrm>
            <a:off x="6426200" y="3552099"/>
            <a:ext cx="254000" cy="254000"/>
          </a:xfrm>
          <a:prstGeom prst="rect">
            <a:avLst/>
          </a:prstGeom>
        </p:spPr>
      </p:pic>
      <p:sp>
        <p:nvSpPr>
          <p:cNvPr id="18" name="Text 12"/>
          <p:cNvSpPr/>
          <p:nvPr/>
        </p:nvSpPr>
        <p:spPr>
          <a:xfrm>
            <a:off x="6781800" y="3557191"/>
            <a:ext cx="126190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Mind maps</a:t>
            </a:r>
            <a:endParaRPr lang="en-US" sz="1600" dirty="0"/>
          </a:p>
        </p:txBody>
      </p:sp>
      <p:sp>
        <p:nvSpPr>
          <p:cNvPr id="19" name="Text 13"/>
          <p:cNvSpPr/>
          <p:nvPr/>
        </p:nvSpPr>
        <p:spPr>
          <a:xfrm>
            <a:off x="6426200" y="3882299"/>
            <a:ext cx="4866132"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A5C"/>
                </a:solidFill>
                <a:latin typeface="Nunito Sans" pitchFamily="34" charset="0"/>
                <a:ea typeface="Nunito Sans" pitchFamily="34" charset="-122"/>
                <a:cs typeface="Nunito Sans" pitchFamily="34" charset="-120"/>
              </a:rPr>
              <a:t>Feature at the centre; branches for inputs, roles, flows, integrations. Every leaf is a scenario.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MIND MAP</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Every leaf becomes a scenario</a:t>
            </a:r>
            <a:endParaRPr lang="en-US" sz="3200" dirty="0"/>
          </a:p>
        </p:txBody>
      </p:sp>
      <p:sp>
        <p:nvSpPr>
          <p:cNvPr id="4" name="Text 2"/>
          <p:cNvSpPr/>
          <p:nvPr/>
        </p:nvSpPr>
        <p:spPr>
          <a:xfrm>
            <a:off x="812800" y="2997138"/>
            <a:ext cx="1905000" cy="1905000"/>
          </a:xfrm>
          <a:custGeom>
            <a:avLst/>
            <a:gdLst/>
            <a:ahLst/>
            <a:cxnLst/>
            <a:rect l="l" t="t" r="r" b="b"/>
            <a:pathLst>
              <a:path w="1905000" h="1905000">
                <a:moveTo>
                  <a:pt x="952500" y="0"/>
                </a:moveTo>
                <a:lnTo>
                  <a:pt x="952500" y="0"/>
                </a:lnTo>
                <a:arcTo wR="952500" hR="952500" stAng="16200000" swAng="5400000"/>
                <a:lnTo>
                  <a:pt x="1905000" y="952500"/>
                </a:lnTo>
                <a:arcTo wR="952500" hR="952500" stAng="0" swAng="5400000"/>
                <a:lnTo>
                  <a:pt x="952500" y="1905000"/>
                </a:lnTo>
                <a:arcTo wR="952500" hR="952500" stAng="5400000" swAng="5400000"/>
                <a:lnTo>
                  <a:pt x="0" y="952500"/>
                </a:lnTo>
                <a:arcTo wR="952500" hR="952500" stAng="10800000" swAng="5400000"/>
                <a:close/>
              </a:path>
            </a:pathLst>
          </a:custGeom>
          <a:solidFill>
            <a:srgbClr val="F0A04B"/>
          </a:solidFill>
          <a:ln/>
        </p:spPr>
        <p:txBody>
          <a:bodyPr wrap="square" lIns="177800" tIns="203200" rIns="177800" bIns="203200" rtlCol="0" anchor="ctr">
            <a:normAutofit/>
          </a:bodyPr>
          <a:lstStyle/>
          <a:p>
            <a:pPr marL="0" indent="0" algn="ctr">
              <a:lnSpc>
                <a:spcPts val="2400"/>
              </a:lnSpc>
              <a:buNone/>
            </a:pPr>
            <a:r>
              <a:rPr lang="en-US" sz="2000" b="1" dirty="0">
                <a:solidFill>
                  <a:srgbClr val="14213D"/>
                </a:solidFill>
                <a:latin typeface="Domine" pitchFamily="18" charset="0"/>
                <a:ea typeface="Domine" pitchFamily="18" charset="-122"/>
                <a:cs typeface="Domine" pitchFamily="18" charset="-120"/>
              </a:rPr>
              <a:t>Fund transfer</a:t>
            </a:r>
            <a:endParaRPr lang="en-US" sz="2000" dirty="0"/>
          </a:p>
        </p:txBody>
      </p:sp>
      <p:sp>
        <p:nvSpPr>
          <p:cNvPr id="5" name="Shape 3"/>
          <p:cNvSpPr/>
          <p:nvPr/>
        </p:nvSpPr>
        <p:spPr>
          <a:xfrm>
            <a:off x="2971800" y="1854138"/>
            <a:ext cx="38100" cy="4191066"/>
          </a:xfrm>
          <a:prstGeom prst="roundRect">
            <a:avLst>
              <a:gd name="adj" fmla="val 50000"/>
            </a:avLst>
          </a:prstGeom>
          <a:solidFill>
            <a:srgbClr val="F0A04B"/>
          </a:solidFill>
          <a:ln/>
        </p:spPr>
      </p:sp>
      <p:sp>
        <p:nvSpPr>
          <p:cNvPr id="6" name="Shape 4"/>
          <p:cNvSpPr/>
          <p:nvPr/>
        </p:nvSpPr>
        <p:spPr>
          <a:xfrm>
            <a:off x="3263900" y="2552700"/>
            <a:ext cx="8115300" cy="477507"/>
          </a:xfrm>
          <a:prstGeom prst="roundRect">
            <a:avLst>
              <a:gd name="adj" fmla="val 15958"/>
            </a:avLst>
          </a:prstGeom>
          <a:solidFill>
            <a:srgbClr val="24345A"/>
          </a:solidFill>
          <a:ln/>
        </p:spPr>
      </p:sp>
      <p:sp>
        <p:nvSpPr>
          <p:cNvPr id="7" name="Text 5"/>
          <p:cNvSpPr/>
          <p:nvPr/>
        </p:nvSpPr>
        <p:spPr>
          <a:xfrm>
            <a:off x="3441700" y="2667000"/>
            <a:ext cx="14478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04B"/>
                </a:solidFill>
                <a:latin typeface="Nunito Sans" pitchFamily="34" charset="0"/>
                <a:ea typeface="Nunito Sans" pitchFamily="34" charset="-122"/>
                <a:cs typeface="Nunito Sans" pitchFamily="34" charset="-120"/>
              </a:rPr>
              <a:t>Amount</a:t>
            </a:r>
            <a:endParaRPr lang="en-US" sz="1400" dirty="0"/>
          </a:p>
        </p:txBody>
      </p:sp>
      <p:sp>
        <p:nvSpPr>
          <p:cNvPr id="8" name="Text 6"/>
          <p:cNvSpPr/>
          <p:nvPr/>
        </p:nvSpPr>
        <p:spPr>
          <a:xfrm>
            <a:off x="4991100" y="2675868"/>
            <a:ext cx="500324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Valid · zero · negative · decimals · &gt; balance · &gt; daily limit</a:t>
            </a:r>
            <a:endParaRPr lang="en-US" sz="1300" dirty="0"/>
          </a:p>
        </p:txBody>
      </p:sp>
      <p:sp>
        <p:nvSpPr>
          <p:cNvPr id="9" name="Shape 7"/>
          <p:cNvSpPr/>
          <p:nvPr/>
        </p:nvSpPr>
        <p:spPr>
          <a:xfrm>
            <a:off x="3263900" y="3131809"/>
            <a:ext cx="8115300" cy="477507"/>
          </a:xfrm>
          <a:prstGeom prst="roundRect">
            <a:avLst>
              <a:gd name="adj" fmla="val 15958"/>
            </a:avLst>
          </a:prstGeom>
          <a:solidFill>
            <a:srgbClr val="24345A"/>
          </a:solidFill>
          <a:ln/>
        </p:spPr>
      </p:sp>
      <p:sp>
        <p:nvSpPr>
          <p:cNvPr id="10" name="Text 8"/>
          <p:cNvSpPr/>
          <p:nvPr/>
        </p:nvSpPr>
        <p:spPr>
          <a:xfrm>
            <a:off x="3441700" y="3246109"/>
            <a:ext cx="14478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04B"/>
                </a:solidFill>
                <a:latin typeface="Nunito Sans" pitchFamily="34" charset="0"/>
                <a:ea typeface="Nunito Sans" pitchFamily="34" charset="-122"/>
                <a:cs typeface="Nunito Sans" pitchFamily="34" charset="-120"/>
              </a:rPr>
              <a:t>Account</a:t>
            </a:r>
            <a:endParaRPr lang="en-US" sz="1400" dirty="0"/>
          </a:p>
        </p:txBody>
      </p:sp>
      <p:sp>
        <p:nvSpPr>
          <p:cNvPr id="11" name="Text 9"/>
          <p:cNvSpPr/>
          <p:nvPr/>
        </p:nvSpPr>
        <p:spPr>
          <a:xfrm>
            <a:off x="4991100" y="3254970"/>
            <a:ext cx="4997529"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Valid · invalid · own account · new payee (cooling period)</a:t>
            </a:r>
            <a:endParaRPr lang="en-US" sz="1300" dirty="0"/>
          </a:p>
        </p:txBody>
      </p:sp>
      <p:sp>
        <p:nvSpPr>
          <p:cNvPr id="12" name="Shape 10"/>
          <p:cNvSpPr/>
          <p:nvPr/>
        </p:nvSpPr>
        <p:spPr>
          <a:xfrm>
            <a:off x="3263900" y="3710918"/>
            <a:ext cx="8115300" cy="477507"/>
          </a:xfrm>
          <a:prstGeom prst="roundRect">
            <a:avLst>
              <a:gd name="adj" fmla="val 15958"/>
            </a:avLst>
          </a:prstGeom>
          <a:solidFill>
            <a:srgbClr val="24345A"/>
          </a:solidFill>
          <a:ln/>
        </p:spPr>
      </p:sp>
      <p:sp>
        <p:nvSpPr>
          <p:cNvPr id="13" name="Text 11"/>
          <p:cNvSpPr/>
          <p:nvPr/>
        </p:nvSpPr>
        <p:spPr>
          <a:xfrm>
            <a:off x="3441700" y="3825218"/>
            <a:ext cx="14478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04B"/>
                </a:solidFill>
                <a:latin typeface="Nunito Sans" pitchFamily="34" charset="0"/>
                <a:ea typeface="Nunito Sans" pitchFamily="34" charset="-122"/>
                <a:cs typeface="Nunito Sans" pitchFamily="34" charset="-120"/>
              </a:rPr>
              <a:t>Security</a:t>
            </a:r>
            <a:endParaRPr lang="en-US" sz="1400" dirty="0"/>
          </a:p>
        </p:txBody>
      </p:sp>
      <p:sp>
        <p:nvSpPr>
          <p:cNvPr id="14" name="Text 12"/>
          <p:cNvSpPr/>
          <p:nvPr/>
        </p:nvSpPr>
        <p:spPr>
          <a:xfrm>
            <a:off x="4991100" y="3834079"/>
            <a:ext cx="2687558"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OTP · session · URL tampering</a:t>
            </a:r>
            <a:endParaRPr lang="en-US" sz="1300" dirty="0"/>
          </a:p>
        </p:txBody>
      </p:sp>
      <p:sp>
        <p:nvSpPr>
          <p:cNvPr id="15" name="Shape 13"/>
          <p:cNvSpPr/>
          <p:nvPr/>
        </p:nvSpPr>
        <p:spPr>
          <a:xfrm>
            <a:off x="3263900" y="4290020"/>
            <a:ext cx="8115300" cy="477507"/>
          </a:xfrm>
          <a:prstGeom prst="roundRect">
            <a:avLst>
              <a:gd name="adj" fmla="val 15958"/>
            </a:avLst>
          </a:prstGeom>
          <a:solidFill>
            <a:srgbClr val="24345A"/>
          </a:solidFill>
          <a:ln/>
        </p:spPr>
      </p:sp>
      <p:sp>
        <p:nvSpPr>
          <p:cNvPr id="16" name="Text 14"/>
          <p:cNvSpPr/>
          <p:nvPr/>
        </p:nvSpPr>
        <p:spPr>
          <a:xfrm>
            <a:off x="3441700" y="4404320"/>
            <a:ext cx="14478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04B"/>
                </a:solidFill>
                <a:latin typeface="Nunito Sans" pitchFamily="34" charset="0"/>
                <a:ea typeface="Nunito Sans" pitchFamily="34" charset="-122"/>
                <a:cs typeface="Nunito Sans" pitchFamily="34" charset="-120"/>
              </a:rPr>
              <a:t>Failures</a:t>
            </a:r>
            <a:endParaRPr lang="en-US" sz="1400" dirty="0"/>
          </a:p>
        </p:txBody>
      </p:sp>
      <p:sp>
        <p:nvSpPr>
          <p:cNvPr id="17" name="Text 15"/>
          <p:cNvSpPr/>
          <p:nvPr/>
        </p:nvSpPr>
        <p:spPr>
          <a:xfrm>
            <a:off x="4991100" y="4413188"/>
            <a:ext cx="3015933"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Network · timeout · double submit</a:t>
            </a:r>
            <a:endParaRPr lang="en-US" sz="1300" dirty="0"/>
          </a:p>
        </p:txBody>
      </p:sp>
      <p:sp>
        <p:nvSpPr>
          <p:cNvPr id="18" name="Shape 16"/>
          <p:cNvSpPr/>
          <p:nvPr/>
        </p:nvSpPr>
        <p:spPr>
          <a:xfrm>
            <a:off x="3263900" y="4869129"/>
            <a:ext cx="8115300" cy="477507"/>
          </a:xfrm>
          <a:prstGeom prst="roundRect">
            <a:avLst>
              <a:gd name="adj" fmla="val 15958"/>
            </a:avLst>
          </a:prstGeom>
          <a:solidFill>
            <a:srgbClr val="24345A"/>
          </a:solidFill>
          <a:ln/>
        </p:spPr>
      </p:sp>
      <p:sp>
        <p:nvSpPr>
          <p:cNvPr id="19" name="Text 17"/>
          <p:cNvSpPr/>
          <p:nvPr/>
        </p:nvSpPr>
        <p:spPr>
          <a:xfrm>
            <a:off x="3441700" y="4983429"/>
            <a:ext cx="14478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04B"/>
                </a:solidFill>
                <a:latin typeface="Nunito Sans" pitchFamily="34" charset="0"/>
                <a:ea typeface="Nunito Sans" pitchFamily="34" charset="-122"/>
                <a:cs typeface="Nunito Sans" pitchFamily="34" charset="-120"/>
              </a:rPr>
              <a:t>End-to-end</a:t>
            </a:r>
            <a:endParaRPr lang="en-US" sz="1400" dirty="0"/>
          </a:p>
        </p:txBody>
      </p:sp>
      <p:sp>
        <p:nvSpPr>
          <p:cNvPr id="20" name="Text 18"/>
          <p:cNvSpPr/>
          <p:nvPr/>
        </p:nvSpPr>
        <p:spPr>
          <a:xfrm>
            <a:off x="4991100" y="4992291"/>
            <a:ext cx="251063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Statements · SMS · audit log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WRITING GOOD SCENARIOS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Specific, but not a test case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2130557"/>
        </p:xfrm>
        <a:graphic>
          <a:graphicData uri="http://schemas.openxmlformats.org/drawingml/2006/table">
            <a:tbl>
              <a:tblPr/>
              <a:tblGrid>
                <a:gridCol w="4221480">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Good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Poor</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Why</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90418">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Verify transfer is rejected when amount exceeds available balance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Test transfer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Too vague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590418">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Verify user receives SMS after successful transfer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Click submit and check if SMS comes on phone number 98xxxx</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Too detailed: that's a test case</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590418">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Verify only one transfer is created when Submit is double-clicked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Check bugs in transfer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Not a specific situation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812800" y="4200593"/>
            <a:ext cx="2527300" cy="459714"/>
          </a:xfrm>
          <a:prstGeom prst="roundRect">
            <a:avLst>
              <a:gd name="adj" fmla="val 16576"/>
            </a:avLst>
          </a:prstGeom>
          <a:solidFill>
            <a:srgbClr val="EEF2F7"/>
          </a:solidFill>
          <a:ln/>
        </p:spPr>
      </p:sp>
      <p:pic>
        <p:nvPicPr>
          <p:cNvPr id="6" name="Image 0" descr="Check"/>
          <p:cNvPicPr>
            <a:picLocks noChangeAspect="1"/>
          </p:cNvPicPr>
          <p:nvPr/>
        </p:nvPicPr>
        <p:blipFill>
          <a:blip r:embed="rId3"/>
          <a:srcRect/>
          <a:stretch/>
        </p:blipFill>
        <p:spPr>
          <a:xfrm>
            <a:off x="965200" y="4328852"/>
            <a:ext cx="203200" cy="203200"/>
          </a:xfrm>
          <a:prstGeom prst="rect">
            <a:avLst/>
          </a:prstGeom>
        </p:spPr>
      </p:pic>
      <p:sp>
        <p:nvSpPr>
          <p:cNvPr id="7" name="Text 3"/>
          <p:cNvSpPr/>
          <p:nvPr/>
        </p:nvSpPr>
        <p:spPr>
          <a:xfrm>
            <a:off x="1270000" y="4327593"/>
            <a:ext cx="1592421"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4213D"/>
                </a:solidFill>
                <a:latin typeface="Nunito Sans" pitchFamily="34" charset="0"/>
                <a:ea typeface="Nunito Sans" pitchFamily="34" charset="-122"/>
                <a:cs typeface="Nunito Sans" pitchFamily="34" charset="-120"/>
              </a:rPr>
              <a:t>Start with “Verify…”</a:t>
            </a:r>
            <a:endParaRPr lang="en-US" sz="1200" dirty="0"/>
          </a:p>
        </p:txBody>
      </p:sp>
      <p:sp>
        <p:nvSpPr>
          <p:cNvPr id="8" name="Shape 4"/>
          <p:cNvSpPr/>
          <p:nvPr/>
        </p:nvSpPr>
        <p:spPr>
          <a:xfrm>
            <a:off x="3492500" y="4200593"/>
            <a:ext cx="2527300" cy="459714"/>
          </a:xfrm>
          <a:prstGeom prst="roundRect">
            <a:avLst>
              <a:gd name="adj" fmla="val 16576"/>
            </a:avLst>
          </a:prstGeom>
          <a:solidFill>
            <a:srgbClr val="EEF2F7"/>
          </a:solidFill>
          <a:ln/>
        </p:spPr>
      </p:sp>
      <p:pic>
        <p:nvPicPr>
          <p:cNvPr id="9" name="Image 1" descr="Check"/>
          <p:cNvPicPr>
            <a:picLocks noChangeAspect="1"/>
          </p:cNvPicPr>
          <p:nvPr/>
        </p:nvPicPr>
        <p:blipFill>
          <a:blip r:embed="rId3"/>
          <a:srcRect/>
          <a:stretch/>
        </p:blipFill>
        <p:spPr>
          <a:xfrm>
            <a:off x="3644900" y="4328852"/>
            <a:ext cx="203200" cy="203200"/>
          </a:xfrm>
          <a:prstGeom prst="rect">
            <a:avLst/>
          </a:prstGeom>
        </p:spPr>
      </p:pic>
      <p:sp>
        <p:nvSpPr>
          <p:cNvPr id="10" name="Text 5"/>
          <p:cNvSpPr/>
          <p:nvPr/>
        </p:nvSpPr>
        <p:spPr>
          <a:xfrm>
            <a:off x="3949700" y="4327593"/>
            <a:ext cx="1524159"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4213D"/>
                </a:solidFill>
                <a:latin typeface="Nunito Sans" pitchFamily="34" charset="0"/>
                <a:ea typeface="Nunito Sans" pitchFamily="34" charset="-122"/>
                <a:cs typeface="Nunito Sans" pitchFamily="34" charset="-120"/>
              </a:rPr>
              <a:t>One situation each</a:t>
            </a:r>
            <a:endParaRPr lang="en-US" sz="1200" dirty="0"/>
          </a:p>
        </p:txBody>
      </p:sp>
      <p:sp>
        <p:nvSpPr>
          <p:cNvPr id="11" name="Shape 6"/>
          <p:cNvSpPr/>
          <p:nvPr/>
        </p:nvSpPr>
        <p:spPr>
          <a:xfrm>
            <a:off x="6172200" y="4200593"/>
            <a:ext cx="2527300" cy="459714"/>
          </a:xfrm>
          <a:prstGeom prst="roundRect">
            <a:avLst>
              <a:gd name="adj" fmla="val 16576"/>
            </a:avLst>
          </a:prstGeom>
          <a:solidFill>
            <a:srgbClr val="EEF2F7"/>
          </a:solidFill>
          <a:ln/>
        </p:spPr>
      </p:sp>
      <p:pic>
        <p:nvPicPr>
          <p:cNvPr id="12" name="Image 2" descr="Check"/>
          <p:cNvPicPr>
            <a:picLocks noChangeAspect="1"/>
          </p:cNvPicPr>
          <p:nvPr/>
        </p:nvPicPr>
        <p:blipFill>
          <a:blip r:embed="rId3"/>
          <a:srcRect/>
          <a:stretch/>
        </p:blipFill>
        <p:spPr>
          <a:xfrm>
            <a:off x="6324600" y="4328852"/>
            <a:ext cx="203200" cy="203200"/>
          </a:xfrm>
          <a:prstGeom prst="rect">
            <a:avLst/>
          </a:prstGeom>
        </p:spPr>
      </p:pic>
      <p:sp>
        <p:nvSpPr>
          <p:cNvPr id="13" name="Text 7"/>
          <p:cNvSpPr/>
          <p:nvPr/>
        </p:nvSpPr>
        <p:spPr>
          <a:xfrm>
            <a:off x="6629400" y="4327593"/>
            <a:ext cx="1815068"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4213D"/>
                </a:solidFill>
                <a:latin typeface="Nunito Sans" pitchFamily="34" charset="0"/>
                <a:ea typeface="Nunito Sans" pitchFamily="34" charset="-122"/>
                <a:cs typeface="Nunito Sans" pitchFamily="34" charset="-120"/>
              </a:rPr>
              <a:t>An ID, e.g. TS_TRF_01</a:t>
            </a:r>
            <a:endParaRPr lang="en-US" sz="1200" dirty="0"/>
          </a:p>
        </p:txBody>
      </p:sp>
      <p:sp>
        <p:nvSpPr>
          <p:cNvPr id="14" name="Shape 8"/>
          <p:cNvSpPr/>
          <p:nvPr/>
        </p:nvSpPr>
        <p:spPr>
          <a:xfrm>
            <a:off x="8851900" y="4200593"/>
            <a:ext cx="2527300" cy="459714"/>
          </a:xfrm>
          <a:prstGeom prst="roundRect">
            <a:avLst>
              <a:gd name="adj" fmla="val 16576"/>
            </a:avLst>
          </a:prstGeom>
          <a:solidFill>
            <a:srgbClr val="EEF2F7"/>
          </a:solidFill>
          <a:ln/>
        </p:spPr>
      </p:sp>
      <p:pic>
        <p:nvPicPr>
          <p:cNvPr id="15" name="Image 3" descr="Check"/>
          <p:cNvPicPr>
            <a:picLocks noChangeAspect="1"/>
          </p:cNvPicPr>
          <p:nvPr/>
        </p:nvPicPr>
        <p:blipFill>
          <a:blip r:embed="rId3"/>
          <a:srcRect/>
          <a:stretch/>
        </p:blipFill>
        <p:spPr>
          <a:xfrm>
            <a:off x="9004300" y="4328852"/>
            <a:ext cx="203200" cy="203200"/>
          </a:xfrm>
          <a:prstGeom prst="rect">
            <a:avLst/>
          </a:prstGeom>
        </p:spPr>
      </p:pic>
      <p:sp>
        <p:nvSpPr>
          <p:cNvPr id="16" name="Text 9"/>
          <p:cNvSpPr/>
          <p:nvPr/>
        </p:nvSpPr>
        <p:spPr>
          <a:xfrm>
            <a:off x="9309100" y="4327593"/>
            <a:ext cx="203541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4213D"/>
                </a:solidFill>
                <a:latin typeface="Nunito Sans" pitchFamily="34" charset="0"/>
                <a:ea typeface="Nunito Sans" pitchFamily="34" charset="-122"/>
                <a:cs typeface="Nunito Sans" pitchFamily="34" charset="-120"/>
              </a:rPr>
              <a:t>Linked to its requirement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PRIORITISE YOUR SCENARIOS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Risk decides what gets detail first</a:t>
            </a:r>
            <a:endParaRPr lang="en-US" sz="3200" dirty="0"/>
          </a:p>
        </p:txBody>
      </p:sp>
      <p:sp>
        <p:nvSpPr>
          <p:cNvPr id="4" name="Shape 2"/>
          <p:cNvSpPr/>
          <p:nvPr/>
        </p:nvSpPr>
        <p:spPr>
          <a:xfrm>
            <a:off x="812800" y="1854138"/>
            <a:ext cx="3386667" cy="2125927"/>
          </a:xfrm>
          <a:prstGeom prst="roundRect">
            <a:avLst>
              <a:gd name="adj" fmla="val 4779"/>
            </a:avLst>
          </a:prstGeom>
          <a:solidFill>
            <a:srgbClr val="14213D"/>
          </a:solidFill>
          <a:ln/>
        </p:spPr>
      </p:sp>
      <p:sp>
        <p:nvSpPr>
          <p:cNvPr id="5" name="Text 3"/>
          <p:cNvSpPr/>
          <p:nvPr/>
        </p:nvSpPr>
        <p:spPr>
          <a:xfrm>
            <a:off x="1066800" y="2108138"/>
            <a:ext cx="2965027"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0A04B"/>
                </a:solidFill>
                <a:latin typeface="Domine" pitchFamily="18" charset="0"/>
                <a:ea typeface="Domine" pitchFamily="18" charset="-122"/>
                <a:cs typeface="Domine" pitchFamily="18" charset="-120"/>
              </a:rPr>
              <a:t>P1</a:t>
            </a:r>
            <a:endParaRPr lang="en-US" sz="2800" dirty="0"/>
          </a:p>
        </p:txBody>
      </p:sp>
      <p:sp>
        <p:nvSpPr>
          <p:cNvPr id="6" name="Text 4"/>
          <p:cNvSpPr/>
          <p:nvPr/>
        </p:nvSpPr>
        <p:spPr>
          <a:xfrm>
            <a:off x="1066800" y="2707549"/>
            <a:ext cx="296502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BFBF8"/>
                </a:solidFill>
                <a:latin typeface="Nunito Sans" pitchFamily="34" charset="0"/>
                <a:ea typeface="Nunito Sans" pitchFamily="34" charset="-122"/>
                <a:cs typeface="Nunito Sans" pitchFamily="34" charset="-120"/>
              </a:rPr>
              <a:t>Money, security, data loss, core flow</a:t>
            </a:r>
            <a:endParaRPr lang="en-US" sz="1300" dirty="0"/>
          </a:p>
        </p:txBody>
      </p:sp>
      <p:sp>
        <p:nvSpPr>
          <p:cNvPr id="7" name="Text 5"/>
          <p:cNvSpPr/>
          <p:nvPr/>
        </p:nvSpPr>
        <p:spPr>
          <a:xfrm>
            <a:off x="1066800" y="3040261"/>
            <a:ext cx="2965027"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C9D3E3"/>
                </a:solidFill>
                <a:latin typeface="Nunito Sans" pitchFamily="34" charset="0"/>
                <a:ea typeface="Nunito Sans" pitchFamily="34" charset="-122"/>
                <a:cs typeface="Nunito Sans" pitchFamily="34" charset="-120"/>
              </a:rPr>
              <a:t>Valid transfer · over balance · over daily limit · double submit · parallel tabs · URL tampering</a:t>
            </a:r>
            <a:endParaRPr lang="en-US" sz="1200" dirty="0"/>
          </a:p>
        </p:txBody>
      </p:sp>
      <p:sp>
        <p:nvSpPr>
          <p:cNvPr id="8" name="Shape 6"/>
          <p:cNvSpPr/>
          <p:nvPr/>
        </p:nvSpPr>
        <p:spPr>
          <a:xfrm>
            <a:off x="4402667" y="1854138"/>
            <a:ext cx="3386667" cy="2125927"/>
          </a:xfrm>
          <a:prstGeom prst="roundRect">
            <a:avLst>
              <a:gd name="adj" fmla="val 4779"/>
            </a:avLst>
          </a:prstGeom>
          <a:solidFill>
            <a:srgbClr val="FBFBF8"/>
          </a:solidFill>
          <a:ln/>
        </p:spPr>
      </p:sp>
      <p:sp>
        <p:nvSpPr>
          <p:cNvPr id="9" name="Text 7"/>
          <p:cNvSpPr/>
          <p:nvPr/>
        </p:nvSpPr>
        <p:spPr>
          <a:xfrm>
            <a:off x="4656667" y="2108138"/>
            <a:ext cx="2965027"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B5C9E"/>
                </a:solidFill>
                <a:latin typeface="Domine" pitchFamily="18" charset="0"/>
                <a:ea typeface="Domine" pitchFamily="18" charset="-122"/>
                <a:cs typeface="Domine" pitchFamily="18" charset="-120"/>
              </a:rPr>
              <a:t>P2</a:t>
            </a:r>
            <a:endParaRPr lang="en-US" sz="2800" dirty="0"/>
          </a:p>
        </p:txBody>
      </p:sp>
      <p:sp>
        <p:nvSpPr>
          <p:cNvPr id="10" name="Text 8"/>
          <p:cNvSpPr/>
          <p:nvPr/>
        </p:nvSpPr>
        <p:spPr>
          <a:xfrm>
            <a:off x="4656667" y="2707549"/>
            <a:ext cx="296502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Important validations</a:t>
            </a:r>
            <a:endParaRPr lang="en-US" sz="1300" dirty="0"/>
          </a:p>
        </p:txBody>
      </p:sp>
      <p:sp>
        <p:nvSpPr>
          <p:cNvPr id="11" name="Text 9"/>
          <p:cNvSpPr/>
          <p:nvPr/>
        </p:nvSpPr>
        <p:spPr>
          <a:xfrm>
            <a:off x="4656667" y="3040261"/>
            <a:ext cx="2965027"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3D4A5C"/>
                </a:solidFill>
                <a:latin typeface="Nunito Sans" pitchFamily="34" charset="0"/>
                <a:ea typeface="Nunito Sans" pitchFamily="34" charset="-122"/>
                <a:cs typeface="Nunito Sans" pitchFamily="34" charset="-120"/>
              </a:rPr>
              <a:t>Zero · negative · invalid account · exactly the balance · exactly the daily limit · OTP</a:t>
            </a:r>
            <a:endParaRPr lang="en-US" sz="1200" dirty="0"/>
          </a:p>
        </p:txBody>
      </p:sp>
      <p:sp>
        <p:nvSpPr>
          <p:cNvPr id="12" name="Shape 10"/>
          <p:cNvSpPr/>
          <p:nvPr/>
        </p:nvSpPr>
        <p:spPr>
          <a:xfrm>
            <a:off x="7992534" y="1854138"/>
            <a:ext cx="3386667" cy="2125927"/>
          </a:xfrm>
          <a:prstGeom prst="roundRect">
            <a:avLst>
              <a:gd name="adj" fmla="val 4779"/>
            </a:avLst>
          </a:prstGeom>
          <a:solidFill>
            <a:srgbClr val="FBFBF8"/>
          </a:solidFill>
          <a:ln/>
        </p:spPr>
      </p:sp>
      <p:sp>
        <p:nvSpPr>
          <p:cNvPr id="13" name="Text 11"/>
          <p:cNvSpPr/>
          <p:nvPr/>
        </p:nvSpPr>
        <p:spPr>
          <a:xfrm>
            <a:off x="8246534" y="2108138"/>
            <a:ext cx="2965027"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3D4A5C"/>
                </a:solidFill>
                <a:latin typeface="Domine" pitchFamily="18" charset="0"/>
                <a:ea typeface="Domine" pitchFamily="18" charset="-122"/>
                <a:cs typeface="Domine" pitchFamily="18" charset="-120"/>
              </a:rPr>
              <a:t>P3</a:t>
            </a:r>
            <a:endParaRPr lang="en-US" sz="2800" dirty="0"/>
          </a:p>
        </p:txBody>
      </p:sp>
      <p:sp>
        <p:nvSpPr>
          <p:cNvPr id="14" name="Text 12"/>
          <p:cNvSpPr/>
          <p:nvPr/>
        </p:nvSpPr>
        <p:spPr>
          <a:xfrm>
            <a:off x="8246534" y="2707549"/>
            <a:ext cx="296502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Rare or cosmetic</a:t>
            </a:r>
            <a:endParaRPr lang="en-US" sz="1300" dirty="0"/>
          </a:p>
        </p:txBody>
      </p:sp>
      <p:sp>
        <p:nvSpPr>
          <p:cNvPr id="15" name="Text 13"/>
          <p:cNvSpPr/>
          <p:nvPr/>
        </p:nvSpPr>
        <p:spPr>
          <a:xfrm>
            <a:off x="8246534" y="3040261"/>
            <a:ext cx="2965027"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3D4A5C"/>
                </a:solidFill>
                <a:latin typeface="Nunito Sans" pitchFamily="34" charset="0"/>
                <a:ea typeface="Nunito Sans" pitchFamily="34" charset="-122"/>
                <a:cs typeface="Nunito Sans" pitchFamily="34" charset="-120"/>
              </a:rPr>
              <a:t>Three decimal places · transfer to own same account</a:t>
            </a:r>
            <a:endParaRPr lang="en-US" sz="1200" dirty="0"/>
          </a:p>
        </p:txBody>
      </p:sp>
      <p:sp>
        <p:nvSpPr>
          <p:cNvPr id="16" name="Text 14"/>
          <p:cNvSpPr/>
          <p:nvPr/>
        </p:nvSpPr>
        <p:spPr>
          <a:xfrm>
            <a:off x="812800" y="4284861"/>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This is risk-based testing from Chapter 2, applied at scenario level.</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COMMON BEGINNER MISTAKES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Five ways to miss bugs before testing starts</a:t>
            </a:r>
            <a:endParaRPr lang="en-US" sz="3200" dirty="0"/>
          </a:p>
        </p:txBody>
      </p:sp>
      <p:pic>
        <p:nvPicPr>
          <p:cNvPr id="4" name="Image 0" descr="Warning"/>
          <p:cNvPicPr>
            <a:picLocks noChangeAspect="1"/>
          </p:cNvPicPr>
          <p:nvPr/>
        </p:nvPicPr>
        <p:blipFill>
          <a:blip r:embed="rId3"/>
          <a:srcRect/>
          <a:stretch/>
        </p:blipFill>
        <p:spPr>
          <a:xfrm>
            <a:off x="812800" y="1860488"/>
            <a:ext cx="254000" cy="254000"/>
          </a:xfrm>
          <a:prstGeom prst="rect">
            <a:avLst/>
          </a:prstGeom>
        </p:spPr>
      </p:pic>
      <p:sp>
        <p:nvSpPr>
          <p:cNvPr id="5" name="Text 2"/>
          <p:cNvSpPr/>
          <p:nvPr/>
        </p:nvSpPr>
        <p:spPr>
          <a:xfrm>
            <a:off x="1219200" y="1854138"/>
            <a:ext cx="811545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Only positive scenarios.</a:t>
            </a:r>
            <a:r>
              <a:rPr lang="en-US" sz="1500" dirty="0">
                <a:solidFill>
                  <a:srgbClr val="3D4A5C"/>
                </a:solidFill>
                <a:latin typeface="Nunito Sans" pitchFamily="34" charset="0"/>
                <a:ea typeface="Nunito Sans" pitchFamily="34" charset="-122"/>
                <a:cs typeface="Nunito Sans" pitchFamily="34" charset="-120"/>
              </a:rPr>
              <a:t> The happy path is typically under 20% of what to test.</a:t>
            </a:r>
            <a:endParaRPr lang="en-US" sz="1500" dirty="0"/>
          </a:p>
        </p:txBody>
      </p:sp>
      <p:pic>
        <p:nvPicPr>
          <p:cNvPr id="6" name="Image 1" descr="Warning"/>
          <p:cNvPicPr>
            <a:picLocks noChangeAspect="1"/>
          </p:cNvPicPr>
          <p:nvPr/>
        </p:nvPicPr>
        <p:blipFill>
          <a:blip r:embed="rId3"/>
          <a:srcRect/>
          <a:stretch/>
        </p:blipFill>
        <p:spPr>
          <a:xfrm>
            <a:off x="812800" y="2279588"/>
            <a:ext cx="254000" cy="254000"/>
          </a:xfrm>
          <a:prstGeom prst="rect">
            <a:avLst/>
          </a:prstGeom>
        </p:spPr>
      </p:pic>
      <p:sp>
        <p:nvSpPr>
          <p:cNvPr id="7" name="Text 3"/>
          <p:cNvSpPr/>
          <p:nvPr/>
        </p:nvSpPr>
        <p:spPr>
          <a:xfrm>
            <a:off x="1219200" y="2273238"/>
            <a:ext cx="682466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Writing test cases instead of scenarios.</a:t>
            </a:r>
            <a:r>
              <a:rPr lang="en-US" sz="1500" dirty="0">
                <a:solidFill>
                  <a:srgbClr val="3D4A5C"/>
                </a:solidFill>
                <a:latin typeface="Nunito Sans" pitchFamily="34" charset="0"/>
                <a:ea typeface="Nunito Sans" pitchFamily="34" charset="-122"/>
                <a:cs typeface="Nunito Sans" pitchFamily="34" charset="-120"/>
              </a:rPr>
              <a:t> Too much detail too early.</a:t>
            </a:r>
            <a:endParaRPr lang="en-US" sz="1500" dirty="0"/>
          </a:p>
        </p:txBody>
      </p:sp>
      <p:pic>
        <p:nvPicPr>
          <p:cNvPr id="8" name="Image 2" descr="Warning"/>
          <p:cNvPicPr>
            <a:picLocks noChangeAspect="1"/>
          </p:cNvPicPr>
          <p:nvPr/>
        </p:nvPicPr>
        <p:blipFill>
          <a:blip r:embed="rId3"/>
          <a:srcRect/>
          <a:stretch/>
        </p:blipFill>
        <p:spPr>
          <a:xfrm>
            <a:off x="812800" y="2698688"/>
            <a:ext cx="254000" cy="254000"/>
          </a:xfrm>
          <a:prstGeom prst="rect">
            <a:avLst/>
          </a:prstGeom>
        </p:spPr>
      </p:pic>
      <p:sp>
        <p:nvSpPr>
          <p:cNvPr id="9" name="Text 4"/>
          <p:cNvSpPr/>
          <p:nvPr/>
        </p:nvSpPr>
        <p:spPr>
          <a:xfrm>
            <a:off x="1219200" y="2692338"/>
            <a:ext cx="863663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Ignoring exceptions and integrations.</a:t>
            </a:r>
            <a:r>
              <a:rPr lang="en-US" sz="1500" dirty="0">
                <a:solidFill>
                  <a:srgbClr val="3D4A5C"/>
                </a:solidFill>
                <a:latin typeface="Nunito Sans" pitchFamily="34" charset="0"/>
                <a:ea typeface="Nunito Sans" pitchFamily="34" charset="-122"/>
                <a:cs typeface="Nunito Sans" pitchFamily="34" charset="-120"/>
              </a:rPr>
              <a:t> Network failures, timeouts, third-party errors.</a:t>
            </a:r>
            <a:endParaRPr lang="en-US" sz="1500" dirty="0"/>
          </a:p>
        </p:txBody>
      </p:sp>
      <p:pic>
        <p:nvPicPr>
          <p:cNvPr id="10" name="Image 3" descr="Warning"/>
          <p:cNvPicPr>
            <a:picLocks noChangeAspect="1"/>
          </p:cNvPicPr>
          <p:nvPr/>
        </p:nvPicPr>
        <p:blipFill>
          <a:blip r:embed="rId3"/>
          <a:srcRect/>
          <a:stretch/>
        </p:blipFill>
        <p:spPr>
          <a:xfrm>
            <a:off x="812800" y="3117788"/>
            <a:ext cx="254000" cy="254000"/>
          </a:xfrm>
          <a:prstGeom prst="rect">
            <a:avLst/>
          </a:prstGeom>
        </p:spPr>
      </p:pic>
      <p:sp>
        <p:nvSpPr>
          <p:cNvPr id="11" name="Text 5"/>
          <p:cNvSpPr/>
          <p:nvPr/>
        </p:nvSpPr>
        <p:spPr>
          <a:xfrm>
            <a:off x="1219200" y="3111438"/>
            <a:ext cx="736734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No traceability.</a:t>
            </a:r>
            <a:r>
              <a:rPr lang="en-US" sz="1500" dirty="0">
                <a:solidFill>
                  <a:srgbClr val="3D4A5C"/>
                </a:solidFill>
                <a:latin typeface="Nunito Sans" pitchFamily="34" charset="0"/>
                <a:ea typeface="Nunito Sans" pitchFamily="34" charset="-122"/>
                <a:cs typeface="Nunito Sans" pitchFamily="34" charset="-120"/>
              </a:rPr>
              <a:t> Without links to requirements you can't prove coverage.</a:t>
            </a:r>
            <a:endParaRPr lang="en-US" sz="1500" dirty="0"/>
          </a:p>
        </p:txBody>
      </p:sp>
      <p:pic>
        <p:nvPicPr>
          <p:cNvPr id="12" name="Image 4" descr="Warning"/>
          <p:cNvPicPr>
            <a:picLocks noChangeAspect="1"/>
          </p:cNvPicPr>
          <p:nvPr/>
        </p:nvPicPr>
        <p:blipFill>
          <a:blip r:embed="rId3"/>
          <a:srcRect/>
          <a:stretch/>
        </p:blipFill>
        <p:spPr>
          <a:xfrm>
            <a:off x="812800" y="3536888"/>
            <a:ext cx="254000" cy="254000"/>
          </a:xfrm>
          <a:prstGeom prst="rect">
            <a:avLst/>
          </a:prstGeom>
        </p:spPr>
      </p:pic>
      <p:sp>
        <p:nvSpPr>
          <p:cNvPr id="13" name="Text 6"/>
          <p:cNvSpPr/>
          <p:nvPr/>
        </p:nvSpPr>
        <p:spPr>
          <a:xfrm>
            <a:off x="1219200" y="3530538"/>
            <a:ext cx="756324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No end-to-end scenarios.</a:t>
            </a:r>
            <a:r>
              <a:rPr lang="en-US" sz="1500" dirty="0">
                <a:solidFill>
                  <a:srgbClr val="3D4A5C"/>
                </a:solidFill>
                <a:latin typeface="Nunito Sans" pitchFamily="34" charset="0"/>
                <a:ea typeface="Nunito Sans" pitchFamily="34" charset="-122"/>
                <a:cs typeface="Nunito Sans" pitchFamily="34" charset="-120"/>
              </a:rPr>
              <a:t> Each module works alone; the full journey fails.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PRACTICE · 8 MINUTES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List scenarios for add to cart</a:t>
            </a:r>
            <a:endParaRPr lang="en-US" sz="3200" dirty="0"/>
          </a:p>
        </p:txBody>
      </p:sp>
      <p:sp>
        <p:nvSpPr>
          <p:cNvPr id="4" name="Shape 2"/>
          <p:cNvSpPr/>
          <p:nvPr/>
        </p:nvSpPr>
        <p:spPr>
          <a:xfrm>
            <a:off x="838200" y="1803338"/>
            <a:ext cx="0" cy="359370"/>
          </a:xfrm>
          <a:prstGeom prst="line">
            <a:avLst/>
          </a:prstGeom>
          <a:noFill/>
          <a:ln w="50800">
            <a:solidFill>
              <a:srgbClr val="F0A04B"/>
            </a:solidFill>
            <a:prstDash val="solid"/>
          </a:ln>
        </p:spPr>
      </p:sp>
      <p:sp>
        <p:nvSpPr>
          <p:cNvPr id="5" name="Text 3"/>
          <p:cNvSpPr/>
          <p:nvPr/>
        </p:nvSpPr>
        <p:spPr>
          <a:xfrm>
            <a:off x="1066800" y="1828738"/>
            <a:ext cx="10621772" cy="33397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FBFBF8"/>
                </a:solidFill>
                <a:latin typeface="Domine" pitchFamily="18" charset="0"/>
                <a:ea typeface="Domine" pitchFamily="18" charset="-122"/>
                <a:cs typeface="Domine" pitchFamily="18" charset="-120"/>
              </a:rPr>
              <a:t>As a shopper, I want to add products to my cart so that I can buy them together.</a:t>
            </a:r>
            <a:endParaRPr lang="en-US" sz="1800" dirty="0"/>
          </a:p>
        </p:txBody>
      </p:sp>
      <p:sp>
        <p:nvSpPr>
          <p:cNvPr id="6" name="Shape 4"/>
          <p:cNvSpPr/>
          <p:nvPr/>
        </p:nvSpPr>
        <p:spPr>
          <a:xfrm>
            <a:off x="812800" y="2416708"/>
            <a:ext cx="6959600" cy="1762720"/>
          </a:xfrm>
          <a:prstGeom prst="roundRect">
            <a:avLst>
              <a:gd name="adj" fmla="val 5764"/>
            </a:avLst>
          </a:prstGeom>
          <a:solidFill>
            <a:srgbClr val="24345A"/>
          </a:solidFill>
          <a:ln/>
        </p:spPr>
      </p:sp>
      <p:sp>
        <p:nvSpPr>
          <p:cNvPr id="7" name="Text 5"/>
          <p:cNvSpPr/>
          <p:nvPr/>
        </p:nvSpPr>
        <p:spPr>
          <a:xfrm>
            <a:off x="1016000" y="2619908"/>
            <a:ext cx="674979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0A04B"/>
                </a:solidFill>
                <a:latin typeface="Nunito Sans" pitchFamily="34" charset="0"/>
                <a:ea typeface="Nunito Sans" pitchFamily="34" charset="-122"/>
                <a:cs typeface="Nunito Sans" pitchFamily="34" charset="-120"/>
              </a:rPr>
              <a:t>Known rules</a:t>
            </a:r>
            <a:endParaRPr lang="en-US" sz="1400" dirty="0"/>
          </a:p>
        </p:txBody>
      </p:sp>
      <p:sp>
        <p:nvSpPr>
          <p:cNvPr id="8" name="Text 6"/>
          <p:cNvSpPr/>
          <p:nvPr/>
        </p:nvSpPr>
        <p:spPr>
          <a:xfrm>
            <a:off x="1100582" y="2909429"/>
            <a:ext cx="6657594" cy="10922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Max quantity per product: 10</a:t>
            </a:r>
            <a:endParaRPr lang="en-US" sz="1400" dirty="0"/>
          </a:p>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Out-of-stock products cannot be added</a:t>
            </a:r>
            <a:endParaRPr lang="en-US" sz="1400" dirty="0"/>
          </a:p>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Logged-in carts persist across devices</a:t>
            </a:r>
            <a:endParaRPr lang="en-US" sz="1400" dirty="0"/>
          </a:p>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Guests can add to cart; kept for 7 days</a:t>
            </a:r>
            <a:endParaRPr lang="en-US" sz="1400" dirty="0"/>
          </a:p>
        </p:txBody>
      </p:sp>
      <p:sp>
        <p:nvSpPr>
          <p:cNvPr id="9" name="Shape 7"/>
          <p:cNvSpPr/>
          <p:nvPr/>
        </p:nvSpPr>
        <p:spPr>
          <a:xfrm>
            <a:off x="8083550" y="2423058"/>
            <a:ext cx="3289300" cy="1739702"/>
          </a:xfrm>
          <a:prstGeom prst="roundRect">
            <a:avLst>
              <a:gd name="adj" fmla="val 5475"/>
            </a:avLst>
          </a:prstGeom>
          <a:solidFill>
            <a:srgbClr val="24345A"/>
          </a:solidFill>
          <a:ln w="12700">
            <a:solidFill>
              <a:srgbClr val="F0A04B"/>
            </a:solidFill>
            <a:prstDash val="solid"/>
          </a:ln>
        </p:spPr>
      </p:sp>
      <p:sp>
        <p:nvSpPr>
          <p:cNvPr id="10" name="Text 8"/>
          <p:cNvSpPr/>
          <p:nvPr/>
        </p:nvSpPr>
        <p:spPr>
          <a:xfrm>
            <a:off x="8293100" y="2632608"/>
            <a:ext cx="295630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0A04B"/>
                </a:solidFill>
                <a:latin typeface="Nunito Sans" pitchFamily="34" charset="0"/>
                <a:ea typeface="Nunito Sans" pitchFamily="34" charset="-122"/>
                <a:cs typeface="Nunito Sans" pitchFamily="34" charset="-120"/>
              </a:rPr>
              <a:t>Your task</a:t>
            </a:r>
            <a:endParaRPr lang="en-US" sz="1400" dirty="0"/>
          </a:p>
        </p:txBody>
      </p:sp>
      <p:sp>
        <p:nvSpPr>
          <p:cNvPr id="11" name="Text 9"/>
          <p:cNvSpPr/>
          <p:nvPr/>
        </p:nvSpPr>
        <p:spPr>
          <a:xfrm>
            <a:off x="8293100" y="2922129"/>
            <a:ext cx="2956306"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CE4F0"/>
                </a:solidFill>
                <a:latin typeface="Nunito Sans" pitchFamily="34" charset="0"/>
                <a:ea typeface="Nunito Sans" pitchFamily="34" charset="-122"/>
                <a:cs typeface="Nunito Sans" pitchFamily="34" charset="-120"/>
              </a:rPr>
              <a:t>List at least </a:t>
            </a:r>
            <a:r>
              <a:rPr lang="en-US" sz="1400" b="1" dirty="0">
                <a:solidFill>
                  <a:srgbClr val="DCE4F0"/>
                </a:solidFill>
                <a:latin typeface="Nunito Sans" pitchFamily="34" charset="0"/>
                <a:ea typeface="Nunito Sans" pitchFamily="34" charset="-122"/>
                <a:cs typeface="Nunito Sans" pitchFamily="34" charset="-120"/>
              </a:rPr>
              <a:t>12 scenarios</a:t>
            </a:r>
            <a:r>
              <a:rPr lang="en-US" sz="1400" dirty="0">
                <a:solidFill>
                  <a:srgbClr val="DCE4F0"/>
                </a:solidFill>
                <a:latin typeface="Nunito Sans" pitchFamily="34" charset="0"/>
                <a:ea typeface="Nunito Sans" pitchFamily="34" charset="-122"/>
                <a:cs typeface="Nunito Sans" pitchFamily="34" charset="-120"/>
              </a:rPr>
              <a:t>, each tagged Positive, Negative, Boundary, Alternate, Exception or E2E.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1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Core behaviour and limits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38"/>
          <a:ext cx="10553700" cy="2993827"/>
        </p:xfrm>
        <a:graphic>
          <a:graphicData uri="http://schemas.openxmlformats.org/drawingml/2006/table">
            <a:tbl>
              <a:tblPr/>
              <a:tblGrid>
                <a:gridCol w="1794129">
                  <a:extLst>
                    <a:ext uri="{9D8B030D-6E8A-4147-A177-3AD203B41FA5}">
                      <a16:colId xmlns:a16="http://schemas.microsoft.com/office/drawing/2014/main" val="20000"/>
                    </a:ext>
                  </a:extLst>
                </a:gridCol>
                <a:gridCol w="6332220">
                  <a:extLst>
                    <a:ext uri="{9D8B030D-6E8A-4147-A177-3AD203B41FA5}">
                      <a16:colId xmlns:a16="http://schemas.microsoft.com/office/drawing/2014/main" val="20001"/>
                    </a:ext>
                  </a:extLst>
                </a:gridCol>
                <a:gridCol w="2427351">
                  <a:extLst>
                    <a:ext uri="{9D8B030D-6E8A-4147-A177-3AD203B41FA5}">
                      <a16:colId xmlns:a16="http://schemas.microsoft.com/office/drawing/2014/main" val="20002"/>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Verify…</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Type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TS_CART_01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 logged-in user can add an in-stock product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Positive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TS_CART_02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 guest user can add a product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Alternate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TS_CART_03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Adding the same product again increases quantity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Positive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TS_CART_04</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Quantity 10 is accepted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Boundary</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TS_CART_05</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Quantity 11 is rejected with a clear message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Boundary / Negative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TS_CART_06</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Quantity 0 or negative is not allowed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Boundary / Negative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TS_CART_07</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An out-of-stock product cannot be added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TS_CART_08</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 product that goes out of stock after adding is flagged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Exception</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2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Persistence, failures and the journey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39838"/>
          <a:ext cx="10553700" cy="2993827"/>
        </p:xfrm>
        <a:graphic>
          <a:graphicData uri="http://schemas.openxmlformats.org/drawingml/2006/table">
            <a:tbl>
              <a:tblPr/>
              <a:tblGrid>
                <a:gridCol w="1794129">
                  <a:extLst>
                    <a:ext uri="{9D8B030D-6E8A-4147-A177-3AD203B41FA5}">
                      <a16:colId xmlns:a16="http://schemas.microsoft.com/office/drawing/2014/main" val="20000"/>
                    </a:ext>
                  </a:extLst>
                </a:gridCol>
                <a:gridCol w="6332220">
                  <a:extLst>
                    <a:ext uri="{9D8B030D-6E8A-4147-A177-3AD203B41FA5}">
                      <a16:colId xmlns:a16="http://schemas.microsoft.com/office/drawing/2014/main" val="20001"/>
                    </a:ext>
                  </a:extLst>
                </a:gridCol>
                <a:gridCol w="2427351">
                  <a:extLst>
                    <a:ext uri="{9D8B030D-6E8A-4147-A177-3AD203B41FA5}">
                      <a16:colId xmlns:a16="http://schemas.microsoft.com/office/drawing/2014/main" val="20002"/>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Verify…</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Type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TS_CART_09</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Cart persists from desktop to mobile (logged in)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Alternate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TS_CART_10</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Guest cart kept on day 7, cleared after day 7</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Boundary / Rule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TS_CART_11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Guest cart merges into user cart after login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Alternate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TS_CART_12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Total updates on quantity change or removal</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Positive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TS_CART_13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Network drops while adding to cart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Exception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TS_CART_14</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Rapid clicks don't add unexpected quantities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Exception</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TS_CART_15</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 price change is reflected before checkout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Exception / Rule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TS_CART_16</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Search → add → update quantity → checkout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End-to-end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bl>
          </a:graphicData>
        </a:graphic>
      </p:graphicFrame>
      <p:sp>
        <p:nvSpPr>
          <p:cNvPr id="5" name="Text 2"/>
          <p:cNvSpPr/>
          <p:nvPr/>
        </p:nvSpPr>
        <p:spPr>
          <a:xfrm>
            <a:off x="812800" y="4911465"/>
            <a:ext cx="10566400" cy="459714"/>
          </a:xfrm>
          <a:prstGeom prst="roundRect">
            <a:avLst>
              <a:gd name="adj" fmla="val 16576"/>
            </a:avLst>
          </a:prstGeom>
          <a:solidFill>
            <a:srgbClr val="FBEBDD"/>
          </a:solidFill>
          <a:ln/>
        </p:spPr>
        <p:txBody>
          <a:bodyPr wrap="square" lIns="155482" tIns="91982" rIns="0" bIns="66582"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Ask the PO:</a:t>
            </a:r>
            <a:r>
              <a:rPr lang="en-US" sz="1300" dirty="0">
                <a:solidFill>
                  <a:srgbClr val="14213D"/>
                </a:solidFill>
                <a:latin typeface="Nunito Sans" pitchFamily="34" charset="0"/>
                <a:ea typeface="Nunito Sans" pitchFamily="34" charset="-122"/>
                <a:cs typeface="Nunito Sans" pitchFamily="34" charset="-120"/>
              </a:rPr>
              <a:t> if a merge pushes one product above 10 units, what happens?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QUICK CHECK</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Four questions, one minute each</a:t>
            </a:r>
            <a:endParaRPr lang="en-US" sz="3200" dirty="0"/>
          </a:p>
        </p:txBody>
      </p:sp>
      <p:sp>
        <p:nvSpPr>
          <p:cNvPr id="4" name="Text 2"/>
          <p:cNvSpPr/>
          <p:nvPr/>
        </p:nvSpPr>
        <p:spPr>
          <a:xfrm>
            <a:off x="812800" y="1854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09167"/>
            <a:ext cx="5812235"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Scenario = ______ to test; test case = ______ to test it.</a:t>
            </a:r>
            <a:endParaRPr lang="en-US" sz="1600" dirty="0"/>
          </a:p>
        </p:txBody>
      </p:sp>
      <p:sp>
        <p:nvSpPr>
          <p:cNvPr id="6" name="Text 4"/>
          <p:cNvSpPr/>
          <p:nvPr/>
        </p:nvSpPr>
        <p:spPr>
          <a:xfrm>
            <a:off x="812800" y="23875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42567"/>
            <a:ext cx="614957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“Network failure during transfer” is which scenario type?</a:t>
            </a:r>
            <a:endParaRPr lang="en-US" sz="1600" dirty="0"/>
          </a:p>
        </p:txBody>
      </p:sp>
      <p:sp>
        <p:nvSpPr>
          <p:cNvPr id="8" name="Text 6"/>
          <p:cNvSpPr/>
          <p:nvPr/>
        </p:nvSpPr>
        <p:spPr>
          <a:xfrm>
            <a:off x="812800" y="29209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2975967"/>
            <a:ext cx="501546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Name three scenario identification techniques.</a:t>
            </a:r>
            <a:endParaRPr lang="en-US" sz="1600" dirty="0"/>
          </a:p>
        </p:txBody>
      </p:sp>
      <p:sp>
        <p:nvSpPr>
          <p:cNvPr id="10" name="Text 8"/>
          <p:cNvSpPr/>
          <p:nvPr/>
        </p:nvSpPr>
        <p:spPr>
          <a:xfrm>
            <a:off x="812800" y="34543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509367"/>
            <a:ext cx="425600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Why write scenarios before test cases?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KEY TAKEAWAYS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Breadth of thinking </a:t>
            </a:r>
            <a:r>
              <a:rPr lang="en-US" sz="3200" b="1" i="0" dirty="0">
                <a:solidFill>
                  <a:srgbClr val="F0A04B"/>
                </a:solidFill>
                <a:latin typeface="Domine" pitchFamily="18" charset="0"/>
                <a:ea typeface="Domine" pitchFamily="18" charset="-122"/>
                <a:cs typeface="Domine" pitchFamily="18" charset="-120"/>
              </a:rPr>
              <a:t>comes first</a:t>
            </a:r>
            <a:endParaRPr lang="en-US" sz="3200" dirty="0"/>
          </a:p>
        </p:txBody>
      </p:sp>
      <p:pic>
        <p:nvPicPr>
          <p:cNvPr id="4" name="Image 0" descr="CheckCircle"/>
          <p:cNvPicPr>
            <a:picLocks noChangeAspect="1"/>
          </p:cNvPicPr>
          <p:nvPr/>
        </p:nvPicPr>
        <p:blipFill>
          <a:blip r:embed="rId3"/>
          <a:srcRect/>
          <a:stretch/>
        </p:blipFill>
        <p:spPr>
          <a:xfrm>
            <a:off x="812800" y="1860488"/>
            <a:ext cx="254000" cy="254000"/>
          </a:xfrm>
          <a:prstGeom prst="rect">
            <a:avLst/>
          </a:prstGeom>
        </p:spPr>
      </p:pic>
      <p:sp>
        <p:nvSpPr>
          <p:cNvPr id="5" name="Text 2"/>
          <p:cNvSpPr/>
          <p:nvPr/>
        </p:nvSpPr>
        <p:spPr>
          <a:xfrm>
            <a:off x="1219200" y="1854138"/>
            <a:ext cx="728138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A scenario is a one-line “what to test”; a test case is the detailed “how”.</a:t>
            </a:r>
            <a:endParaRPr lang="en-US" sz="1500" dirty="0"/>
          </a:p>
        </p:txBody>
      </p:sp>
      <p:pic>
        <p:nvPicPr>
          <p:cNvPr id="6" name="Image 1" descr="CheckCircle"/>
          <p:cNvPicPr>
            <a:picLocks noChangeAspect="1"/>
          </p:cNvPicPr>
          <p:nvPr/>
        </p:nvPicPr>
        <p:blipFill>
          <a:blip r:embed="rId3"/>
          <a:srcRect/>
          <a:stretch/>
        </p:blipFill>
        <p:spPr>
          <a:xfrm>
            <a:off x="812800" y="2279588"/>
            <a:ext cx="254000" cy="254000"/>
          </a:xfrm>
          <a:prstGeom prst="rect">
            <a:avLst/>
          </a:prstGeom>
        </p:spPr>
      </p:pic>
      <p:sp>
        <p:nvSpPr>
          <p:cNvPr id="7" name="Text 3"/>
          <p:cNvSpPr/>
          <p:nvPr/>
        </p:nvSpPr>
        <p:spPr>
          <a:xfrm>
            <a:off x="1219200" y="2273238"/>
            <a:ext cx="736838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Cover positive, negative, boundary, alternate, exception and end-to-end.</a:t>
            </a:r>
            <a:endParaRPr lang="en-US" sz="1500" dirty="0"/>
          </a:p>
        </p:txBody>
      </p:sp>
      <p:pic>
        <p:nvPicPr>
          <p:cNvPr id="8" name="Image 2" descr="CheckCircle"/>
          <p:cNvPicPr>
            <a:picLocks noChangeAspect="1"/>
          </p:cNvPicPr>
          <p:nvPr/>
        </p:nvPicPr>
        <p:blipFill>
          <a:blip r:embed="rId3"/>
          <a:srcRect/>
          <a:stretch/>
        </p:blipFill>
        <p:spPr>
          <a:xfrm>
            <a:off x="812800" y="2698688"/>
            <a:ext cx="254000" cy="254000"/>
          </a:xfrm>
          <a:prstGeom prst="rect">
            <a:avLst/>
          </a:prstGeom>
        </p:spPr>
      </p:pic>
      <p:sp>
        <p:nvSpPr>
          <p:cNvPr id="9" name="Text 4"/>
          <p:cNvSpPr/>
          <p:nvPr/>
        </p:nvSpPr>
        <p:spPr>
          <a:xfrm>
            <a:off x="1219200" y="2692338"/>
            <a:ext cx="861695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Use systematic techniques: criteria, flows, inputs, roles, states, guesses, integrations.</a:t>
            </a:r>
            <a:endParaRPr lang="en-US" sz="1500" dirty="0"/>
          </a:p>
        </p:txBody>
      </p:sp>
      <p:pic>
        <p:nvPicPr>
          <p:cNvPr id="10" name="Image 3" descr="CheckCircle"/>
          <p:cNvPicPr>
            <a:picLocks noChangeAspect="1"/>
          </p:cNvPicPr>
          <p:nvPr/>
        </p:nvPicPr>
        <p:blipFill>
          <a:blip r:embed="rId3"/>
          <a:srcRect/>
          <a:stretch/>
        </p:blipFill>
        <p:spPr>
          <a:xfrm>
            <a:off x="812800" y="3117788"/>
            <a:ext cx="254000" cy="254000"/>
          </a:xfrm>
          <a:prstGeom prst="rect">
            <a:avLst/>
          </a:prstGeom>
        </p:spPr>
      </p:pic>
      <p:sp>
        <p:nvSpPr>
          <p:cNvPr id="11" name="Text 5"/>
          <p:cNvSpPr/>
          <p:nvPr/>
        </p:nvSpPr>
        <p:spPr>
          <a:xfrm>
            <a:off x="1219200" y="3111438"/>
            <a:ext cx="597122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Prioritise scenarios by risk and trace them to requirements.</a:t>
            </a:r>
            <a:endParaRPr lang="en-US" sz="1500" dirty="0"/>
          </a:p>
        </p:txBody>
      </p:sp>
      <p:pic>
        <p:nvPicPr>
          <p:cNvPr id="12" name="Image 4" descr="CheckCircle"/>
          <p:cNvPicPr>
            <a:picLocks noChangeAspect="1"/>
          </p:cNvPicPr>
          <p:nvPr/>
        </p:nvPicPr>
        <p:blipFill>
          <a:blip r:embed="rId3"/>
          <a:srcRect/>
          <a:stretch/>
        </p:blipFill>
        <p:spPr>
          <a:xfrm>
            <a:off x="812800" y="3536888"/>
            <a:ext cx="254000" cy="254000"/>
          </a:xfrm>
          <a:prstGeom prst="rect">
            <a:avLst/>
          </a:prstGeom>
        </p:spPr>
      </p:pic>
      <p:sp>
        <p:nvSpPr>
          <p:cNvPr id="13" name="Text 6"/>
          <p:cNvSpPr/>
          <p:nvPr/>
        </p:nvSpPr>
        <p:spPr>
          <a:xfrm>
            <a:off x="1219200" y="3530538"/>
            <a:ext cx="413956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Missing a scenario means missing a bug.</a:t>
            </a:r>
            <a:endParaRPr lang="en-US" sz="1500" dirty="0"/>
          </a:p>
        </p:txBody>
      </p:sp>
      <p:sp>
        <p:nvSpPr>
          <p:cNvPr id="14" name="Text 7"/>
          <p:cNvSpPr/>
          <p:nvPr/>
        </p:nvSpPr>
        <p:spPr>
          <a:xfrm>
            <a:off x="812800" y="410203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Next: Unit 7, Test Case Design: turning scenarios into executable test cases.</a:t>
            </a:r>
            <a:endParaRPr lang="en-US" sz="1400" dirty="0"/>
          </a:p>
        </p:txBody>
      </p:sp>
    </p:spTree>
  </p:cSld>
  <p:clrMapOvr>
    <a:masterClrMapping/>
  </p:clrMapOvr>
</p:sld>
</file>

<file path=ppt/theme/theme1.xml><?xml version="1.0" encoding="utf-8"?>
<a:theme xmlns:a="http://schemas.openxmlformats.org/drawingml/2006/main" name="Test Scenarios">
  <a:themeElements>
    <a:clrScheme name="Test Scenarios">
      <a:dk1>
        <a:srgbClr val="14213D"/>
      </a:dk1>
      <a:lt1>
        <a:srgbClr val="FBFBF8"/>
      </a:lt1>
      <a:dk2>
        <a:srgbClr val="4E586C"/>
      </a:dk2>
      <a:lt2>
        <a:srgbClr val="E4E5E5"/>
      </a:lt2>
      <a:accent1>
        <a:srgbClr val="A14F0A"/>
      </a:accent1>
      <a:accent2>
        <a:srgbClr val="F0A04B"/>
      </a:accent2>
      <a:accent3>
        <a:srgbClr val="2B5C9E"/>
      </a:accent3>
      <a:accent4>
        <a:srgbClr val="24345A"/>
      </a:accent4>
      <a:accent5>
        <a:srgbClr val="3D4A5C"/>
      </a:accent5>
      <a:accent6>
        <a:srgbClr val="DCE4F0"/>
      </a:accent6>
      <a:hlink>
        <a:srgbClr val="0563C1"/>
      </a:hlink>
      <a:folHlink>
        <a:srgbClr val="954F72"/>
      </a:folHlink>
    </a:clrScheme>
    <a:fontScheme name="Test Scenarios">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2531</Words>
  <Application>Microsoft Office PowerPoint</Application>
  <PresentationFormat>Widescreen</PresentationFormat>
  <Paragraphs>322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Domine</vt:lpstr>
      <vt:lpstr>Nunito Sans</vt:lpstr>
      <vt:lpstr>Test Scenarios</vt:lpstr>
      <vt:lpstr>Test Scenarios</vt:lpstr>
      <vt:lpstr>What this unit covers:</vt:lpstr>
      <vt:lpstr>A one-line situation that needs testing</vt:lpstr>
      <vt:lpstr>Requirement, scenario, test case</vt:lpstr>
      <vt:lpstr>Six types, one requirement</vt:lpstr>
      <vt:lpstr>Eight scenarios, classified</vt:lpstr>
      <vt:lpstr>8 scenarios become 18</vt:lpstr>
      <vt:lpstr>Find scenarios systematically, not randomly</vt:lpstr>
      <vt:lpstr>States, guesses and touchpoints</vt:lpstr>
      <vt:lpstr>Every leaf becomes a scenario</vt:lpstr>
      <vt:lpstr>Specific, but not a test case</vt:lpstr>
      <vt:lpstr>Risk decides what gets detail first</vt:lpstr>
      <vt:lpstr>Five ways to miss bugs before testing starts</vt:lpstr>
      <vt:lpstr>List scenarios for add to cart</vt:lpstr>
      <vt:lpstr>Core behaviour and limits</vt:lpstr>
      <vt:lpstr>Persistence, failures and the journey</vt:lpstr>
      <vt:lpstr>Four questions, one minute each</vt:lpstr>
      <vt:lpstr>Breadth of thinking comes first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Scenarios</dc:title>
  <dc:subject/>
  <dc:creator/>
  <cp:lastModifiedBy>Saurabh Kamath</cp:lastModifiedBy>
  <cp:revision>4</cp:revision>
  <dcterms:created xsi:type="dcterms:W3CDTF">2026-10-06T17:20:12Z</dcterms:created>
  <dcterms:modified xsi:type="dcterms:W3CDTF">2026-10-06T18:22:10Z</dcterms:modified>
</cp:coreProperties>
</file>