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4956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chapter seven we executed test cases. When the actual result does not match the expected result, the test fails and we have probably found a defect. How we report it decides whether it gets fixed quickly, argued about, or ignored. This chapter covers what happens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Reporting and severity versus priority are the skills you will use every day as a tester; the life cycle gives you the vocabulary every defect tool uses.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defect, or bug, is a flaw in a work product that causes, or can cause, the system to deviate from expected behaviour. The chain is error, then defect, then failure. This is the same age bug from chapter seven, seen from the other side.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for a good defect report is simple: can a developer reproduce the problem without talking to you? The environment includes the exact build number, browser and operating system. The test data is a gateway test card designed to always decline.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result cites its source, acceptance criterion seven of US-301, so nobody can argue about what should happen. The actual result is factual and specific, down to the order number. Reproducibility, five out of five, tells the developer this is not a fluke. Assignment is left to triage.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formula, where plus what plus when, is the single most useful habit. A developer scanning fifty tickets should understand yours from the title alone. And stay neutral: a defect report is about the product, never about the person who wrote the code.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is impact; priority is urgency. The tester usually proposes severity from technical judgement. The product owner or project manager sets priority, and it can change as release dates and business events change. They are independent, which the next two slides show.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vary between companies, but most use four levels of each. Severity describes the damage; priority describes when it gets fixed.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interesting corners are the off-diagonal ones. A crash can be low priority if almost nobody hits it. And a typo, normally the lowest severity, can be top priority when it is the company name or a price on the homepage.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flow is seven states: New, Assigned, Open, Fixed, Retest, Verified, Closed. Four alternate paths branch off it. Rejected and Duplicate end the defect early. Deferred parks it for a later release. Reopened sends it back round the loop when the retest fails.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how ownership passes back and forth: tester, lead, developer, and back to the tester for retest, verification and closure. At every moment exactly one person is responsible for the next action.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rejection always needs a reason, so the tester can check it. Deferral is a business decision, so it belongs to the product owner. Reopening belongs to the tester, because the tester is the one who saw the retest fail.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roles share a defect. The tester's responsibilities bracket the whole life: logging it at the start, and retesting, regression and closing at the end. The product owner is the one who can accept a known defect into a release.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Triage is where the team reviews every New defect. Freshers often take rejection personally; treat it as information instead. Either your report needs more evidence, or the requirement needs clarifying. Both outcomes help the project.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Retesting can't be planned in advance because you don't know which defects will be found. Regression is planned and often automated, because the same suites are run after every change. The example follows our BUG-250 from the report slides.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is not the same as Closed. Closure also needs regression around the fix and proper notes. The metrics are for awareness at this stage; you will meet them in test reports and release meetings.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means a real bug is ignored, fixed late, or fixed incompletely. If everything is rated Critical, nothing is: severity only helps when it discriminates.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Remind learners that severity is about the system and priority about the business, and that the two can point in opposite directions.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Defect one is the classic low severity, high priority case. Defect four is the reverse: high severity, low priority. Two and five are critical and P1 for different reasons, money and security.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Each story exercises a different path: the happy path, Rejected, Reopened, Deferred and Duplicate.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 the tester should double-check the requirement. If the requirement itself is wrong, raise it with the product owner. In c, notice the loop: Reopened sends the defect back to Assigned, and it goes round again.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Typing it is the error; the wrong less-than in the code is the defect; the wrong behaviour when it runs is the failure. 2. The product owner or project manager, a business decision. 3. Retesting confirms the specific defect is fixed; regression confirms nothing else broke. 4. Reopened. 5. Any three of: clear title, steps to reproduce, expected result, actual result, environment, test data, severity, evidence.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You now know what testing involves end to end, from requirements to closed defects. Chapter nine asks the question every manager asks: how long will it all take?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8885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0A04B"/>
                </a:solidFill>
                <a:latin typeface="Nunito Sans" pitchFamily="34" charset="0"/>
                <a:ea typeface="Nunito Sans" pitchFamily="34" charset="-122"/>
                <a:cs typeface="Nunito Sans" pitchFamily="34" charset="-120"/>
              </a:rPr>
              <a:t>Test Design &amp; Strategy · Unit 8</a:t>
            </a:r>
            <a:endParaRPr lang="en-US" sz="1200" dirty="0"/>
          </a:p>
        </p:txBody>
      </p:sp>
      <p:sp>
        <p:nvSpPr>
          <p:cNvPr id="3" name="Text 1"/>
          <p:cNvSpPr>
            <a:spLocks noGrp="1"/>
          </p:cNvSpPr>
          <p:nvPr>
            <p:ph type="title"/>
          </p:nvPr>
        </p:nvSpPr>
        <p:spPr>
          <a:xfrm>
            <a:off x="812800" y="2355850"/>
            <a:ext cx="10883392" cy="878814"/>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BFBF8"/>
                </a:solidFill>
                <a:latin typeface="Domine" pitchFamily="18" charset="0"/>
                <a:ea typeface="Domine" pitchFamily="18" charset="-122"/>
                <a:cs typeface="Domine" pitchFamily="18" charset="-120"/>
              </a:rPr>
              <a:t>Defect Life Cycle</a:t>
            </a:r>
            <a:endParaRPr lang="en-US" sz="6400" dirty="0"/>
          </a:p>
        </p:txBody>
      </p:sp>
      <p:sp>
        <p:nvSpPr>
          <p:cNvPr id="4" name="Text 2"/>
          <p:cNvSpPr/>
          <p:nvPr/>
        </p:nvSpPr>
        <p:spPr>
          <a:xfrm>
            <a:off x="812800" y="3463264"/>
            <a:ext cx="850265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D3E3"/>
                </a:solidFill>
                <a:latin typeface="Nunito Sans" pitchFamily="34" charset="0"/>
                <a:ea typeface="Nunito Sans" pitchFamily="34" charset="-122"/>
                <a:cs typeface="Nunito Sans" pitchFamily="34" charset="-120"/>
              </a:rPr>
              <a:t>Reporting a bug so it gets fixed, and following it from discovery to closure</a:t>
            </a:r>
            <a:endParaRPr lang="en-US" sz="2000" dirty="0"/>
          </a:p>
        </p:txBody>
      </p:sp>
      <p:sp>
        <p:nvSpPr>
          <p:cNvPr id="5" name="Shape 3"/>
          <p:cNvSpPr/>
          <p:nvPr/>
        </p:nvSpPr>
        <p:spPr>
          <a:xfrm>
            <a:off x="812800" y="4428464"/>
            <a:ext cx="1016000" cy="38100"/>
          </a:xfrm>
          <a:prstGeom prst="roundRect">
            <a:avLst>
              <a:gd name="adj" fmla="val 50000"/>
            </a:avLst>
          </a:prstGeom>
          <a:solidFill>
            <a:srgbClr val="F0A04B"/>
          </a:solidFill>
          <a:ln/>
        </p:spPr>
      </p:sp>
      <p:sp>
        <p:nvSpPr>
          <p:cNvPr id="6" name="Text 4"/>
          <p:cNvSpPr/>
          <p:nvPr/>
        </p:nvSpPr>
        <p:spPr>
          <a:xfrm>
            <a:off x="812800" y="472056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30 minutes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LEARNING OBJECTIVES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this unit covers:</a:t>
            </a:r>
            <a:endParaRPr lang="en-US" sz="3200" dirty="0"/>
          </a:p>
        </p:txBody>
      </p:sp>
      <p:sp>
        <p:nvSpPr>
          <p:cNvPr id="4" name="Text 2"/>
          <p:cNvSpPr/>
          <p:nvPr/>
        </p:nvSpPr>
        <p:spPr>
          <a:xfrm>
            <a:off x="812800" y="1854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09167"/>
            <a:ext cx="6029801"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Define a defect and distinguish error, defect and failure.</a:t>
            </a:r>
            <a:endParaRPr lang="en-US" sz="1600" dirty="0"/>
          </a:p>
        </p:txBody>
      </p:sp>
      <p:sp>
        <p:nvSpPr>
          <p:cNvPr id="6" name="Text 4"/>
          <p:cNvSpPr/>
          <p:nvPr/>
        </p:nvSpPr>
        <p:spPr>
          <a:xfrm>
            <a:off x="812800" y="23875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42567"/>
            <a:ext cx="441452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Write a clear, reproducible defect report.</a:t>
            </a:r>
            <a:endParaRPr lang="en-US" sz="1600" dirty="0"/>
          </a:p>
        </p:txBody>
      </p:sp>
      <p:sp>
        <p:nvSpPr>
          <p:cNvPr id="8" name="Text 6"/>
          <p:cNvSpPr/>
          <p:nvPr/>
        </p:nvSpPr>
        <p:spPr>
          <a:xfrm>
            <a:off x="812800" y="29209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2975967"/>
            <a:ext cx="7112397"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Assign severity and priority correctly, and explain why they differ.</a:t>
            </a:r>
            <a:endParaRPr lang="en-US" sz="1600" dirty="0"/>
          </a:p>
        </p:txBody>
      </p:sp>
      <p:sp>
        <p:nvSpPr>
          <p:cNvPr id="10" name="Text 8"/>
          <p:cNvSpPr/>
          <p:nvPr/>
        </p:nvSpPr>
        <p:spPr>
          <a:xfrm>
            <a:off x="812800" y="34543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509367"/>
            <a:ext cx="7389019"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Trace a defect through its life cycle states, including alternate paths.</a:t>
            </a:r>
            <a:endParaRPr lang="en-US" sz="1600" dirty="0"/>
          </a:p>
        </p:txBody>
      </p:sp>
      <p:sp>
        <p:nvSpPr>
          <p:cNvPr id="12" name="Text 10"/>
          <p:cNvSpPr/>
          <p:nvPr/>
        </p:nvSpPr>
        <p:spPr>
          <a:xfrm>
            <a:off x="812800" y="39877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5</a:t>
            </a:r>
            <a:endParaRPr lang="en-US" sz="2000" dirty="0"/>
          </a:p>
        </p:txBody>
      </p:sp>
      <p:sp>
        <p:nvSpPr>
          <p:cNvPr id="13" name="Text 11"/>
          <p:cNvSpPr/>
          <p:nvPr/>
        </p:nvSpPr>
        <p:spPr>
          <a:xfrm>
            <a:off x="1422400" y="4042767"/>
            <a:ext cx="655367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Explain ownership, retesting, regression testing and closure.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WHAT IS A DEFECT?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Error, defect, failure</a:t>
            </a:r>
            <a:endParaRPr lang="en-US" sz="3200" dirty="0"/>
          </a:p>
        </p:txBody>
      </p:sp>
      <p:sp>
        <p:nvSpPr>
          <p:cNvPr id="4" name="Shape 2"/>
          <p:cNvSpPr/>
          <p:nvPr/>
        </p:nvSpPr>
        <p:spPr>
          <a:xfrm>
            <a:off x="812800" y="1828735"/>
            <a:ext cx="2992438" cy="1762588"/>
          </a:xfrm>
          <a:prstGeom prst="roundRect">
            <a:avLst>
              <a:gd name="adj" fmla="val 5764"/>
            </a:avLst>
          </a:prstGeom>
          <a:solidFill>
            <a:srgbClr val="EEF2F7"/>
          </a:solidFill>
          <a:ln/>
        </p:spPr>
      </p:sp>
      <p:sp>
        <p:nvSpPr>
          <p:cNvPr id="5" name="Text 3"/>
          <p:cNvSpPr/>
          <p:nvPr/>
        </p:nvSpPr>
        <p:spPr>
          <a:xfrm>
            <a:off x="1016000" y="2031935"/>
            <a:ext cx="266361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5C9E"/>
                </a:solidFill>
                <a:latin typeface="Nunito Sans" pitchFamily="34" charset="0"/>
                <a:ea typeface="Nunito Sans" pitchFamily="34" charset="-122"/>
                <a:cs typeface="Nunito Sans" pitchFamily="34" charset="-120"/>
              </a:rPr>
              <a:t>HUMAN</a:t>
            </a:r>
            <a:endParaRPr lang="en-US" sz="1200" dirty="0"/>
          </a:p>
        </p:txBody>
      </p:sp>
      <p:sp>
        <p:nvSpPr>
          <p:cNvPr id="6" name="Text 4"/>
          <p:cNvSpPr/>
          <p:nvPr/>
        </p:nvSpPr>
        <p:spPr>
          <a:xfrm>
            <a:off x="1016000" y="2321455"/>
            <a:ext cx="2663619"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Nunito Sans" pitchFamily="34" charset="0"/>
                <a:ea typeface="Nunito Sans" pitchFamily="34" charset="-122"/>
                <a:cs typeface="Nunito Sans" pitchFamily="34" charset="-120"/>
              </a:rPr>
              <a:t>Error</a:t>
            </a:r>
            <a:endParaRPr lang="en-US" sz="1800" dirty="0"/>
          </a:p>
        </p:txBody>
      </p:sp>
      <p:sp>
        <p:nvSpPr>
          <p:cNvPr id="7" name="Text 5"/>
          <p:cNvSpPr/>
          <p:nvPr/>
        </p:nvSpPr>
        <p:spPr>
          <a:xfrm>
            <a:off x="1016000" y="2671961"/>
            <a:ext cx="26636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A mistake made by a person</a:t>
            </a:r>
            <a:endParaRPr lang="en-US" sz="1200" dirty="0"/>
          </a:p>
        </p:txBody>
      </p:sp>
      <p:sp>
        <p:nvSpPr>
          <p:cNvPr id="8" name="Text 6"/>
          <p:cNvSpPr/>
          <p:nvPr/>
        </p:nvSpPr>
        <p:spPr>
          <a:xfrm>
            <a:off x="1016000" y="2961481"/>
            <a:ext cx="266361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Developer misreads “18 or older” as “older than 18”</a:t>
            </a:r>
            <a:endParaRPr lang="en-US" sz="1200" dirty="0"/>
          </a:p>
        </p:txBody>
      </p:sp>
      <p:pic>
        <p:nvPicPr>
          <p:cNvPr id="9" name="Image 0" descr="arrow-right"/>
          <p:cNvPicPr>
            <a:picLocks noChangeAspect="1"/>
          </p:cNvPicPr>
          <p:nvPr/>
        </p:nvPicPr>
        <p:blipFill>
          <a:blip r:embed="rId3"/>
          <a:srcRect/>
          <a:stretch/>
        </p:blipFill>
        <p:spPr>
          <a:xfrm>
            <a:off x="3961011" y="2489068"/>
            <a:ext cx="355600" cy="177800"/>
          </a:xfrm>
          <a:prstGeom prst="rect">
            <a:avLst/>
          </a:prstGeom>
        </p:spPr>
      </p:pic>
      <p:sp>
        <p:nvSpPr>
          <p:cNvPr id="10" name="Text 7"/>
          <p:cNvSpPr/>
          <p:nvPr/>
        </p:nvSpPr>
        <p:spPr>
          <a:xfrm>
            <a:off x="3906838" y="2717668"/>
            <a:ext cx="5567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causes</a:t>
            </a:r>
            <a:endParaRPr lang="en-US" sz="1200" dirty="0"/>
          </a:p>
        </p:txBody>
      </p:sp>
      <p:sp>
        <p:nvSpPr>
          <p:cNvPr id="11" name="Shape 8"/>
          <p:cNvSpPr/>
          <p:nvPr/>
        </p:nvSpPr>
        <p:spPr>
          <a:xfrm>
            <a:off x="4472384" y="1828735"/>
            <a:ext cx="2992504" cy="1762588"/>
          </a:xfrm>
          <a:prstGeom prst="roundRect">
            <a:avLst>
              <a:gd name="adj" fmla="val 5764"/>
            </a:avLst>
          </a:prstGeom>
          <a:solidFill>
            <a:srgbClr val="14213D"/>
          </a:solidFill>
          <a:ln/>
        </p:spPr>
      </p:sp>
      <p:sp>
        <p:nvSpPr>
          <p:cNvPr id="12" name="Text 9"/>
          <p:cNvSpPr/>
          <p:nvPr/>
        </p:nvSpPr>
        <p:spPr>
          <a:xfrm>
            <a:off x="4675584" y="2031935"/>
            <a:ext cx="266368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4B"/>
                </a:solidFill>
                <a:latin typeface="Nunito Sans" pitchFamily="34" charset="0"/>
                <a:ea typeface="Nunito Sans" pitchFamily="34" charset="-122"/>
                <a:cs typeface="Nunito Sans" pitchFamily="34" charset="-120"/>
              </a:rPr>
              <a:t>WORK PRODUCT</a:t>
            </a:r>
            <a:endParaRPr lang="en-US" sz="1200" dirty="0"/>
          </a:p>
        </p:txBody>
      </p:sp>
      <p:sp>
        <p:nvSpPr>
          <p:cNvPr id="13" name="Text 10"/>
          <p:cNvSpPr/>
          <p:nvPr/>
        </p:nvSpPr>
        <p:spPr>
          <a:xfrm>
            <a:off x="4675584" y="2321455"/>
            <a:ext cx="2663687"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BFBF8"/>
                </a:solidFill>
                <a:latin typeface="Nunito Sans" pitchFamily="34" charset="0"/>
                <a:ea typeface="Nunito Sans" pitchFamily="34" charset="-122"/>
                <a:cs typeface="Nunito Sans" pitchFamily="34" charset="-120"/>
              </a:rPr>
              <a:t>Defect (bug, fault)</a:t>
            </a:r>
            <a:endParaRPr lang="en-US" sz="1800" dirty="0"/>
          </a:p>
        </p:txBody>
      </p:sp>
      <p:sp>
        <p:nvSpPr>
          <p:cNvPr id="14" name="Text 11"/>
          <p:cNvSpPr/>
          <p:nvPr/>
        </p:nvSpPr>
        <p:spPr>
          <a:xfrm>
            <a:off x="4675584" y="2671961"/>
            <a:ext cx="27893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4F0"/>
                </a:solidFill>
                <a:latin typeface="Nunito Sans" pitchFamily="34" charset="0"/>
                <a:ea typeface="Nunito Sans" pitchFamily="34" charset="-122"/>
                <a:cs typeface="Nunito Sans" pitchFamily="34" charset="-120"/>
              </a:rPr>
              <a:t>A flaw in code, requirement or design</a:t>
            </a:r>
            <a:endParaRPr lang="en-US" sz="1200" dirty="0"/>
          </a:p>
        </p:txBody>
      </p:sp>
      <p:sp>
        <p:nvSpPr>
          <p:cNvPr id="15" name="Text 12"/>
          <p:cNvSpPr/>
          <p:nvPr/>
        </p:nvSpPr>
        <p:spPr>
          <a:xfrm>
            <a:off x="4675584" y="2961481"/>
            <a:ext cx="266368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BFBF8"/>
                </a:solidFill>
                <a:latin typeface="JetBrains Mono" pitchFamily="49" charset="0"/>
                <a:ea typeface="JetBrains Mono" pitchFamily="49" charset="-122"/>
                <a:cs typeface="JetBrains Mono" pitchFamily="49" charset="-120"/>
              </a:rPr>
              <a:t>if (age &gt; 18)</a:t>
            </a:r>
            <a:endParaRPr lang="en-US" sz="1200" dirty="0"/>
          </a:p>
        </p:txBody>
      </p:sp>
      <p:pic>
        <p:nvPicPr>
          <p:cNvPr id="16" name="Image 1" descr="arrow-right"/>
          <p:cNvPicPr>
            <a:picLocks noChangeAspect="1"/>
          </p:cNvPicPr>
          <p:nvPr/>
        </p:nvPicPr>
        <p:blipFill>
          <a:blip r:embed="rId3"/>
          <a:srcRect/>
          <a:stretch/>
        </p:blipFill>
        <p:spPr>
          <a:xfrm>
            <a:off x="7747992" y="2489068"/>
            <a:ext cx="355600" cy="177800"/>
          </a:xfrm>
          <a:prstGeom prst="rect">
            <a:avLst/>
          </a:prstGeom>
        </p:spPr>
      </p:pic>
      <p:sp>
        <p:nvSpPr>
          <p:cNvPr id="17" name="Text 13"/>
          <p:cNvSpPr/>
          <p:nvPr/>
        </p:nvSpPr>
        <p:spPr>
          <a:xfrm>
            <a:off x="7566489" y="2717668"/>
            <a:ext cx="8202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may cause</a:t>
            </a:r>
            <a:endParaRPr lang="en-US" sz="1200" dirty="0"/>
          </a:p>
        </p:txBody>
      </p:sp>
      <p:sp>
        <p:nvSpPr>
          <p:cNvPr id="18" name="Shape 14"/>
          <p:cNvSpPr/>
          <p:nvPr/>
        </p:nvSpPr>
        <p:spPr>
          <a:xfrm>
            <a:off x="8386697" y="1828735"/>
            <a:ext cx="2992504" cy="1762588"/>
          </a:xfrm>
          <a:prstGeom prst="roundRect">
            <a:avLst>
              <a:gd name="adj" fmla="val 5764"/>
            </a:avLst>
          </a:prstGeom>
          <a:solidFill>
            <a:srgbClr val="EEF2F7"/>
          </a:solidFill>
          <a:ln/>
        </p:spPr>
      </p:sp>
      <p:sp>
        <p:nvSpPr>
          <p:cNvPr id="19" name="Text 15"/>
          <p:cNvSpPr/>
          <p:nvPr/>
        </p:nvSpPr>
        <p:spPr>
          <a:xfrm>
            <a:off x="8589897" y="2031935"/>
            <a:ext cx="266368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5C9E"/>
                </a:solidFill>
                <a:latin typeface="Nunito Sans" pitchFamily="34" charset="0"/>
                <a:ea typeface="Nunito Sans" pitchFamily="34" charset="-122"/>
                <a:cs typeface="Nunito Sans" pitchFamily="34" charset="-120"/>
              </a:rPr>
              <a:t>RUNNING SYSTEM</a:t>
            </a:r>
            <a:endParaRPr lang="en-US" sz="1200" dirty="0"/>
          </a:p>
        </p:txBody>
      </p:sp>
      <p:sp>
        <p:nvSpPr>
          <p:cNvPr id="20" name="Text 16"/>
          <p:cNvSpPr/>
          <p:nvPr/>
        </p:nvSpPr>
        <p:spPr>
          <a:xfrm>
            <a:off x="8589897" y="2321455"/>
            <a:ext cx="2663687"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Nunito Sans" pitchFamily="34" charset="0"/>
                <a:ea typeface="Nunito Sans" pitchFamily="34" charset="-122"/>
                <a:cs typeface="Nunito Sans" pitchFamily="34" charset="-120"/>
              </a:rPr>
              <a:t>Failure</a:t>
            </a:r>
            <a:endParaRPr lang="en-US" sz="1800" dirty="0"/>
          </a:p>
        </p:txBody>
      </p:sp>
      <p:sp>
        <p:nvSpPr>
          <p:cNvPr id="21" name="Text 17"/>
          <p:cNvSpPr/>
          <p:nvPr/>
        </p:nvSpPr>
        <p:spPr>
          <a:xfrm>
            <a:off x="8589897" y="2671961"/>
            <a:ext cx="266368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Observable wrong behaviour</a:t>
            </a:r>
            <a:endParaRPr lang="en-US" sz="1200" dirty="0"/>
          </a:p>
        </p:txBody>
      </p:sp>
      <p:sp>
        <p:nvSpPr>
          <p:cNvPr id="22" name="Text 18"/>
          <p:cNvSpPr/>
          <p:nvPr/>
        </p:nvSpPr>
        <p:spPr>
          <a:xfrm>
            <a:off x="8589897" y="2961481"/>
            <a:ext cx="266368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An 18-year-old is rejected at signup</a:t>
            </a:r>
            <a:endParaRPr lang="en-US" sz="1200" dirty="0"/>
          </a:p>
        </p:txBody>
      </p:sp>
      <p:sp>
        <p:nvSpPr>
          <p:cNvPr id="23" name="Text 19"/>
          <p:cNvSpPr/>
          <p:nvPr/>
        </p:nvSpPr>
        <p:spPr>
          <a:xfrm>
            <a:off x="812800" y="3870722"/>
            <a:ext cx="348826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Not every defect causes a failure: if no 18-year-old signs up, it stays hidden.</a:t>
            </a:r>
            <a:endParaRPr lang="en-US" sz="1300" dirty="0"/>
          </a:p>
        </p:txBody>
      </p:sp>
      <p:sp>
        <p:nvSpPr>
          <p:cNvPr id="24" name="Text 20"/>
          <p:cNvSpPr/>
          <p:nvPr/>
        </p:nvSpPr>
        <p:spPr>
          <a:xfrm>
            <a:off x="4402667" y="3870722"/>
            <a:ext cx="348826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Failures can also come from the environment: hardware, misconfiguration.</a:t>
            </a:r>
            <a:endParaRPr lang="en-US" sz="1300" dirty="0"/>
          </a:p>
        </p:txBody>
      </p:sp>
      <p:sp>
        <p:nvSpPr>
          <p:cNvPr id="25" name="Text 21"/>
          <p:cNvSpPr/>
          <p:nvPr/>
        </p:nvSpPr>
        <p:spPr>
          <a:xfrm>
            <a:off x="7992534" y="3870722"/>
            <a:ext cx="348826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Testers </a:t>
            </a:r>
            <a:r>
              <a:rPr lang="en-US" sz="1300" b="1" dirty="0">
                <a:solidFill>
                  <a:srgbClr val="14213D"/>
                </a:solidFill>
                <a:latin typeface="Nunito Sans" pitchFamily="34" charset="0"/>
                <a:ea typeface="Nunito Sans" pitchFamily="34" charset="-122"/>
                <a:cs typeface="Nunito Sans" pitchFamily="34" charset="-120"/>
              </a:rPr>
              <a:t>observe failures</a:t>
            </a:r>
            <a:r>
              <a:rPr lang="en-US" sz="1300" dirty="0">
                <a:solidFill>
                  <a:srgbClr val="3D4A5C"/>
                </a:solidFill>
                <a:latin typeface="Nunito Sans" pitchFamily="34" charset="0"/>
                <a:ea typeface="Nunito Sans" pitchFamily="34" charset="-122"/>
                <a:cs typeface="Nunito Sans" pitchFamily="34" charset="-120"/>
              </a:rPr>
              <a:t> and report defects. Developers find and fix them.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ANATOMY OF A DEFECT REPORT · 1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Reproducible without talking to you</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5"/>
          <a:ext cx="10553700" cy="3105547"/>
        </p:xfrm>
        <a:graphic>
          <a:graphicData uri="http://schemas.openxmlformats.org/drawingml/2006/table">
            <a:tbl>
              <a:tblPr/>
              <a:tblGrid>
                <a:gridCol w="2532888">
                  <a:extLst>
                    <a:ext uri="{9D8B030D-6E8A-4147-A177-3AD203B41FA5}">
                      <a16:colId xmlns:a16="http://schemas.microsoft.com/office/drawing/2014/main" val="20000"/>
                    </a:ext>
                  </a:extLst>
                </a:gridCol>
                <a:gridCol w="8020812">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Field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Example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Defect ID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BUG-250 (auto-generated by Jira / Azure DevOps)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Title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Checkout: order is created even when payment is declined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Module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Checkout → Payment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Environment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QA env, build 3.2.0-rc4, Chrome 129, Windows 11</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Preconditions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User asha@example.com logged in; 1 item in cart (₹1,200)</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Test data</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Card 4000 0000 0000 0002 (gateway test card that always declines)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590418">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Steps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1. Cart → Checkout · 2. Select saved address · 3. Card 4000…0002, exp 12/28, CVV 123 · 4. Click Place Order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ANATOMY OF A DEFECT REPORT · 2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Expected vs. actual, then evidence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5"/>
          <a:ext cx="10553700" cy="2993827"/>
        </p:xfrm>
        <a:graphic>
          <a:graphicData uri="http://schemas.openxmlformats.org/drawingml/2006/table">
            <a:tbl>
              <a:tblPr/>
              <a:tblGrid>
                <a:gridCol w="2532888">
                  <a:extLst>
                    <a:ext uri="{9D8B030D-6E8A-4147-A177-3AD203B41FA5}">
                      <a16:colId xmlns:a16="http://schemas.microsoft.com/office/drawing/2014/main" val="20000"/>
                    </a:ext>
                  </a:extLst>
                </a:gridCol>
                <a:gridCol w="8020812">
                  <a:extLst>
                    <a:ext uri="{9D8B030D-6E8A-4147-A177-3AD203B41FA5}">
                      <a16:colId xmlns:a16="http://schemas.microsoft.com/office/drawing/2014/main" val="20001"/>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Field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Example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Expected result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Error “Payment declined”; no order created; cart still contains the item (per US-301 AC7)</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Actual result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“Payment declined” shown, but order ORD-10234 created as “Pending” and visible in My Orders; cart emptied</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Severity · Priority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Critical · P1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Reproducibility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Always (5/5 attempts)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Attachments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Screenshot of My Orders, screen recording, network log (HAR)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Linked to</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TC_CHK_005 / US-301 AC7</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Reported by / date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QA – Priya, 06-Oct-2026</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Assigned to</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(set by triage)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TIPS FOR GREAT DEFECT REPORTS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Do this, not that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5"/>
          <a:ext cx="10553700" cy="2993827"/>
        </p:xfrm>
        <a:graphic>
          <a:graphicData uri="http://schemas.openxmlformats.org/drawingml/2006/table">
            <a:tbl>
              <a:tblPr/>
              <a:tblGrid>
                <a:gridCol w="5910072">
                  <a:extLst>
                    <a:ext uri="{9D8B030D-6E8A-4147-A177-3AD203B41FA5}">
                      <a16:colId xmlns:a16="http://schemas.microsoft.com/office/drawing/2014/main" val="20000"/>
                    </a:ext>
                  </a:extLst>
                </a:gridCol>
                <a:gridCol w="4643628">
                  <a:extLst>
                    <a:ext uri="{9D8B030D-6E8A-4147-A177-3AD203B41FA5}">
                      <a16:colId xmlns:a16="http://schemas.microsoft.com/office/drawing/2014/main" val="20001"/>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Do</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Don't</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Title = Where + What + When: “Checkout: order created when payment declined”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“Checkout broken”, “Bug!!!”</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One defect per report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Combine three issues in one ticket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Exact steps and test data</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“Try paying with a bad card”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State the expected result and its source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Assume the developer knows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Attach evidence: screenshot, video, logs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Rely on description only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Give reproducibility: Always, or Intermittent 2/10</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Omit it, and get “cannot reproduce”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Stay factual and neutral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“The developer obviously didn't test this”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Search for duplicates first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Raise the same bug three times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SEVERITY VS. PRIORITY</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Two different questions</a:t>
            </a:r>
            <a:endParaRPr lang="en-US" sz="3200" dirty="0"/>
          </a:p>
        </p:txBody>
      </p:sp>
      <p:sp>
        <p:nvSpPr>
          <p:cNvPr id="4" name="Shape 2"/>
          <p:cNvSpPr/>
          <p:nvPr/>
        </p:nvSpPr>
        <p:spPr>
          <a:xfrm>
            <a:off x="812800" y="1854135"/>
            <a:ext cx="5168900" cy="1875698"/>
          </a:xfrm>
          <a:prstGeom prst="roundRect">
            <a:avLst>
              <a:gd name="adj" fmla="val 5417"/>
            </a:avLst>
          </a:prstGeom>
          <a:solidFill>
            <a:srgbClr val="24345A"/>
          </a:solidFill>
          <a:ln/>
        </p:spPr>
      </p:sp>
      <p:sp>
        <p:nvSpPr>
          <p:cNvPr id="5" name="Text 3"/>
          <p:cNvSpPr/>
          <p:nvPr/>
        </p:nvSpPr>
        <p:spPr>
          <a:xfrm>
            <a:off x="1066800" y="2108135"/>
            <a:ext cx="4800727"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C9D3E3"/>
                </a:solidFill>
                <a:latin typeface="Domine" pitchFamily="18" charset="0"/>
                <a:ea typeface="Domine" pitchFamily="18" charset="-122"/>
                <a:cs typeface="Domine" pitchFamily="18" charset="-120"/>
              </a:rPr>
              <a:t>Severity</a:t>
            </a:r>
            <a:endParaRPr lang="en-US" sz="2200" dirty="0"/>
          </a:p>
        </p:txBody>
      </p:sp>
      <p:sp>
        <p:nvSpPr>
          <p:cNvPr id="6" name="Text 4"/>
          <p:cNvSpPr/>
          <p:nvPr/>
        </p:nvSpPr>
        <p:spPr>
          <a:xfrm>
            <a:off x="1066800" y="2570361"/>
            <a:ext cx="4800727" cy="29970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BFBF8"/>
                </a:solidFill>
                <a:latin typeface="Nunito Sans" pitchFamily="34" charset="0"/>
                <a:ea typeface="Nunito Sans" pitchFamily="34" charset="-122"/>
                <a:cs typeface="Nunito Sans" pitchFamily="34" charset="-120"/>
              </a:rPr>
              <a:t>How badly does it affect the </a:t>
            </a:r>
            <a:r>
              <a:rPr lang="en-US" sz="1600" b="1" dirty="0">
                <a:solidFill>
                  <a:srgbClr val="FBFBF8"/>
                </a:solidFill>
                <a:latin typeface="Nunito Sans" pitchFamily="34" charset="0"/>
                <a:ea typeface="Nunito Sans" pitchFamily="34" charset="-122"/>
                <a:cs typeface="Nunito Sans" pitchFamily="34" charset="-120"/>
              </a:rPr>
              <a:t>system</a:t>
            </a:r>
            <a:r>
              <a:rPr lang="en-US" sz="1600" dirty="0">
                <a:solidFill>
                  <a:srgbClr val="FBFBF8"/>
                </a:solidFill>
                <a:latin typeface="Nunito Sans" pitchFamily="34" charset="0"/>
                <a:ea typeface="Nunito Sans" pitchFamily="34" charset="-122"/>
                <a:cs typeface="Nunito Sans" pitchFamily="34" charset="-120"/>
              </a:rPr>
              <a:t>?</a:t>
            </a:r>
            <a:endParaRPr lang="en-US" sz="1600" dirty="0"/>
          </a:p>
        </p:txBody>
      </p:sp>
      <p:sp>
        <p:nvSpPr>
          <p:cNvPr id="7" name="Text 5"/>
          <p:cNvSpPr/>
          <p:nvPr/>
        </p:nvSpPr>
        <p:spPr>
          <a:xfrm>
            <a:off x="1066800" y="2971670"/>
            <a:ext cx="4800727" cy="504164"/>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DCE4F0"/>
                </a:solidFill>
                <a:latin typeface="Nunito Sans" pitchFamily="34" charset="0"/>
                <a:ea typeface="Nunito Sans" pitchFamily="34" charset="-122"/>
                <a:cs typeface="Nunito Sans" pitchFamily="34" charset="-120"/>
              </a:rPr>
              <a:t>Set by:</a:t>
            </a:r>
            <a:r>
              <a:rPr lang="en-US" sz="1300" dirty="0">
                <a:solidFill>
                  <a:srgbClr val="DCE4F0"/>
                </a:solidFill>
                <a:latin typeface="Nunito Sans" pitchFamily="34" charset="0"/>
                <a:ea typeface="Nunito Sans" pitchFamily="34" charset="-122"/>
                <a:cs typeface="Nunito Sans" pitchFamily="34" charset="-120"/>
              </a:rPr>
              <a:t> tester (technical judgement)</a:t>
            </a:r>
            <a:endParaRPr lang="en-US" sz="1300" dirty="0"/>
          </a:p>
          <a:p>
            <a:pPr marL="0" indent="0" algn="l">
              <a:lnSpc>
                <a:spcPts val="1885"/>
              </a:lnSpc>
              <a:buNone/>
            </a:pPr>
            <a:r>
              <a:rPr lang="en-US" sz="1300" b="1" dirty="0">
                <a:solidFill>
                  <a:srgbClr val="DCE4F0"/>
                </a:solidFill>
                <a:latin typeface="Nunito Sans" pitchFamily="34" charset="0"/>
                <a:ea typeface="Nunito Sans" pitchFamily="34" charset="-122"/>
                <a:cs typeface="Nunito Sans" pitchFamily="34" charset="-120"/>
              </a:rPr>
              <a:t>Changes?</a:t>
            </a:r>
            <a:r>
              <a:rPr lang="en-US" sz="1300" dirty="0">
                <a:solidFill>
                  <a:srgbClr val="DCE4F0"/>
                </a:solidFill>
                <a:latin typeface="Nunito Sans" pitchFamily="34" charset="0"/>
                <a:ea typeface="Nunito Sans" pitchFamily="34" charset="-122"/>
                <a:cs typeface="Nunito Sans" pitchFamily="34" charset="-120"/>
              </a:rPr>
              <a:t> Rarely; the impact is what it is</a:t>
            </a:r>
            <a:endParaRPr lang="en-US" sz="1300" dirty="0"/>
          </a:p>
        </p:txBody>
      </p:sp>
      <p:sp>
        <p:nvSpPr>
          <p:cNvPr id="8" name="Shape 6"/>
          <p:cNvSpPr/>
          <p:nvPr/>
        </p:nvSpPr>
        <p:spPr>
          <a:xfrm>
            <a:off x="6191250" y="1860485"/>
            <a:ext cx="5181600" cy="1862998"/>
          </a:xfrm>
          <a:prstGeom prst="roundRect">
            <a:avLst>
              <a:gd name="adj" fmla="val 5113"/>
            </a:avLst>
          </a:prstGeom>
          <a:solidFill>
            <a:srgbClr val="24345A"/>
          </a:solidFill>
          <a:ln w="12700">
            <a:solidFill>
              <a:srgbClr val="F0A04B"/>
            </a:solidFill>
            <a:prstDash val="solid"/>
          </a:ln>
        </p:spPr>
      </p:sp>
      <p:sp>
        <p:nvSpPr>
          <p:cNvPr id="9" name="Text 7"/>
          <p:cNvSpPr/>
          <p:nvPr/>
        </p:nvSpPr>
        <p:spPr>
          <a:xfrm>
            <a:off x="6451600" y="2120835"/>
            <a:ext cx="4800727"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0A04B"/>
                </a:solidFill>
                <a:latin typeface="Domine" pitchFamily="18" charset="0"/>
                <a:ea typeface="Domine" pitchFamily="18" charset="-122"/>
                <a:cs typeface="Domine" pitchFamily="18" charset="-120"/>
              </a:rPr>
              <a:t>Priority</a:t>
            </a:r>
            <a:endParaRPr lang="en-US" sz="2200" dirty="0"/>
          </a:p>
        </p:txBody>
      </p:sp>
      <p:sp>
        <p:nvSpPr>
          <p:cNvPr id="10" name="Text 8"/>
          <p:cNvSpPr/>
          <p:nvPr/>
        </p:nvSpPr>
        <p:spPr>
          <a:xfrm>
            <a:off x="6451600" y="2583061"/>
            <a:ext cx="4800727" cy="29970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BFBF8"/>
                </a:solidFill>
                <a:latin typeface="Nunito Sans" pitchFamily="34" charset="0"/>
                <a:ea typeface="Nunito Sans" pitchFamily="34" charset="-122"/>
                <a:cs typeface="Nunito Sans" pitchFamily="34" charset="-120"/>
              </a:rPr>
              <a:t>How urgently should the </a:t>
            </a:r>
            <a:r>
              <a:rPr lang="en-US" sz="1600" b="1" dirty="0">
                <a:solidFill>
                  <a:srgbClr val="FBFBF8"/>
                </a:solidFill>
                <a:latin typeface="Nunito Sans" pitchFamily="34" charset="0"/>
                <a:ea typeface="Nunito Sans" pitchFamily="34" charset="-122"/>
                <a:cs typeface="Nunito Sans" pitchFamily="34" charset="-120"/>
              </a:rPr>
              <a:t>business</a:t>
            </a:r>
            <a:r>
              <a:rPr lang="en-US" sz="1600" dirty="0">
                <a:solidFill>
                  <a:srgbClr val="FBFBF8"/>
                </a:solidFill>
                <a:latin typeface="Nunito Sans" pitchFamily="34" charset="0"/>
                <a:ea typeface="Nunito Sans" pitchFamily="34" charset="-122"/>
                <a:cs typeface="Nunito Sans" pitchFamily="34" charset="-120"/>
              </a:rPr>
              <a:t> fix it?</a:t>
            </a:r>
            <a:endParaRPr lang="en-US" sz="1600" dirty="0"/>
          </a:p>
        </p:txBody>
      </p:sp>
      <p:sp>
        <p:nvSpPr>
          <p:cNvPr id="11" name="Text 9"/>
          <p:cNvSpPr/>
          <p:nvPr/>
        </p:nvSpPr>
        <p:spPr>
          <a:xfrm>
            <a:off x="6451600" y="2984370"/>
            <a:ext cx="4800727" cy="504164"/>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DCE4F0"/>
                </a:solidFill>
                <a:latin typeface="Nunito Sans" pitchFamily="34" charset="0"/>
                <a:ea typeface="Nunito Sans" pitchFamily="34" charset="-122"/>
                <a:cs typeface="Nunito Sans" pitchFamily="34" charset="-120"/>
              </a:rPr>
              <a:t>Set by:</a:t>
            </a:r>
            <a:r>
              <a:rPr lang="en-US" sz="1300" dirty="0">
                <a:solidFill>
                  <a:srgbClr val="DCE4F0"/>
                </a:solidFill>
                <a:latin typeface="Nunito Sans" pitchFamily="34" charset="0"/>
                <a:ea typeface="Nunito Sans" pitchFamily="34" charset="-122"/>
                <a:cs typeface="Nunito Sans" pitchFamily="34" charset="-120"/>
              </a:rPr>
              <a:t> product owner / PM (business judgement)</a:t>
            </a:r>
            <a:endParaRPr lang="en-US" sz="1300" dirty="0"/>
          </a:p>
          <a:p>
            <a:pPr marL="0" indent="0" algn="l">
              <a:lnSpc>
                <a:spcPts val="1885"/>
              </a:lnSpc>
              <a:buNone/>
            </a:pPr>
            <a:r>
              <a:rPr lang="en-US" sz="1300" b="1" dirty="0">
                <a:solidFill>
                  <a:srgbClr val="DCE4F0"/>
                </a:solidFill>
                <a:latin typeface="Nunito Sans" pitchFamily="34" charset="0"/>
                <a:ea typeface="Nunito Sans" pitchFamily="34" charset="-122"/>
                <a:cs typeface="Nunito Sans" pitchFamily="34" charset="-120"/>
              </a:rPr>
              <a:t>Changes?</a:t>
            </a:r>
            <a:r>
              <a:rPr lang="en-US" sz="1300" dirty="0">
                <a:solidFill>
                  <a:srgbClr val="DCE4F0"/>
                </a:solidFill>
                <a:latin typeface="Nunito Sans" pitchFamily="34" charset="0"/>
                <a:ea typeface="Nunito Sans" pitchFamily="34" charset="-122"/>
                <a:cs typeface="Nunito Sans" pitchFamily="34" charset="-120"/>
              </a:rPr>
              <a:t> Often: release dates, customers, events</a:t>
            </a:r>
            <a:endParaRPr lang="en-US" sz="1300" dirty="0"/>
          </a:p>
        </p:txBody>
      </p:sp>
      <p:sp>
        <p:nvSpPr>
          <p:cNvPr id="12" name="Shape 10"/>
          <p:cNvSpPr/>
          <p:nvPr/>
        </p:nvSpPr>
        <p:spPr>
          <a:xfrm>
            <a:off x="838200" y="4034631"/>
            <a:ext cx="0" cy="359370"/>
          </a:xfrm>
          <a:prstGeom prst="line">
            <a:avLst/>
          </a:prstGeom>
          <a:noFill/>
          <a:ln w="50800">
            <a:solidFill>
              <a:srgbClr val="F0A04B"/>
            </a:solidFill>
            <a:prstDash val="solid"/>
          </a:ln>
        </p:spPr>
      </p:sp>
      <p:sp>
        <p:nvSpPr>
          <p:cNvPr id="13" name="Text 11"/>
          <p:cNvSpPr/>
          <p:nvPr/>
        </p:nvSpPr>
        <p:spPr>
          <a:xfrm>
            <a:off x="1066800" y="4060031"/>
            <a:ext cx="10621772" cy="33397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FBFBF8"/>
                </a:solidFill>
                <a:latin typeface="Domine" pitchFamily="18" charset="0"/>
                <a:ea typeface="Domine" pitchFamily="18" charset="-122"/>
                <a:cs typeface="Domine" pitchFamily="18" charset="-120"/>
              </a:rPr>
              <a:t>Severity is about the system. Priority is about the business.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TYPICAL LEVELS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Severity and priority scales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5"/>
          <a:ext cx="10553700" cy="1876557"/>
        </p:xfrm>
        <a:graphic>
          <a:graphicData uri="http://schemas.openxmlformats.org/drawingml/2006/table">
            <a:tbl>
              <a:tblPr/>
              <a:tblGrid>
                <a:gridCol w="2110740">
                  <a:extLst>
                    <a:ext uri="{9D8B030D-6E8A-4147-A177-3AD203B41FA5}">
                      <a16:colId xmlns:a16="http://schemas.microsoft.com/office/drawing/2014/main" val="20000"/>
                    </a:ext>
                  </a:extLst>
                </a:gridCol>
                <a:gridCol w="4643628">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Severity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Meaning</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Example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Critical / Blocker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Crash, data loss, security breach, core flow unusable, no workaround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Card charged but no order created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High / Major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Major feature broken; workaround is hard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Search returns nothing for any query with a space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Medium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Feature partly broken; reasonable workaround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Sort by price ignores sale prices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Low / Minor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Cosmetic or minor inconvenience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Misaligned icon; typo in footer</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bl>
          </a:graphicData>
        </a:graphic>
      </p:graphicFrame>
      <p:sp>
        <p:nvSpPr>
          <p:cNvPr id="5" name="Shape 2"/>
          <p:cNvSpPr/>
          <p:nvPr/>
        </p:nvSpPr>
        <p:spPr>
          <a:xfrm>
            <a:off x="812800" y="3946593"/>
            <a:ext cx="2546350" cy="810220"/>
          </a:xfrm>
          <a:prstGeom prst="roundRect">
            <a:avLst>
              <a:gd name="adj" fmla="val 9405"/>
            </a:avLst>
          </a:prstGeom>
          <a:solidFill>
            <a:srgbClr val="14213D"/>
          </a:solidFill>
          <a:ln/>
        </p:spPr>
      </p:sp>
      <p:sp>
        <p:nvSpPr>
          <p:cNvPr id="6" name="Text 3"/>
          <p:cNvSpPr/>
          <p:nvPr/>
        </p:nvSpPr>
        <p:spPr>
          <a:xfrm>
            <a:off x="965200" y="4098993"/>
            <a:ext cx="230879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0A04B"/>
                </a:solidFill>
                <a:latin typeface="Nunito Sans" pitchFamily="34" charset="0"/>
                <a:ea typeface="Nunito Sans" pitchFamily="34" charset="-122"/>
                <a:cs typeface="Nunito Sans" pitchFamily="34" charset="-120"/>
              </a:rPr>
              <a:t>P1 · Urgent</a:t>
            </a:r>
            <a:endParaRPr lang="en-US" sz="1500" dirty="0"/>
          </a:p>
        </p:txBody>
      </p:sp>
      <p:sp>
        <p:nvSpPr>
          <p:cNvPr id="7" name="Text 4"/>
          <p:cNvSpPr/>
          <p:nvPr/>
        </p:nvSpPr>
        <p:spPr>
          <a:xfrm>
            <a:off x="965200" y="4391093"/>
            <a:ext cx="23087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4F0"/>
                </a:solidFill>
                <a:latin typeface="Nunito Sans" pitchFamily="34" charset="0"/>
                <a:ea typeface="Nunito Sans" pitchFamily="34" charset="-122"/>
                <a:cs typeface="Nunito Sans" pitchFamily="34" charset="-120"/>
              </a:rPr>
              <a:t>Fix now: hotfix or this build</a:t>
            </a:r>
            <a:endParaRPr lang="en-US" sz="1200" dirty="0"/>
          </a:p>
        </p:txBody>
      </p:sp>
      <p:sp>
        <p:nvSpPr>
          <p:cNvPr id="8" name="Shape 5"/>
          <p:cNvSpPr/>
          <p:nvPr/>
        </p:nvSpPr>
        <p:spPr>
          <a:xfrm>
            <a:off x="3486150" y="3946593"/>
            <a:ext cx="2546350" cy="810220"/>
          </a:xfrm>
          <a:prstGeom prst="roundRect">
            <a:avLst>
              <a:gd name="adj" fmla="val 9405"/>
            </a:avLst>
          </a:prstGeom>
          <a:solidFill>
            <a:srgbClr val="EEF2F7"/>
          </a:solidFill>
          <a:ln/>
        </p:spPr>
      </p:sp>
      <p:sp>
        <p:nvSpPr>
          <p:cNvPr id="9" name="Text 6"/>
          <p:cNvSpPr/>
          <p:nvPr/>
        </p:nvSpPr>
        <p:spPr>
          <a:xfrm>
            <a:off x="3638550" y="4098993"/>
            <a:ext cx="230879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P2 · High</a:t>
            </a:r>
            <a:endParaRPr lang="en-US" sz="1500" dirty="0"/>
          </a:p>
        </p:txBody>
      </p:sp>
      <p:sp>
        <p:nvSpPr>
          <p:cNvPr id="10" name="Text 7"/>
          <p:cNvSpPr/>
          <p:nvPr/>
        </p:nvSpPr>
        <p:spPr>
          <a:xfrm>
            <a:off x="3638550" y="4391093"/>
            <a:ext cx="23087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Fix in this release</a:t>
            </a:r>
            <a:endParaRPr lang="en-US" sz="1200" dirty="0"/>
          </a:p>
        </p:txBody>
      </p:sp>
      <p:sp>
        <p:nvSpPr>
          <p:cNvPr id="11" name="Shape 8"/>
          <p:cNvSpPr/>
          <p:nvPr/>
        </p:nvSpPr>
        <p:spPr>
          <a:xfrm>
            <a:off x="6159500" y="3946593"/>
            <a:ext cx="2546350" cy="810220"/>
          </a:xfrm>
          <a:prstGeom prst="roundRect">
            <a:avLst>
              <a:gd name="adj" fmla="val 9405"/>
            </a:avLst>
          </a:prstGeom>
          <a:solidFill>
            <a:srgbClr val="EEF2F7"/>
          </a:solidFill>
          <a:ln/>
        </p:spPr>
      </p:sp>
      <p:sp>
        <p:nvSpPr>
          <p:cNvPr id="12" name="Text 9"/>
          <p:cNvSpPr/>
          <p:nvPr/>
        </p:nvSpPr>
        <p:spPr>
          <a:xfrm>
            <a:off x="6311900" y="4098993"/>
            <a:ext cx="230879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P3 · Medium</a:t>
            </a:r>
            <a:endParaRPr lang="en-US" sz="1500" dirty="0"/>
          </a:p>
        </p:txBody>
      </p:sp>
      <p:sp>
        <p:nvSpPr>
          <p:cNvPr id="13" name="Text 10"/>
          <p:cNvSpPr/>
          <p:nvPr/>
        </p:nvSpPr>
        <p:spPr>
          <a:xfrm>
            <a:off x="6311900" y="4391093"/>
            <a:ext cx="23087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Fix when possible</a:t>
            </a:r>
            <a:endParaRPr lang="en-US" sz="1200" dirty="0"/>
          </a:p>
        </p:txBody>
      </p:sp>
      <p:sp>
        <p:nvSpPr>
          <p:cNvPr id="14" name="Shape 11"/>
          <p:cNvSpPr/>
          <p:nvPr/>
        </p:nvSpPr>
        <p:spPr>
          <a:xfrm>
            <a:off x="8832850" y="3946593"/>
            <a:ext cx="2546350" cy="810220"/>
          </a:xfrm>
          <a:prstGeom prst="roundRect">
            <a:avLst>
              <a:gd name="adj" fmla="val 9405"/>
            </a:avLst>
          </a:prstGeom>
          <a:solidFill>
            <a:srgbClr val="EEF2F7"/>
          </a:solidFill>
          <a:ln/>
        </p:spPr>
      </p:sp>
      <p:sp>
        <p:nvSpPr>
          <p:cNvPr id="15" name="Text 12"/>
          <p:cNvSpPr/>
          <p:nvPr/>
        </p:nvSpPr>
        <p:spPr>
          <a:xfrm>
            <a:off x="8985250" y="4098993"/>
            <a:ext cx="230879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P4 · Low</a:t>
            </a:r>
            <a:endParaRPr lang="en-US" sz="1500" dirty="0"/>
          </a:p>
        </p:txBody>
      </p:sp>
      <p:sp>
        <p:nvSpPr>
          <p:cNvPr id="16" name="Text 13"/>
          <p:cNvSpPr/>
          <p:nvPr/>
        </p:nvSpPr>
        <p:spPr>
          <a:xfrm>
            <a:off x="8985250" y="4391093"/>
            <a:ext cx="23087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Backlog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THE FOUR COMBINATIONS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They really are independent</a:t>
            </a:r>
            <a:endParaRPr lang="en-US" sz="3200" dirty="0"/>
          </a:p>
        </p:txBody>
      </p:sp>
      <p:sp>
        <p:nvSpPr>
          <p:cNvPr id="4" name="Shape 2"/>
          <p:cNvSpPr/>
          <p:nvPr/>
        </p:nvSpPr>
        <p:spPr>
          <a:xfrm>
            <a:off x="812800" y="1803338"/>
            <a:ext cx="5207000" cy="1145447"/>
          </a:xfrm>
          <a:prstGeom prst="roundRect">
            <a:avLst>
              <a:gd name="adj" fmla="val 8870"/>
            </a:avLst>
          </a:prstGeom>
          <a:solidFill>
            <a:srgbClr val="14213D"/>
          </a:solidFill>
          <a:ln/>
        </p:spPr>
      </p:sp>
      <p:sp>
        <p:nvSpPr>
          <p:cNvPr id="5" name="Text 3"/>
          <p:cNvSpPr/>
          <p:nvPr/>
        </p:nvSpPr>
        <p:spPr>
          <a:xfrm>
            <a:off x="1016000" y="2006538"/>
            <a:ext cx="494461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4B"/>
                </a:solidFill>
                <a:latin typeface="Nunito Sans" pitchFamily="34" charset="0"/>
                <a:ea typeface="Nunito Sans" pitchFamily="34" charset="-122"/>
                <a:cs typeface="Nunito Sans" pitchFamily="34" charset="-120"/>
              </a:rPr>
              <a:t>HIGH SEVERITY · HIGH PRIORITY</a:t>
            </a:r>
            <a:endParaRPr lang="en-US" sz="1200" dirty="0"/>
          </a:p>
        </p:txBody>
      </p:sp>
      <p:sp>
        <p:nvSpPr>
          <p:cNvPr id="6" name="Text 4"/>
          <p:cNvSpPr/>
          <p:nvPr/>
        </p:nvSpPr>
        <p:spPr>
          <a:xfrm>
            <a:off x="1016000" y="2283358"/>
            <a:ext cx="4944618"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BF8"/>
                </a:solidFill>
                <a:latin typeface="Nunito Sans" pitchFamily="34" charset="0"/>
                <a:ea typeface="Nunito Sans" pitchFamily="34" charset="-122"/>
                <a:cs typeface="Nunito Sans" pitchFamily="34" charset="-120"/>
              </a:rPr>
              <a:t>Checkout crashes for all users. </a:t>
            </a:r>
            <a:r>
              <a:rPr lang="en-US" sz="1300" b="1" dirty="0">
                <a:solidFill>
                  <a:srgbClr val="FBFBF8"/>
                </a:solidFill>
                <a:latin typeface="Nunito Sans" pitchFamily="34" charset="0"/>
                <a:ea typeface="Nunito Sans" pitchFamily="34" charset="-122"/>
                <a:cs typeface="Nunito Sans" pitchFamily="34" charset="-120"/>
              </a:rPr>
              <a:t>Fix now.</a:t>
            </a:r>
            <a:endParaRPr lang="en-US" sz="1300" dirty="0"/>
          </a:p>
        </p:txBody>
      </p:sp>
      <p:sp>
        <p:nvSpPr>
          <p:cNvPr id="7" name="Shape 5"/>
          <p:cNvSpPr/>
          <p:nvPr/>
        </p:nvSpPr>
        <p:spPr>
          <a:xfrm>
            <a:off x="6172200" y="1803338"/>
            <a:ext cx="5207000" cy="1145447"/>
          </a:xfrm>
          <a:prstGeom prst="roundRect">
            <a:avLst>
              <a:gd name="adj" fmla="val 8870"/>
            </a:avLst>
          </a:prstGeom>
          <a:solidFill>
            <a:srgbClr val="FBFBF8"/>
          </a:solidFill>
          <a:ln/>
        </p:spPr>
      </p:sp>
      <p:sp>
        <p:nvSpPr>
          <p:cNvPr id="8" name="Text 6"/>
          <p:cNvSpPr/>
          <p:nvPr/>
        </p:nvSpPr>
        <p:spPr>
          <a:xfrm>
            <a:off x="6375400" y="2006538"/>
            <a:ext cx="494461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5C9E"/>
                </a:solidFill>
                <a:latin typeface="Nunito Sans" pitchFamily="34" charset="0"/>
                <a:ea typeface="Nunito Sans" pitchFamily="34" charset="-122"/>
                <a:cs typeface="Nunito Sans" pitchFamily="34" charset="-120"/>
              </a:rPr>
              <a:t>HIGH SEVERITY · LOW PRIORITY</a:t>
            </a:r>
            <a:endParaRPr lang="en-US" sz="1200" dirty="0"/>
          </a:p>
        </p:txBody>
      </p:sp>
      <p:sp>
        <p:nvSpPr>
          <p:cNvPr id="9" name="Text 7"/>
          <p:cNvSpPr/>
          <p:nvPr/>
        </p:nvSpPr>
        <p:spPr>
          <a:xfrm>
            <a:off x="6375400" y="2283358"/>
            <a:ext cx="4944618"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Crash exporting a report in a legacy browser used by 0.1% of users. </a:t>
            </a:r>
            <a:r>
              <a:rPr lang="en-US" sz="1300" b="1" dirty="0">
                <a:solidFill>
                  <a:srgbClr val="14213D"/>
                </a:solidFill>
                <a:latin typeface="Nunito Sans" pitchFamily="34" charset="0"/>
                <a:ea typeface="Nunito Sans" pitchFamily="34" charset="-122"/>
                <a:cs typeface="Nunito Sans" pitchFamily="34" charset="-120"/>
              </a:rPr>
              <a:t>Serious but rare: schedule it.</a:t>
            </a:r>
            <a:endParaRPr lang="en-US" sz="1300" dirty="0"/>
          </a:p>
        </p:txBody>
      </p:sp>
      <p:sp>
        <p:nvSpPr>
          <p:cNvPr id="10" name="Shape 8"/>
          <p:cNvSpPr/>
          <p:nvPr/>
        </p:nvSpPr>
        <p:spPr>
          <a:xfrm>
            <a:off x="819150" y="3107531"/>
            <a:ext cx="5194300" cy="1158147"/>
          </a:xfrm>
          <a:prstGeom prst="roundRect">
            <a:avLst>
              <a:gd name="adj" fmla="val 8224"/>
            </a:avLst>
          </a:prstGeom>
          <a:solidFill>
            <a:srgbClr val="FBEBDD"/>
          </a:solidFill>
          <a:ln w="12700">
            <a:solidFill>
              <a:srgbClr val="A14F0A"/>
            </a:solidFill>
            <a:prstDash val="solid"/>
          </a:ln>
        </p:spPr>
      </p:sp>
      <p:sp>
        <p:nvSpPr>
          <p:cNvPr id="11" name="Text 9"/>
          <p:cNvSpPr/>
          <p:nvPr/>
        </p:nvSpPr>
        <p:spPr>
          <a:xfrm>
            <a:off x="1028700" y="331708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14F0A"/>
                </a:solidFill>
                <a:latin typeface="Nunito Sans" pitchFamily="34" charset="0"/>
                <a:ea typeface="Nunito Sans" pitchFamily="34" charset="-122"/>
                <a:cs typeface="Nunito Sans" pitchFamily="34" charset="-120"/>
              </a:rPr>
              <a:t>LOW SEVERITY · HIGH PRIORITY</a:t>
            </a:r>
            <a:endParaRPr lang="en-US" sz="1200" dirty="0"/>
          </a:p>
        </p:txBody>
      </p:sp>
      <p:sp>
        <p:nvSpPr>
          <p:cNvPr id="12" name="Text 10"/>
          <p:cNvSpPr/>
          <p:nvPr/>
        </p:nvSpPr>
        <p:spPr>
          <a:xfrm>
            <a:off x="1028700" y="3593902"/>
            <a:ext cx="4918456"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A homepage typo seen by millions: the company name, or “₹9,999” shown as “₹99.99”. </a:t>
            </a:r>
            <a:r>
              <a:rPr lang="en-US" sz="1300" b="1" dirty="0">
                <a:solidFill>
                  <a:srgbClr val="14213D"/>
                </a:solidFill>
                <a:latin typeface="Nunito Sans" pitchFamily="34" charset="0"/>
                <a:ea typeface="Nunito Sans" pitchFamily="34" charset="-122"/>
                <a:cs typeface="Nunito Sans" pitchFamily="34" charset="-120"/>
              </a:rPr>
              <a:t>Fix fast.</a:t>
            </a:r>
            <a:endParaRPr lang="en-US" sz="1300" dirty="0"/>
          </a:p>
        </p:txBody>
      </p:sp>
      <p:sp>
        <p:nvSpPr>
          <p:cNvPr id="13" name="Shape 11"/>
          <p:cNvSpPr/>
          <p:nvPr/>
        </p:nvSpPr>
        <p:spPr>
          <a:xfrm>
            <a:off x="6172200" y="3101181"/>
            <a:ext cx="5207000" cy="1170847"/>
          </a:xfrm>
          <a:prstGeom prst="roundRect">
            <a:avLst>
              <a:gd name="adj" fmla="val 8677"/>
            </a:avLst>
          </a:prstGeom>
          <a:solidFill>
            <a:srgbClr val="FBFBF8"/>
          </a:solidFill>
          <a:ln/>
        </p:spPr>
      </p:sp>
      <p:sp>
        <p:nvSpPr>
          <p:cNvPr id="14" name="Text 12"/>
          <p:cNvSpPr/>
          <p:nvPr/>
        </p:nvSpPr>
        <p:spPr>
          <a:xfrm>
            <a:off x="6375400" y="3304381"/>
            <a:ext cx="494461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5C9E"/>
                </a:solidFill>
                <a:latin typeface="Nunito Sans" pitchFamily="34" charset="0"/>
                <a:ea typeface="Nunito Sans" pitchFamily="34" charset="-122"/>
                <a:cs typeface="Nunito Sans" pitchFamily="34" charset="-120"/>
              </a:rPr>
              <a:t>LOW SEVERITY · LOW PRIORITY</a:t>
            </a:r>
            <a:endParaRPr lang="en-US" sz="1200" dirty="0"/>
          </a:p>
        </p:txBody>
      </p:sp>
      <p:sp>
        <p:nvSpPr>
          <p:cNvPr id="15" name="Text 13"/>
          <p:cNvSpPr/>
          <p:nvPr/>
        </p:nvSpPr>
        <p:spPr>
          <a:xfrm>
            <a:off x="6375400" y="3581202"/>
            <a:ext cx="4944618"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Spelling error on an internal admin help page. </a:t>
            </a:r>
            <a:r>
              <a:rPr lang="en-US" sz="1300" b="1" dirty="0">
                <a:solidFill>
                  <a:srgbClr val="14213D"/>
                </a:solidFill>
                <a:latin typeface="Nunito Sans" pitchFamily="34" charset="0"/>
                <a:ea typeface="Nunito Sans" pitchFamily="34" charset="-122"/>
                <a:cs typeface="Nunito Sans" pitchFamily="34" charset="-120"/>
              </a:rPr>
              <a:t>Backlog.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THE DEFECT LIFE CYCLE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One main flow, four detours</a:t>
            </a:r>
            <a:endParaRPr lang="en-US" sz="3200" dirty="0"/>
          </a:p>
        </p:txBody>
      </p:sp>
      <p:sp>
        <p:nvSpPr>
          <p:cNvPr id="4" name="Text 2"/>
          <p:cNvSpPr/>
          <p:nvPr/>
        </p:nvSpPr>
        <p:spPr>
          <a:xfrm>
            <a:off x="812800" y="1854138"/>
            <a:ext cx="1226410" cy="535914"/>
          </a:xfrm>
          <a:custGeom>
            <a:avLst/>
            <a:gdLst/>
            <a:ahLst/>
            <a:cxnLst/>
            <a:rect l="l" t="t" r="r" b="b"/>
            <a:pathLst>
              <a:path w="1226410" h="535914">
                <a:moveTo>
                  <a:pt x="76200" y="0"/>
                </a:moveTo>
                <a:lnTo>
                  <a:pt x="1150210" y="0"/>
                </a:lnTo>
                <a:arcTo wR="76200" hR="76200" stAng="16200000" swAng="5400000"/>
                <a:lnTo>
                  <a:pt x="1226410" y="459714"/>
                </a:lnTo>
                <a:arcTo wR="76200" hR="76200" stAng="0" swAng="5400000"/>
                <a:lnTo>
                  <a:pt x="76200" y="535914"/>
                </a:lnTo>
                <a:arcTo wR="76200" hR="76200" stAng="5400000" swAng="5400000"/>
                <a:lnTo>
                  <a:pt x="0" y="76200"/>
                </a:lnTo>
                <a:arcTo wR="76200" hR="76200" stAng="10800000" swAng="5400000"/>
                <a:close/>
              </a:path>
            </a:pathLst>
          </a:custGeom>
          <a:solidFill>
            <a:srgbClr val="14213D"/>
          </a:solidFill>
          <a:ln/>
        </p:spPr>
        <p:txBody>
          <a:bodyPr wrap="square" lIns="25400" tIns="152400" rIns="25400" bIns="127000" rtlCol="0" anchor="t">
            <a:normAutofit/>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New</a:t>
            </a:r>
            <a:endParaRPr lang="en-US" sz="1300" dirty="0"/>
          </a:p>
        </p:txBody>
      </p:sp>
      <p:pic>
        <p:nvPicPr>
          <p:cNvPr id="5" name="Image 0" descr="arrow-right"/>
          <p:cNvPicPr>
            <a:picLocks noChangeAspect="1"/>
          </p:cNvPicPr>
          <p:nvPr/>
        </p:nvPicPr>
        <p:blipFill>
          <a:blip r:embed="rId3"/>
          <a:srcRect/>
          <a:stretch/>
        </p:blipFill>
        <p:spPr>
          <a:xfrm>
            <a:off x="2090010" y="2064941"/>
            <a:ext cx="228600" cy="114300"/>
          </a:xfrm>
          <a:prstGeom prst="rect">
            <a:avLst/>
          </a:prstGeom>
        </p:spPr>
      </p:pic>
      <p:sp>
        <p:nvSpPr>
          <p:cNvPr id="6" name="Text 3"/>
          <p:cNvSpPr/>
          <p:nvPr/>
        </p:nvSpPr>
        <p:spPr>
          <a:xfrm>
            <a:off x="2369410" y="1854138"/>
            <a:ext cx="1226476" cy="535914"/>
          </a:xfrm>
          <a:custGeom>
            <a:avLst/>
            <a:gdLst/>
            <a:ahLst/>
            <a:cxnLst/>
            <a:rect l="l" t="t" r="r" b="b"/>
            <a:pathLst>
              <a:path w="1226476" h="535914">
                <a:moveTo>
                  <a:pt x="76200" y="0"/>
                </a:moveTo>
                <a:lnTo>
                  <a:pt x="1150276" y="0"/>
                </a:lnTo>
                <a:arcTo wR="76200" hR="76200" stAng="16200000" swAng="5400000"/>
                <a:lnTo>
                  <a:pt x="1226476" y="459714"/>
                </a:lnTo>
                <a:arcTo wR="76200" hR="76200" stAng="0" swAng="5400000"/>
                <a:lnTo>
                  <a:pt x="76200" y="535914"/>
                </a:lnTo>
                <a:arcTo wR="76200" hR="76200" stAng="5400000" swAng="5400000"/>
                <a:lnTo>
                  <a:pt x="0" y="76200"/>
                </a:lnTo>
                <a:arcTo wR="76200" hR="76200" stAng="10800000" swAng="5400000"/>
                <a:close/>
              </a:path>
            </a:pathLst>
          </a:custGeom>
          <a:solidFill>
            <a:srgbClr val="14213D"/>
          </a:solidFill>
          <a:ln/>
        </p:spPr>
        <p:txBody>
          <a:bodyPr wrap="square" lIns="25400" tIns="152400" rIns="25400" bIns="127000" rtlCol="0" anchor="t">
            <a:normAutofit/>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Assigned</a:t>
            </a:r>
            <a:endParaRPr lang="en-US" sz="1300" dirty="0"/>
          </a:p>
        </p:txBody>
      </p:sp>
      <p:pic>
        <p:nvPicPr>
          <p:cNvPr id="7" name="Image 1" descr="arrow-right"/>
          <p:cNvPicPr>
            <a:picLocks noChangeAspect="1"/>
          </p:cNvPicPr>
          <p:nvPr/>
        </p:nvPicPr>
        <p:blipFill>
          <a:blip r:embed="rId3"/>
          <a:srcRect/>
          <a:stretch/>
        </p:blipFill>
        <p:spPr>
          <a:xfrm>
            <a:off x="3646686" y="2064941"/>
            <a:ext cx="228600" cy="114300"/>
          </a:xfrm>
          <a:prstGeom prst="rect">
            <a:avLst/>
          </a:prstGeom>
        </p:spPr>
      </p:pic>
      <p:sp>
        <p:nvSpPr>
          <p:cNvPr id="8" name="Text 4"/>
          <p:cNvSpPr/>
          <p:nvPr/>
        </p:nvSpPr>
        <p:spPr>
          <a:xfrm>
            <a:off x="3926086" y="1854138"/>
            <a:ext cx="1226410" cy="535914"/>
          </a:xfrm>
          <a:custGeom>
            <a:avLst/>
            <a:gdLst/>
            <a:ahLst/>
            <a:cxnLst/>
            <a:rect l="l" t="t" r="r" b="b"/>
            <a:pathLst>
              <a:path w="1226410" h="535914">
                <a:moveTo>
                  <a:pt x="76200" y="0"/>
                </a:moveTo>
                <a:lnTo>
                  <a:pt x="1150210" y="0"/>
                </a:lnTo>
                <a:arcTo wR="76200" hR="76200" stAng="16200000" swAng="5400000"/>
                <a:lnTo>
                  <a:pt x="1226410" y="459714"/>
                </a:lnTo>
                <a:arcTo wR="76200" hR="76200" stAng="0" swAng="5400000"/>
                <a:lnTo>
                  <a:pt x="76200" y="535914"/>
                </a:lnTo>
                <a:arcTo wR="76200" hR="76200" stAng="5400000" swAng="5400000"/>
                <a:lnTo>
                  <a:pt x="0" y="76200"/>
                </a:lnTo>
                <a:arcTo wR="76200" hR="76200" stAng="10800000" swAng="5400000"/>
                <a:close/>
              </a:path>
            </a:pathLst>
          </a:custGeom>
          <a:solidFill>
            <a:srgbClr val="14213D"/>
          </a:solidFill>
          <a:ln/>
        </p:spPr>
        <p:txBody>
          <a:bodyPr wrap="square" lIns="25400" tIns="152400" rIns="25400" bIns="127000" rtlCol="0" anchor="t">
            <a:normAutofit/>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Open</a:t>
            </a:r>
            <a:endParaRPr lang="en-US" sz="1300" dirty="0"/>
          </a:p>
        </p:txBody>
      </p:sp>
      <p:pic>
        <p:nvPicPr>
          <p:cNvPr id="9" name="Image 2" descr="arrow-right"/>
          <p:cNvPicPr>
            <a:picLocks noChangeAspect="1"/>
          </p:cNvPicPr>
          <p:nvPr/>
        </p:nvPicPr>
        <p:blipFill>
          <a:blip r:embed="rId3"/>
          <a:srcRect/>
          <a:stretch/>
        </p:blipFill>
        <p:spPr>
          <a:xfrm>
            <a:off x="5203296" y="2064941"/>
            <a:ext cx="228600" cy="114300"/>
          </a:xfrm>
          <a:prstGeom prst="rect">
            <a:avLst/>
          </a:prstGeom>
        </p:spPr>
      </p:pic>
      <p:sp>
        <p:nvSpPr>
          <p:cNvPr id="10" name="Text 5"/>
          <p:cNvSpPr/>
          <p:nvPr/>
        </p:nvSpPr>
        <p:spPr>
          <a:xfrm>
            <a:off x="5482696" y="1854138"/>
            <a:ext cx="1226476" cy="535914"/>
          </a:xfrm>
          <a:custGeom>
            <a:avLst/>
            <a:gdLst/>
            <a:ahLst/>
            <a:cxnLst/>
            <a:rect l="l" t="t" r="r" b="b"/>
            <a:pathLst>
              <a:path w="1226476" h="535914">
                <a:moveTo>
                  <a:pt x="76200" y="0"/>
                </a:moveTo>
                <a:lnTo>
                  <a:pt x="1150276" y="0"/>
                </a:lnTo>
                <a:arcTo wR="76200" hR="76200" stAng="16200000" swAng="5400000"/>
                <a:lnTo>
                  <a:pt x="1226476" y="459714"/>
                </a:lnTo>
                <a:arcTo wR="76200" hR="76200" stAng="0" swAng="5400000"/>
                <a:lnTo>
                  <a:pt x="76200" y="535914"/>
                </a:lnTo>
                <a:arcTo wR="76200" hR="76200" stAng="5400000" swAng="5400000"/>
                <a:lnTo>
                  <a:pt x="0" y="76200"/>
                </a:lnTo>
                <a:arcTo wR="76200" hR="76200" stAng="10800000" swAng="5400000"/>
                <a:close/>
              </a:path>
            </a:pathLst>
          </a:custGeom>
          <a:solidFill>
            <a:srgbClr val="14213D"/>
          </a:solidFill>
          <a:ln/>
        </p:spPr>
        <p:txBody>
          <a:bodyPr wrap="square" lIns="25400" tIns="152400" rIns="25400" bIns="127000" rtlCol="0" anchor="t">
            <a:normAutofit/>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Fixed</a:t>
            </a:r>
            <a:endParaRPr lang="en-US" sz="1300" dirty="0"/>
          </a:p>
        </p:txBody>
      </p:sp>
      <p:pic>
        <p:nvPicPr>
          <p:cNvPr id="11" name="Image 3" descr="arrow-right"/>
          <p:cNvPicPr>
            <a:picLocks noChangeAspect="1"/>
          </p:cNvPicPr>
          <p:nvPr/>
        </p:nvPicPr>
        <p:blipFill>
          <a:blip r:embed="rId3"/>
          <a:srcRect/>
          <a:stretch/>
        </p:blipFill>
        <p:spPr>
          <a:xfrm>
            <a:off x="6759972" y="2064941"/>
            <a:ext cx="228600" cy="114300"/>
          </a:xfrm>
          <a:prstGeom prst="rect">
            <a:avLst/>
          </a:prstGeom>
        </p:spPr>
      </p:pic>
      <p:sp>
        <p:nvSpPr>
          <p:cNvPr id="12" name="Text 6"/>
          <p:cNvSpPr/>
          <p:nvPr/>
        </p:nvSpPr>
        <p:spPr>
          <a:xfrm>
            <a:off x="7039372" y="1854138"/>
            <a:ext cx="1226476" cy="535914"/>
          </a:xfrm>
          <a:custGeom>
            <a:avLst/>
            <a:gdLst/>
            <a:ahLst/>
            <a:cxnLst/>
            <a:rect l="l" t="t" r="r" b="b"/>
            <a:pathLst>
              <a:path w="1226476" h="535914">
                <a:moveTo>
                  <a:pt x="76200" y="0"/>
                </a:moveTo>
                <a:lnTo>
                  <a:pt x="1150276" y="0"/>
                </a:lnTo>
                <a:arcTo wR="76200" hR="76200" stAng="16200000" swAng="5400000"/>
                <a:lnTo>
                  <a:pt x="1226476" y="459714"/>
                </a:lnTo>
                <a:arcTo wR="76200" hR="76200" stAng="0" swAng="5400000"/>
                <a:lnTo>
                  <a:pt x="76200" y="535914"/>
                </a:lnTo>
                <a:arcTo wR="76200" hR="76200" stAng="5400000" swAng="5400000"/>
                <a:lnTo>
                  <a:pt x="0" y="76200"/>
                </a:lnTo>
                <a:arcTo wR="76200" hR="76200" stAng="10800000" swAng="5400000"/>
                <a:close/>
              </a:path>
            </a:pathLst>
          </a:custGeom>
          <a:solidFill>
            <a:srgbClr val="14213D"/>
          </a:solidFill>
          <a:ln/>
        </p:spPr>
        <p:txBody>
          <a:bodyPr wrap="square" lIns="25400" tIns="152400" rIns="25400" bIns="127000" rtlCol="0" anchor="t">
            <a:normAutofit/>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Retest</a:t>
            </a:r>
            <a:endParaRPr lang="en-US" sz="1300" dirty="0"/>
          </a:p>
        </p:txBody>
      </p:sp>
      <p:pic>
        <p:nvPicPr>
          <p:cNvPr id="13" name="Image 4" descr="arrow-right"/>
          <p:cNvPicPr>
            <a:picLocks noChangeAspect="1"/>
          </p:cNvPicPr>
          <p:nvPr/>
        </p:nvPicPr>
        <p:blipFill>
          <a:blip r:embed="rId3"/>
          <a:srcRect/>
          <a:stretch/>
        </p:blipFill>
        <p:spPr>
          <a:xfrm>
            <a:off x="8316648" y="2064941"/>
            <a:ext cx="228600" cy="114300"/>
          </a:xfrm>
          <a:prstGeom prst="rect">
            <a:avLst/>
          </a:prstGeom>
        </p:spPr>
      </p:pic>
      <p:sp>
        <p:nvSpPr>
          <p:cNvPr id="14" name="Text 7"/>
          <p:cNvSpPr/>
          <p:nvPr/>
        </p:nvSpPr>
        <p:spPr>
          <a:xfrm>
            <a:off x="8596048" y="1854138"/>
            <a:ext cx="1226476" cy="535914"/>
          </a:xfrm>
          <a:custGeom>
            <a:avLst/>
            <a:gdLst/>
            <a:ahLst/>
            <a:cxnLst/>
            <a:rect l="l" t="t" r="r" b="b"/>
            <a:pathLst>
              <a:path w="1226476" h="535914">
                <a:moveTo>
                  <a:pt x="76200" y="0"/>
                </a:moveTo>
                <a:lnTo>
                  <a:pt x="1150276" y="0"/>
                </a:lnTo>
                <a:arcTo wR="76200" hR="76200" stAng="16200000" swAng="5400000"/>
                <a:lnTo>
                  <a:pt x="1226476" y="459714"/>
                </a:lnTo>
                <a:arcTo wR="76200" hR="76200" stAng="0" swAng="5400000"/>
                <a:lnTo>
                  <a:pt x="76200" y="535914"/>
                </a:lnTo>
                <a:arcTo wR="76200" hR="76200" stAng="5400000" swAng="5400000"/>
                <a:lnTo>
                  <a:pt x="0" y="76200"/>
                </a:lnTo>
                <a:arcTo wR="76200" hR="76200" stAng="10800000" swAng="5400000"/>
                <a:close/>
              </a:path>
            </a:pathLst>
          </a:custGeom>
          <a:solidFill>
            <a:srgbClr val="14213D"/>
          </a:solidFill>
          <a:ln/>
        </p:spPr>
        <p:txBody>
          <a:bodyPr wrap="square" lIns="25400" tIns="152400" rIns="25400" bIns="127000" rtlCol="0" anchor="t">
            <a:normAutofit/>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Verified</a:t>
            </a:r>
            <a:endParaRPr lang="en-US" sz="1300" dirty="0"/>
          </a:p>
        </p:txBody>
      </p:sp>
      <p:pic>
        <p:nvPicPr>
          <p:cNvPr id="15" name="Image 5" descr="arrow-right"/>
          <p:cNvPicPr>
            <a:picLocks noChangeAspect="1"/>
          </p:cNvPicPr>
          <p:nvPr/>
        </p:nvPicPr>
        <p:blipFill>
          <a:blip r:embed="rId3"/>
          <a:srcRect/>
          <a:stretch/>
        </p:blipFill>
        <p:spPr>
          <a:xfrm>
            <a:off x="9873324" y="2064941"/>
            <a:ext cx="228600" cy="114300"/>
          </a:xfrm>
          <a:prstGeom prst="rect">
            <a:avLst/>
          </a:prstGeom>
        </p:spPr>
      </p:pic>
      <p:sp>
        <p:nvSpPr>
          <p:cNvPr id="16" name="Text 8"/>
          <p:cNvSpPr/>
          <p:nvPr/>
        </p:nvSpPr>
        <p:spPr>
          <a:xfrm>
            <a:off x="10152724" y="1854138"/>
            <a:ext cx="1226476" cy="535914"/>
          </a:xfrm>
          <a:custGeom>
            <a:avLst/>
            <a:gdLst/>
            <a:ahLst/>
            <a:cxnLst/>
            <a:rect l="l" t="t" r="r" b="b"/>
            <a:pathLst>
              <a:path w="1226476" h="535914">
                <a:moveTo>
                  <a:pt x="76200" y="0"/>
                </a:moveTo>
                <a:lnTo>
                  <a:pt x="1150276" y="0"/>
                </a:lnTo>
                <a:arcTo wR="76200" hR="76200" stAng="16200000" swAng="5400000"/>
                <a:lnTo>
                  <a:pt x="1226476" y="459714"/>
                </a:lnTo>
                <a:arcTo wR="76200" hR="76200" stAng="0" swAng="5400000"/>
                <a:lnTo>
                  <a:pt x="76200" y="535914"/>
                </a:lnTo>
                <a:arcTo wR="76200" hR="76200" stAng="5400000" swAng="5400000"/>
                <a:lnTo>
                  <a:pt x="0" y="76200"/>
                </a:lnTo>
                <a:arcTo wR="76200" hR="76200" stAng="10800000" swAng="5400000"/>
                <a:close/>
              </a:path>
            </a:pathLst>
          </a:custGeom>
          <a:solidFill>
            <a:srgbClr val="2B5C9E"/>
          </a:solidFill>
          <a:ln/>
        </p:spPr>
        <p:txBody>
          <a:bodyPr wrap="square" lIns="25400" tIns="152400" rIns="25400" bIns="127000" rtlCol="0" anchor="t">
            <a:normAutofit/>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Closed</a:t>
            </a:r>
            <a:endParaRPr lang="en-US" sz="1300" dirty="0"/>
          </a:p>
        </p:txBody>
      </p:sp>
      <p:sp>
        <p:nvSpPr>
          <p:cNvPr id="17" name="Shape 9"/>
          <p:cNvSpPr/>
          <p:nvPr/>
        </p:nvSpPr>
        <p:spPr>
          <a:xfrm>
            <a:off x="812800" y="2694849"/>
            <a:ext cx="5207000" cy="848320"/>
          </a:xfrm>
          <a:prstGeom prst="roundRect">
            <a:avLst>
              <a:gd name="adj" fmla="val 10480"/>
            </a:avLst>
          </a:prstGeom>
          <a:solidFill>
            <a:srgbClr val="FBEBDD"/>
          </a:solidFill>
          <a:ln/>
        </p:spPr>
      </p:sp>
      <p:sp>
        <p:nvSpPr>
          <p:cNvPr id="18" name="Text 10"/>
          <p:cNvSpPr/>
          <p:nvPr/>
        </p:nvSpPr>
        <p:spPr>
          <a:xfrm>
            <a:off x="990600" y="2872649"/>
            <a:ext cx="499694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A14F0A"/>
                </a:solidFill>
                <a:latin typeface="Nunito Sans" pitchFamily="34" charset="0"/>
                <a:ea typeface="Nunito Sans" pitchFamily="34" charset="-122"/>
                <a:cs typeface="Nunito Sans" pitchFamily="34" charset="-120"/>
              </a:rPr>
              <a:t>Rejected</a:t>
            </a:r>
            <a:endParaRPr lang="en-US" sz="1500" dirty="0"/>
          </a:p>
        </p:txBody>
      </p:sp>
      <p:sp>
        <p:nvSpPr>
          <p:cNvPr id="19" name="Text 11"/>
          <p:cNvSpPr/>
          <p:nvPr/>
        </p:nvSpPr>
        <p:spPr>
          <a:xfrm>
            <a:off x="990600" y="3152049"/>
            <a:ext cx="49969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From New or Open, when it isn't a valid defect → Closed</a:t>
            </a:r>
            <a:endParaRPr lang="en-US" sz="1200" dirty="0"/>
          </a:p>
        </p:txBody>
      </p:sp>
      <p:sp>
        <p:nvSpPr>
          <p:cNvPr id="20" name="Shape 12"/>
          <p:cNvSpPr/>
          <p:nvPr/>
        </p:nvSpPr>
        <p:spPr>
          <a:xfrm>
            <a:off x="6172200" y="2694849"/>
            <a:ext cx="5207000" cy="848320"/>
          </a:xfrm>
          <a:prstGeom prst="roundRect">
            <a:avLst>
              <a:gd name="adj" fmla="val 10480"/>
            </a:avLst>
          </a:prstGeom>
          <a:solidFill>
            <a:srgbClr val="FBEBDD"/>
          </a:solidFill>
          <a:ln/>
        </p:spPr>
      </p:sp>
      <p:sp>
        <p:nvSpPr>
          <p:cNvPr id="21" name="Text 13"/>
          <p:cNvSpPr/>
          <p:nvPr/>
        </p:nvSpPr>
        <p:spPr>
          <a:xfrm>
            <a:off x="6350000" y="2872649"/>
            <a:ext cx="499694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A14F0A"/>
                </a:solidFill>
                <a:latin typeface="Nunito Sans" pitchFamily="34" charset="0"/>
                <a:ea typeface="Nunito Sans" pitchFamily="34" charset="-122"/>
                <a:cs typeface="Nunito Sans" pitchFamily="34" charset="-120"/>
              </a:rPr>
              <a:t>Duplicate</a:t>
            </a:r>
            <a:endParaRPr lang="en-US" sz="1500" dirty="0"/>
          </a:p>
        </p:txBody>
      </p:sp>
      <p:sp>
        <p:nvSpPr>
          <p:cNvPr id="22" name="Text 14"/>
          <p:cNvSpPr/>
          <p:nvPr/>
        </p:nvSpPr>
        <p:spPr>
          <a:xfrm>
            <a:off x="6350000" y="3152049"/>
            <a:ext cx="5029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From New, when it's already reported → Closed, linked to the original</a:t>
            </a:r>
            <a:endParaRPr lang="en-US" sz="1200" dirty="0"/>
          </a:p>
        </p:txBody>
      </p:sp>
      <p:sp>
        <p:nvSpPr>
          <p:cNvPr id="23" name="Shape 15"/>
          <p:cNvSpPr/>
          <p:nvPr/>
        </p:nvSpPr>
        <p:spPr>
          <a:xfrm>
            <a:off x="812800" y="3695570"/>
            <a:ext cx="5207000" cy="1061641"/>
          </a:xfrm>
          <a:prstGeom prst="roundRect">
            <a:avLst>
              <a:gd name="adj" fmla="val 8374"/>
            </a:avLst>
          </a:prstGeom>
          <a:solidFill>
            <a:srgbClr val="FBEBDD"/>
          </a:solidFill>
          <a:ln/>
        </p:spPr>
      </p:sp>
      <p:sp>
        <p:nvSpPr>
          <p:cNvPr id="24" name="Text 16"/>
          <p:cNvSpPr/>
          <p:nvPr/>
        </p:nvSpPr>
        <p:spPr>
          <a:xfrm>
            <a:off x="990600" y="3873370"/>
            <a:ext cx="499694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A14F0A"/>
                </a:solidFill>
                <a:latin typeface="Nunito Sans" pitchFamily="34" charset="0"/>
                <a:ea typeface="Nunito Sans" pitchFamily="34" charset="-122"/>
                <a:cs typeface="Nunito Sans" pitchFamily="34" charset="-120"/>
              </a:rPr>
              <a:t>Deferred</a:t>
            </a:r>
            <a:endParaRPr lang="en-US" sz="1500" dirty="0"/>
          </a:p>
        </p:txBody>
      </p:sp>
      <p:sp>
        <p:nvSpPr>
          <p:cNvPr id="25" name="Text 17"/>
          <p:cNvSpPr/>
          <p:nvPr/>
        </p:nvSpPr>
        <p:spPr>
          <a:xfrm>
            <a:off x="990600" y="4152770"/>
            <a:ext cx="499694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From New or Open, when the fix is postponed → later back to Assigned</a:t>
            </a:r>
            <a:endParaRPr lang="en-US" sz="1200" dirty="0"/>
          </a:p>
        </p:txBody>
      </p:sp>
      <p:sp>
        <p:nvSpPr>
          <p:cNvPr id="26" name="Shape 18"/>
          <p:cNvSpPr/>
          <p:nvPr/>
        </p:nvSpPr>
        <p:spPr>
          <a:xfrm>
            <a:off x="6172200" y="3695570"/>
            <a:ext cx="5207000" cy="1061641"/>
          </a:xfrm>
          <a:prstGeom prst="roundRect">
            <a:avLst>
              <a:gd name="adj" fmla="val 8374"/>
            </a:avLst>
          </a:prstGeom>
          <a:solidFill>
            <a:srgbClr val="FBEBDD"/>
          </a:solidFill>
          <a:ln/>
        </p:spPr>
      </p:sp>
      <p:sp>
        <p:nvSpPr>
          <p:cNvPr id="27" name="Text 19"/>
          <p:cNvSpPr/>
          <p:nvPr/>
        </p:nvSpPr>
        <p:spPr>
          <a:xfrm>
            <a:off x="6350000" y="3873370"/>
            <a:ext cx="499694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A14F0A"/>
                </a:solidFill>
                <a:latin typeface="Nunito Sans" pitchFamily="34" charset="0"/>
                <a:ea typeface="Nunito Sans" pitchFamily="34" charset="-122"/>
                <a:cs typeface="Nunito Sans" pitchFamily="34" charset="-120"/>
              </a:rPr>
              <a:t>Reopened</a:t>
            </a:r>
            <a:endParaRPr lang="en-US" sz="1500" dirty="0"/>
          </a:p>
        </p:txBody>
      </p:sp>
      <p:sp>
        <p:nvSpPr>
          <p:cNvPr id="28" name="Text 20"/>
          <p:cNvSpPr/>
          <p:nvPr/>
        </p:nvSpPr>
        <p:spPr>
          <a:xfrm>
            <a:off x="6350000" y="4152770"/>
            <a:ext cx="49969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From Retest, when the fix didn't work → back to Assigned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WHAT EACH STATE MEANS · 1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The main flow</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2874433"/>
        </p:xfrm>
        <a:graphic>
          <a:graphicData uri="http://schemas.openxmlformats.org/drawingml/2006/table">
            <a:tbl>
              <a:tblPr/>
              <a:tblGrid>
                <a:gridCol w="1688592">
                  <a:extLst>
                    <a:ext uri="{9D8B030D-6E8A-4147-A177-3AD203B41FA5}">
                      <a16:colId xmlns:a16="http://schemas.microsoft.com/office/drawing/2014/main" val="20000"/>
                    </a:ext>
                  </a:extLst>
                </a:gridCol>
                <a:gridCol w="6121146">
                  <a:extLst>
                    <a:ext uri="{9D8B030D-6E8A-4147-A177-3AD203B41FA5}">
                      <a16:colId xmlns:a16="http://schemas.microsoft.com/office/drawing/2014/main" val="20001"/>
                    </a:ext>
                  </a:extLst>
                </a:gridCol>
                <a:gridCol w="2743962">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State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Meaning</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Owner</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New</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Logged by the tester; not yet reviewed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Tester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Assigned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Triage approved it and assigned a developer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Lead / PM → Developer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Open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Developer is analysing or working on the fix</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Developer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Fixed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Code changed; the fix is in a build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Developer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Retest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Fix deployed to test; tester is re-testing</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Tester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Verified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Tester confirmed the fix works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Tester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Closed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Resolved; no further action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Tester / Lead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WHAT EACH STATE MEANS · 2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The alternate paths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1796521"/>
        </p:xfrm>
        <a:graphic>
          <a:graphicData uri="http://schemas.openxmlformats.org/drawingml/2006/table">
            <a:tbl>
              <a:tblPr/>
              <a:tblGrid>
                <a:gridCol w="1688592">
                  <a:extLst>
                    <a:ext uri="{9D8B030D-6E8A-4147-A177-3AD203B41FA5}">
                      <a16:colId xmlns:a16="http://schemas.microsoft.com/office/drawing/2014/main" val="20000"/>
                    </a:ext>
                  </a:extLst>
                </a:gridCol>
                <a:gridCol w="6121146">
                  <a:extLst>
                    <a:ext uri="{9D8B030D-6E8A-4147-A177-3AD203B41FA5}">
                      <a16:colId xmlns:a16="http://schemas.microsoft.com/office/drawing/2014/main" val="20001"/>
                    </a:ext>
                  </a:extLst>
                </a:gridCol>
                <a:gridCol w="2743962">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State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Meaning</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Owner</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Rejected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Not valid: works as designed, can't reproduce, wrong environment, test error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Developer / Lead, with a reason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Duplicate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Already reported; linked to the original</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Lead / Developer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Deferred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Valid, but postponed to a future release: low priority, or too risky to fix now</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Product owner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Reopened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Retest failed, or the issue came back; returns to the developer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Tester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bl>
          </a:graphicData>
        </a:graphic>
      </p:graphicFrame>
      <p:sp>
        <p:nvSpPr>
          <p:cNvPr id="5" name="Shape 2"/>
          <p:cNvSpPr/>
          <p:nvPr/>
        </p:nvSpPr>
        <p:spPr>
          <a:xfrm>
            <a:off x="812800" y="3866555"/>
            <a:ext cx="10566400" cy="635000"/>
          </a:xfrm>
          <a:prstGeom prst="roundRect">
            <a:avLst>
              <a:gd name="adj" fmla="val 14000"/>
            </a:avLst>
          </a:prstGeom>
          <a:solidFill>
            <a:srgbClr val="EEF2F7"/>
          </a:solidFill>
          <a:ln/>
        </p:spPr>
      </p:sp>
      <p:pic>
        <p:nvPicPr>
          <p:cNvPr id="6" name="Image 0" descr="Settings"/>
          <p:cNvPicPr>
            <a:picLocks noChangeAspect="1"/>
          </p:cNvPicPr>
          <p:nvPr/>
        </p:nvPicPr>
        <p:blipFill>
          <a:blip r:embed="rId3"/>
          <a:srcRect/>
          <a:stretch/>
        </p:blipFill>
        <p:spPr>
          <a:xfrm>
            <a:off x="1016000" y="4044355"/>
            <a:ext cx="279400" cy="279400"/>
          </a:xfrm>
          <a:prstGeom prst="rect">
            <a:avLst/>
          </a:prstGeom>
        </p:spPr>
      </p:pic>
      <p:sp>
        <p:nvSpPr>
          <p:cNvPr id="7" name="Text 3"/>
          <p:cNvSpPr/>
          <p:nvPr/>
        </p:nvSpPr>
        <p:spPr>
          <a:xfrm>
            <a:off x="1447800" y="4059572"/>
            <a:ext cx="1002004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Names vary by tool: “In Progress” for Open, “Resolved” for Fixed, “Won't Fix” for Rejected. </a:t>
            </a:r>
            <a:r>
              <a:rPr lang="en-US" sz="1400" b="1" dirty="0">
                <a:solidFill>
                  <a:srgbClr val="14213D"/>
                </a:solidFill>
                <a:latin typeface="Nunito Sans" pitchFamily="34" charset="0"/>
                <a:ea typeface="Nunito Sans" pitchFamily="34" charset="-122"/>
                <a:cs typeface="Nunito Sans" pitchFamily="34" charset="-120"/>
              </a:rPr>
              <a:t>The flow is what matters.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DEFECT OWNERSHIP</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Someone always owns the next action</a:t>
            </a:r>
            <a:endParaRPr lang="en-US" sz="3200" dirty="0"/>
          </a:p>
        </p:txBody>
      </p:sp>
      <p:sp>
        <p:nvSpPr>
          <p:cNvPr id="4" name="Shape 2"/>
          <p:cNvSpPr/>
          <p:nvPr/>
        </p:nvSpPr>
        <p:spPr>
          <a:xfrm>
            <a:off x="812800" y="1803338"/>
            <a:ext cx="5207000" cy="1178454"/>
          </a:xfrm>
          <a:prstGeom prst="roundRect">
            <a:avLst>
              <a:gd name="adj" fmla="val 8621"/>
            </a:avLst>
          </a:prstGeom>
          <a:solidFill>
            <a:srgbClr val="14213D"/>
          </a:solidFill>
          <a:ln/>
        </p:spPr>
      </p:sp>
      <p:pic>
        <p:nvPicPr>
          <p:cNvPr id="5" name="Image 0" descr="Search"/>
          <p:cNvPicPr>
            <a:picLocks noChangeAspect="1"/>
          </p:cNvPicPr>
          <p:nvPr/>
        </p:nvPicPr>
        <p:blipFill>
          <a:blip r:embed="rId3"/>
          <a:srcRect/>
          <a:stretch/>
        </p:blipFill>
        <p:spPr>
          <a:xfrm>
            <a:off x="1016000" y="2006538"/>
            <a:ext cx="254000" cy="254000"/>
          </a:xfrm>
          <a:prstGeom prst="rect">
            <a:avLst/>
          </a:prstGeom>
        </p:spPr>
      </p:pic>
      <p:sp>
        <p:nvSpPr>
          <p:cNvPr id="6" name="Text 3"/>
          <p:cNvSpPr/>
          <p:nvPr/>
        </p:nvSpPr>
        <p:spPr>
          <a:xfrm>
            <a:off x="1371600" y="2011629"/>
            <a:ext cx="71921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BF8"/>
                </a:solidFill>
                <a:latin typeface="Nunito Sans" pitchFamily="34" charset="0"/>
                <a:ea typeface="Nunito Sans" pitchFamily="34" charset="-122"/>
                <a:cs typeface="Nunito Sans" pitchFamily="34" charset="-120"/>
              </a:rPr>
              <a:t>Tester</a:t>
            </a:r>
            <a:endParaRPr lang="en-US" sz="1600" dirty="0"/>
          </a:p>
        </p:txBody>
      </p:sp>
      <p:sp>
        <p:nvSpPr>
          <p:cNvPr id="7" name="Text 4"/>
          <p:cNvSpPr/>
          <p:nvPr/>
        </p:nvSpPr>
        <p:spPr>
          <a:xfrm>
            <a:off x="1016000" y="2336738"/>
            <a:ext cx="4944618"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DCE4F0"/>
                </a:solidFill>
                <a:latin typeface="Nunito Sans" pitchFamily="34" charset="0"/>
                <a:ea typeface="Nunito Sans" pitchFamily="34" charset="-122"/>
                <a:cs typeface="Nunito Sans" pitchFamily="34" charset="-120"/>
              </a:rPr>
              <a:t>Log clear defects with evidence; answer questions; retest and verify; close or reopen; run regression around the fix</a:t>
            </a:r>
            <a:endParaRPr lang="en-US" sz="1200" dirty="0"/>
          </a:p>
        </p:txBody>
      </p:sp>
      <p:sp>
        <p:nvSpPr>
          <p:cNvPr id="8" name="Shape 5"/>
          <p:cNvSpPr/>
          <p:nvPr/>
        </p:nvSpPr>
        <p:spPr>
          <a:xfrm>
            <a:off x="6172200" y="1803338"/>
            <a:ext cx="5207000" cy="1178454"/>
          </a:xfrm>
          <a:prstGeom prst="roundRect">
            <a:avLst>
              <a:gd name="adj" fmla="val 8621"/>
            </a:avLst>
          </a:prstGeom>
          <a:solidFill>
            <a:srgbClr val="EEF2F7"/>
          </a:solidFill>
          <a:ln/>
        </p:spPr>
      </p:sp>
      <p:pic>
        <p:nvPicPr>
          <p:cNvPr id="9" name="Image 1" descr="Code"/>
          <p:cNvPicPr>
            <a:picLocks noChangeAspect="1"/>
          </p:cNvPicPr>
          <p:nvPr/>
        </p:nvPicPr>
        <p:blipFill>
          <a:blip r:embed="rId4"/>
          <a:srcRect/>
          <a:stretch/>
        </p:blipFill>
        <p:spPr>
          <a:xfrm>
            <a:off x="6375400" y="2006538"/>
            <a:ext cx="254000" cy="254000"/>
          </a:xfrm>
          <a:prstGeom prst="rect">
            <a:avLst/>
          </a:prstGeom>
        </p:spPr>
      </p:pic>
      <p:sp>
        <p:nvSpPr>
          <p:cNvPr id="10" name="Text 6"/>
          <p:cNvSpPr/>
          <p:nvPr/>
        </p:nvSpPr>
        <p:spPr>
          <a:xfrm>
            <a:off x="6731000" y="2011629"/>
            <a:ext cx="1188482"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Developer</a:t>
            </a:r>
            <a:endParaRPr lang="en-US" sz="1600" dirty="0"/>
          </a:p>
        </p:txBody>
      </p:sp>
      <p:sp>
        <p:nvSpPr>
          <p:cNvPr id="11" name="Text 7"/>
          <p:cNvSpPr/>
          <p:nvPr/>
        </p:nvSpPr>
        <p:spPr>
          <a:xfrm>
            <a:off x="6375400" y="2336738"/>
            <a:ext cx="4944618"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A5C"/>
                </a:solidFill>
                <a:latin typeface="Nunito Sans" pitchFamily="34" charset="0"/>
                <a:ea typeface="Nunito Sans" pitchFamily="34" charset="-122"/>
                <a:cs typeface="Nunito Sans" pitchFamily="34" charset="-120"/>
              </a:rPr>
              <a:t>Analyse the root cause; fix; unit-test the fix; mark Fixed with notes on what changed</a:t>
            </a:r>
            <a:endParaRPr lang="en-US" sz="1200" dirty="0"/>
          </a:p>
        </p:txBody>
      </p:sp>
      <p:sp>
        <p:nvSpPr>
          <p:cNvPr id="12" name="Shape 8"/>
          <p:cNvSpPr/>
          <p:nvPr/>
        </p:nvSpPr>
        <p:spPr>
          <a:xfrm>
            <a:off x="812800" y="3134190"/>
            <a:ext cx="5207000" cy="1178454"/>
          </a:xfrm>
          <a:prstGeom prst="roundRect">
            <a:avLst>
              <a:gd name="adj" fmla="val 8621"/>
            </a:avLst>
          </a:prstGeom>
          <a:solidFill>
            <a:srgbClr val="EEF2F7"/>
          </a:solidFill>
          <a:ln/>
        </p:spPr>
      </p:sp>
      <p:pic>
        <p:nvPicPr>
          <p:cNvPr id="13" name="Image 2" descr="Chart"/>
          <p:cNvPicPr>
            <a:picLocks noChangeAspect="1"/>
          </p:cNvPicPr>
          <p:nvPr/>
        </p:nvPicPr>
        <p:blipFill>
          <a:blip r:embed="rId5"/>
          <a:srcRect/>
          <a:stretch/>
        </p:blipFill>
        <p:spPr>
          <a:xfrm>
            <a:off x="1016000" y="3337390"/>
            <a:ext cx="254000" cy="254000"/>
          </a:xfrm>
          <a:prstGeom prst="rect">
            <a:avLst/>
          </a:prstGeom>
        </p:spPr>
      </p:pic>
      <p:sp>
        <p:nvSpPr>
          <p:cNvPr id="14" name="Text 9"/>
          <p:cNvSpPr/>
          <p:nvPr/>
        </p:nvSpPr>
        <p:spPr>
          <a:xfrm>
            <a:off x="1371600" y="3342481"/>
            <a:ext cx="2690178"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QA lead / test manager</a:t>
            </a:r>
            <a:endParaRPr lang="en-US" sz="1600" dirty="0"/>
          </a:p>
        </p:txBody>
      </p:sp>
      <p:sp>
        <p:nvSpPr>
          <p:cNvPr id="15" name="Text 10"/>
          <p:cNvSpPr/>
          <p:nvPr/>
        </p:nvSpPr>
        <p:spPr>
          <a:xfrm>
            <a:off x="1016000" y="3667590"/>
            <a:ext cx="4944618"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A5C"/>
                </a:solidFill>
                <a:latin typeface="Nunito Sans" pitchFamily="34" charset="0"/>
                <a:ea typeface="Nunito Sans" pitchFamily="34" charset="-122"/>
                <a:cs typeface="Nunito Sans" pitchFamily="34" charset="-120"/>
              </a:rPr>
              <a:t>Run triage; monitor defect metrics; escalate blockers; make sure nothing goes stale</a:t>
            </a:r>
            <a:endParaRPr lang="en-US" sz="1200" dirty="0"/>
          </a:p>
        </p:txBody>
      </p:sp>
      <p:sp>
        <p:nvSpPr>
          <p:cNvPr id="16" name="Shape 11"/>
          <p:cNvSpPr/>
          <p:nvPr/>
        </p:nvSpPr>
        <p:spPr>
          <a:xfrm>
            <a:off x="6172200" y="3134190"/>
            <a:ext cx="5207000" cy="1178454"/>
          </a:xfrm>
          <a:prstGeom prst="roundRect">
            <a:avLst>
              <a:gd name="adj" fmla="val 8621"/>
            </a:avLst>
          </a:prstGeom>
          <a:solidFill>
            <a:srgbClr val="EEF2F7"/>
          </a:solidFill>
          <a:ln/>
        </p:spPr>
      </p:sp>
      <p:pic>
        <p:nvPicPr>
          <p:cNvPr id="17" name="Image 3" descr="Users"/>
          <p:cNvPicPr>
            <a:picLocks noChangeAspect="1"/>
          </p:cNvPicPr>
          <p:nvPr/>
        </p:nvPicPr>
        <p:blipFill>
          <a:blip r:embed="rId6"/>
          <a:srcRect/>
          <a:stretch/>
        </p:blipFill>
        <p:spPr>
          <a:xfrm>
            <a:off x="6375400" y="3337390"/>
            <a:ext cx="254000" cy="254000"/>
          </a:xfrm>
          <a:prstGeom prst="rect">
            <a:avLst/>
          </a:prstGeom>
        </p:spPr>
      </p:pic>
      <p:sp>
        <p:nvSpPr>
          <p:cNvPr id="18" name="Text 12"/>
          <p:cNvSpPr/>
          <p:nvPr/>
        </p:nvSpPr>
        <p:spPr>
          <a:xfrm>
            <a:off x="6731000" y="3342481"/>
            <a:ext cx="229965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Product owner / PM</a:t>
            </a:r>
            <a:endParaRPr lang="en-US" sz="1600" dirty="0"/>
          </a:p>
        </p:txBody>
      </p:sp>
      <p:sp>
        <p:nvSpPr>
          <p:cNvPr id="19" name="Text 13"/>
          <p:cNvSpPr/>
          <p:nvPr/>
        </p:nvSpPr>
        <p:spPr>
          <a:xfrm>
            <a:off x="6375400" y="3667590"/>
            <a:ext cx="4944618"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A5C"/>
                </a:solidFill>
                <a:latin typeface="Nunito Sans" pitchFamily="34" charset="0"/>
                <a:ea typeface="Nunito Sans" pitchFamily="34" charset="-122"/>
                <a:cs typeface="Nunito Sans" pitchFamily="34" charset="-120"/>
              </a:rPr>
              <a:t>Set priority; decide on deferrals; accept the risk of known defects at release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DEFECT TRIAGE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Where New defects get decided</a:t>
            </a:r>
            <a:endParaRPr lang="en-US" sz="3200" dirty="0"/>
          </a:p>
        </p:txBody>
      </p:sp>
      <p:sp>
        <p:nvSpPr>
          <p:cNvPr id="4" name="Shape 2"/>
          <p:cNvSpPr/>
          <p:nvPr/>
        </p:nvSpPr>
        <p:spPr>
          <a:xfrm>
            <a:off x="812800" y="1854138"/>
            <a:ext cx="5181600" cy="2212909"/>
          </a:xfrm>
          <a:prstGeom prst="roundRect">
            <a:avLst>
              <a:gd name="adj" fmla="val 4591"/>
            </a:avLst>
          </a:prstGeom>
          <a:solidFill>
            <a:srgbClr val="FBFBF8"/>
          </a:solidFill>
          <a:ln/>
        </p:spPr>
      </p:sp>
      <p:sp>
        <p:nvSpPr>
          <p:cNvPr id="5" name="Text 3"/>
          <p:cNvSpPr/>
          <p:nvPr/>
        </p:nvSpPr>
        <p:spPr>
          <a:xfrm>
            <a:off x="1066800" y="2108138"/>
            <a:ext cx="48138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5C9E"/>
                </a:solidFill>
                <a:latin typeface="Nunito Sans" pitchFamily="34" charset="0"/>
                <a:ea typeface="Nunito Sans" pitchFamily="34" charset="-122"/>
                <a:cs typeface="Nunito Sans" pitchFamily="34" charset="-120"/>
              </a:rPr>
              <a:t>A regular meeting, often daily in test cycles</a:t>
            </a:r>
            <a:endParaRPr lang="en-US" sz="1500" dirty="0"/>
          </a:p>
        </p:txBody>
      </p:sp>
      <p:pic>
        <p:nvPicPr>
          <p:cNvPr id="6" name="Image 0" descr="Check"/>
          <p:cNvPicPr>
            <a:picLocks noChangeAspect="1"/>
          </p:cNvPicPr>
          <p:nvPr/>
        </p:nvPicPr>
        <p:blipFill>
          <a:blip r:embed="rId3"/>
          <a:srcRect/>
          <a:stretch/>
        </p:blipFill>
        <p:spPr>
          <a:xfrm>
            <a:off x="1066800" y="2477691"/>
            <a:ext cx="203200" cy="203200"/>
          </a:xfrm>
          <a:prstGeom prst="rect">
            <a:avLst/>
          </a:prstGeom>
        </p:spPr>
      </p:pic>
      <p:sp>
        <p:nvSpPr>
          <p:cNvPr id="7" name="Text 4"/>
          <p:cNvSpPr/>
          <p:nvPr/>
        </p:nvSpPr>
        <p:spPr>
          <a:xfrm>
            <a:off x="1371600" y="2463738"/>
            <a:ext cx="367149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Confirm validity, or reject / mark duplicate</a:t>
            </a:r>
            <a:endParaRPr lang="en-US" sz="1300" dirty="0"/>
          </a:p>
        </p:txBody>
      </p:sp>
      <p:pic>
        <p:nvPicPr>
          <p:cNvPr id="8" name="Image 1" descr="Check"/>
          <p:cNvPicPr>
            <a:picLocks noChangeAspect="1"/>
          </p:cNvPicPr>
          <p:nvPr/>
        </p:nvPicPr>
        <p:blipFill>
          <a:blip r:embed="rId3"/>
          <a:srcRect/>
          <a:stretch/>
        </p:blipFill>
        <p:spPr>
          <a:xfrm>
            <a:off x="1066800" y="2835808"/>
            <a:ext cx="203200" cy="203200"/>
          </a:xfrm>
          <a:prstGeom prst="rect">
            <a:avLst/>
          </a:prstGeom>
        </p:spPr>
      </p:pic>
      <p:sp>
        <p:nvSpPr>
          <p:cNvPr id="9" name="Text 5"/>
          <p:cNvSpPr/>
          <p:nvPr/>
        </p:nvSpPr>
        <p:spPr>
          <a:xfrm>
            <a:off x="1371600" y="2821849"/>
            <a:ext cx="267335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Agree severity and set priority</a:t>
            </a:r>
            <a:endParaRPr lang="en-US" sz="1300" dirty="0"/>
          </a:p>
        </p:txBody>
      </p:sp>
      <p:pic>
        <p:nvPicPr>
          <p:cNvPr id="10" name="Image 2" descr="Check"/>
          <p:cNvPicPr>
            <a:picLocks noChangeAspect="1"/>
          </p:cNvPicPr>
          <p:nvPr/>
        </p:nvPicPr>
        <p:blipFill>
          <a:blip r:embed="rId3"/>
          <a:srcRect/>
          <a:stretch/>
        </p:blipFill>
        <p:spPr>
          <a:xfrm>
            <a:off x="1066800" y="3193920"/>
            <a:ext cx="203200" cy="203200"/>
          </a:xfrm>
          <a:prstGeom prst="rect">
            <a:avLst/>
          </a:prstGeom>
        </p:spPr>
      </p:pic>
      <p:sp>
        <p:nvSpPr>
          <p:cNvPr id="11" name="Text 6"/>
          <p:cNvSpPr/>
          <p:nvPr/>
        </p:nvSpPr>
        <p:spPr>
          <a:xfrm>
            <a:off x="1371600" y="3179961"/>
            <a:ext cx="3312239"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Assign an owner and a target release</a:t>
            </a:r>
            <a:endParaRPr lang="en-US" sz="1300" dirty="0"/>
          </a:p>
        </p:txBody>
      </p:sp>
      <p:sp>
        <p:nvSpPr>
          <p:cNvPr id="12" name="Shape 7"/>
          <p:cNvSpPr/>
          <p:nvPr/>
        </p:nvSpPr>
        <p:spPr>
          <a:xfrm>
            <a:off x="6197600" y="1854138"/>
            <a:ext cx="5181600" cy="2212909"/>
          </a:xfrm>
          <a:prstGeom prst="roundRect">
            <a:avLst>
              <a:gd name="adj" fmla="val 4591"/>
            </a:avLst>
          </a:prstGeom>
          <a:solidFill>
            <a:srgbClr val="14213D"/>
          </a:solidFill>
          <a:ln/>
        </p:spPr>
      </p:sp>
      <p:pic>
        <p:nvPicPr>
          <p:cNvPr id="13" name="Image 3" descr="Chat"/>
          <p:cNvPicPr>
            <a:picLocks noChangeAspect="1"/>
          </p:cNvPicPr>
          <p:nvPr/>
        </p:nvPicPr>
        <p:blipFill>
          <a:blip r:embed="rId4"/>
          <a:srcRect/>
          <a:stretch/>
        </p:blipFill>
        <p:spPr>
          <a:xfrm>
            <a:off x="6451600" y="2108138"/>
            <a:ext cx="254000" cy="254000"/>
          </a:xfrm>
          <a:prstGeom prst="rect">
            <a:avLst/>
          </a:prstGeom>
        </p:spPr>
      </p:pic>
      <p:sp>
        <p:nvSpPr>
          <p:cNvPr id="14" name="Text 8"/>
          <p:cNvSpPr/>
          <p:nvPr/>
        </p:nvSpPr>
        <p:spPr>
          <a:xfrm>
            <a:off x="6807200" y="2120838"/>
            <a:ext cx="311285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04B"/>
                </a:solidFill>
                <a:latin typeface="Nunito Sans" pitchFamily="34" charset="0"/>
                <a:ea typeface="Nunito Sans" pitchFamily="34" charset="-122"/>
                <a:cs typeface="Nunito Sans" pitchFamily="34" charset="-120"/>
              </a:rPr>
              <a:t>When your defect is rejected</a:t>
            </a:r>
            <a:endParaRPr lang="en-US" sz="1500" dirty="0"/>
          </a:p>
        </p:txBody>
      </p:sp>
      <p:sp>
        <p:nvSpPr>
          <p:cNvPr id="15" name="Text 9"/>
          <p:cNvSpPr/>
          <p:nvPr/>
        </p:nvSpPr>
        <p:spPr>
          <a:xfrm>
            <a:off x="6451600" y="2489138"/>
            <a:ext cx="4813808" cy="74354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CE4F0"/>
                </a:solidFill>
                <a:latin typeface="Nunito Sans" pitchFamily="34" charset="0"/>
                <a:ea typeface="Nunito Sans" pitchFamily="34" charset="-122"/>
                <a:cs typeface="Nunito Sans" pitchFamily="34" charset="-120"/>
              </a:rPr>
              <a:t>Don't argue emotionally. Re-check the requirement, add evidence, clarify the steps. Still a problem? Escalate politely, with facts.</a:t>
            </a:r>
            <a:endParaRPr lang="en-US" sz="1300" dirty="0"/>
          </a:p>
        </p:txBody>
      </p:sp>
      <p:sp>
        <p:nvSpPr>
          <p:cNvPr id="16" name="Text 10"/>
          <p:cNvSpPr/>
          <p:nvPr/>
        </p:nvSpPr>
        <p:spPr>
          <a:xfrm>
            <a:off x="6451600" y="3334283"/>
            <a:ext cx="4813808"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BFBF8"/>
                </a:solidFill>
                <a:latin typeface="Nunito Sans" pitchFamily="34" charset="0"/>
                <a:ea typeface="Nunito Sans" pitchFamily="34" charset="-122"/>
                <a:cs typeface="Nunito Sans" pitchFamily="34" charset="-120"/>
              </a:rPr>
              <a:t>Sometimes the requirement is ambiguous, and that is a valuable finding in itself.</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RETESTING VS. REGRESSION TESTING</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Is it fixed? Did anything else break?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10553700" cy="2209205"/>
        </p:xfrm>
        <a:graphic>
          <a:graphicData uri="http://schemas.openxmlformats.org/drawingml/2006/table">
            <a:tbl>
              <a:tblPr/>
              <a:tblGrid>
                <a:gridCol w="1688592">
                  <a:extLst>
                    <a:ext uri="{9D8B030D-6E8A-4147-A177-3AD203B41FA5}">
                      <a16:colId xmlns:a16="http://schemas.microsoft.com/office/drawing/2014/main" val="20000"/>
                    </a:ext>
                  </a:extLst>
                </a:gridCol>
                <a:gridCol w="4432554">
                  <a:extLst>
                    <a:ext uri="{9D8B030D-6E8A-4147-A177-3AD203B41FA5}">
                      <a16:colId xmlns:a16="http://schemas.microsoft.com/office/drawing/2014/main" val="20001"/>
                    </a:ext>
                  </a:extLst>
                </a:gridCol>
                <a:gridCol w="4432554">
                  <a:extLst>
                    <a:ext uri="{9D8B030D-6E8A-4147-A177-3AD203B41FA5}">
                      <a16:colId xmlns:a16="http://schemas.microsoft.com/office/drawing/2014/main" val="20002"/>
                    </a:ext>
                  </a:extLst>
                </a:gridCol>
              </a:tblGrid>
              <a:tr h="332647">
                <a:tc>
                  <a:txBody>
                    <a:bodyPr/>
                    <a:lstStyle/>
                    <a:p>
                      <a:pPr marL="0" indent="0">
                        <a:lnSpc>
                          <a:spcPts val="1680"/>
                        </a:lnSpc>
                        <a:buNone/>
                      </a:pP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Retesting (confirmation)</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Regression testing</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Purpose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Confirm this specific defect is fixed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Confirm the change didn't break anything else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What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The failed test cases linked to the defect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Surrounding functionality and broader suites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Test cases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Same steps and data as the original failure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Previously passing test cases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Planned?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Can't be planned in advance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Planned, and often automated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Example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BUG-250 fixed: re-run TC_CHK_005 with the declined card; no order created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Re-run successful payment, insufficient funds, order history, inventory, confirmation email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228443"/>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Nunito Sans" pitchFamily="34" charset="0"/>
                <a:ea typeface="Nunito Sans" pitchFamily="34" charset="-122"/>
                <a:cs typeface="Nunito Sans" pitchFamily="34" charset="-120"/>
              </a:rPr>
              <a:t>After a fix, do both: </a:t>
            </a:r>
            <a:r>
              <a:rPr lang="en-US" sz="1500" b="1" dirty="0">
                <a:solidFill>
                  <a:srgbClr val="A14F0A"/>
                </a:solidFill>
                <a:latin typeface="Nunito Sans" pitchFamily="34" charset="0"/>
                <a:ea typeface="Nunito Sans" pitchFamily="34" charset="-122"/>
                <a:cs typeface="Nunito Sans" pitchFamily="34" charset="-120"/>
              </a:rPr>
              <a:t>retest first, then regression.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DEFECT CLOSURE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When a defect is really done</a:t>
            </a:r>
            <a:endParaRPr lang="en-US" sz="3200" dirty="0"/>
          </a:p>
        </p:txBody>
      </p:sp>
      <p:sp>
        <p:nvSpPr>
          <p:cNvPr id="4" name="Shape 2"/>
          <p:cNvSpPr/>
          <p:nvPr/>
        </p:nvSpPr>
        <p:spPr>
          <a:xfrm>
            <a:off x="812800" y="1828738"/>
            <a:ext cx="5406562" cy="2262981"/>
          </a:xfrm>
          <a:prstGeom prst="roundRect">
            <a:avLst>
              <a:gd name="adj" fmla="val 4490"/>
            </a:avLst>
          </a:prstGeom>
          <a:solidFill>
            <a:srgbClr val="EEF2F7"/>
          </a:solidFill>
          <a:ln/>
        </p:spPr>
      </p:sp>
      <p:sp>
        <p:nvSpPr>
          <p:cNvPr id="5" name="Text 3"/>
          <p:cNvSpPr/>
          <p:nvPr/>
        </p:nvSpPr>
        <p:spPr>
          <a:xfrm>
            <a:off x="1041400" y="2057338"/>
            <a:ext cx="509784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Nunito Sans" pitchFamily="34" charset="0"/>
                <a:ea typeface="Nunito Sans" pitchFamily="34" charset="-122"/>
                <a:cs typeface="Nunito Sans" pitchFamily="34" charset="-120"/>
              </a:rPr>
              <a:t>Closed when all three are true</a:t>
            </a:r>
            <a:endParaRPr lang="en-US" sz="1500" dirty="0"/>
          </a:p>
        </p:txBody>
      </p:sp>
      <p:pic>
        <p:nvPicPr>
          <p:cNvPr id="6" name="Image 0" descr="CheckCircle"/>
          <p:cNvPicPr>
            <a:picLocks noChangeAspect="1"/>
          </p:cNvPicPr>
          <p:nvPr/>
        </p:nvPicPr>
        <p:blipFill>
          <a:blip r:embed="rId3"/>
          <a:srcRect/>
          <a:stretch/>
        </p:blipFill>
        <p:spPr>
          <a:xfrm>
            <a:off x="1041400" y="2400238"/>
            <a:ext cx="203200" cy="203200"/>
          </a:xfrm>
          <a:prstGeom prst="rect">
            <a:avLst/>
          </a:prstGeom>
        </p:spPr>
      </p:pic>
      <p:sp>
        <p:nvSpPr>
          <p:cNvPr id="7" name="Text 4"/>
          <p:cNvSpPr/>
          <p:nvPr/>
        </p:nvSpPr>
        <p:spPr>
          <a:xfrm>
            <a:off x="1346200" y="2400238"/>
            <a:ext cx="334470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Fix verified in the agreed environment</a:t>
            </a:r>
            <a:endParaRPr lang="en-US" sz="1300" dirty="0"/>
          </a:p>
        </p:txBody>
      </p:sp>
      <p:pic>
        <p:nvPicPr>
          <p:cNvPr id="8" name="Image 1" descr="CheckCircle"/>
          <p:cNvPicPr>
            <a:picLocks noChangeAspect="1"/>
          </p:cNvPicPr>
          <p:nvPr/>
        </p:nvPicPr>
        <p:blipFill>
          <a:blip r:embed="rId3"/>
          <a:srcRect/>
          <a:stretch/>
        </p:blipFill>
        <p:spPr>
          <a:xfrm>
            <a:off x="1041400" y="2745656"/>
            <a:ext cx="203200" cy="203200"/>
          </a:xfrm>
          <a:prstGeom prst="rect">
            <a:avLst/>
          </a:prstGeom>
        </p:spPr>
      </p:pic>
      <p:sp>
        <p:nvSpPr>
          <p:cNvPr id="9" name="Text 5"/>
          <p:cNvSpPr/>
          <p:nvPr/>
        </p:nvSpPr>
        <p:spPr>
          <a:xfrm>
            <a:off x="1346200" y="2745656"/>
            <a:ext cx="283154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Related regression tests passed</a:t>
            </a:r>
            <a:endParaRPr lang="en-US" sz="1300" dirty="0"/>
          </a:p>
        </p:txBody>
      </p:sp>
      <p:pic>
        <p:nvPicPr>
          <p:cNvPr id="10" name="Image 2" descr="CheckCircle"/>
          <p:cNvPicPr>
            <a:picLocks noChangeAspect="1"/>
          </p:cNvPicPr>
          <p:nvPr/>
        </p:nvPicPr>
        <p:blipFill>
          <a:blip r:embed="rId3"/>
          <a:srcRect/>
          <a:stretch/>
        </p:blipFill>
        <p:spPr>
          <a:xfrm>
            <a:off x="1041400" y="3091061"/>
            <a:ext cx="203200" cy="203200"/>
          </a:xfrm>
          <a:prstGeom prst="rect">
            <a:avLst/>
          </a:prstGeom>
        </p:spPr>
      </p:pic>
      <p:sp>
        <p:nvSpPr>
          <p:cNvPr id="11" name="Text 6"/>
          <p:cNvSpPr/>
          <p:nvPr/>
        </p:nvSpPr>
        <p:spPr>
          <a:xfrm>
            <a:off x="1346200" y="3091061"/>
            <a:ext cx="428625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Notes added: fixed build, root cause, linked tests</a:t>
            </a:r>
            <a:endParaRPr lang="en-US" sz="1300" dirty="0"/>
          </a:p>
        </p:txBody>
      </p:sp>
      <p:sp>
        <p:nvSpPr>
          <p:cNvPr id="12" name="Text 7"/>
          <p:cNvSpPr/>
          <p:nvPr/>
        </p:nvSpPr>
        <p:spPr>
          <a:xfrm>
            <a:off x="1041400" y="3436479"/>
            <a:ext cx="509784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Or closed as Rejected / Duplicate with a reason, or accepted by the PO as Won't Fix.</a:t>
            </a:r>
            <a:endParaRPr lang="en-US" sz="1200" dirty="0"/>
          </a:p>
        </p:txBody>
      </p:sp>
      <p:sp>
        <p:nvSpPr>
          <p:cNvPr id="13" name="Shape 8"/>
          <p:cNvSpPr/>
          <p:nvPr/>
        </p:nvSpPr>
        <p:spPr>
          <a:xfrm>
            <a:off x="6422562" y="1828738"/>
            <a:ext cx="4956638" cy="2262981"/>
          </a:xfrm>
          <a:prstGeom prst="roundRect">
            <a:avLst>
              <a:gd name="adj" fmla="val 4490"/>
            </a:avLst>
          </a:prstGeom>
          <a:solidFill>
            <a:srgbClr val="14213D"/>
          </a:solidFill>
          <a:ln/>
        </p:spPr>
      </p:sp>
      <p:sp>
        <p:nvSpPr>
          <p:cNvPr id="14" name="Text 9"/>
          <p:cNvSpPr/>
          <p:nvPr/>
        </p:nvSpPr>
        <p:spPr>
          <a:xfrm>
            <a:off x="6651162" y="2057338"/>
            <a:ext cx="463442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04B"/>
                </a:solidFill>
                <a:latin typeface="Nunito Sans" pitchFamily="34" charset="0"/>
                <a:ea typeface="Nunito Sans" pitchFamily="34" charset="-122"/>
                <a:cs typeface="Nunito Sans" pitchFamily="34" charset="-120"/>
              </a:rPr>
              <a:t>Useful metrics</a:t>
            </a:r>
            <a:endParaRPr lang="en-US" sz="1500" dirty="0"/>
          </a:p>
        </p:txBody>
      </p:sp>
      <p:sp>
        <p:nvSpPr>
          <p:cNvPr id="15" name="Text 10"/>
          <p:cNvSpPr/>
          <p:nvPr/>
        </p:nvSpPr>
        <p:spPr>
          <a:xfrm>
            <a:off x="6651162" y="2400238"/>
            <a:ext cx="463442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BF8"/>
                </a:solidFill>
                <a:latin typeface="Nunito Sans" pitchFamily="34" charset="0"/>
                <a:ea typeface="Nunito Sans" pitchFamily="34" charset="-122"/>
                <a:cs typeface="Nunito Sans" pitchFamily="34" charset="-120"/>
              </a:rPr>
              <a:t>Open by severity:</a:t>
            </a:r>
            <a:r>
              <a:rPr lang="en-US" sz="1200" dirty="0">
                <a:solidFill>
                  <a:srgbClr val="DCE4F0"/>
                </a:solidFill>
                <a:latin typeface="Nunito Sans" pitchFamily="34" charset="0"/>
                <a:ea typeface="Nunito Sans" pitchFamily="34" charset="-122"/>
                <a:cs typeface="Nunito Sans" pitchFamily="34" charset="-120"/>
              </a:rPr>
              <a:t> is the release safe?</a:t>
            </a:r>
            <a:endParaRPr lang="en-US" sz="1200" dirty="0"/>
          </a:p>
        </p:txBody>
      </p:sp>
      <p:sp>
        <p:nvSpPr>
          <p:cNvPr id="16" name="Text 11"/>
          <p:cNvSpPr/>
          <p:nvPr/>
        </p:nvSpPr>
        <p:spPr>
          <a:xfrm>
            <a:off x="6651162" y="2727858"/>
            <a:ext cx="463442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BF8"/>
                </a:solidFill>
                <a:latin typeface="Nunito Sans" pitchFamily="34" charset="0"/>
                <a:ea typeface="Nunito Sans" pitchFamily="34" charset="-122"/>
                <a:cs typeface="Nunito Sans" pitchFamily="34" charset="-120"/>
              </a:rPr>
              <a:t>Reopen rate:</a:t>
            </a:r>
            <a:r>
              <a:rPr lang="en-US" sz="1200" dirty="0">
                <a:solidFill>
                  <a:srgbClr val="DCE4F0"/>
                </a:solidFill>
                <a:latin typeface="Nunito Sans" pitchFamily="34" charset="0"/>
                <a:ea typeface="Nunito Sans" pitchFamily="34" charset="-122"/>
                <a:cs typeface="Nunito Sans" pitchFamily="34" charset="-120"/>
              </a:rPr>
              <a:t> high means poor fixes or unclear reports</a:t>
            </a:r>
            <a:endParaRPr lang="en-US" sz="1200" dirty="0"/>
          </a:p>
        </p:txBody>
      </p:sp>
      <p:sp>
        <p:nvSpPr>
          <p:cNvPr id="17" name="Text 12"/>
          <p:cNvSpPr/>
          <p:nvPr/>
        </p:nvSpPr>
        <p:spPr>
          <a:xfrm>
            <a:off x="6651162" y="3055479"/>
            <a:ext cx="472803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BF8"/>
                </a:solidFill>
                <a:latin typeface="Nunito Sans" pitchFamily="34" charset="0"/>
                <a:ea typeface="Nunito Sans" pitchFamily="34" charset="-122"/>
                <a:cs typeface="Nunito Sans" pitchFamily="34" charset="-120"/>
              </a:rPr>
              <a:t>Rejection rate:</a:t>
            </a:r>
            <a:r>
              <a:rPr lang="en-US" sz="1200" dirty="0">
                <a:solidFill>
                  <a:srgbClr val="DCE4F0"/>
                </a:solidFill>
                <a:latin typeface="Nunito Sans" pitchFamily="34" charset="0"/>
                <a:ea typeface="Nunito Sans" pitchFamily="34" charset="-122"/>
                <a:cs typeface="Nunito Sans" pitchFamily="34" charset="-120"/>
              </a:rPr>
              <a:t> high means unclear requirements or poor reports</a:t>
            </a:r>
            <a:endParaRPr lang="en-US" sz="1200" dirty="0"/>
          </a:p>
        </p:txBody>
      </p:sp>
      <p:sp>
        <p:nvSpPr>
          <p:cNvPr id="18" name="Text 13"/>
          <p:cNvSpPr/>
          <p:nvPr/>
        </p:nvSpPr>
        <p:spPr>
          <a:xfrm>
            <a:off x="6651162" y="3383099"/>
            <a:ext cx="463442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BF8"/>
                </a:solidFill>
                <a:latin typeface="Nunito Sans" pitchFamily="34" charset="0"/>
                <a:ea typeface="Nunito Sans" pitchFamily="34" charset="-122"/>
                <a:cs typeface="Nunito Sans" pitchFamily="34" charset="-120"/>
              </a:rPr>
              <a:t>Leakage:</a:t>
            </a:r>
            <a:r>
              <a:rPr lang="en-US" sz="1200" dirty="0">
                <a:solidFill>
                  <a:srgbClr val="DCE4F0"/>
                </a:solidFill>
                <a:latin typeface="Nunito Sans" pitchFamily="34" charset="0"/>
                <a:ea typeface="Nunito Sans" pitchFamily="34" charset="-122"/>
                <a:cs typeface="Nunito Sans" pitchFamily="34" charset="-120"/>
              </a:rPr>
              <a:t> defects found in production that testing missed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COMMON BEGINNER MISTAKES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Six ways a good bug gets lost</a:t>
            </a:r>
            <a:endParaRPr lang="en-US" sz="3200" dirty="0"/>
          </a:p>
        </p:txBody>
      </p:sp>
      <p:pic>
        <p:nvPicPr>
          <p:cNvPr id="4" name="Image 0" descr="Warning"/>
          <p:cNvPicPr>
            <a:picLocks noChangeAspect="1"/>
          </p:cNvPicPr>
          <p:nvPr/>
        </p:nvPicPr>
        <p:blipFill>
          <a:blip r:embed="rId3"/>
          <a:srcRect/>
          <a:stretch/>
        </p:blipFill>
        <p:spPr>
          <a:xfrm>
            <a:off x="812800" y="1860488"/>
            <a:ext cx="254000" cy="254000"/>
          </a:xfrm>
          <a:prstGeom prst="rect">
            <a:avLst/>
          </a:prstGeom>
        </p:spPr>
      </p:pic>
      <p:sp>
        <p:nvSpPr>
          <p:cNvPr id="5" name="Text 2"/>
          <p:cNvSpPr/>
          <p:nvPr/>
        </p:nvSpPr>
        <p:spPr>
          <a:xfrm>
            <a:off x="1219200" y="1854138"/>
            <a:ext cx="679370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Vague titles, missing steps.</a:t>
            </a:r>
            <a:r>
              <a:rPr lang="en-US" sz="1500" dirty="0">
                <a:solidFill>
                  <a:srgbClr val="3D4A5C"/>
                </a:solidFill>
                <a:latin typeface="Nunito Sans" pitchFamily="34" charset="0"/>
                <a:ea typeface="Nunito Sans" pitchFamily="34" charset="-122"/>
                <a:cs typeface="Nunito Sans" pitchFamily="34" charset="-120"/>
              </a:rPr>
              <a:t> It can't be reproduced, so it's rejected.</a:t>
            </a:r>
            <a:endParaRPr lang="en-US" sz="1500" dirty="0"/>
          </a:p>
        </p:txBody>
      </p:sp>
      <p:pic>
        <p:nvPicPr>
          <p:cNvPr id="6" name="Image 1" descr="Warning"/>
          <p:cNvPicPr>
            <a:picLocks noChangeAspect="1"/>
          </p:cNvPicPr>
          <p:nvPr/>
        </p:nvPicPr>
        <p:blipFill>
          <a:blip r:embed="rId3"/>
          <a:srcRect/>
          <a:stretch/>
        </p:blipFill>
        <p:spPr>
          <a:xfrm>
            <a:off x="812800" y="2279588"/>
            <a:ext cx="254000" cy="254000"/>
          </a:xfrm>
          <a:prstGeom prst="rect">
            <a:avLst/>
          </a:prstGeom>
        </p:spPr>
      </p:pic>
      <p:sp>
        <p:nvSpPr>
          <p:cNvPr id="7" name="Text 3"/>
          <p:cNvSpPr/>
          <p:nvPr/>
        </p:nvSpPr>
        <p:spPr>
          <a:xfrm>
            <a:off x="1219200" y="2273238"/>
            <a:ext cx="62166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Confusing severity and priority</a:t>
            </a:r>
            <a:r>
              <a:rPr lang="en-US" sz="1500" dirty="0">
                <a:solidFill>
                  <a:srgbClr val="3D4A5C"/>
                </a:solidFill>
                <a:latin typeface="Nunito Sans" pitchFamily="34" charset="0"/>
                <a:ea typeface="Nunito Sans" pitchFamily="34" charset="-122"/>
                <a:cs typeface="Nunito Sans" pitchFamily="34" charset="-120"/>
              </a:rPr>
              <a:t>, or rating everything Critical.</a:t>
            </a:r>
            <a:endParaRPr lang="en-US" sz="1500" dirty="0"/>
          </a:p>
        </p:txBody>
      </p:sp>
      <p:pic>
        <p:nvPicPr>
          <p:cNvPr id="8" name="Image 2" descr="Warning"/>
          <p:cNvPicPr>
            <a:picLocks noChangeAspect="1"/>
          </p:cNvPicPr>
          <p:nvPr/>
        </p:nvPicPr>
        <p:blipFill>
          <a:blip r:embed="rId3"/>
          <a:srcRect/>
          <a:stretch/>
        </p:blipFill>
        <p:spPr>
          <a:xfrm>
            <a:off x="812800" y="2698688"/>
            <a:ext cx="254000" cy="254000"/>
          </a:xfrm>
          <a:prstGeom prst="rect">
            <a:avLst/>
          </a:prstGeom>
        </p:spPr>
      </p:pic>
      <p:sp>
        <p:nvSpPr>
          <p:cNvPr id="9" name="Text 4"/>
          <p:cNvSpPr/>
          <p:nvPr/>
        </p:nvSpPr>
        <p:spPr>
          <a:xfrm>
            <a:off x="1219200" y="2692338"/>
            <a:ext cx="43892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Closing without regression</a:t>
            </a:r>
            <a:r>
              <a:rPr lang="en-US" sz="1500" dirty="0">
                <a:solidFill>
                  <a:srgbClr val="3D4A5C"/>
                </a:solidFill>
                <a:latin typeface="Nunito Sans" pitchFamily="34" charset="0"/>
                <a:ea typeface="Nunito Sans" pitchFamily="34" charset="-122"/>
                <a:cs typeface="Nunito Sans" pitchFamily="34" charset="-120"/>
              </a:rPr>
              <a:t> around the fix.</a:t>
            </a:r>
            <a:endParaRPr lang="en-US" sz="1500" dirty="0"/>
          </a:p>
        </p:txBody>
      </p:sp>
      <p:pic>
        <p:nvPicPr>
          <p:cNvPr id="10" name="Image 3" descr="Warning"/>
          <p:cNvPicPr>
            <a:picLocks noChangeAspect="1"/>
          </p:cNvPicPr>
          <p:nvPr/>
        </p:nvPicPr>
        <p:blipFill>
          <a:blip r:embed="rId3"/>
          <a:srcRect/>
          <a:stretch/>
        </p:blipFill>
        <p:spPr>
          <a:xfrm>
            <a:off x="812800" y="3117788"/>
            <a:ext cx="254000" cy="254000"/>
          </a:xfrm>
          <a:prstGeom prst="rect">
            <a:avLst/>
          </a:prstGeom>
        </p:spPr>
      </p:pic>
      <p:sp>
        <p:nvSpPr>
          <p:cNvPr id="11" name="Text 5"/>
          <p:cNvSpPr/>
          <p:nvPr/>
        </p:nvSpPr>
        <p:spPr>
          <a:xfrm>
            <a:off x="1219200" y="3111438"/>
            <a:ext cx="687832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Several issues in one report.</a:t>
            </a:r>
            <a:r>
              <a:rPr lang="en-US" sz="1500" dirty="0">
                <a:solidFill>
                  <a:srgbClr val="3D4A5C"/>
                </a:solidFill>
                <a:latin typeface="Nunito Sans" pitchFamily="34" charset="0"/>
                <a:ea typeface="Nunito Sans" pitchFamily="34" charset="-122"/>
                <a:cs typeface="Nunito Sans" pitchFamily="34" charset="-120"/>
              </a:rPr>
              <a:t> One gets fixed; the rest are forgotten.</a:t>
            </a:r>
            <a:endParaRPr lang="en-US" sz="1500" dirty="0"/>
          </a:p>
        </p:txBody>
      </p:sp>
      <p:pic>
        <p:nvPicPr>
          <p:cNvPr id="12" name="Image 4" descr="Warning"/>
          <p:cNvPicPr>
            <a:picLocks noChangeAspect="1"/>
          </p:cNvPicPr>
          <p:nvPr/>
        </p:nvPicPr>
        <p:blipFill>
          <a:blip r:embed="rId3"/>
          <a:srcRect/>
          <a:stretch/>
        </p:blipFill>
        <p:spPr>
          <a:xfrm>
            <a:off x="812800" y="3536888"/>
            <a:ext cx="254000" cy="254000"/>
          </a:xfrm>
          <a:prstGeom prst="rect">
            <a:avLst/>
          </a:prstGeom>
        </p:spPr>
      </p:pic>
      <p:sp>
        <p:nvSpPr>
          <p:cNvPr id="13" name="Text 6"/>
          <p:cNvSpPr/>
          <p:nvPr/>
        </p:nvSpPr>
        <p:spPr>
          <a:xfrm>
            <a:off x="1219200" y="3530538"/>
            <a:ext cx="449913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Not checking for duplicates</a:t>
            </a:r>
            <a:r>
              <a:rPr lang="en-US" sz="1500" dirty="0">
                <a:solidFill>
                  <a:srgbClr val="3D4A5C"/>
                </a:solidFill>
                <a:latin typeface="Nunito Sans" pitchFamily="34" charset="0"/>
                <a:ea typeface="Nunito Sans" pitchFamily="34" charset="-122"/>
                <a:cs typeface="Nunito Sans" pitchFamily="34" charset="-120"/>
              </a:rPr>
              <a:t> before logging.</a:t>
            </a:r>
            <a:endParaRPr lang="en-US" sz="1500" dirty="0"/>
          </a:p>
        </p:txBody>
      </p:sp>
      <p:pic>
        <p:nvPicPr>
          <p:cNvPr id="14" name="Image 5" descr="Warning"/>
          <p:cNvPicPr>
            <a:picLocks noChangeAspect="1"/>
          </p:cNvPicPr>
          <p:nvPr/>
        </p:nvPicPr>
        <p:blipFill>
          <a:blip r:embed="rId3"/>
          <a:srcRect/>
          <a:stretch/>
        </p:blipFill>
        <p:spPr>
          <a:xfrm>
            <a:off x="812800" y="3955988"/>
            <a:ext cx="254000" cy="254000"/>
          </a:xfrm>
          <a:prstGeom prst="rect">
            <a:avLst/>
          </a:prstGeom>
        </p:spPr>
      </p:pic>
      <p:sp>
        <p:nvSpPr>
          <p:cNvPr id="15" name="Text 7"/>
          <p:cNvSpPr/>
          <p:nvPr/>
        </p:nvSpPr>
        <p:spPr>
          <a:xfrm>
            <a:off x="1219200" y="3949638"/>
            <a:ext cx="673481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Taking rejection personally.</a:t>
            </a:r>
            <a:r>
              <a:rPr lang="en-US" sz="1500" dirty="0">
                <a:solidFill>
                  <a:srgbClr val="3D4A5C"/>
                </a:solidFill>
                <a:latin typeface="Nunito Sans" pitchFamily="34" charset="0"/>
                <a:ea typeface="Nunito Sans" pitchFamily="34" charset="-122"/>
                <a:cs typeface="Nunito Sans" pitchFamily="34" charset="-120"/>
              </a:rPr>
              <a:t> Focus on evidence and requirements.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PRACTICE 1 · 5 MINUTES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Rate six ShopEasy defects</a:t>
            </a:r>
            <a:endParaRPr lang="en-US" sz="3200" dirty="0"/>
          </a:p>
        </p:txBody>
      </p:sp>
      <p:sp>
        <p:nvSpPr>
          <p:cNvPr id="4" name="Text 2"/>
          <p:cNvSpPr/>
          <p:nvPr/>
        </p:nvSpPr>
        <p:spPr>
          <a:xfrm>
            <a:off x="812800" y="180333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Give each a </a:t>
            </a:r>
            <a:r>
              <a:rPr lang="en-US" sz="1400" b="1" dirty="0">
                <a:solidFill>
                  <a:srgbClr val="DCE4F0"/>
                </a:solidFill>
                <a:latin typeface="Nunito Sans" pitchFamily="34" charset="0"/>
                <a:ea typeface="Nunito Sans" pitchFamily="34" charset="-122"/>
                <a:cs typeface="Nunito Sans" pitchFamily="34" charset="-120"/>
              </a:rPr>
              <a:t>severity</a:t>
            </a:r>
            <a:r>
              <a:rPr lang="en-US" sz="1400" dirty="0">
                <a:solidFill>
                  <a:srgbClr val="DCE4F0"/>
                </a:solidFill>
                <a:latin typeface="Nunito Sans" pitchFamily="34" charset="0"/>
                <a:ea typeface="Nunito Sans" pitchFamily="34" charset="-122"/>
                <a:cs typeface="Nunito Sans" pitchFamily="34" charset="-120"/>
              </a:rPr>
              <a:t> (Critical / High / Medium / Low) and a </a:t>
            </a:r>
            <a:r>
              <a:rPr lang="en-US" sz="1400" b="1" dirty="0">
                <a:solidFill>
                  <a:srgbClr val="DCE4F0"/>
                </a:solidFill>
                <a:latin typeface="Nunito Sans" pitchFamily="34" charset="0"/>
                <a:ea typeface="Nunito Sans" pitchFamily="34" charset="-122"/>
                <a:cs typeface="Nunito Sans" pitchFamily="34" charset="-120"/>
              </a:rPr>
              <a:t>priority</a:t>
            </a:r>
            <a:r>
              <a:rPr lang="en-US" sz="1400" dirty="0">
                <a:solidFill>
                  <a:srgbClr val="DCE4F0"/>
                </a:solidFill>
                <a:latin typeface="Nunito Sans" pitchFamily="34" charset="0"/>
                <a:ea typeface="Nunito Sans" pitchFamily="34" charset="-122"/>
                <a:cs typeface="Nunito Sans" pitchFamily="34" charset="-120"/>
              </a:rPr>
              <a:t> (P1–P4), with a one-line reason.</a:t>
            </a:r>
            <a:endParaRPr lang="en-US" sz="1400" dirty="0"/>
          </a:p>
        </p:txBody>
      </p:sp>
      <p:sp>
        <p:nvSpPr>
          <p:cNvPr id="5" name="Shape 3"/>
          <p:cNvSpPr/>
          <p:nvPr/>
        </p:nvSpPr>
        <p:spPr>
          <a:xfrm>
            <a:off x="812800" y="2306241"/>
            <a:ext cx="5283200" cy="589227"/>
          </a:xfrm>
          <a:prstGeom prst="roundRect">
            <a:avLst>
              <a:gd name="adj" fmla="val 12932"/>
            </a:avLst>
          </a:prstGeom>
          <a:solidFill>
            <a:srgbClr val="24345A"/>
          </a:solidFill>
          <a:ln/>
        </p:spPr>
      </p:sp>
      <p:sp>
        <p:nvSpPr>
          <p:cNvPr id="6" name="Text 4"/>
          <p:cNvSpPr/>
          <p:nvPr/>
        </p:nvSpPr>
        <p:spPr>
          <a:xfrm>
            <a:off x="990600" y="2458641"/>
            <a:ext cx="135334"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A04B"/>
                </a:solidFill>
                <a:latin typeface="Domine" pitchFamily="18" charset="0"/>
                <a:ea typeface="Domine" pitchFamily="18" charset="-122"/>
                <a:cs typeface="Domine" pitchFamily="18" charset="-120"/>
              </a:rPr>
              <a:t>1</a:t>
            </a:r>
            <a:endParaRPr lang="en-US" sz="1600" dirty="0"/>
          </a:p>
        </p:txBody>
      </p:sp>
      <p:sp>
        <p:nvSpPr>
          <p:cNvPr id="7" name="Text 5"/>
          <p:cNvSpPr/>
          <p:nvPr/>
        </p:nvSpPr>
        <p:spPr>
          <a:xfrm>
            <a:off x="1202134" y="2458641"/>
            <a:ext cx="3627279"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BF8"/>
                </a:solidFill>
                <a:latin typeface="Nunito Sans" pitchFamily="34" charset="0"/>
                <a:ea typeface="Nunito Sans" pitchFamily="34" charset="-122"/>
                <a:cs typeface="Nunito Sans" pitchFamily="34" charset="-120"/>
              </a:rPr>
              <a:t>Homepage logo misspelled “ShopEasey”</a:t>
            </a:r>
            <a:endParaRPr lang="en-US" sz="1300" dirty="0"/>
          </a:p>
        </p:txBody>
      </p:sp>
      <p:sp>
        <p:nvSpPr>
          <p:cNvPr id="8" name="Shape 6"/>
          <p:cNvSpPr/>
          <p:nvPr/>
        </p:nvSpPr>
        <p:spPr>
          <a:xfrm>
            <a:off x="6096000" y="2306241"/>
            <a:ext cx="5283200" cy="589227"/>
          </a:xfrm>
          <a:prstGeom prst="roundRect">
            <a:avLst>
              <a:gd name="adj" fmla="val 12932"/>
            </a:avLst>
          </a:prstGeom>
          <a:solidFill>
            <a:srgbClr val="24345A"/>
          </a:solidFill>
          <a:ln/>
        </p:spPr>
      </p:sp>
      <p:sp>
        <p:nvSpPr>
          <p:cNvPr id="9" name="Text 7"/>
          <p:cNvSpPr/>
          <p:nvPr/>
        </p:nvSpPr>
        <p:spPr>
          <a:xfrm>
            <a:off x="6273800" y="2458641"/>
            <a:ext cx="172773"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A04B"/>
                </a:solidFill>
                <a:latin typeface="Domine" pitchFamily="18" charset="0"/>
                <a:ea typeface="Domine" pitchFamily="18" charset="-122"/>
                <a:cs typeface="Domine" pitchFamily="18" charset="-120"/>
              </a:rPr>
              <a:t>2</a:t>
            </a:r>
            <a:endParaRPr lang="en-US" sz="1600" dirty="0"/>
          </a:p>
        </p:txBody>
      </p:sp>
      <p:sp>
        <p:nvSpPr>
          <p:cNvPr id="10" name="Text 8"/>
          <p:cNvSpPr/>
          <p:nvPr/>
        </p:nvSpPr>
        <p:spPr>
          <a:xfrm>
            <a:off x="6522773" y="2458641"/>
            <a:ext cx="4184492"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BF8"/>
                </a:solidFill>
                <a:latin typeface="Nunito Sans" pitchFamily="34" charset="0"/>
                <a:ea typeface="Nunito Sans" pitchFamily="34" charset="-122"/>
                <a:cs typeface="Nunito Sans" pitchFamily="34" charset="-120"/>
              </a:rPr>
              <a:t>Charged twice on a double-click of Place Order</a:t>
            </a:r>
            <a:endParaRPr lang="en-US" sz="1300" dirty="0"/>
          </a:p>
        </p:txBody>
      </p:sp>
      <p:sp>
        <p:nvSpPr>
          <p:cNvPr id="11" name="Shape 9"/>
          <p:cNvSpPr/>
          <p:nvPr/>
        </p:nvSpPr>
        <p:spPr>
          <a:xfrm>
            <a:off x="812800" y="2895476"/>
            <a:ext cx="5283200" cy="589227"/>
          </a:xfrm>
          <a:prstGeom prst="roundRect">
            <a:avLst>
              <a:gd name="adj" fmla="val 12932"/>
            </a:avLst>
          </a:prstGeom>
          <a:solidFill>
            <a:srgbClr val="24345A"/>
          </a:solidFill>
          <a:ln/>
        </p:spPr>
      </p:sp>
      <p:sp>
        <p:nvSpPr>
          <p:cNvPr id="12" name="Text 10"/>
          <p:cNvSpPr/>
          <p:nvPr/>
        </p:nvSpPr>
        <p:spPr>
          <a:xfrm>
            <a:off x="990600" y="3047876"/>
            <a:ext cx="17072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A04B"/>
                </a:solidFill>
                <a:latin typeface="Domine" pitchFamily="18" charset="0"/>
                <a:ea typeface="Domine" pitchFamily="18" charset="-122"/>
                <a:cs typeface="Domine" pitchFamily="18" charset="-120"/>
              </a:rPr>
              <a:t>3</a:t>
            </a:r>
            <a:endParaRPr lang="en-US" sz="1600" dirty="0"/>
          </a:p>
        </p:txBody>
      </p:sp>
      <p:sp>
        <p:nvSpPr>
          <p:cNvPr id="13" name="Text 11"/>
          <p:cNvSpPr/>
          <p:nvPr/>
        </p:nvSpPr>
        <p:spPr>
          <a:xfrm>
            <a:off x="1237522" y="3047876"/>
            <a:ext cx="3564573"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BF8"/>
                </a:solidFill>
                <a:latin typeface="Nunito Sans" pitchFamily="34" charset="0"/>
                <a:ea typeface="Nunito Sans" pitchFamily="34" charset="-122"/>
                <a:cs typeface="Nunito Sans" pitchFamily="34" charset="-120"/>
              </a:rPr>
              <a:t>“Sort by rating” sorts in the wrong order</a:t>
            </a:r>
            <a:endParaRPr lang="en-US" sz="1300" dirty="0"/>
          </a:p>
        </p:txBody>
      </p:sp>
      <p:sp>
        <p:nvSpPr>
          <p:cNvPr id="14" name="Shape 12"/>
          <p:cNvSpPr/>
          <p:nvPr/>
        </p:nvSpPr>
        <p:spPr>
          <a:xfrm>
            <a:off x="6096000" y="2895476"/>
            <a:ext cx="5283200" cy="589227"/>
          </a:xfrm>
          <a:prstGeom prst="roundRect">
            <a:avLst>
              <a:gd name="adj" fmla="val 12932"/>
            </a:avLst>
          </a:prstGeom>
          <a:solidFill>
            <a:srgbClr val="24345A"/>
          </a:solidFill>
          <a:ln/>
        </p:spPr>
      </p:sp>
      <p:sp>
        <p:nvSpPr>
          <p:cNvPr id="15" name="Text 13"/>
          <p:cNvSpPr/>
          <p:nvPr/>
        </p:nvSpPr>
        <p:spPr>
          <a:xfrm>
            <a:off x="6273800" y="3047876"/>
            <a:ext cx="167283"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A04B"/>
                </a:solidFill>
                <a:latin typeface="Domine" pitchFamily="18" charset="0"/>
                <a:ea typeface="Domine" pitchFamily="18" charset="-122"/>
                <a:cs typeface="Domine" pitchFamily="18" charset="-120"/>
              </a:rPr>
              <a:t>4</a:t>
            </a:r>
            <a:endParaRPr lang="en-US" sz="1600" dirty="0"/>
          </a:p>
        </p:txBody>
      </p:sp>
      <p:sp>
        <p:nvSpPr>
          <p:cNvPr id="16" name="Text 14"/>
          <p:cNvSpPr/>
          <p:nvPr/>
        </p:nvSpPr>
        <p:spPr>
          <a:xfrm>
            <a:off x="6517283" y="3047876"/>
            <a:ext cx="4402138"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BF8"/>
                </a:solidFill>
                <a:latin typeface="Nunito Sans" pitchFamily="34" charset="0"/>
                <a:ea typeface="Nunito Sans" pitchFamily="34" charset="-122"/>
                <a:cs typeface="Nunito Sans" pitchFamily="34" charset="-120"/>
              </a:rPr>
              <a:t>Crash uploading a profile photo over 20 MB (rare)</a:t>
            </a:r>
            <a:endParaRPr lang="en-US" sz="1300" dirty="0"/>
          </a:p>
        </p:txBody>
      </p:sp>
      <p:sp>
        <p:nvSpPr>
          <p:cNvPr id="17" name="Shape 15"/>
          <p:cNvSpPr/>
          <p:nvPr/>
        </p:nvSpPr>
        <p:spPr>
          <a:xfrm>
            <a:off x="812800" y="3484699"/>
            <a:ext cx="5283200" cy="589227"/>
          </a:xfrm>
          <a:prstGeom prst="roundRect">
            <a:avLst>
              <a:gd name="adj" fmla="val 12932"/>
            </a:avLst>
          </a:prstGeom>
          <a:solidFill>
            <a:srgbClr val="24345A"/>
          </a:solidFill>
          <a:ln/>
        </p:spPr>
      </p:sp>
      <p:sp>
        <p:nvSpPr>
          <p:cNvPr id="18" name="Text 16"/>
          <p:cNvSpPr/>
          <p:nvPr/>
        </p:nvSpPr>
        <p:spPr>
          <a:xfrm>
            <a:off x="990600" y="3637099"/>
            <a:ext cx="165828"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A04B"/>
                </a:solidFill>
                <a:latin typeface="Domine" pitchFamily="18" charset="0"/>
                <a:ea typeface="Domine" pitchFamily="18" charset="-122"/>
                <a:cs typeface="Domine" pitchFamily="18" charset="-120"/>
              </a:rPr>
              <a:t>5</a:t>
            </a:r>
            <a:endParaRPr lang="en-US" sz="1600" dirty="0"/>
          </a:p>
        </p:txBody>
      </p:sp>
      <p:sp>
        <p:nvSpPr>
          <p:cNvPr id="19" name="Text 17"/>
          <p:cNvSpPr/>
          <p:nvPr/>
        </p:nvSpPr>
        <p:spPr>
          <a:xfrm>
            <a:off x="1232628" y="3637099"/>
            <a:ext cx="401701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BF8"/>
                </a:solidFill>
                <a:latin typeface="Nunito Sans" pitchFamily="34" charset="0"/>
                <a:ea typeface="Nunito Sans" pitchFamily="34" charset="-122"/>
                <a:cs typeface="Nunito Sans" pitchFamily="34" charset="-120"/>
              </a:rPr>
              <a:t>Admins can see customers' full card numbers</a:t>
            </a:r>
            <a:endParaRPr lang="en-US" sz="1300" dirty="0"/>
          </a:p>
        </p:txBody>
      </p:sp>
      <p:sp>
        <p:nvSpPr>
          <p:cNvPr id="20" name="Shape 18"/>
          <p:cNvSpPr/>
          <p:nvPr/>
        </p:nvSpPr>
        <p:spPr>
          <a:xfrm>
            <a:off x="6096000" y="3484699"/>
            <a:ext cx="5283200" cy="589227"/>
          </a:xfrm>
          <a:prstGeom prst="roundRect">
            <a:avLst>
              <a:gd name="adj" fmla="val 12932"/>
            </a:avLst>
          </a:prstGeom>
          <a:solidFill>
            <a:srgbClr val="24345A"/>
          </a:solidFill>
          <a:ln/>
        </p:spPr>
      </p:sp>
      <p:sp>
        <p:nvSpPr>
          <p:cNvPr id="21" name="Text 19"/>
          <p:cNvSpPr/>
          <p:nvPr/>
        </p:nvSpPr>
        <p:spPr>
          <a:xfrm>
            <a:off x="6273800" y="3637099"/>
            <a:ext cx="17522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A04B"/>
                </a:solidFill>
                <a:latin typeface="Domine" pitchFamily="18" charset="0"/>
                <a:ea typeface="Domine" pitchFamily="18" charset="-122"/>
                <a:cs typeface="Domine" pitchFamily="18" charset="-120"/>
              </a:rPr>
              <a:t>6</a:t>
            </a:r>
            <a:endParaRPr lang="en-US" sz="1600" dirty="0"/>
          </a:p>
        </p:txBody>
      </p:sp>
      <p:sp>
        <p:nvSpPr>
          <p:cNvPr id="22" name="Text 20"/>
          <p:cNvSpPr/>
          <p:nvPr/>
        </p:nvSpPr>
        <p:spPr>
          <a:xfrm>
            <a:off x="6525220" y="3637099"/>
            <a:ext cx="372538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BF8"/>
                </a:solidFill>
                <a:latin typeface="Nunito Sans" pitchFamily="34" charset="0"/>
                <a:ea typeface="Nunito Sans" pitchFamily="34" charset="-122"/>
                <a:cs typeface="Nunito Sans" pitchFamily="34" charset="-120"/>
              </a:rPr>
              <a:t>Footer says “© 2025” instead of “© 2026”</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PRACTICE 1</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Severity and priority, with reasons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38"/>
          <a:ext cx="10553700" cy="2328532"/>
        </p:xfrm>
        <a:graphic>
          <a:graphicData uri="http://schemas.openxmlformats.org/drawingml/2006/table">
            <a:tbl>
              <a:tblPr/>
              <a:tblGrid>
                <a:gridCol w="2321814">
                  <a:extLst>
                    <a:ext uri="{9D8B030D-6E8A-4147-A177-3AD203B41FA5}">
                      <a16:colId xmlns:a16="http://schemas.microsoft.com/office/drawing/2014/main" val="20000"/>
                    </a:ext>
                  </a:extLst>
                </a:gridCol>
                <a:gridCol w="1371981">
                  <a:extLst>
                    <a:ext uri="{9D8B030D-6E8A-4147-A177-3AD203B41FA5}">
                      <a16:colId xmlns:a16="http://schemas.microsoft.com/office/drawing/2014/main" val="20001"/>
                    </a:ext>
                  </a:extLst>
                </a:gridCol>
                <a:gridCol w="1160907">
                  <a:extLst>
                    <a:ext uri="{9D8B030D-6E8A-4147-A177-3AD203B41FA5}">
                      <a16:colId xmlns:a16="http://schemas.microsoft.com/office/drawing/2014/main" val="20002"/>
                    </a:ext>
                  </a:extLst>
                </a:gridCol>
                <a:gridCol w="5698998">
                  <a:extLst>
                    <a:ext uri="{9D8B030D-6E8A-4147-A177-3AD203B41FA5}">
                      <a16:colId xmlns:a16="http://schemas.microsoft.com/office/drawing/2014/main" val="20003"/>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Defect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Severity</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Priority</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Reason</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1 · Logo typo</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Low</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P1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Cosmetic, but brand-damaging and seen by every visitor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2 · Double charge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Critical</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P1</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Financial loss, customer trust, possible legal issues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3 · Sort by rating</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Wrong, but workaround exists; no data or money impact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4 · 20 MB photo crash</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High</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P3 / P4</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 crash, but rare. Fix later or add a file-size check</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5 · Card numbers visible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Critical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P1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Security and compliance breach (PCI-DSS); fix before release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6 · Footer year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Low</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P4</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Cosmetic, low visibility; quick fix when convenient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296966"/>
            <a:ext cx="10883392"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Your answers may differ slightly. The reasoning is what matters.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PRACTICE 2 · 6 MINUTES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Trace the life cycle</a:t>
            </a:r>
            <a:endParaRPr lang="en-US" sz="3200" dirty="0"/>
          </a:p>
        </p:txBody>
      </p:sp>
      <p:sp>
        <p:nvSpPr>
          <p:cNvPr id="4" name="Text 2"/>
          <p:cNvSpPr/>
          <p:nvPr/>
        </p:nvSpPr>
        <p:spPr>
          <a:xfrm>
            <a:off x="812800" y="180333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For each story, write the sequence of states the defect goes through.</a:t>
            </a:r>
            <a:endParaRPr lang="en-US" sz="1400" dirty="0"/>
          </a:p>
        </p:txBody>
      </p:sp>
      <p:sp>
        <p:nvSpPr>
          <p:cNvPr id="5" name="Shape 3"/>
          <p:cNvSpPr/>
          <p:nvPr/>
        </p:nvSpPr>
        <p:spPr>
          <a:xfrm>
            <a:off x="812800" y="2306241"/>
            <a:ext cx="10566400" cy="538427"/>
          </a:xfrm>
          <a:prstGeom prst="roundRect">
            <a:avLst>
              <a:gd name="adj" fmla="val 14152"/>
            </a:avLst>
          </a:prstGeom>
          <a:solidFill>
            <a:srgbClr val="24345A"/>
          </a:solidFill>
          <a:ln/>
        </p:spPr>
      </p:sp>
      <p:sp>
        <p:nvSpPr>
          <p:cNvPr id="6" name="Text 4"/>
          <p:cNvSpPr/>
          <p:nvPr/>
        </p:nvSpPr>
        <p:spPr>
          <a:xfrm>
            <a:off x="990600" y="2433241"/>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A04B"/>
                </a:solidFill>
                <a:latin typeface="Domine" pitchFamily="18" charset="0"/>
                <a:ea typeface="Domine" pitchFamily="18" charset="-122"/>
                <a:cs typeface="Domine" pitchFamily="18" charset="-120"/>
              </a:rPr>
              <a:t>a</a:t>
            </a:r>
            <a:endParaRPr lang="en-US" sz="1600" dirty="0"/>
          </a:p>
        </p:txBody>
      </p:sp>
      <p:sp>
        <p:nvSpPr>
          <p:cNvPr id="7" name="Text 5"/>
          <p:cNvSpPr/>
          <p:nvPr/>
        </p:nvSpPr>
        <p:spPr>
          <a:xfrm>
            <a:off x="1447800" y="2459906"/>
            <a:ext cx="528121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BF8"/>
                </a:solidFill>
                <a:latin typeface="Nunito Sans" pitchFamily="34" charset="0"/>
                <a:ea typeface="Nunito Sans" pitchFamily="34" charset="-122"/>
                <a:cs typeface="Nunito Sans" pitchFamily="34" charset="-120"/>
              </a:rPr>
              <a:t>Logged; developer fixes it; retest passes; regression passes.</a:t>
            </a:r>
            <a:endParaRPr lang="en-US" sz="1300" dirty="0"/>
          </a:p>
        </p:txBody>
      </p:sp>
      <p:sp>
        <p:nvSpPr>
          <p:cNvPr id="8" name="Shape 6"/>
          <p:cNvSpPr/>
          <p:nvPr/>
        </p:nvSpPr>
        <p:spPr>
          <a:xfrm>
            <a:off x="812800" y="2958976"/>
            <a:ext cx="10566400" cy="538427"/>
          </a:xfrm>
          <a:prstGeom prst="roundRect">
            <a:avLst>
              <a:gd name="adj" fmla="val 14152"/>
            </a:avLst>
          </a:prstGeom>
          <a:solidFill>
            <a:srgbClr val="24345A"/>
          </a:solidFill>
          <a:ln/>
        </p:spPr>
      </p:sp>
      <p:sp>
        <p:nvSpPr>
          <p:cNvPr id="9" name="Text 7"/>
          <p:cNvSpPr/>
          <p:nvPr/>
        </p:nvSpPr>
        <p:spPr>
          <a:xfrm>
            <a:off x="990600" y="3085976"/>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A04B"/>
                </a:solidFill>
                <a:latin typeface="Domine" pitchFamily="18" charset="0"/>
                <a:ea typeface="Domine" pitchFamily="18" charset="-122"/>
                <a:cs typeface="Domine" pitchFamily="18" charset="-120"/>
              </a:rPr>
              <a:t>b</a:t>
            </a:r>
            <a:endParaRPr lang="en-US" sz="1600" dirty="0"/>
          </a:p>
        </p:txBody>
      </p:sp>
      <p:sp>
        <p:nvSpPr>
          <p:cNvPr id="10" name="Text 8"/>
          <p:cNvSpPr/>
          <p:nvPr/>
        </p:nvSpPr>
        <p:spPr>
          <a:xfrm>
            <a:off x="1447800" y="3112629"/>
            <a:ext cx="552196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BF8"/>
                </a:solidFill>
                <a:latin typeface="Nunito Sans" pitchFamily="34" charset="0"/>
                <a:ea typeface="Nunito Sans" pitchFamily="34" charset="-122"/>
                <a:cs typeface="Nunito Sans" pitchFamily="34" charset="-120"/>
              </a:rPr>
              <a:t>Logged; developer says the app works as per the requirement.</a:t>
            </a:r>
            <a:endParaRPr lang="en-US" sz="1300" dirty="0"/>
          </a:p>
        </p:txBody>
      </p:sp>
      <p:sp>
        <p:nvSpPr>
          <p:cNvPr id="11" name="Shape 9"/>
          <p:cNvSpPr/>
          <p:nvPr/>
        </p:nvSpPr>
        <p:spPr>
          <a:xfrm>
            <a:off x="812800" y="3611699"/>
            <a:ext cx="10566400" cy="538427"/>
          </a:xfrm>
          <a:prstGeom prst="roundRect">
            <a:avLst>
              <a:gd name="adj" fmla="val 14152"/>
            </a:avLst>
          </a:prstGeom>
          <a:solidFill>
            <a:srgbClr val="24345A"/>
          </a:solidFill>
          <a:ln/>
        </p:spPr>
      </p:sp>
      <p:sp>
        <p:nvSpPr>
          <p:cNvPr id="12" name="Text 10"/>
          <p:cNvSpPr/>
          <p:nvPr/>
        </p:nvSpPr>
        <p:spPr>
          <a:xfrm>
            <a:off x="990600" y="3738699"/>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A04B"/>
                </a:solidFill>
                <a:latin typeface="Domine" pitchFamily="18" charset="0"/>
                <a:ea typeface="Domine" pitchFamily="18" charset="-122"/>
                <a:cs typeface="Domine" pitchFamily="18" charset="-120"/>
              </a:rPr>
              <a:t>c</a:t>
            </a:r>
            <a:endParaRPr lang="en-US" sz="1600" dirty="0"/>
          </a:p>
        </p:txBody>
      </p:sp>
      <p:sp>
        <p:nvSpPr>
          <p:cNvPr id="13" name="Text 11"/>
          <p:cNvSpPr/>
          <p:nvPr/>
        </p:nvSpPr>
        <p:spPr>
          <a:xfrm>
            <a:off x="1447800" y="3765352"/>
            <a:ext cx="460803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BF8"/>
                </a:solidFill>
                <a:latin typeface="Nunito Sans" pitchFamily="34" charset="0"/>
                <a:ea typeface="Nunito Sans" pitchFamily="34" charset="-122"/>
                <a:cs typeface="Nunito Sans" pitchFamily="34" charset="-120"/>
              </a:rPr>
              <a:t>Logged; fixed; retest fails; fixed again; retest passes.</a:t>
            </a:r>
            <a:endParaRPr lang="en-US" sz="1300" dirty="0"/>
          </a:p>
        </p:txBody>
      </p:sp>
      <p:sp>
        <p:nvSpPr>
          <p:cNvPr id="14" name="Shape 12"/>
          <p:cNvSpPr/>
          <p:nvPr/>
        </p:nvSpPr>
        <p:spPr>
          <a:xfrm>
            <a:off x="812800" y="4264422"/>
            <a:ext cx="10566400" cy="538427"/>
          </a:xfrm>
          <a:prstGeom prst="roundRect">
            <a:avLst>
              <a:gd name="adj" fmla="val 14152"/>
            </a:avLst>
          </a:prstGeom>
          <a:solidFill>
            <a:srgbClr val="24345A"/>
          </a:solidFill>
          <a:ln/>
        </p:spPr>
      </p:sp>
      <p:sp>
        <p:nvSpPr>
          <p:cNvPr id="15" name="Text 13"/>
          <p:cNvSpPr/>
          <p:nvPr/>
        </p:nvSpPr>
        <p:spPr>
          <a:xfrm>
            <a:off x="990600" y="4391422"/>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A04B"/>
                </a:solidFill>
                <a:latin typeface="Domine" pitchFamily="18" charset="0"/>
                <a:ea typeface="Domine" pitchFamily="18" charset="-122"/>
                <a:cs typeface="Domine" pitchFamily="18" charset="-120"/>
              </a:rPr>
              <a:t>d</a:t>
            </a:r>
            <a:endParaRPr lang="en-US" sz="1600" dirty="0"/>
          </a:p>
        </p:txBody>
      </p:sp>
      <p:sp>
        <p:nvSpPr>
          <p:cNvPr id="16" name="Text 14"/>
          <p:cNvSpPr/>
          <p:nvPr/>
        </p:nvSpPr>
        <p:spPr>
          <a:xfrm>
            <a:off x="1447800" y="4418087"/>
            <a:ext cx="696912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BF8"/>
                </a:solidFill>
                <a:latin typeface="Nunito Sans" pitchFamily="34" charset="0"/>
                <a:ea typeface="Nunito Sans" pitchFamily="34" charset="-122"/>
                <a:cs typeface="Nunito Sans" pitchFamily="34" charset="-120"/>
              </a:rPr>
              <a:t>Valid low-priority UI bug a day before release; PO decides to fix it next release.</a:t>
            </a:r>
            <a:endParaRPr lang="en-US" sz="1300" dirty="0"/>
          </a:p>
        </p:txBody>
      </p:sp>
      <p:sp>
        <p:nvSpPr>
          <p:cNvPr id="17" name="Shape 15"/>
          <p:cNvSpPr/>
          <p:nvPr/>
        </p:nvSpPr>
        <p:spPr>
          <a:xfrm>
            <a:off x="812800" y="4917157"/>
            <a:ext cx="10566400" cy="538427"/>
          </a:xfrm>
          <a:prstGeom prst="roundRect">
            <a:avLst>
              <a:gd name="adj" fmla="val 14152"/>
            </a:avLst>
          </a:prstGeom>
          <a:solidFill>
            <a:srgbClr val="24345A"/>
          </a:solidFill>
          <a:ln/>
        </p:spPr>
      </p:sp>
      <p:sp>
        <p:nvSpPr>
          <p:cNvPr id="18" name="Text 16"/>
          <p:cNvSpPr/>
          <p:nvPr/>
        </p:nvSpPr>
        <p:spPr>
          <a:xfrm>
            <a:off x="990600" y="5044157"/>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A04B"/>
                </a:solidFill>
                <a:latin typeface="Domine" pitchFamily="18" charset="0"/>
                <a:ea typeface="Domine" pitchFamily="18" charset="-122"/>
                <a:cs typeface="Domine" pitchFamily="18" charset="-120"/>
              </a:rPr>
              <a:t>e</a:t>
            </a:r>
            <a:endParaRPr lang="en-US" sz="1600" dirty="0"/>
          </a:p>
        </p:txBody>
      </p:sp>
      <p:sp>
        <p:nvSpPr>
          <p:cNvPr id="19" name="Text 17"/>
          <p:cNvSpPr/>
          <p:nvPr/>
        </p:nvSpPr>
        <p:spPr>
          <a:xfrm>
            <a:off x="1447800" y="5070810"/>
            <a:ext cx="410456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BF8"/>
                </a:solidFill>
                <a:latin typeface="Nunito Sans" pitchFamily="34" charset="0"/>
                <a:ea typeface="Nunito Sans" pitchFamily="34" charset="-122"/>
                <a:cs typeface="Nunito Sans" pitchFamily="34" charset="-120"/>
              </a:rPr>
              <a:t>Logged, but another tester already reported it.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PRACTICE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Five paths through the life cycle</a:t>
            </a:r>
            <a:endParaRPr lang="en-US" sz="3200" dirty="0"/>
          </a:p>
        </p:txBody>
      </p:sp>
      <p:sp>
        <p:nvSpPr>
          <p:cNvPr id="4" name="Shape 2"/>
          <p:cNvSpPr/>
          <p:nvPr/>
        </p:nvSpPr>
        <p:spPr>
          <a:xfrm>
            <a:off x="812800" y="1803338"/>
            <a:ext cx="10566400" cy="538427"/>
          </a:xfrm>
          <a:prstGeom prst="roundRect">
            <a:avLst>
              <a:gd name="adj" fmla="val 14152"/>
            </a:avLst>
          </a:prstGeom>
          <a:solidFill>
            <a:srgbClr val="EEF2F7"/>
          </a:solidFill>
          <a:ln/>
        </p:spPr>
      </p:sp>
      <p:sp>
        <p:nvSpPr>
          <p:cNvPr id="5" name="Text 3"/>
          <p:cNvSpPr/>
          <p:nvPr/>
        </p:nvSpPr>
        <p:spPr>
          <a:xfrm>
            <a:off x="990600" y="1930338"/>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a</a:t>
            </a:r>
            <a:endParaRPr lang="en-US" sz="1600" dirty="0"/>
          </a:p>
        </p:txBody>
      </p:sp>
      <p:sp>
        <p:nvSpPr>
          <p:cNvPr id="6" name="Text 4"/>
          <p:cNvSpPr/>
          <p:nvPr/>
        </p:nvSpPr>
        <p:spPr>
          <a:xfrm>
            <a:off x="1447800" y="1972667"/>
            <a:ext cx="10046208"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New → Assigned → Open → Fixed → Retest → Verified → Closed</a:t>
            </a:r>
            <a:endParaRPr lang="en-US" sz="1300" dirty="0"/>
          </a:p>
        </p:txBody>
      </p:sp>
      <p:sp>
        <p:nvSpPr>
          <p:cNvPr id="7" name="Shape 5"/>
          <p:cNvSpPr/>
          <p:nvPr/>
        </p:nvSpPr>
        <p:spPr>
          <a:xfrm>
            <a:off x="812800" y="2456061"/>
            <a:ext cx="10566400" cy="538427"/>
          </a:xfrm>
          <a:prstGeom prst="roundRect">
            <a:avLst>
              <a:gd name="adj" fmla="val 14152"/>
            </a:avLst>
          </a:prstGeom>
          <a:solidFill>
            <a:srgbClr val="EEF2F7"/>
          </a:solidFill>
          <a:ln/>
        </p:spPr>
      </p:sp>
      <p:sp>
        <p:nvSpPr>
          <p:cNvPr id="8" name="Text 6"/>
          <p:cNvSpPr/>
          <p:nvPr/>
        </p:nvSpPr>
        <p:spPr>
          <a:xfrm>
            <a:off x="990600" y="2583061"/>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b</a:t>
            </a:r>
            <a:endParaRPr lang="en-US" sz="1600" dirty="0"/>
          </a:p>
        </p:txBody>
      </p:sp>
      <p:sp>
        <p:nvSpPr>
          <p:cNvPr id="9" name="Text 7"/>
          <p:cNvSpPr/>
          <p:nvPr/>
        </p:nvSpPr>
        <p:spPr>
          <a:xfrm>
            <a:off x="1447800" y="2625403"/>
            <a:ext cx="10046208"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New → (Assigned → Open →) </a:t>
            </a:r>
            <a:r>
              <a:rPr lang="en-US" sz="1300" b="1" dirty="0">
                <a:solidFill>
                  <a:srgbClr val="A14F0A"/>
                </a:solidFill>
                <a:latin typeface="Nunito Sans" pitchFamily="34" charset="0"/>
                <a:ea typeface="Nunito Sans" pitchFamily="34" charset="-122"/>
                <a:cs typeface="Nunito Sans" pitchFamily="34" charset="-120"/>
              </a:rPr>
              <a:t>Rejected</a:t>
            </a:r>
            <a:r>
              <a:rPr lang="en-US" sz="1300" dirty="0">
                <a:solidFill>
                  <a:srgbClr val="14213D"/>
                </a:solidFill>
                <a:latin typeface="Nunito Sans" pitchFamily="34" charset="0"/>
                <a:ea typeface="Nunito Sans" pitchFamily="34" charset="-122"/>
                <a:cs typeface="Nunito Sans" pitchFamily="34" charset="-120"/>
              </a:rPr>
              <a:t> → Closed</a:t>
            </a:r>
            <a:endParaRPr lang="en-US" sz="1300" dirty="0"/>
          </a:p>
        </p:txBody>
      </p:sp>
      <p:sp>
        <p:nvSpPr>
          <p:cNvPr id="10" name="Shape 8"/>
          <p:cNvSpPr/>
          <p:nvPr/>
        </p:nvSpPr>
        <p:spPr>
          <a:xfrm>
            <a:off x="812800" y="3108796"/>
            <a:ext cx="10566400" cy="538427"/>
          </a:xfrm>
          <a:prstGeom prst="roundRect">
            <a:avLst>
              <a:gd name="adj" fmla="val 14152"/>
            </a:avLst>
          </a:prstGeom>
          <a:solidFill>
            <a:srgbClr val="EEF2F7"/>
          </a:solidFill>
          <a:ln/>
        </p:spPr>
      </p:sp>
      <p:sp>
        <p:nvSpPr>
          <p:cNvPr id="11" name="Text 9"/>
          <p:cNvSpPr/>
          <p:nvPr/>
        </p:nvSpPr>
        <p:spPr>
          <a:xfrm>
            <a:off x="990600" y="3235796"/>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c</a:t>
            </a:r>
            <a:endParaRPr lang="en-US" sz="1600" dirty="0"/>
          </a:p>
        </p:txBody>
      </p:sp>
      <p:sp>
        <p:nvSpPr>
          <p:cNvPr id="12" name="Text 10"/>
          <p:cNvSpPr/>
          <p:nvPr/>
        </p:nvSpPr>
        <p:spPr>
          <a:xfrm>
            <a:off x="1447800" y="3278125"/>
            <a:ext cx="10046208"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New → Assigned → Open → Fixed → Retest → </a:t>
            </a:r>
            <a:r>
              <a:rPr lang="en-US" sz="1300" b="1" dirty="0">
                <a:solidFill>
                  <a:srgbClr val="A14F0A"/>
                </a:solidFill>
                <a:latin typeface="Nunito Sans" pitchFamily="34" charset="0"/>
                <a:ea typeface="Nunito Sans" pitchFamily="34" charset="-122"/>
                <a:cs typeface="Nunito Sans" pitchFamily="34" charset="-120"/>
              </a:rPr>
              <a:t>Reopened</a:t>
            </a:r>
            <a:r>
              <a:rPr lang="en-US" sz="1300" dirty="0">
                <a:solidFill>
                  <a:srgbClr val="14213D"/>
                </a:solidFill>
                <a:latin typeface="Nunito Sans" pitchFamily="34" charset="0"/>
                <a:ea typeface="Nunito Sans" pitchFamily="34" charset="-122"/>
                <a:cs typeface="Nunito Sans" pitchFamily="34" charset="-120"/>
              </a:rPr>
              <a:t> → Assigned → Open → Fixed → Retest → Verified → Closed</a:t>
            </a:r>
            <a:endParaRPr lang="en-US" sz="1300" dirty="0"/>
          </a:p>
        </p:txBody>
      </p:sp>
      <p:sp>
        <p:nvSpPr>
          <p:cNvPr id="13" name="Shape 11"/>
          <p:cNvSpPr/>
          <p:nvPr/>
        </p:nvSpPr>
        <p:spPr>
          <a:xfrm>
            <a:off x="812800" y="3761519"/>
            <a:ext cx="10566400" cy="538427"/>
          </a:xfrm>
          <a:prstGeom prst="roundRect">
            <a:avLst>
              <a:gd name="adj" fmla="val 14152"/>
            </a:avLst>
          </a:prstGeom>
          <a:solidFill>
            <a:srgbClr val="EEF2F7"/>
          </a:solidFill>
          <a:ln/>
        </p:spPr>
      </p:sp>
      <p:sp>
        <p:nvSpPr>
          <p:cNvPr id="14" name="Text 12"/>
          <p:cNvSpPr/>
          <p:nvPr/>
        </p:nvSpPr>
        <p:spPr>
          <a:xfrm>
            <a:off x="990600" y="3888519"/>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d</a:t>
            </a:r>
            <a:endParaRPr lang="en-US" sz="1600" dirty="0"/>
          </a:p>
        </p:txBody>
      </p:sp>
      <p:sp>
        <p:nvSpPr>
          <p:cNvPr id="15" name="Text 13"/>
          <p:cNvSpPr/>
          <p:nvPr/>
        </p:nvSpPr>
        <p:spPr>
          <a:xfrm>
            <a:off x="1447800" y="3930848"/>
            <a:ext cx="10046208"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New → </a:t>
            </a:r>
            <a:r>
              <a:rPr lang="en-US" sz="1300" b="1" dirty="0">
                <a:solidFill>
                  <a:srgbClr val="A14F0A"/>
                </a:solidFill>
                <a:latin typeface="Nunito Sans" pitchFamily="34" charset="0"/>
                <a:ea typeface="Nunito Sans" pitchFamily="34" charset="-122"/>
                <a:cs typeface="Nunito Sans" pitchFamily="34" charset="-120"/>
              </a:rPr>
              <a:t>Deferred</a:t>
            </a:r>
            <a:r>
              <a:rPr lang="en-US" sz="1300" dirty="0">
                <a:solidFill>
                  <a:srgbClr val="14213D"/>
                </a:solidFill>
                <a:latin typeface="Nunito Sans" pitchFamily="34" charset="0"/>
                <a:ea typeface="Nunito Sans" pitchFamily="34" charset="-122"/>
                <a:cs typeface="Nunito Sans" pitchFamily="34" charset="-120"/>
              </a:rPr>
              <a:t> → (next release) Assigned → Open → Fixed → Retest → Verified → Closed</a:t>
            </a:r>
            <a:endParaRPr lang="en-US" sz="1300" dirty="0"/>
          </a:p>
        </p:txBody>
      </p:sp>
      <p:sp>
        <p:nvSpPr>
          <p:cNvPr id="16" name="Shape 14"/>
          <p:cNvSpPr/>
          <p:nvPr/>
        </p:nvSpPr>
        <p:spPr>
          <a:xfrm>
            <a:off x="812800" y="4414242"/>
            <a:ext cx="10566400" cy="538427"/>
          </a:xfrm>
          <a:prstGeom prst="roundRect">
            <a:avLst>
              <a:gd name="adj" fmla="val 14152"/>
            </a:avLst>
          </a:prstGeom>
          <a:solidFill>
            <a:srgbClr val="EEF2F7"/>
          </a:solidFill>
          <a:ln/>
        </p:spPr>
      </p:sp>
      <p:sp>
        <p:nvSpPr>
          <p:cNvPr id="17" name="Text 15"/>
          <p:cNvSpPr/>
          <p:nvPr/>
        </p:nvSpPr>
        <p:spPr>
          <a:xfrm>
            <a:off x="990600" y="4541242"/>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e</a:t>
            </a:r>
            <a:endParaRPr lang="en-US" sz="1600" dirty="0"/>
          </a:p>
        </p:txBody>
      </p:sp>
      <p:sp>
        <p:nvSpPr>
          <p:cNvPr id="18" name="Text 16"/>
          <p:cNvSpPr/>
          <p:nvPr/>
        </p:nvSpPr>
        <p:spPr>
          <a:xfrm>
            <a:off x="1447800" y="4583584"/>
            <a:ext cx="10046208"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New → </a:t>
            </a:r>
            <a:r>
              <a:rPr lang="en-US" sz="1300" b="1" dirty="0">
                <a:solidFill>
                  <a:srgbClr val="A14F0A"/>
                </a:solidFill>
                <a:latin typeface="Nunito Sans" pitchFamily="34" charset="0"/>
                <a:ea typeface="Nunito Sans" pitchFamily="34" charset="-122"/>
                <a:cs typeface="Nunito Sans" pitchFamily="34" charset="-120"/>
              </a:rPr>
              <a:t>Duplicate</a:t>
            </a:r>
            <a:r>
              <a:rPr lang="en-US" sz="1300" dirty="0">
                <a:solidFill>
                  <a:srgbClr val="14213D"/>
                </a:solidFill>
                <a:latin typeface="Nunito Sans" pitchFamily="34" charset="0"/>
                <a:ea typeface="Nunito Sans" pitchFamily="34" charset="-122"/>
                <a:cs typeface="Nunito Sans" pitchFamily="34" charset="-120"/>
              </a:rPr>
              <a:t> → Closed (linked to the original)</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QUICK CHECK</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Five questions</a:t>
            </a:r>
            <a:endParaRPr lang="en-US" sz="3200" dirty="0"/>
          </a:p>
        </p:txBody>
      </p:sp>
      <p:sp>
        <p:nvSpPr>
          <p:cNvPr id="4" name="Text 2"/>
          <p:cNvSpPr/>
          <p:nvPr/>
        </p:nvSpPr>
        <p:spPr>
          <a:xfrm>
            <a:off x="812800" y="1854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21867"/>
            <a:ext cx="589367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A developer types &lt; instead of &lt;=. Error, defect or failure?</a:t>
            </a:r>
            <a:endParaRPr lang="en-US" sz="1500" dirty="0"/>
          </a:p>
        </p:txBody>
      </p:sp>
      <p:sp>
        <p:nvSpPr>
          <p:cNvPr id="6" name="Text 4"/>
          <p:cNvSpPr/>
          <p:nvPr/>
        </p:nvSpPr>
        <p:spPr>
          <a:xfrm>
            <a:off x="812800" y="23748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42567"/>
            <a:ext cx="267017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Who usually sets priority?</a:t>
            </a:r>
            <a:endParaRPr lang="en-US" sz="1500" dirty="0"/>
          </a:p>
        </p:txBody>
      </p:sp>
      <p:sp>
        <p:nvSpPr>
          <p:cNvPr id="8" name="Text 6"/>
          <p:cNvSpPr/>
          <p:nvPr/>
        </p:nvSpPr>
        <p:spPr>
          <a:xfrm>
            <a:off x="812800" y="28955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2963267"/>
            <a:ext cx="656137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What's the difference between retesting and regression testing?</a:t>
            </a:r>
            <a:endParaRPr lang="en-US" sz="1500" dirty="0"/>
          </a:p>
        </p:txBody>
      </p:sp>
      <p:sp>
        <p:nvSpPr>
          <p:cNvPr id="10" name="Text 8"/>
          <p:cNvSpPr/>
          <p:nvPr/>
        </p:nvSpPr>
        <p:spPr>
          <a:xfrm>
            <a:off x="812800" y="34162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483967"/>
            <a:ext cx="611322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Which state comes right after Retest if the fix doesn't work?</a:t>
            </a:r>
            <a:endParaRPr lang="en-US" sz="1500" dirty="0"/>
          </a:p>
        </p:txBody>
      </p:sp>
      <p:sp>
        <p:nvSpPr>
          <p:cNvPr id="12" name="Text 10"/>
          <p:cNvSpPr/>
          <p:nvPr/>
        </p:nvSpPr>
        <p:spPr>
          <a:xfrm>
            <a:off x="812800" y="39369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5</a:t>
            </a:r>
            <a:endParaRPr lang="en-US" sz="2000" dirty="0"/>
          </a:p>
        </p:txBody>
      </p:sp>
      <p:sp>
        <p:nvSpPr>
          <p:cNvPr id="13" name="Text 11"/>
          <p:cNvSpPr/>
          <p:nvPr/>
        </p:nvSpPr>
        <p:spPr>
          <a:xfrm>
            <a:off x="1422400" y="4004667"/>
            <a:ext cx="532796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Name three things every defect report must contain.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KEY TAKEAWAYS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Report it well, </a:t>
            </a:r>
            <a:r>
              <a:rPr lang="en-US" sz="3200" b="1" i="0" dirty="0">
                <a:solidFill>
                  <a:srgbClr val="F0A04B"/>
                </a:solidFill>
                <a:latin typeface="Domine" pitchFamily="18" charset="0"/>
                <a:ea typeface="Domine" pitchFamily="18" charset="-122"/>
                <a:cs typeface="Domine" pitchFamily="18" charset="-120"/>
              </a:rPr>
              <a:t>follow it through</a:t>
            </a:r>
            <a:endParaRPr lang="en-US" sz="3200" dirty="0"/>
          </a:p>
        </p:txBody>
      </p:sp>
      <p:pic>
        <p:nvPicPr>
          <p:cNvPr id="4" name="Image 0" descr="CheckCircle"/>
          <p:cNvPicPr>
            <a:picLocks noChangeAspect="1"/>
          </p:cNvPicPr>
          <p:nvPr/>
        </p:nvPicPr>
        <p:blipFill>
          <a:blip r:embed="rId3"/>
          <a:srcRect/>
          <a:stretch/>
        </p:blipFill>
        <p:spPr>
          <a:xfrm>
            <a:off x="812800" y="1864258"/>
            <a:ext cx="228600" cy="228600"/>
          </a:xfrm>
          <a:prstGeom prst="rect">
            <a:avLst/>
          </a:prstGeom>
        </p:spPr>
      </p:pic>
      <p:sp>
        <p:nvSpPr>
          <p:cNvPr id="5" name="Text 2"/>
          <p:cNvSpPr/>
          <p:nvPr/>
        </p:nvSpPr>
        <p:spPr>
          <a:xfrm>
            <a:off x="1193800" y="1854138"/>
            <a:ext cx="849447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Error (human mistake) → defect (flaw in the product) → failure (visible wrong behaviour).</a:t>
            </a:r>
            <a:endParaRPr lang="en-US" sz="1400" dirty="0"/>
          </a:p>
        </p:txBody>
      </p:sp>
      <p:pic>
        <p:nvPicPr>
          <p:cNvPr id="6" name="Image 1" descr="CheckCircle"/>
          <p:cNvPicPr>
            <a:picLocks noChangeAspect="1"/>
          </p:cNvPicPr>
          <p:nvPr/>
        </p:nvPicPr>
        <p:blipFill>
          <a:blip r:embed="rId3"/>
          <a:srcRect/>
          <a:stretch/>
        </p:blipFill>
        <p:spPr>
          <a:xfrm>
            <a:off x="812800" y="2252861"/>
            <a:ext cx="228600" cy="228600"/>
          </a:xfrm>
          <a:prstGeom prst="rect">
            <a:avLst/>
          </a:prstGeom>
        </p:spPr>
      </p:pic>
      <p:sp>
        <p:nvSpPr>
          <p:cNvPr id="7" name="Text 3"/>
          <p:cNvSpPr/>
          <p:nvPr/>
        </p:nvSpPr>
        <p:spPr>
          <a:xfrm>
            <a:off x="1193800" y="2242741"/>
            <a:ext cx="586613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A great report is reproducible, specific, factual and evidenced.</a:t>
            </a:r>
            <a:endParaRPr lang="en-US" sz="1400" dirty="0"/>
          </a:p>
        </p:txBody>
      </p:sp>
      <p:pic>
        <p:nvPicPr>
          <p:cNvPr id="8" name="Image 2" descr="CheckCircle"/>
          <p:cNvPicPr>
            <a:picLocks noChangeAspect="1"/>
          </p:cNvPicPr>
          <p:nvPr/>
        </p:nvPicPr>
        <p:blipFill>
          <a:blip r:embed="rId3"/>
          <a:srcRect/>
          <a:stretch/>
        </p:blipFill>
        <p:spPr>
          <a:xfrm>
            <a:off x="812800" y="2641476"/>
            <a:ext cx="228600" cy="228600"/>
          </a:xfrm>
          <a:prstGeom prst="rect">
            <a:avLst/>
          </a:prstGeom>
        </p:spPr>
      </p:pic>
      <p:sp>
        <p:nvSpPr>
          <p:cNvPr id="9" name="Text 4"/>
          <p:cNvSpPr/>
          <p:nvPr/>
        </p:nvSpPr>
        <p:spPr>
          <a:xfrm>
            <a:off x="1193800" y="2631356"/>
            <a:ext cx="865576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Severity = impact on the system. Priority = urgency for the business. They are independent.</a:t>
            </a:r>
            <a:endParaRPr lang="en-US" sz="1400" dirty="0"/>
          </a:p>
        </p:txBody>
      </p:sp>
      <p:pic>
        <p:nvPicPr>
          <p:cNvPr id="10" name="Image 3" descr="CheckCircle"/>
          <p:cNvPicPr>
            <a:picLocks noChangeAspect="1"/>
          </p:cNvPicPr>
          <p:nvPr/>
        </p:nvPicPr>
        <p:blipFill>
          <a:blip r:embed="rId3"/>
          <a:srcRect/>
          <a:stretch/>
        </p:blipFill>
        <p:spPr>
          <a:xfrm>
            <a:off x="812800" y="3030079"/>
            <a:ext cx="228600" cy="228600"/>
          </a:xfrm>
          <a:prstGeom prst="rect">
            <a:avLst/>
          </a:prstGeom>
        </p:spPr>
      </p:pic>
      <p:sp>
        <p:nvSpPr>
          <p:cNvPr id="11" name="Text 5"/>
          <p:cNvSpPr/>
          <p:nvPr/>
        </p:nvSpPr>
        <p:spPr>
          <a:xfrm>
            <a:off x="1193800" y="3019958"/>
            <a:ext cx="1081071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New → Assigned → Open → Fixed → Retest → Verified → Closed, plus Rejected, Duplicate, Deferred, Reopened.</a:t>
            </a:r>
            <a:endParaRPr lang="en-US" sz="1400" dirty="0"/>
          </a:p>
        </p:txBody>
      </p:sp>
      <p:pic>
        <p:nvPicPr>
          <p:cNvPr id="12" name="Image 4" descr="CheckCircle"/>
          <p:cNvPicPr>
            <a:picLocks noChangeAspect="1"/>
          </p:cNvPicPr>
          <p:nvPr/>
        </p:nvPicPr>
        <p:blipFill>
          <a:blip r:embed="rId3"/>
          <a:srcRect/>
          <a:stretch/>
        </p:blipFill>
        <p:spPr>
          <a:xfrm>
            <a:off x="812800" y="3418681"/>
            <a:ext cx="228600" cy="228600"/>
          </a:xfrm>
          <a:prstGeom prst="rect">
            <a:avLst/>
          </a:prstGeom>
        </p:spPr>
      </p:pic>
      <p:sp>
        <p:nvSpPr>
          <p:cNvPr id="13" name="Text 6"/>
          <p:cNvSpPr/>
          <p:nvPr/>
        </p:nvSpPr>
        <p:spPr>
          <a:xfrm>
            <a:off x="1193800" y="3408561"/>
            <a:ext cx="398295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Every defect has an owner at every stage.</a:t>
            </a:r>
            <a:endParaRPr lang="en-US" sz="1400" dirty="0"/>
          </a:p>
        </p:txBody>
      </p:sp>
      <p:pic>
        <p:nvPicPr>
          <p:cNvPr id="14" name="Image 5" descr="CheckCircle"/>
          <p:cNvPicPr>
            <a:picLocks noChangeAspect="1"/>
          </p:cNvPicPr>
          <p:nvPr/>
        </p:nvPicPr>
        <p:blipFill>
          <a:blip r:embed="rId3"/>
          <a:srcRect/>
          <a:stretch/>
        </p:blipFill>
        <p:spPr>
          <a:xfrm>
            <a:off x="812800" y="3807296"/>
            <a:ext cx="228600" cy="228600"/>
          </a:xfrm>
          <a:prstGeom prst="rect">
            <a:avLst/>
          </a:prstGeom>
        </p:spPr>
      </p:pic>
      <p:sp>
        <p:nvSpPr>
          <p:cNvPr id="15" name="Text 7"/>
          <p:cNvSpPr/>
          <p:nvPr/>
        </p:nvSpPr>
        <p:spPr>
          <a:xfrm>
            <a:off x="1193800" y="3797176"/>
            <a:ext cx="431442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After a fix: retest, then regression, then close.</a:t>
            </a:r>
            <a:endParaRPr lang="en-US" sz="1400" dirty="0"/>
          </a:p>
        </p:txBody>
      </p:sp>
      <p:sp>
        <p:nvSpPr>
          <p:cNvPr id="16" name="Text 8"/>
          <p:cNvSpPr/>
          <p:nvPr/>
        </p:nvSpPr>
        <p:spPr>
          <a:xfrm>
            <a:off x="812800" y="4350879"/>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Next: Unit 9, Test Estimation: how long will it all take?</a:t>
            </a:r>
            <a:endParaRPr lang="en-US" sz="1400" dirty="0"/>
          </a:p>
        </p:txBody>
      </p:sp>
    </p:spTree>
  </p:cSld>
  <p:clrMapOvr>
    <a:masterClrMapping/>
  </p:clrMapOvr>
</p:sld>
</file>

<file path=ppt/theme/theme1.xml><?xml version="1.0" encoding="utf-8"?>
<a:theme xmlns:a="http://schemas.openxmlformats.org/drawingml/2006/main" name="Defect Life Cycle">
  <a:themeElements>
    <a:clrScheme name="Defect Life Cycle">
      <a:dk1>
        <a:srgbClr val="14213D"/>
      </a:dk1>
      <a:lt1>
        <a:srgbClr val="FBFBF8"/>
      </a:lt1>
      <a:dk2>
        <a:srgbClr val="4E586C"/>
      </a:dk2>
      <a:lt2>
        <a:srgbClr val="E4E5E5"/>
      </a:lt2>
      <a:accent1>
        <a:srgbClr val="A14F0A"/>
      </a:accent1>
      <a:accent2>
        <a:srgbClr val="F0A04B"/>
      </a:accent2>
      <a:accent3>
        <a:srgbClr val="24345A"/>
      </a:accent3>
      <a:accent4>
        <a:srgbClr val="2B5C9E"/>
      </a:accent4>
      <a:accent5>
        <a:srgbClr val="3D4A5C"/>
      </a:accent5>
      <a:accent6>
        <a:srgbClr val="DCE4F0"/>
      </a:accent6>
      <a:hlink>
        <a:srgbClr val="0563C1"/>
      </a:hlink>
      <a:folHlink>
        <a:srgbClr val="954F72"/>
      </a:folHlink>
    </a:clrScheme>
    <a:fontScheme name="Defect Life Cycle">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3186</Words>
  <Application>Microsoft Office PowerPoint</Application>
  <PresentationFormat>Widescreen</PresentationFormat>
  <Paragraphs>397</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Domine</vt:lpstr>
      <vt:lpstr>JetBrains Mono</vt:lpstr>
      <vt:lpstr>Nunito Sans</vt:lpstr>
      <vt:lpstr>Defect Life Cycle</vt:lpstr>
      <vt:lpstr>Defect Life Cycle</vt:lpstr>
      <vt:lpstr>What this unit covers:</vt:lpstr>
      <vt:lpstr>Error, defect, failure</vt:lpstr>
      <vt:lpstr>Reproducible without talking to you</vt:lpstr>
      <vt:lpstr>Expected vs. actual, then evidence</vt:lpstr>
      <vt:lpstr>Do this, not that</vt:lpstr>
      <vt:lpstr>Two different questions</vt:lpstr>
      <vt:lpstr>Severity and priority scales</vt:lpstr>
      <vt:lpstr>They really are independent</vt:lpstr>
      <vt:lpstr>One main flow, four detours</vt:lpstr>
      <vt:lpstr>The main flow</vt:lpstr>
      <vt:lpstr>The alternate paths</vt:lpstr>
      <vt:lpstr>Someone always owns the next action</vt:lpstr>
      <vt:lpstr>Where New defects get decided</vt:lpstr>
      <vt:lpstr>Is it fixed? Did anything else break?</vt:lpstr>
      <vt:lpstr>When a defect is really done</vt:lpstr>
      <vt:lpstr>Six ways a good bug gets lost</vt:lpstr>
      <vt:lpstr>Rate six ShopEasy defects</vt:lpstr>
      <vt:lpstr>Severity and priority, with reasons</vt:lpstr>
      <vt:lpstr>Trace the life cycle</vt:lpstr>
      <vt:lpstr>Five paths through the life cycle</vt:lpstr>
      <vt:lpstr>Five questions</vt:lpstr>
      <vt:lpstr>Report it well, follow it through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Defect Life Cycle</dc:title>
  <dc:subject/>
  <dc:creator/>
  <cp:lastModifiedBy>Saurabh Kamath</cp:lastModifiedBy>
  <cp:revision>5</cp:revision>
  <dcterms:created xsi:type="dcterms:W3CDTF">2026-10-06T17:34:35Z</dcterms:created>
  <dcterms:modified xsi:type="dcterms:W3CDTF">2026-10-06T18:22:37Z</dcterms:modified>
</cp:coreProperties>
</file>