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451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capstone. You'll do the same work a junior QA engineer does when a new story arrives in the sprint, using one feature: credit-card checkout on ShopEasy, the store we've used throughout the course. Everything from chapters one to nine comes together here.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deliverables in about thirty-five minutes, each building on a chapter. Work on paper or in a spreadsheet. The model answers are there to compare against, not to copy. If you run out of time on one, skim its answer before moving to the next so you keep the thread of the case.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ShopEasy is building a new credit-card checkout this sprint. Here is the story and its seven acceptance criteria. Keep these AC IDs in mind: every scenario, test case and defect later in the capstone traces back to one of them. AC7 is the one that matters most for risk: money and orders must stay consistent.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detail that came out of refinement. The bold items are the ones you'll test against: exact field lengths give you boundaries, the gateway responses give you negative and exception flows, and the external email service and gateway tell you where integration testing is needed.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Payment sandboxes give you magic card numbers that force each response. Without them you could never test a decline or a timeout reliably. Notice the timeout card waits thirty-five seconds, longer than the thirty-second gateway timeout, so it exercises our timeout handling.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For each of the six types, write one line on why it matters for checkout and one on what specifically you would test. Then think about which other types from chapter one are relevant.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Integration is where checkout is most fragile: four external or internal services are involved. Security is non-negotiable because card data and money are at stake. Note the price-tampering check: can a user change the amount in a request and pay less?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Compatibility, usability and smoke are the extras. Safari on iOS gets special mention because mobile layout issues are common there, and we'll see one in deliverable five. The callout matters: the type labels overlap; what counts is that each concern is covered.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Rate each risk by likelihood times impact, as in chapter two. Then decide what is P1, what you would automate and why, and when testing can start and stop.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critical risks are both about money and orders getting out of step: charged with no order, or charged twice. Keep R2, R5, R6 and R7 in mind: every one of them turns into a real defect in deliverable five. That's risk-based testing paying off.</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 maps straight onto the critical and high risks. The approach blends three strategies from chapter two: requirement-based so every AC is covered, risk-based for depth, and an exploratory charter aimed at the interruptions that scripted tests tend to miss.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automate column is everything that runs often, has stable expected results and protects revenue. The sandbox cards make the payment flows perfect for data-driven tests. The right column needs human judgement, so it stays manual for now.</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Entry criteria stop you wasting time on a build or environment that isn't ready. Exit criteria are measurable, so "are we done?" has an objective answer. We'll check these exit criteria against real results at the end of deliverable five.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minutes. The tip is the technique from chapter three: walk the main flow and at each step ask what else could happen. That's where most of the exception scenarios come from.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nine scenarios walk the main flow in order: the cart for AC1, shipping for AC2, card details for AC3. Notice the mix of types: the boundaries come straight from the refinement detail, six-digit PIN and ten-digit mobile.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block is where the critical risks R1, R2 and R4 get covered: declined and insufficient funds for AC7, the timeout, and the double-click and back-button scenarios that protect against duplicate charges. Fifteen is a classic error-guessing scenario.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Twenty-five scenarios covering every AC and every scenario type: positive, negative, boundary, alternate, exception, end to end, security, compatibility and state transition. If yours had fifteen or more with a good spread, you're in good shape.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minutes. Use the template from chapter seven. Be specific: real test data from the sandbox card table, and expected results that include what must not happen, like no order and no charge. Then pick one technique and apply it, for example BVA on the PIN code or a decision table on payment outcomes.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list the team wrote, each traced to a scenario: for example TC_CHK_005 comes from TS_CHK_12 and TC_CHK_010 from TS_CHK_15, the two highlighted. Remember these IDs: deliverable five gives you execution results against them.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how much the expected result checks: not just the confirmation page, but the order record, the gateway, the email, the cart and inventory. That's what makes it an end-to-end test. The data is concrete enough that anyone could run 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test cases check the negative side. For the decline: no order, no email, stock unchanged, and the cart is kept so the customer can retry. For the double-click: exactly one of everything. Checking the gateway sandbox, not just the screen, is what catches a double charge.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BVA examples. For the PIN code, five and seven digits sit either side of the valid six. For card expiry, the current month is the boundary developers most often get wrong. Keep 10/26 in mind: it comes back as a reopened defect in deliverable five.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conditions, card validity and gateway response, give four rules. Each rule becomes at least one test case. The timeout rule, R3, is the trickiest: no order, and either no charge or an automatic reversal, plus a message telling the customer clearly that they have not been charged.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minutes. The next two slides give you the execution results and what happened in triage and fixing. A full report means title, environment, steps, expected versus actual, severity and priority, as in chapter eight.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failures. Notice how much evidence is already here: order numbers, reproduction rate, the pattern that only saved-card emails fail, the exact device. That's what you need for a good report. Compare the failures with the risk table: R2, R5, R6 and R7 all materialised.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outcome points to a different life cycle path from chapter eight: a clean fix, a fix that fails retest, another clean fix, a duplicate, and a deferral. Try tracing them yourself before the model answer.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complete report. The title says where, what and the impact. The steps are exact, the expected result cites the AC, and the actual result has order numbers a developer can look up. Critical and P1, because customers are charged twice.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BUG-312 is High rather than Critical, but still P1: accepting expired cards leads to orders the real bank declines later. Of the short ones, notice BUG-314 is High severity but only P2 because the on-screen confirmation is a partial mitigation, and BUG-315 has a workaround, so P3.</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happy path twice, plus Reopened, Duplicate and Deferred. For BUG-314, closing as duplicate doesn't throw away your work: your evidence, that only saved-card payments are affected, goes onto BUG-298 where it helps the developer.</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lessons that apply to every project. BVA isn't just for designing tests; it's how you retest a fix. Regression scope follows what the code change touched. And the exit criteria from deliverable two give an objective release decision: we're one fix away.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minutes. Everything you need is on this slide. Start with a WBS so you don't forget test data, setup, defects and reporting; use the per-test-case times for design and execution; then do O, M and P on the total, and divide by daily capacity.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execution part of the 25 hours is 20 times 5, plus 20 times 10, plus 10 times 20 minutes: 500 minutes, about 8.3 hours, which is what the defect line uses. Automation, at 24 hours, is again the biggest single task. One hundred and two hours is our M.</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times one hundred and two is four hundred and eight; add eighty-five and one hundred and forty-five to get six hundred and thirty-eight; divide by six for about 106 hours. The pessimistic value is grounded in what actually happened in deliverable five: a fix that had to be reopened.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callout is the professional move. Don't just say "we can't finish". Offer a choice, grounded in the risk priorities from deliverable two, so the product owner can decide what to cut with their eyes open.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checks, one per skill in the module. Go through them honestly. Any you can't tick point you to the chapter worth revisiting.</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You've completed the Test Design and Strategy module. This chain is exactly what you just did with the checkout, and it's the same sequence you'll follow whenever a new story lands in your sprint.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ways to keep going. The quickest win is practice: one feature of an app you already know. End on the line at the bottom: that's the job in one sentence. Thank you, and well done on finishing the module.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915187"/>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0A04B"/>
                </a:solidFill>
                <a:latin typeface="Nunito Sans" pitchFamily="34" charset="0"/>
                <a:ea typeface="Nunito Sans" pitchFamily="34" charset="-122"/>
                <a:cs typeface="Nunito Sans" pitchFamily="34" charset="-120"/>
              </a:rPr>
              <a:t>Test Design &amp; Strategy · Unit 10 · CAPSTONE</a:t>
            </a:r>
            <a:endParaRPr lang="en-US" sz="1200" dirty="0"/>
          </a:p>
        </p:txBody>
      </p:sp>
      <p:sp>
        <p:nvSpPr>
          <p:cNvPr id="3" name="Text 1"/>
          <p:cNvSpPr>
            <a:spLocks noGrp="1"/>
          </p:cNvSpPr>
          <p:nvPr>
            <p:ph type="title"/>
          </p:nvPr>
        </p:nvSpPr>
        <p:spPr>
          <a:xfrm>
            <a:off x="812800" y="2382507"/>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BFBF8"/>
                </a:solidFill>
                <a:latin typeface="Domine" pitchFamily="18" charset="0"/>
                <a:ea typeface="Domine" pitchFamily="18" charset="-122"/>
                <a:cs typeface="Domine" pitchFamily="18" charset="-120"/>
              </a:rPr>
              <a:t>E-Commerce Checkout</a:t>
            </a:r>
            <a:endParaRPr lang="en-US" sz="6000" dirty="0"/>
          </a:p>
        </p:txBody>
      </p:sp>
      <p:sp>
        <p:nvSpPr>
          <p:cNvPr id="4" name="Text 2"/>
          <p:cNvSpPr/>
          <p:nvPr/>
        </p:nvSpPr>
        <p:spPr>
          <a:xfrm>
            <a:off x="812800" y="3436607"/>
            <a:ext cx="8502650" cy="7366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9D3E3"/>
                </a:solidFill>
                <a:latin typeface="Nunito Sans" pitchFamily="34" charset="0"/>
                <a:ea typeface="Nunito Sans" pitchFamily="34" charset="-122"/>
                <a:cs typeface="Nunito Sans" pitchFamily="34" charset="-120"/>
              </a:rPr>
              <a:t>One realistic feature, taken through the whole module: types, strategy, scenarios, test cases, defects and estimation</a:t>
            </a:r>
            <a:endParaRPr lang="en-US" sz="2000" dirty="0"/>
          </a:p>
        </p:txBody>
      </p:sp>
      <p:sp>
        <p:nvSpPr>
          <p:cNvPr id="5" name="Shape 3"/>
          <p:cNvSpPr/>
          <p:nvPr/>
        </p:nvSpPr>
        <p:spPr>
          <a:xfrm>
            <a:off x="812800" y="4401807"/>
            <a:ext cx="1016000" cy="38100"/>
          </a:xfrm>
          <a:prstGeom prst="roundRect">
            <a:avLst>
              <a:gd name="adj" fmla="val 50000"/>
            </a:avLst>
          </a:prstGeom>
          <a:solidFill>
            <a:srgbClr val="F0A04B"/>
          </a:solidFill>
          <a:ln/>
        </p:spPr>
      </p:sp>
      <p:sp>
        <p:nvSpPr>
          <p:cNvPr id="6" name="Text 4"/>
          <p:cNvSpPr/>
          <p:nvPr/>
        </p:nvSpPr>
        <p:spPr>
          <a:xfrm>
            <a:off x="812800" y="4693907"/>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Nunito Sans" pitchFamily="34" charset="0"/>
                <a:ea typeface="Nunito Sans" pitchFamily="34" charset="-122"/>
                <a:cs typeface="Nunito Sans" pitchFamily="34" charset="-120"/>
              </a:rPr>
              <a:t>45 minutes, hands-on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HOW THIS CAPSTONE WORKS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Six deliverables, one feature</a:t>
            </a:r>
            <a:endParaRPr lang="en-US" sz="3200" dirty="0"/>
          </a:p>
        </p:txBody>
      </p:sp>
      <p:sp>
        <p:nvSpPr>
          <p:cNvPr id="4" name="Shape 2"/>
          <p:cNvSpPr/>
          <p:nvPr/>
        </p:nvSpPr>
        <p:spPr>
          <a:xfrm>
            <a:off x="812800" y="1803334"/>
            <a:ext cx="3420533" cy="1292820"/>
          </a:xfrm>
          <a:prstGeom prst="roundRect">
            <a:avLst>
              <a:gd name="adj" fmla="val 7859"/>
            </a:avLst>
          </a:prstGeom>
          <a:solidFill>
            <a:srgbClr val="EEF2F7"/>
          </a:solidFill>
          <a:ln/>
        </p:spPr>
      </p:sp>
      <p:sp>
        <p:nvSpPr>
          <p:cNvPr id="5" name="Text 3"/>
          <p:cNvSpPr/>
          <p:nvPr/>
        </p:nvSpPr>
        <p:spPr>
          <a:xfrm>
            <a:off x="1016000" y="1981134"/>
            <a:ext cx="3104557"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1</a:t>
            </a:r>
            <a:endParaRPr lang="en-US" sz="2000" dirty="0"/>
          </a:p>
        </p:txBody>
      </p:sp>
      <p:sp>
        <p:nvSpPr>
          <p:cNvPr id="6" name="Text 4"/>
          <p:cNvSpPr/>
          <p:nvPr/>
        </p:nvSpPr>
        <p:spPr>
          <a:xfrm>
            <a:off x="1016000" y="2387534"/>
            <a:ext cx="310455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Testing Types</a:t>
            </a:r>
            <a:endParaRPr lang="en-US" sz="1500" dirty="0"/>
          </a:p>
        </p:txBody>
      </p:sp>
      <p:sp>
        <p:nvSpPr>
          <p:cNvPr id="7" name="Text 5"/>
          <p:cNvSpPr/>
          <p:nvPr/>
        </p:nvSpPr>
        <p:spPr>
          <a:xfrm>
            <a:off x="1016000" y="2705034"/>
            <a:ext cx="310455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Ch. 1 · 3 min</a:t>
            </a:r>
            <a:endParaRPr lang="en-US" sz="1200" dirty="0"/>
          </a:p>
        </p:txBody>
      </p:sp>
      <p:sp>
        <p:nvSpPr>
          <p:cNvPr id="8" name="Shape 6"/>
          <p:cNvSpPr/>
          <p:nvPr/>
        </p:nvSpPr>
        <p:spPr>
          <a:xfrm>
            <a:off x="4385733" y="1803334"/>
            <a:ext cx="3420533" cy="1292820"/>
          </a:xfrm>
          <a:prstGeom prst="roundRect">
            <a:avLst>
              <a:gd name="adj" fmla="val 7859"/>
            </a:avLst>
          </a:prstGeom>
          <a:solidFill>
            <a:srgbClr val="EEF2F7"/>
          </a:solidFill>
          <a:ln/>
        </p:spPr>
      </p:sp>
      <p:sp>
        <p:nvSpPr>
          <p:cNvPr id="9" name="Text 7"/>
          <p:cNvSpPr/>
          <p:nvPr/>
        </p:nvSpPr>
        <p:spPr>
          <a:xfrm>
            <a:off x="4588933" y="1981134"/>
            <a:ext cx="3104557"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2</a:t>
            </a:r>
            <a:endParaRPr lang="en-US" sz="2000" dirty="0"/>
          </a:p>
        </p:txBody>
      </p:sp>
      <p:sp>
        <p:nvSpPr>
          <p:cNvPr id="10" name="Text 8"/>
          <p:cNvSpPr/>
          <p:nvPr/>
        </p:nvSpPr>
        <p:spPr>
          <a:xfrm>
            <a:off x="4588933" y="2387534"/>
            <a:ext cx="310455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Test Strategy</a:t>
            </a:r>
            <a:endParaRPr lang="en-US" sz="1500" dirty="0"/>
          </a:p>
        </p:txBody>
      </p:sp>
      <p:sp>
        <p:nvSpPr>
          <p:cNvPr id="11" name="Text 9"/>
          <p:cNvSpPr/>
          <p:nvPr/>
        </p:nvSpPr>
        <p:spPr>
          <a:xfrm>
            <a:off x="4588933" y="2705034"/>
            <a:ext cx="310455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Ch. 2 · 5 min</a:t>
            </a:r>
            <a:endParaRPr lang="en-US" sz="1200" dirty="0"/>
          </a:p>
        </p:txBody>
      </p:sp>
      <p:sp>
        <p:nvSpPr>
          <p:cNvPr id="12" name="Shape 10"/>
          <p:cNvSpPr/>
          <p:nvPr/>
        </p:nvSpPr>
        <p:spPr>
          <a:xfrm>
            <a:off x="7958667" y="1803334"/>
            <a:ext cx="3420533" cy="1292820"/>
          </a:xfrm>
          <a:prstGeom prst="roundRect">
            <a:avLst>
              <a:gd name="adj" fmla="val 7859"/>
            </a:avLst>
          </a:prstGeom>
          <a:solidFill>
            <a:srgbClr val="EEF2F7"/>
          </a:solidFill>
          <a:ln/>
        </p:spPr>
      </p:sp>
      <p:sp>
        <p:nvSpPr>
          <p:cNvPr id="13" name="Text 11"/>
          <p:cNvSpPr/>
          <p:nvPr/>
        </p:nvSpPr>
        <p:spPr>
          <a:xfrm>
            <a:off x="8161867" y="1981134"/>
            <a:ext cx="3104557"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3</a:t>
            </a:r>
            <a:endParaRPr lang="en-US" sz="2000" dirty="0"/>
          </a:p>
        </p:txBody>
      </p:sp>
      <p:sp>
        <p:nvSpPr>
          <p:cNvPr id="14" name="Text 12"/>
          <p:cNvSpPr/>
          <p:nvPr/>
        </p:nvSpPr>
        <p:spPr>
          <a:xfrm>
            <a:off x="8161867" y="2387534"/>
            <a:ext cx="310455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Test Scenarios</a:t>
            </a:r>
            <a:endParaRPr lang="en-US" sz="1500" dirty="0"/>
          </a:p>
        </p:txBody>
      </p:sp>
      <p:sp>
        <p:nvSpPr>
          <p:cNvPr id="15" name="Text 13"/>
          <p:cNvSpPr/>
          <p:nvPr/>
        </p:nvSpPr>
        <p:spPr>
          <a:xfrm>
            <a:off x="8161867" y="2705034"/>
            <a:ext cx="310455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Ch. 3–6 · 6 min</a:t>
            </a:r>
            <a:endParaRPr lang="en-US" sz="1200" dirty="0"/>
          </a:p>
        </p:txBody>
      </p:sp>
      <p:sp>
        <p:nvSpPr>
          <p:cNvPr id="16" name="Shape 14"/>
          <p:cNvSpPr/>
          <p:nvPr/>
        </p:nvSpPr>
        <p:spPr>
          <a:xfrm>
            <a:off x="812800" y="3248554"/>
            <a:ext cx="3420533" cy="1292820"/>
          </a:xfrm>
          <a:prstGeom prst="roundRect">
            <a:avLst>
              <a:gd name="adj" fmla="val 7859"/>
            </a:avLst>
          </a:prstGeom>
          <a:solidFill>
            <a:srgbClr val="EEF2F7"/>
          </a:solidFill>
          <a:ln/>
        </p:spPr>
      </p:sp>
      <p:sp>
        <p:nvSpPr>
          <p:cNvPr id="17" name="Text 15"/>
          <p:cNvSpPr/>
          <p:nvPr/>
        </p:nvSpPr>
        <p:spPr>
          <a:xfrm>
            <a:off x="1016000" y="3426354"/>
            <a:ext cx="3104557"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4</a:t>
            </a:r>
            <a:endParaRPr lang="en-US" sz="2000" dirty="0"/>
          </a:p>
        </p:txBody>
      </p:sp>
      <p:sp>
        <p:nvSpPr>
          <p:cNvPr id="18" name="Text 16"/>
          <p:cNvSpPr/>
          <p:nvPr/>
        </p:nvSpPr>
        <p:spPr>
          <a:xfrm>
            <a:off x="1016000" y="3832754"/>
            <a:ext cx="310455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Test Cases</a:t>
            </a:r>
            <a:endParaRPr lang="en-US" sz="1500" dirty="0"/>
          </a:p>
        </p:txBody>
      </p:sp>
      <p:sp>
        <p:nvSpPr>
          <p:cNvPr id="19" name="Text 17"/>
          <p:cNvSpPr/>
          <p:nvPr/>
        </p:nvSpPr>
        <p:spPr>
          <a:xfrm>
            <a:off x="1016000" y="4150254"/>
            <a:ext cx="310455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Ch. 7 · 8 min</a:t>
            </a:r>
            <a:endParaRPr lang="en-US" sz="1200" dirty="0"/>
          </a:p>
        </p:txBody>
      </p:sp>
      <p:sp>
        <p:nvSpPr>
          <p:cNvPr id="20" name="Shape 18"/>
          <p:cNvSpPr/>
          <p:nvPr/>
        </p:nvSpPr>
        <p:spPr>
          <a:xfrm>
            <a:off x="4385733" y="3248554"/>
            <a:ext cx="3420533" cy="1292820"/>
          </a:xfrm>
          <a:prstGeom prst="roundRect">
            <a:avLst>
              <a:gd name="adj" fmla="val 7859"/>
            </a:avLst>
          </a:prstGeom>
          <a:solidFill>
            <a:srgbClr val="EEF2F7"/>
          </a:solidFill>
          <a:ln/>
        </p:spPr>
      </p:sp>
      <p:sp>
        <p:nvSpPr>
          <p:cNvPr id="21" name="Text 19"/>
          <p:cNvSpPr/>
          <p:nvPr/>
        </p:nvSpPr>
        <p:spPr>
          <a:xfrm>
            <a:off x="4588933" y="3426354"/>
            <a:ext cx="3104557"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5</a:t>
            </a:r>
            <a:endParaRPr lang="en-US" sz="2000" dirty="0"/>
          </a:p>
        </p:txBody>
      </p:sp>
      <p:sp>
        <p:nvSpPr>
          <p:cNvPr id="22" name="Text 20"/>
          <p:cNvSpPr/>
          <p:nvPr/>
        </p:nvSpPr>
        <p:spPr>
          <a:xfrm>
            <a:off x="4588933" y="3832754"/>
            <a:ext cx="310455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Defects</a:t>
            </a:r>
            <a:endParaRPr lang="en-US" sz="1500" dirty="0"/>
          </a:p>
        </p:txBody>
      </p:sp>
      <p:sp>
        <p:nvSpPr>
          <p:cNvPr id="23" name="Text 21"/>
          <p:cNvSpPr/>
          <p:nvPr/>
        </p:nvSpPr>
        <p:spPr>
          <a:xfrm>
            <a:off x="4588933" y="4150254"/>
            <a:ext cx="310455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Ch. 8 · 7 min</a:t>
            </a:r>
            <a:endParaRPr lang="en-US" sz="1200" dirty="0"/>
          </a:p>
        </p:txBody>
      </p:sp>
      <p:sp>
        <p:nvSpPr>
          <p:cNvPr id="24" name="Shape 22"/>
          <p:cNvSpPr/>
          <p:nvPr/>
        </p:nvSpPr>
        <p:spPr>
          <a:xfrm>
            <a:off x="7958667" y="3248554"/>
            <a:ext cx="3420533" cy="1292820"/>
          </a:xfrm>
          <a:prstGeom prst="roundRect">
            <a:avLst>
              <a:gd name="adj" fmla="val 7859"/>
            </a:avLst>
          </a:prstGeom>
          <a:solidFill>
            <a:srgbClr val="EEF2F7"/>
          </a:solidFill>
          <a:ln/>
        </p:spPr>
      </p:sp>
      <p:sp>
        <p:nvSpPr>
          <p:cNvPr id="25" name="Text 23"/>
          <p:cNvSpPr/>
          <p:nvPr/>
        </p:nvSpPr>
        <p:spPr>
          <a:xfrm>
            <a:off x="8161867" y="3426354"/>
            <a:ext cx="3104557"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6</a:t>
            </a:r>
            <a:endParaRPr lang="en-US" sz="2000" dirty="0"/>
          </a:p>
        </p:txBody>
      </p:sp>
      <p:sp>
        <p:nvSpPr>
          <p:cNvPr id="26" name="Text 24"/>
          <p:cNvSpPr/>
          <p:nvPr/>
        </p:nvSpPr>
        <p:spPr>
          <a:xfrm>
            <a:off x="8161867" y="3832754"/>
            <a:ext cx="310455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Estimation</a:t>
            </a:r>
            <a:endParaRPr lang="en-US" sz="1500" dirty="0"/>
          </a:p>
        </p:txBody>
      </p:sp>
      <p:sp>
        <p:nvSpPr>
          <p:cNvPr id="27" name="Text 25"/>
          <p:cNvSpPr/>
          <p:nvPr/>
        </p:nvSpPr>
        <p:spPr>
          <a:xfrm>
            <a:off x="8161867" y="4150254"/>
            <a:ext cx="310455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Ch. 9 · 6 min</a:t>
            </a:r>
            <a:endParaRPr lang="en-US" sz="1200" dirty="0"/>
          </a:p>
        </p:txBody>
      </p:sp>
      <p:sp>
        <p:nvSpPr>
          <p:cNvPr id="28" name="Text 26"/>
          <p:cNvSpPr/>
          <p:nvPr/>
        </p:nvSpPr>
        <p:spPr>
          <a:xfrm>
            <a:off x="812800" y="4795375"/>
            <a:ext cx="10566400" cy="802614"/>
          </a:xfrm>
          <a:prstGeom prst="roundRect">
            <a:avLst>
              <a:gd name="adj" fmla="val 9494"/>
            </a:avLst>
          </a:prstGeom>
          <a:solidFill>
            <a:srgbClr val="FBEBDD"/>
          </a:solidFill>
          <a:ln/>
        </p:spPr>
        <p:txBody>
          <a:bodyPr wrap="square" lIns="180882" tIns="130082" rIns="0" bIns="104682" rtlCol="0" anchor="t">
            <a:normAutofit/>
          </a:bodyPr>
          <a:lstStyle/>
          <a:p>
            <a:pPr marL="0" indent="0" algn="l">
              <a:lnSpc>
                <a:spcPts val="1960"/>
              </a:lnSpc>
              <a:buNone/>
            </a:pPr>
            <a:r>
              <a:rPr lang="en-US" sz="1400" b="1" dirty="0">
                <a:solidFill>
                  <a:srgbClr val="A14F0A"/>
                </a:solidFill>
                <a:latin typeface="Nunito Sans" pitchFamily="34" charset="0"/>
                <a:ea typeface="Nunito Sans" pitchFamily="34" charset="-122"/>
                <a:cs typeface="Nunito Sans" pitchFamily="34" charset="-120"/>
              </a:rPr>
              <a:t>Try each deliverable yourself first</a:t>
            </a:r>
            <a:r>
              <a:rPr lang="en-US" sz="1400" dirty="0">
                <a:solidFill>
                  <a:srgbClr val="14213D"/>
                </a:solidFill>
                <a:latin typeface="Nunito Sans" pitchFamily="34" charset="0"/>
                <a:ea typeface="Nunito Sans" pitchFamily="34" charset="-122"/>
                <a:cs typeface="Nunito Sans" pitchFamily="34" charset="-120"/>
              </a:rPr>
              <a:t>, then compare with the model answer. It's one good solution, not the only one. Time is tight on purpose: if you only partly finish, skim the answer and move 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THE CASE · SHOPEASY CHECKOUT</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US-301 and its acceptance criteria</a:t>
            </a:r>
            <a:endParaRPr lang="en-US" sz="3200" dirty="0"/>
          </a:p>
        </p:txBody>
      </p:sp>
      <p:sp>
        <p:nvSpPr>
          <p:cNvPr id="4" name="Shape 2"/>
          <p:cNvSpPr/>
          <p:nvPr/>
        </p:nvSpPr>
        <p:spPr>
          <a:xfrm>
            <a:off x="838200" y="1777935"/>
            <a:ext cx="0" cy="335227"/>
          </a:xfrm>
          <a:prstGeom prst="line">
            <a:avLst/>
          </a:prstGeom>
          <a:noFill/>
          <a:ln w="50800">
            <a:solidFill>
              <a:srgbClr val="A14F0A"/>
            </a:solidFill>
            <a:prstDash val="solid"/>
          </a:ln>
        </p:spPr>
      </p:sp>
      <p:sp>
        <p:nvSpPr>
          <p:cNvPr id="5" name="Text 3"/>
          <p:cNvSpPr/>
          <p:nvPr/>
        </p:nvSpPr>
        <p:spPr>
          <a:xfrm>
            <a:off x="1066800" y="1803335"/>
            <a:ext cx="1062177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Domine" pitchFamily="18" charset="0"/>
                <a:ea typeface="Domine" pitchFamily="18" charset="-122"/>
                <a:cs typeface="Domine" pitchFamily="18" charset="-120"/>
              </a:rPr>
              <a:t>As a customer, I want to purchase products using my credit card so that I can complete my order online.</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354461"/>
          <a:ext cx="10553700" cy="2874433"/>
        </p:xfrm>
        <a:graphic>
          <a:graphicData uri="http://schemas.openxmlformats.org/drawingml/2006/table">
            <a:tbl>
              <a:tblPr/>
              <a:tblGrid>
                <a:gridCol w="1266444">
                  <a:extLst>
                    <a:ext uri="{9D8B030D-6E8A-4147-A177-3AD203B41FA5}">
                      <a16:colId xmlns:a16="http://schemas.microsoft.com/office/drawing/2014/main" val="20000"/>
                    </a:ext>
                  </a:extLst>
                </a:gridCol>
                <a:gridCol w="9287256">
                  <a:extLst>
                    <a:ext uri="{9D8B030D-6E8A-4147-A177-3AD203B41FA5}">
                      <a16:colId xmlns:a16="http://schemas.microsoft.com/office/drawing/2014/main" val="20001"/>
                    </a:ext>
                  </a:extLst>
                </a:gridCol>
              </a:tblGrid>
              <a:tr h="359304">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ID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Acceptance criterion</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A14F0A"/>
                          </a:solidFill>
                          <a:latin typeface="Nunito Sans" pitchFamily="34" charset="0"/>
                          <a:ea typeface="Nunito Sans" pitchFamily="34" charset="-122"/>
                          <a:cs typeface="Nunito Sans" pitchFamily="34" charset="-120"/>
                        </a:rPr>
                        <a:t>AC1</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Customer must have at least one item in the cart.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A14F0A"/>
                          </a:solidFill>
                          <a:latin typeface="Nunito Sans" pitchFamily="34" charset="0"/>
                          <a:ea typeface="Nunito Sans" pitchFamily="34" charset="-122"/>
                          <a:cs typeface="Nunito Sans" pitchFamily="34" charset="-120"/>
                        </a:rPr>
                        <a:t>AC2</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Customer must provide valid shipping information.</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A14F0A"/>
                          </a:solidFill>
                          <a:latin typeface="Nunito Sans" pitchFamily="34" charset="0"/>
                          <a:ea typeface="Nunito Sans" pitchFamily="34" charset="-122"/>
                          <a:cs typeface="Nunito Sans" pitchFamily="34" charset="-120"/>
                        </a:rPr>
                        <a:t>AC3</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Customer must provide valid payment information.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A14F0A"/>
                          </a:solidFill>
                          <a:latin typeface="Nunito Sans" pitchFamily="34" charset="0"/>
                          <a:ea typeface="Nunito Sans" pitchFamily="34" charset="-122"/>
                          <a:cs typeface="Nunito Sans" pitchFamily="34" charset="-120"/>
                        </a:rPr>
                        <a:t>AC4</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Payment must be authorized.</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59304">
                <a:tc>
                  <a:txBody>
                    <a:bodyPr/>
                    <a:lstStyle/>
                    <a:p>
                      <a:pPr marL="0" indent="0">
                        <a:lnSpc>
                          <a:spcPts val="1820"/>
                        </a:lnSpc>
                        <a:buNone/>
                      </a:pPr>
                      <a:r>
                        <a:rPr lang="en-US" sz="1300" dirty="0">
                          <a:solidFill>
                            <a:srgbClr val="A14F0A"/>
                          </a:solidFill>
                          <a:latin typeface="Nunito Sans" pitchFamily="34" charset="0"/>
                          <a:ea typeface="Nunito Sans" pitchFamily="34" charset="-122"/>
                          <a:cs typeface="Nunito Sans" pitchFamily="34" charset="-120"/>
                        </a:rPr>
                        <a:t>AC5</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Order should be created after successful payment.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59304">
                <a:tc>
                  <a:txBody>
                    <a:bodyPr/>
                    <a:lstStyle/>
                    <a:p>
                      <a:pPr marL="0" indent="0">
                        <a:lnSpc>
                          <a:spcPts val="1820"/>
                        </a:lnSpc>
                        <a:buNone/>
                      </a:pPr>
                      <a:r>
                        <a:rPr lang="en-US" sz="1300" dirty="0">
                          <a:solidFill>
                            <a:srgbClr val="A14F0A"/>
                          </a:solidFill>
                          <a:latin typeface="Nunito Sans" pitchFamily="34" charset="0"/>
                          <a:ea typeface="Nunito Sans" pitchFamily="34" charset="-122"/>
                          <a:cs typeface="Nunito Sans" pitchFamily="34" charset="-120"/>
                        </a:rPr>
                        <a:t>AC6</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Customer should receive an order confirmation.</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359304">
                <a:tc>
                  <a:txBody>
                    <a:bodyPr/>
                    <a:lstStyle/>
                    <a:p>
                      <a:pPr marL="0" indent="0">
                        <a:lnSpc>
                          <a:spcPts val="1820"/>
                        </a:lnSpc>
                        <a:buNone/>
                      </a:pPr>
                      <a:r>
                        <a:rPr lang="en-US" sz="1300" dirty="0">
                          <a:solidFill>
                            <a:srgbClr val="A14F0A"/>
                          </a:solidFill>
                          <a:latin typeface="Nunito Sans" pitchFamily="34" charset="0"/>
                          <a:ea typeface="Nunito Sans" pitchFamily="34" charset="-122"/>
                          <a:cs typeface="Nunito Sans" pitchFamily="34" charset="-120"/>
                        </a:rPr>
                        <a:t>AC7</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Failed payment should not create an order.</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THE CASE · FROM REFINEMENT</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What the team agreed</a:t>
            </a:r>
            <a:endParaRPr lang="en-US" sz="3200" dirty="0"/>
          </a:p>
        </p:txBody>
      </p:sp>
      <p:sp>
        <p:nvSpPr>
          <p:cNvPr id="4" name="Shape 2"/>
          <p:cNvSpPr/>
          <p:nvPr/>
        </p:nvSpPr>
        <p:spPr>
          <a:xfrm>
            <a:off x="812800" y="1803335"/>
            <a:ext cx="5207000" cy="1089554"/>
          </a:xfrm>
          <a:prstGeom prst="roundRect">
            <a:avLst>
              <a:gd name="adj" fmla="val 9325"/>
            </a:avLst>
          </a:prstGeom>
          <a:solidFill>
            <a:srgbClr val="EEF2F7"/>
          </a:solidFill>
          <a:ln/>
        </p:spPr>
      </p:sp>
      <p:sp>
        <p:nvSpPr>
          <p:cNvPr id="5" name="Text 3"/>
          <p:cNvSpPr/>
          <p:nvPr/>
        </p:nvSpPr>
        <p:spPr>
          <a:xfrm>
            <a:off x="1016000" y="1981135"/>
            <a:ext cx="494461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Domine" pitchFamily="18" charset="0"/>
                <a:ea typeface="Domine" pitchFamily="18" charset="-122"/>
                <a:cs typeface="Domine" pitchFamily="18" charset="-120"/>
              </a:rPr>
              <a:t>Shipping info</a:t>
            </a:r>
            <a:endParaRPr lang="en-US" sz="1500" dirty="0"/>
          </a:p>
        </p:txBody>
      </p:sp>
      <p:sp>
        <p:nvSpPr>
          <p:cNvPr id="6" name="Text 4"/>
          <p:cNvSpPr/>
          <p:nvPr/>
        </p:nvSpPr>
        <p:spPr>
          <a:xfrm>
            <a:off x="1016000" y="2273235"/>
            <a:ext cx="4944618" cy="46725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A5C"/>
                </a:solidFill>
                <a:latin typeface="Nunito Sans" pitchFamily="34" charset="0"/>
                <a:ea typeface="Nunito Sans" pitchFamily="34" charset="-122"/>
                <a:cs typeface="Nunito Sans" pitchFamily="34" charset="-120"/>
              </a:rPr>
              <a:t>Full name, address line, city, state, </a:t>
            </a:r>
            <a:r>
              <a:rPr lang="en-US" sz="1200" b="1" dirty="0">
                <a:solidFill>
                  <a:srgbClr val="3D4A5C"/>
                </a:solidFill>
                <a:latin typeface="Nunito Sans" pitchFamily="34" charset="0"/>
                <a:ea typeface="Nunito Sans" pitchFamily="34" charset="-122"/>
                <a:cs typeface="Nunito Sans" pitchFamily="34" charset="-120"/>
              </a:rPr>
              <a:t>6-digit PIN code</a:t>
            </a:r>
            <a:r>
              <a:rPr lang="en-US" sz="1200" dirty="0">
                <a:solidFill>
                  <a:srgbClr val="3D4A5C"/>
                </a:solidFill>
                <a:latin typeface="Nunito Sans" pitchFamily="34" charset="0"/>
                <a:ea typeface="Nunito Sans" pitchFamily="34" charset="-122"/>
                <a:cs typeface="Nunito Sans" pitchFamily="34" charset="-120"/>
              </a:rPr>
              <a:t>, </a:t>
            </a:r>
            <a:r>
              <a:rPr lang="en-US" sz="1200" b="1" dirty="0">
                <a:solidFill>
                  <a:srgbClr val="3D4A5C"/>
                </a:solidFill>
                <a:latin typeface="Nunito Sans" pitchFamily="34" charset="0"/>
                <a:ea typeface="Nunito Sans" pitchFamily="34" charset="-122"/>
                <a:cs typeface="Nunito Sans" pitchFamily="34" charset="-120"/>
              </a:rPr>
              <a:t>10-digit mobile</a:t>
            </a:r>
            <a:r>
              <a:rPr lang="en-US" sz="1200" dirty="0">
                <a:solidFill>
                  <a:srgbClr val="3D4A5C"/>
                </a:solidFill>
                <a:latin typeface="Nunito Sans" pitchFamily="34" charset="0"/>
                <a:ea typeface="Nunito Sans" pitchFamily="34" charset="-122"/>
                <a:cs typeface="Nunito Sans" pitchFamily="34" charset="-120"/>
              </a:rPr>
              <a:t>. All mandatory.</a:t>
            </a:r>
            <a:endParaRPr lang="en-US" sz="1200" dirty="0"/>
          </a:p>
        </p:txBody>
      </p:sp>
      <p:sp>
        <p:nvSpPr>
          <p:cNvPr id="7" name="Shape 5"/>
          <p:cNvSpPr/>
          <p:nvPr/>
        </p:nvSpPr>
        <p:spPr>
          <a:xfrm>
            <a:off x="6172200" y="1803335"/>
            <a:ext cx="5207000" cy="1089554"/>
          </a:xfrm>
          <a:prstGeom prst="roundRect">
            <a:avLst>
              <a:gd name="adj" fmla="val 9325"/>
            </a:avLst>
          </a:prstGeom>
          <a:solidFill>
            <a:srgbClr val="EEF2F7"/>
          </a:solidFill>
          <a:ln/>
        </p:spPr>
      </p:sp>
      <p:sp>
        <p:nvSpPr>
          <p:cNvPr id="8" name="Text 6"/>
          <p:cNvSpPr/>
          <p:nvPr/>
        </p:nvSpPr>
        <p:spPr>
          <a:xfrm>
            <a:off x="6375400" y="1981135"/>
            <a:ext cx="494461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Domine" pitchFamily="18" charset="0"/>
                <a:ea typeface="Domine" pitchFamily="18" charset="-122"/>
                <a:cs typeface="Domine" pitchFamily="18" charset="-120"/>
              </a:rPr>
              <a:t>Payment info</a:t>
            </a:r>
            <a:endParaRPr lang="en-US" sz="1500" dirty="0"/>
          </a:p>
        </p:txBody>
      </p:sp>
      <p:sp>
        <p:nvSpPr>
          <p:cNvPr id="9" name="Text 7"/>
          <p:cNvSpPr/>
          <p:nvPr/>
        </p:nvSpPr>
        <p:spPr>
          <a:xfrm>
            <a:off x="6375400" y="2273235"/>
            <a:ext cx="4944618" cy="467254"/>
          </a:xfrm>
          <a:prstGeom prst="rect">
            <a:avLst/>
          </a:prstGeom>
          <a:noFill/>
          <a:ln/>
        </p:spPr>
        <p:txBody>
          <a:bodyPr wrap="square" lIns="0" tIns="0" rIns="0" bIns="0" rtlCol="0" anchor="t">
            <a:normAutofit/>
          </a:bodyPr>
          <a:lstStyle/>
          <a:p>
            <a:pPr marL="0" indent="0" algn="l">
              <a:lnSpc>
                <a:spcPts val="1740"/>
              </a:lnSpc>
              <a:buNone/>
            </a:pPr>
            <a:r>
              <a:rPr lang="en-US" sz="1200" b="1" dirty="0">
                <a:solidFill>
                  <a:srgbClr val="3D4A5C"/>
                </a:solidFill>
                <a:latin typeface="Nunito Sans" pitchFamily="34" charset="0"/>
                <a:ea typeface="Nunito Sans" pitchFamily="34" charset="-122"/>
                <a:cs typeface="Nunito Sans" pitchFamily="34" charset="-120"/>
              </a:rPr>
              <a:t>16-digit</a:t>
            </a:r>
            <a:r>
              <a:rPr lang="en-US" sz="1200" dirty="0">
                <a:solidFill>
                  <a:srgbClr val="3D4A5C"/>
                </a:solidFill>
                <a:latin typeface="Nunito Sans" pitchFamily="34" charset="0"/>
                <a:ea typeface="Nunito Sans" pitchFamily="34" charset="-122"/>
                <a:cs typeface="Nunito Sans" pitchFamily="34" charset="-120"/>
              </a:rPr>
              <a:t> Visa/Mastercard, expiry </a:t>
            </a:r>
            <a:r>
              <a:rPr lang="en-US" sz="1200" b="1" dirty="0">
                <a:solidFill>
                  <a:srgbClr val="3D4A5C"/>
                </a:solidFill>
                <a:latin typeface="Nunito Sans" pitchFamily="34" charset="0"/>
                <a:ea typeface="Nunito Sans" pitchFamily="34" charset="-122"/>
                <a:cs typeface="Nunito Sans" pitchFamily="34" charset="-120"/>
              </a:rPr>
              <a:t>MM/YY not in the past</a:t>
            </a:r>
            <a:r>
              <a:rPr lang="en-US" sz="1200" dirty="0">
                <a:solidFill>
                  <a:srgbClr val="3D4A5C"/>
                </a:solidFill>
                <a:latin typeface="Nunito Sans" pitchFamily="34" charset="0"/>
                <a:ea typeface="Nunito Sans" pitchFamily="34" charset="-122"/>
                <a:cs typeface="Nunito Sans" pitchFamily="34" charset="-120"/>
              </a:rPr>
              <a:t>, </a:t>
            </a:r>
            <a:r>
              <a:rPr lang="en-US" sz="1200" b="1" dirty="0">
                <a:solidFill>
                  <a:srgbClr val="3D4A5C"/>
                </a:solidFill>
                <a:latin typeface="Nunito Sans" pitchFamily="34" charset="0"/>
                <a:ea typeface="Nunito Sans" pitchFamily="34" charset="-122"/>
                <a:cs typeface="Nunito Sans" pitchFamily="34" charset="-120"/>
              </a:rPr>
              <a:t>3-digit CVV</a:t>
            </a:r>
            <a:r>
              <a:rPr lang="en-US" sz="1200" dirty="0">
                <a:solidFill>
                  <a:srgbClr val="3D4A5C"/>
                </a:solidFill>
                <a:latin typeface="Nunito Sans" pitchFamily="34" charset="0"/>
                <a:ea typeface="Nunito Sans" pitchFamily="34" charset="-122"/>
                <a:cs typeface="Nunito Sans" pitchFamily="34" charset="-120"/>
              </a:rPr>
              <a:t>, name on card.</a:t>
            </a:r>
            <a:endParaRPr lang="en-US" sz="1200" dirty="0"/>
          </a:p>
        </p:txBody>
      </p:sp>
      <p:sp>
        <p:nvSpPr>
          <p:cNvPr id="10" name="Shape 8"/>
          <p:cNvSpPr/>
          <p:nvPr/>
        </p:nvSpPr>
        <p:spPr>
          <a:xfrm>
            <a:off x="812800" y="3045289"/>
            <a:ext cx="5207000" cy="1089554"/>
          </a:xfrm>
          <a:prstGeom prst="roundRect">
            <a:avLst>
              <a:gd name="adj" fmla="val 9325"/>
            </a:avLst>
          </a:prstGeom>
          <a:solidFill>
            <a:srgbClr val="EEF2F7"/>
          </a:solidFill>
          <a:ln/>
        </p:spPr>
      </p:sp>
      <p:sp>
        <p:nvSpPr>
          <p:cNvPr id="11" name="Text 9"/>
          <p:cNvSpPr/>
          <p:nvPr/>
        </p:nvSpPr>
        <p:spPr>
          <a:xfrm>
            <a:off x="1016000" y="3223089"/>
            <a:ext cx="494461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Domine" pitchFamily="18" charset="0"/>
                <a:ea typeface="Domine" pitchFamily="18" charset="-122"/>
                <a:cs typeface="Domine" pitchFamily="18" charset="-120"/>
              </a:rPr>
              <a:t>Payment gateway</a:t>
            </a:r>
            <a:endParaRPr lang="en-US" sz="1500" dirty="0"/>
          </a:p>
        </p:txBody>
      </p:sp>
      <p:sp>
        <p:nvSpPr>
          <p:cNvPr id="12" name="Text 10"/>
          <p:cNvSpPr/>
          <p:nvPr/>
        </p:nvSpPr>
        <p:spPr>
          <a:xfrm>
            <a:off x="1016000" y="3515189"/>
            <a:ext cx="4944618" cy="46725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A5C"/>
                </a:solidFill>
                <a:latin typeface="Nunito Sans" pitchFamily="34" charset="0"/>
                <a:ea typeface="Nunito Sans" pitchFamily="34" charset="-122"/>
                <a:cs typeface="Nunito Sans" pitchFamily="34" charset="-120"/>
              </a:rPr>
              <a:t>Third-party, sandbox in QA. Responds </a:t>
            </a:r>
            <a:r>
              <a:rPr lang="en-US" sz="1200" i="1" dirty="0">
                <a:solidFill>
                  <a:srgbClr val="3D4A5C"/>
                </a:solidFill>
                <a:latin typeface="Nunito Sans" pitchFamily="34" charset="0"/>
                <a:ea typeface="Nunito Sans" pitchFamily="34" charset="-122"/>
                <a:cs typeface="Nunito Sans" pitchFamily="34" charset="-120"/>
              </a:rPr>
              <a:t>Authorized</a:t>
            </a:r>
            <a:r>
              <a:rPr lang="en-US" sz="1200" dirty="0">
                <a:solidFill>
                  <a:srgbClr val="3D4A5C"/>
                </a:solidFill>
                <a:latin typeface="Nunito Sans" pitchFamily="34" charset="0"/>
                <a:ea typeface="Nunito Sans" pitchFamily="34" charset="-122"/>
                <a:cs typeface="Nunito Sans" pitchFamily="34" charset="-120"/>
              </a:rPr>
              <a:t>, </a:t>
            </a:r>
            <a:r>
              <a:rPr lang="en-US" sz="1200" i="1" dirty="0">
                <a:solidFill>
                  <a:srgbClr val="3D4A5C"/>
                </a:solidFill>
                <a:latin typeface="Nunito Sans" pitchFamily="34" charset="0"/>
                <a:ea typeface="Nunito Sans" pitchFamily="34" charset="-122"/>
                <a:cs typeface="Nunito Sans" pitchFamily="34" charset="-120"/>
              </a:rPr>
              <a:t>Declined</a:t>
            </a:r>
            <a:r>
              <a:rPr lang="en-US" sz="1200" dirty="0">
                <a:solidFill>
                  <a:srgbClr val="3D4A5C"/>
                </a:solidFill>
                <a:latin typeface="Nunito Sans" pitchFamily="34" charset="0"/>
                <a:ea typeface="Nunito Sans" pitchFamily="34" charset="-122"/>
                <a:cs typeface="Nunito Sans" pitchFamily="34" charset="-120"/>
              </a:rPr>
              <a:t>, </a:t>
            </a:r>
            <a:r>
              <a:rPr lang="en-US" sz="1200" i="1" dirty="0">
                <a:solidFill>
                  <a:srgbClr val="3D4A5C"/>
                </a:solidFill>
                <a:latin typeface="Nunito Sans" pitchFamily="34" charset="0"/>
                <a:ea typeface="Nunito Sans" pitchFamily="34" charset="-122"/>
                <a:cs typeface="Nunito Sans" pitchFamily="34" charset="-120"/>
              </a:rPr>
              <a:t>Insufficient funds</a:t>
            </a:r>
            <a:r>
              <a:rPr lang="en-US" sz="1200" dirty="0">
                <a:solidFill>
                  <a:srgbClr val="3D4A5C"/>
                </a:solidFill>
                <a:latin typeface="Nunito Sans" pitchFamily="34" charset="0"/>
                <a:ea typeface="Nunito Sans" pitchFamily="34" charset="-122"/>
                <a:cs typeface="Nunito Sans" pitchFamily="34" charset="-120"/>
              </a:rPr>
              <a:t>, or </a:t>
            </a:r>
            <a:r>
              <a:rPr lang="en-US" sz="1200" b="1" dirty="0">
                <a:solidFill>
                  <a:srgbClr val="3D4A5C"/>
                </a:solidFill>
                <a:latin typeface="Nunito Sans" pitchFamily="34" charset="0"/>
                <a:ea typeface="Nunito Sans" pitchFamily="34" charset="-122"/>
                <a:cs typeface="Nunito Sans" pitchFamily="34" charset="-120"/>
              </a:rPr>
              <a:t>times out after 30 s</a:t>
            </a:r>
            <a:r>
              <a:rPr lang="en-US" sz="1200" dirty="0">
                <a:solidFill>
                  <a:srgbClr val="3D4A5C"/>
                </a:solidFill>
                <a:latin typeface="Nunito Sans" pitchFamily="34" charset="0"/>
                <a:ea typeface="Nunito Sans" pitchFamily="34" charset="-122"/>
                <a:cs typeface="Nunito Sans" pitchFamily="34" charset="-120"/>
              </a:rPr>
              <a:t>.</a:t>
            </a:r>
            <a:endParaRPr lang="en-US" sz="1200" dirty="0"/>
          </a:p>
        </p:txBody>
      </p:sp>
      <p:sp>
        <p:nvSpPr>
          <p:cNvPr id="13" name="Shape 11"/>
          <p:cNvSpPr/>
          <p:nvPr/>
        </p:nvSpPr>
        <p:spPr>
          <a:xfrm>
            <a:off x="6172200" y="3045289"/>
            <a:ext cx="5207000" cy="1089554"/>
          </a:xfrm>
          <a:prstGeom prst="roundRect">
            <a:avLst>
              <a:gd name="adj" fmla="val 9325"/>
            </a:avLst>
          </a:prstGeom>
          <a:solidFill>
            <a:srgbClr val="EEF2F7"/>
          </a:solidFill>
          <a:ln/>
        </p:spPr>
      </p:sp>
      <p:sp>
        <p:nvSpPr>
          <p:cNvPr id="14" name="Text 12"/>
          <p:cNvSpPr/>
          <p:nvPr/>
        </p:nvSpPr>
        <p:spPr>
          <a:xfrm>
            <a:off x="6375400" y="3223089"/>
            <a:ext cx="494461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Domine" pitchFamily="18" charset="0"/>
                <a:ea typeface="Domine" pitchFamily="18" charset="-122"/>
                <a:cs typeface="Domine" pitchFamily="18" charset="-120"/>
              </a:rPr>
              <a:t>Confirmation</a:t>
            </a:r>
            <a:endParaRPr lang="en-US" sz="1500" dirty="0"/>
          </a:p>
        </p:txBody>
      </p:sp>
      <p:sp>
        <p:nvSpPr>
          <p:cNvPr id="15" name="Text 13"/>
          <p:cNvSpPr/>
          <p:nvPr/>
        </p:nvSpPr>
        <p:spPr>
          <a:xfrm>
            <a:off x="6375400" y="3515189"/>
            <a:ext cx="4944618" cy="46725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A5C"/>
                </a:solidFill>
                <a:latin typeface="Nunito Sans" pitchFamily="34" charset="0"/>
                <a:ea typeface="Nunito Sans" pitchFamily="34" charset="-122"/>
                <a:cs typeface="Nunito Sans" pitchFamily="34" charset="-120"/>
              </a:rPr>
              <a:t>On-screen with order number, plus an email via an </a:t>
            </a:r>
            <a:r>
              <a:rPr lang="en-US" sz="1200" b="1" dirty="0">
                <a:solidFill>
                  <a:srgbClr val="3D4A5C"/>
                </a:solidFill>
                <a:latin typeface="Nunito Sans" pitchFamily="34" charset="0"/>
                <a:ea typeface="Nunito Sans" pitchFamily="34" charset="-122"/>
                <a:cs typeface="Nunito Sans" pitchFamily="34" charset="-120"/>
              </a:rPr>
              <a:t>external email service</a:t>
            </a:r>
            <a:r>
              <a:rPr lang="en-US" sz="1200" dirty="0">
                <a:solidFill>
                  <a:srgbClr val="3D4A5C"/>
                </a:solidFill>
                <a:latin typeface="Nunito Sans" pitchFamily="34" charset="0"/>
                <a:ea typeface="Nunito Sans" pitchFamily="34" charset="-122"/>
                <a:cs typeface="Nunito Sans" pitchFamily="34" charset="-120"/>
              </a:rPr>
              <a:t>.</a:t>
            </a:r>
            <a:endParaRPr lang="en-US" sz="1200" dirty="0"/>
          </a:p>
        </p:txBody>
      </p:sp>
      <p:sp>
        <p:nvSpPr>
          <p:cNvPr id="16" name="Shape 14"/>
          <p:cNvSpPr/>
          <p:nvPr/>
        </p:nvSpPr>
        <p:spPr>
          <a:xfrm>
            <a:off x="812800" y="4287242"/>
            <a:ext cx="5207000" cy="1089554"/>
          </a:xfrm>
          <a:prstGeom prst="roundRect">
            <a:avLst>
              <a:gd name="adj" fmla="val 9325"/>
            </a:avLst>
          </a:prstGeom>
          <a:solidFill>
            <a:srgbClr val="EEF2F7"/>
          </a:solidFill>
          <a:ln/>
        </p:spPr>
      </p:sp>
      <p:sp>
        <p:nvSpPr>
          <p:cNvPr id="17" name="Text 15"/>
          <p:cNvSpPr/>
          <p:nvPr/>
        </p:nvSpPr>
        <p:spPr>
          <a:xfrm>
            <a:off x="1016000" y="4465042"/>
            <a:ext cx="494461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Domine" pitchFamily="18" charset="0"/>
                <a:ea typeface="Domine" pitchFamily="18" charset="-122"/>
                <a:cs typeface="Domine" pitchFamily="18" charset="-120"/>
              </a:rPr>
              <a:t>Platforms</a:t>
            </a:r>
            <a:endParaRPr lang="en-US" sz="1500" dirty="0"/>
          </a:p>
        </p:txBody>
      </p:sp>
      <p:sp>
        <p:nvSpPr>
          <p:cNvPr id="18" name="Text 16"/>
          <p:cNvSpPr/>
          <p:nvPr/>
        </p:nvSpPr>
        <p:spPr>
          <a:xfrm>
            <a:off x="1016000" y="4757142"/>
            <a:ext cx="4944618" cy="246327"/>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A5C"/>
                </a:solidFill>
                <a:latin typeface="Nunito Sans" pitchFamily="34" charset="0"/>
                <a:ea typeface="Nunito Sans" pitchFamily="34" charset="-122"/>
                <a:cs typeface="Nunito Sans" pitchFamily="34" charset="-120"/>
              </a:rPr>
              <a:t>Chrome, Firefox, Safari (desktop); Chrome on Android; Safari on iOS.</a:t>
            </a:r>
            <a:endParaRPr lang="en-US" sz="1200" dirty="0"/>
          </a:p>
        </p:txBody>
      </p:sp>
      <p:sp>
        <p:nvSpPr>
          <p:cNvPr id="19" name="Shape 17"/>
          <p:cNvSpPr/>
          <p:nvPr/>
        </p:nvSpPr>
        <p:spPr>
          <a:xfrm>
            <a:off x="6172200" y="4287242"/>
            <a:ext cx="5207000" cy="1089554"/>
          </a:xfrm>
          <a:prstGeom prst="roundRect">
            <a:avLst>
              <a:gd name="adj" fmla="val 9325"/>
            </a:avLst>
          </a:prstGeom>
          <a:solidFill>
            <a:srgbClr val="EEF2F7"/>
          </a:solidFill>
          <a:ln/>
        </p:spPr>
      </p:sp>
      <p:sp>
        <p:nvSpPr>
          <p:cNvPr id="20" name="Text 18"/>
          <p:cNvSpPr/>
          <p:nvPr/>
        </p:nvSpPr>
        <p:spPr>
          <a:xfrm>
            <a:off x="6375400" y="4465042"/>
            <a:ext cx="494461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Domine" pitchFamily="18" charset="0"/>
                <a:ea typeface="Domine" pitchFamily="18" charset="-122"/>
                <a:cs typeface="Domine" pitchFamily="18" charset="-120"/>
              </a:rPr>
              <a:t>Order states</a:t>
            </a:r>
            <a:endParaRPr lang="en-US" sz="1500" dirty="0"/>
          </a:p>
        </p:txBody>
      </p:sp>
      <p:sp>
        <p:nvSpPr>
          <p:cNvPr id="21" name="Text 19"/>
          <p:cNvSpPr/>
          <p:nvPr/>
        </p:nvSpPr>
        <p:spPr>
          <a:xfrm>
            <a:off x="6375400" y="4757142"/>
            <a:ext cx="4944618" cy="46725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A5C"/>
                </a:solidFill>
                <a:latin typeface="Nunito Sans" pitchFamily="34" charset="0"/>
                <a:ea typeface="Nunito Sans" pitchFamily="34" charset="-122"/>
                <a:cs typeface="Nunito Sans" pitchFamily="34" charset="-120"/>
              </a:rPr>
              <a:t>Created → Paid → Shipped → Delivered (the state diagram from Ch. 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THE CASE · QA ENVIRONMENT</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Sandbox test cards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66835"/>
          <a:ext cx="10553700" cy="2476500"/>
        </p:xfrm>
        <a:graphic>
          <a:graphicData uri="http://schemas.openxmlformats.org/drawingml/2006/table">
            <a:tbl>
              <a:tblPr/>
              <a:tblGrid>
                <a:gridCol w="4749165">
                  <a:extLst>
                    <a:ext uri="{9D8B030D-6E8A-4147-A177-3AD203B41FA5}">
                      <a16:colId xmlns:a16="http://schemas.microsoft.com/office/drawing/2014/main" val="20000"/>
                    </a:ext>
                  </a:extLst>
                </a:gridCol>
                <a:gridCol w="5804535">
                  <a:extLst>
                    <a:ext uri="{9D8B030D-6E8A-4147-A177-3AD203B41FA5}">
                      <a16:colId xmlns:a16="http://schemas.microsoft.com/office/drawing/2014/main" val="20001"/>
                    </a:ext>
                  </a:extLst>
                </a:gridCol>
              </a:tblGrid>
              <a:tr h="412750">
                <a:tc>
                  <a:txBody>
                    <a:bodyPr/>
                    <a:lstStyle/>
                    <a:p>
                      <a:pPr marL="0" indent="0">
                        <a:lnSpc>
                          <a:spcPts val="2100"/>
                        </a:lnSpc>
                        <a:buNone/>
                      </a:pPr>
                      <a:r>
                        <a:rPr lang="en-US" sz="1500" b="1" dirty="0">
                          <a:solidFill>
                            <a:srgbClr val="FBFBF8"/>
                          </a:solidFill>
                          <a:latin typeface="Nunito Sans" pitchFamily="34" charset="0"/>
                          <a:ea typeface="Nunito Sans" pitchFamily="34" charset="-122"/>
                          <a:cs typeface="Nunito Sans" pitchFamily="34" charset="-120"/>
                        </a:rPr>
                        <a:t>Card number</a:t>
                      </a:r>
                      <a:endParaRPr lang="en-US" sz="1500" dirty="0">
                        <a:latin typeface="Nunito Sans" charset="0"/>
                        <a:ea typeface="Nunito Sans" charset="0"/>
                        <a:cs typeface="Nunito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2100"/>
                        </a:lnSpc>
                        <a:buNone/>
                      </a:pPr>
                      <a:r>
                        <a:rPr lang="en-US" sz="1500" b="1" dirty="0">
                          <a:solidFill>
                            <a:srgbClr val="FBFBF8"/>
                          </a:solidFill>
                          <a:latin typeface="Nunito Sans" pitchFamily="34" charset="0"/>
                          <a:ea typeface="Nunito Sans" pitchFamily="34" charset="-122"/>
                          <a:cs typeface="Nunito Sans" pitchFamily="34" charset="-120"/>
                        </a:rPr>
                        <a:t>Gateway behaviour</a:t>
                      </a:r>
                      <a:endParaRPr lang="en-US" sz="1500" dirty="0">
                        <a:latin typeface="Nunito Sans" charset="0"/>
                        <a:ea typeface="Nunito Sans" charset="0"/>
                        <a:cs typeface="Nunito Sans" charset="0"/>
                      </a:endParaRPr>
                    </a:p>
                  </a:txBody>
                  <a:tcPr marL="66675" marR="66675" marT="66675" marB="6667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4213D"/>
                          </a:solidFill>
                          <a:latin typeface="Nunito Sans" pitchFamily="34" charset="0"/>
                          <a:ea typeface="Nunito Sans" pitchFamily="34" charset="-122"/>
                          <a:cs typeface="Nunito Sans" pitchFamily="34" charset="-120"/>
                        </a:rPr>
                        <a:t>4111 1111 1111 1111</a:t>
                      </a:r>
                      <a:endParaRPr lang="en-US" sz="1500" dirty="0">
                        <a:latin typeface="Nunito Sans" charset="0"/>
                        <a:ea typeface="Nunito Sans" charset="0"/>
                        <a:cs typeface="Nunito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2100"/>
                        </a:lnSpc>
                        <a:buNone/>
                      </a:pPr>
                      <a:r>
                        <a:rPr lang="en-US" sz="1500" dirty="0">
                          <a:solidFill>
                            <a:srgbClr val="3D4A5C"/>
                          </a:solidFill>
                          <a:latin typeface="Nunito Sans" pitchFamily="34" charset="0"/>
                          <a:ea typeface="Nunito Sans" pitchFamily="34" charset="-122"/>
                          <a:cs typeface="Nunito Sans" pitchFamily="34" charset="-120"/>
                        </a:rPr>
                        <a:t>Authorized</a:t>
                      </a:r>
                      <a:endParaRPr lang="en-US" sz="1500" dirty="0">
                        <a:latin typeface="Nunito Sans" charset="0"/>
                        <a:ea typeface="Nunito Sans" charset="0"/>
                        <a:cs typeface="Nunito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4213D"/>
                          </a:solidFill>
                          <a:latin typeface="Nunito Sans" pitchFamily="34" charset="0"/>
                          <a:ea typeface="Nunito Sans" pitchFamily="34" charset="-122"/>
                          <a:cs typeface="Nunito Sans" pitchFamily="34" charset="-120"/>
                        </a:rPr>
                        <a:t>4000 0000 0000 0002</a:t>
                      </a:r>
                      <a:endParaRPr lang="en-US" sz="1500" dirty="0">
                        <a:latin typeface="Nunito Sans" charset="0"/>
                        <a:ea typeface="Nunito Sans" charset="0"/>
                        <a:cs typeface="Nunito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2100"/>
                        </a:lnSpc>
                        <a:buNone/>
                      </a:pPr>
                      <a:r>
                        <a:rPr lang="en-US" sz="1500" dirty="0">
                          <a:solidFill>
                            <a:srgbClr val="3D4A5C"/>
                          </a:solidFill>
                          <a:latin typeface="Nunito Sans" pitchFamily="34" charset="0"/>
                          <a:ea typeface="Nunito Sans" pitchFamily="34" charset="-122"/>
                          <a:cs typeface="Nunito Sans" pitchFamily="34" charset="-120"/>
                        </a:rPr>
                        <a:t>Declined</a:t>
                      </a:r>
                      <a:endParaRPr lang="en-US" sz="1500" dirty="0">
                        <a:latin typeface="Nunito Sans" charset="0"/>
                        <a:ea typeface="Nunito Sans" charset="0"/>
                        <a:cs typeface="Nunito Sans" charset="0"/>
                      </a:endParaRPr>
                    </a:p>
                  </a:txBody>
                  <a:tcPr marL="66675" marR="66675" marT="66675" marB="6667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4213D"/>
                          </a:solidFill>
                          <a:latin typeface="Nunito Sans" pitchFamily="34" charset="0"/>
                          <a:ea typeface="Nunito Sans" pitchFamily="34" charset="-122"/>
                          <a:cs typeface="Nunito Sans" pitchFamily="34" charset="-120"/>
                        </a:rPr>
                        <a:t>4000 0000 0000 9995</a:t>
                      </a:r>
                      <a:endParaRPr lang="en-US" sz="1500" dirty="0">
                        <a:latin typeface="Nunito Sans" charset="0"/>
                        <a:ea typeface="Nunito Sans" charset="0"/>
                        <a:cs typeface="Nunito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2100"/>
                        </a:lnSpc>
                        <a:buNone/>
                      </a:pPr>
                      <a:r>
                        <a:rPr lang="en-US" sz="1500" dirty="0">
                          <a:solidFill>
                            <a:srgbClr val="3D4A5C"/>
                          </a:solidFill>
                          <a:latin typeface="Nunito Sans" pitchFamily="34" charset="0"/>
                          <a:ea typeface="Nunito Sans" pitchFamily="34" charset="-122"/>
                          <a:cs typeface="Nunito Sans" pitchFamily="34" charset="-120"/>
                        </a:rPr>
                        <a:t>Insufficient funds</a:t>
                      </a:r>
                      <a:endParaRPr lang="en-US" sz="1500" dirty="0">
                        <a:latin typeface="Nunito Sans" charset="0"/>
                        <a:ea typeface="Nunito Sans" charset="0"/>
                        <a:cs typeface="Nunito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4213D"/>
                          </a:solidFill>
                          <a:latin typeface="Nunito Sans" pitchFamily="34" charset="0"/>
                          <a:ea typeface="Nunito Sans" pitchFamily="34" charset="-122"/>
                          <a:cs typeface="Nunito Sans" pitchFamily="34" charset="-120"/>
                        </a:rPr>
                        <a:t>4000 0000 0000 0119</a:t>
                      </a:r>
                      <a:endParaRPr lang="en-US" sz="1500" dirty="0">
                        <a:latin typeface="Nunito Sans" charset="0"/>
                        <a:ea typeface="Nunito Sans" charset="0"/>
                        <a:cs typeface="Nunito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2100"/>
                        </a:lnSpc>
                        <a:buNone/>
                      </a:pPr>
                      <a:r>
                        <a:rPr lang="en-US" sz="1500" dirty="0">
                          <a:solidFill>
                            <a:srgbClr val="3D4A5C"/>
                          </a:solidFill>
                          <a:latin typeface="Nunito Sans" pitchFamily="34" charset="0"/>
                          <a:ea typeface="Nunito Sans" pitchFamily="34" charset="-122"/>
                          <a:cs typeface="Nunito Sans" pitchFamily="34" charset="-120"/>
                        </a:rPr>
                        <a:t>Gateway timeout (no response for 35 s)</a:t>
                      </a:r>
                      <a:endParaRPr lang="en-US" sz="1500" dirty="0">
                        <a:latin typeface="Nunito Sans" charset="0"/>
                        <a:ea typeface="Nunito Sans" charset="0"/>
                        <a:cs typeface="Nunito Sans" charset="0"/>
                      </a:endParaRPr>
                    </a:p>
                  </a:txBody>
                  <a:tcPr marL="66675" marR="66675" marT="66675" marB="6667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412750">
                <a:tc>
                  <a:txBody>
                    <a:bodyPr/>
                    <a:lstStyle/>
                    <a:p>
                      <a:pPr marL="0" indent="0">
                        <a:lnSpc>
                          <a:spcPts val="2100"/>
                        </a:lnSpc>
                        <a:buNone/>
                      </a:pPr>
                      <a:r>
                        <a:rPr lang="en-US" sz="1500" dirty="0">
                          <a:solidFill>
                            <a:srgbClr val="14213D"/>
                          </a:solidFill>
                          <a:latin typeface="Nunito Sans" pitchFamily="34" charset="0"/>
                          <a:ea typeface="Nunito Sans" pitchFamily="34" charset="-122"/>
                          <a:cs typeface="Nunito Sans" pitchFamily="34" charset="-120"/>
                        </a:rPr>
                        <a:t>1234 5678 9012 3456</a:t>
                      </a:r>
                      <a:endParaRPr lang="en-US" sz="1500" dirty="0">
                        <a:latin typeface="Nunito Sans" charset="0"/>
                        <a:ea typeface="Nunito Sans" charset="0"/>
                        <a:cs typeface="Nunito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2100"/>
                        </a:lnSpc>
                        <a:buNone/>
                      </a:pPr>
                      <a:r>
                        <a:rPr lang="en-US" sz="1500" dirty="0">
                          <a:solidFill>
                            <a:srgbClr val="3D4A5C"/>
                          </a:solidFill>
                          <a:latin typeface="Nunito Sans" pitchFamily="34" charset="0"/>
                          <a:ea typeface="Nunito Sans" pitchFamily="34" charset="-122"/>
                          <a:cs typeface="Nunito Sans" pitchFamily="34" charset="-120"/>
                        </a:rPr>
                        <a:t>Invalid number (fails Luhn check)</a:t>
                      </a:r>
                      <a:endParaRPr lang="en-US" sz="1500" dirty="0">
                        <a:latin typeface="Nunito Sans" charset="0"/>
                        <a:ea typeface="Nunito Sans" charset="0"/>
                        <a:cs typeface="Nunito Sans" charset="0"/>
                      </a:endParaRPr>
                    </a:p>
                  </a:txBody>
                  <a:tcPr marL="66675" marR="66675" marT="66675" marB="6667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4648135"/>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Nunito Sans" pitchFamily="34" charset="0"/>
                <a:ea typeface="Nunito Sans" pitchFamily="34" charset="-122"/>
                <a:cs typeface="Nunito Sans" pitchFamily="34" charset="-120"/>
              </a:rPr>
              <a:t>Each card triggers one gateway outcome on demand: </a:t>
            </a:r>
            <a:r>
              <a:rPr lang="en-US" sz="1500" b="1" dirty="0">
                <a:solidFill>
                  <a:srgbClr val="A14F0A"/>
                </a:solidFill>
                <a:latin typeface="Nunito Sans" pitchFamily="34" charset="0"/>
                <a:ea typeface="Nunito Sans" pitchFamily="34" charset="-122"/>
                <a:cs typeface="Nunito Sans" pitchFamily="34" charset="-120"/>
              </a:rPr>
              <a:t>ready-made test data</a:t>
            </a:r>
            <a:r>
              <a:rPr lang="en-US" sz="1500" dirty="0">
                <a:solidFill>
                  <a:srgbClr val="14213D"/>
                </a:solidFill>
                <a:latin typeface="Nunito Sans" pitchFamily="34" charset="0"/>
                <a:ea typeface="Nunito Sans" pitchFamily="34" charset="-122"/>
                <a:cs typeface="Nunito Sans" pitchFamily="34" charset="-120"/>
              </a:rPr>
              <a:t> for positive, negative and exception flows.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2086639"/>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DELIVERABLE 1 · TESTING TYPES · 3 MIN</a:t>
            </a:r>
            <a:endParaRPr lang="en-US" sz="1200" dirty="0"/>
          </a:p>
        </p:txBody>
      </p:sp>
      <p:sp>
        <p:nvSpPr>
          <p:cNvPr id="3" name="Text 1"/>
          <p:cNvSpPr>
            <a:spLocks noGrp="1"/>
          </p:cNvSpPr>
          <p:nvPr>
            <p:ph type="title"/>
          </p:nvPr>
        </p:nvSpPr>
        <p:spPr>
          <a:xfrm>
            <a:off x="812800" y="2553959"/>
            <a:ext cx="10883392" cy="1031214"/>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BFBF8"/>
                </a:solidFill>
                <a:latin typeface="Domine" pitchFamily="18" charset="0"/>
                <a:ea typeface="Domine" pitchFamily="18" charset="-122"/>
                <a:cs typeface="Domine" pitchFamily="18" charset="-120"/>
              </a:rPr>
              <a:t>Why and how does each type apply to checkout?</a:t>
            </a:r>
            <a:endParaRPr lang="en-US" sz="3600" dirty="0"/>
          </a:p>
        </p:txBody>
      </p:sp>
      <p:sp>
        <p:nvSpPr>
          <p:cNvPr id="4" name="Text 2"/>
          <p:cNvSpPr/>
          <p:nvPr/>
        </p:nvSpPr>
        <p:spPr>
          <a:xfrm>
            <a:off x="812800" y="3813770"/>
            <a:ext cx="1280120" cy="419100"/>
          </a:xfrm>
          <a:prstGeom prst="roundRect">
            <a:avLst>
              <a:gd name="adj" fmla="val 50000"/>
            </a:avLst>
          </a:prstGeom>
          <a:solidFill>
            <a:srgbClr val="F0A04B"/>
          </a:solidFill>
          <a:ln/>
        </p:spPr>
        <p:txBody>
          <a:bodyPr wrap="none" lIns="0" tIns="0" rIns="0" bIns="0" rtlCol="0" anchor="ctr">
            <a:normAutofit/>
          </a:bodyPr>
          <a:lstStyle/>
          <a:p>
            <a:pPr marL="0" indent="0" algn="ctr">
              <a:lnSpc>
                <a:spcPts val="2100"/>
              </a:lnSpc>
              <a:buNone/>
            </a:pPr>
            <a:r>
              <a:rPr lang="en-US" sz="1500" b="1" dirty="0">
                <a:solidFill>
                  <a:srgbClr val="14213D"/>
                </a:solidFill>
                <a:latin typeface="Nunito Sans" pitchFamily="34" charset="0"/>
                <a:ea typeface="Nunito Sans" pitchFamily="34" charset="-122"/>
                <a:cs typeface="Nunito Sans" pitchFamily="34" charset="-120"/>
              </a:rPr>
              <a:t>Functional</a:t>
            </a:r>
            <a:endParaRPr lang="en-US" sz="1500" dirty="0"/>
          </a:p>
        </p:txBody>
      </p:sp>
      <p:sp>
        <p:nvSpPr>
          <p:cNvPr id="5" name="Text 3"/>
          <p:cNvSpPr/>
          <p:nvPr/>
        </p:nvSpPr>
        <p:spPr>
          <a:xfrm>
            <a:off x="2194520" y="3813770"/>
            <a:ext cx="1331913" cy="419100"/>
          </a:xfrm>
          <a:prstGeom prst="roundRect">
            <a:avLst>
              <a:gd name="adj" fmla="val 50000"/>
            </a:avLst>
          </a:prstGeom>
          <a:solidFill>
            <a:srgbClr val="F0A04B"/>
          </a:solidFill>
          <a:ln/>
        </p:spPr>
        <p:txBody>
          <a:bodyPr wrap="none" lIns="0" tIns="0" rIns="0" bIns="0" rtlCol="0" anchor="ctr">
            <a:normAutofit/>
          </a:bodyPr>
          <a:lstStyle/>
          <a:p>
            <a:pPr marL="0" indent="0" algn="ctr">
              <a:lnSpc>
                <a:spcPts val="2100"/>
              </a:lnSpc>
              <a:buNone/>
            </a:pPr>
            <a:r>
              <a:rPr lang="en-US" sz="1500" b="1" dirty="0">
                <a:solidFill>
                  <a:srgbClr val="14213D"/>
                </a:solidFill>
                <a:latin typeface="Nunito Sans" pitchFamily="34" charset="0"/>
                <a:ea typeface="Nunito Sans" pitchFamily="34" charset="-122"/>
                <a:cs typeface="Nunito Sans" pitchFamily="34" charset="-120"/>
              </a:rPr>
              <a:t>Integration</a:t>
            </a:r>
            <a:endParaRPr lang="en-US" sz="1500" dirty="0"/>
          </a:p>
        </p:txBody>
      </p:sp>
      <p:sp>
        <p:nvSpPr>
          <p:cNvPr id="6" name="Text 4"/>
          <p:cNvSpPr/>
          <p:nvPr/>
        </p:nvSpPr>
        <p:spPr>
          <a:xfrm>
            <a:off x="3628033" y="3813770"/>
            <a:ext cx="1007136" cy="419100"/>
          </a:xfrm>
          <a:prstGeom prst="roundRect">
            <a:avLst>
              <a:gd name="adj" fmla="val 50000"/>
            </a:avLst>
          </a:prstGeom>
          <a:solidFill>
            <a:srgbClr val="F0A04B"/>
          </a:solidFill>
          <a:ln/>
        </p:spPr>
        <p:txBody>
          <a:bodyPr wrap="none" lIns="0" tIns="0" rIns="0" bIns="0" rtlCol="0" anchor="ctr">
            <a:normAutofit/>
          </a:bodyPr>
          <a:lstStyle/>
          <a:p>
            <a:pPr marL="0" indent="0" algn="ctr">
              <a:lnSpc>
                <a:spcPts val="2100"/>
              </a:lnSpc>
              <a:buNone/>
            </a:pPr>
            <a:r>
              <a:rPr lang="en-US" sz="1500" b="1" dirty="0">
                <a:solidFill>
                  <a:srgbClr val="14213D"/>
                </a:solidFill>
                <a:latin typeface="Nunito Sans" pitchFamily="34" charset="0"/>
                <a:ea typeface="Nunito Sans" pitchFamily="34" charset="-122"/>
                <a:cs typeface="Nunito Sans" pitchFamily="34" charset="-120"/>
              </a:rPr>
              <a:t>System</a:t>
            </a:r>
            <a:endParaRPr lang="en-US" sz="1500" dirty="0"/>
          </a:p>
        </p:txBody>
      </p:sp>
      <p:sp>
        <p:nvSpPr>
          <p:cNvPr id="7" name="Text 5"/>
          <p:cNvSpPr/>
          <p:nvPr/>
        </p:nvSpPr>
        <p:spPr>
          <a:xfrm>
            <a:off x="4736769" y="3813770"/>
            <a:ext cx="1077450" cy="419100"/>
          </a:xfrm>
          <a:prstGeom prst="roundRect">
            <a:avLst>
              <a:gd name="adj" fmla="val 50000"/>
            </a:avLst>
          </a:prstGeom>
          <a:solidFill>
            <a:srgbClr val="F0A04B"/>
          </a:solidFill>
          <a:ln/>
        </p:spPr>
        <p:txBody>
          <a:bodyPr wrap="none" lIns="0" tIns="0" rIns="0" bIns="0" rtlCol="0" anchor="ctr">
            <a:normAutofit/>
          </a:bodyPr>
          <a:lstStyle/>
          <a:p>
            <a:pPr marL="0" indent="0" algn="ctr">
              <a:lnSpc>
                <a:spcPts val="2100"/>
              </a:lnSpc>
              <a:buNone/>
            </a:pPr>
            <a:r>
              <a:rPr lang="en-US" sz="1500" b="1" dirty="0">
                <a:solidFill>
                  <a:srgbClr val="14213D"/>
                </a:solidFill>
                <a:latin typeface="Nunito Sans" pitchFamily="34" charset="0"/>
                <a:ea typeface="Nunito Sans" pitchFamily="34" charset="-122"/>
                <a:cs typeface="Nunito Sans" pitchFamily="34" charset="-120"/>
              </a:rPr>
              <a:t>Security</a:t>
            </a:r>
            <a:endParaRPr lang="en-US" sz="1500" dirty="0"/>
          </a:p>
        </p:txBody>
      </p:sp>
      <p:sp>
        <p:nvSpPr>
          <p:cNvPr id="8" name="Text 6"/>
          <p:cNvSpPr/>
          <p:nvPr/>
        </p:nvSpPr>
        <p:spPr>
          <a:xfrm>
            <a:off x="5915819" y="3813770"/>
            <a:ext cx="1483585" cy="419100"/>
          </a:xfrm>
          <a:prstGeom prst="roundRect">
            <a:avLst>
              <a:gd name="adj" fmla="val 50000"/>
            </a:avLst>
          </a:prstGeom>
          <a:solidFill>
            <a:srgbClr val="F0A04B"/>
          </a:solidFill>
          <a:ln/>
        </p:spPr>
        <p:txBody>
          <a:bodyPr wrap="none" lIns="0" tIns="0" rIns="0" bIns="0" rtlCol="0" anchor="ctr">
            <a:normAutofit/>
          </a:bodyPr>
          <a:lstStyle/>
          <a:p>
            <a:pPr marL="0" indent="0" algn="ctr">
              <a:lnSpc>
                <a:spcPts val="2100"/>
              </a:lnSpc>
              <a:buNone/>
            </a:pPr>
            <a:r>
              <a:rPr lang="en-US" sz="1500" b="1" dirty="0">
                <a:solidFill>
                  <a:srgbClr val="14213D"/>
                </a:solidFill>
                <a:latin typeface="Nunito Sans" pitchFamily="34" charset="0"/>
                <a:ea typeface="Nunito Sans" pitchFamily="34" charset="-122"/>
                <a:cs typeface="Nunito Sans" pitchFamily="34" charset="-120"/>
              </a:rPr>
              <a:t>Performance</a:t>
            </a:r>
            <a:endParaRPr lang="en-US" sz="1500" dirty="0"/>
          </a:p>
        </p:txBody>
      </p:sp>
      <p:sp>
        <p:nvSpPr>
          <p:cNvPr id="9" name="Text 7"/>
          <p:cNvSpPr/>
          <p:nvPr/>
        </p:nvSpPr>
        <p:spPr>
          <a:xfrm>
            <a:off x="7501004" y="3813770"/>
            <a:ext cx="1334228" cy="419100"/>
          </a:xfrm>
          <a:prstGeom prst="roundRect">
            <a:avLst>
              <a:gd name="adj" fmla="val 50000"/>
            </a:avLst>
          </a:prstGeom>
          <a:solidFill>
            <a:srgbClr val="F0A04B"/>
          </a:solidFill>
          <a:ln/>
        </p:spPr>
        <p:txBody>
          <a:bodyPr wrap="none" lIns="0" tIns="0" rIns="0" bIns="0" rtlCol="0" anchor="ctr">
            <a:normAutofit/>
          </a:bodyPr>
          <a:lstStyle/>
          <a:p>
            <a:pPr marL="0" indent="0" algn="ctr">
              <a:lnSpc>
                <a:spcPts val="2100"/>
              </a:lnSpc>
              <a:buNone/>
            </a:pPr>
            <a:r>
              <a:rPr lang="en-US" sz="1500" b="1" dirty="0">
                <a:solidFill>
                  <a:srgbClr val="14213D"/>
                </a:solidFill>
                <a:latin typeface="Nunito Sans" pitchFamily="34" charset="0"/>
                <a:ea typeface="Nunito Sans" pitchFamily="34" charset="-122"/>
                <a:cs typeface="Nunito Sans" pitchFamily="34" charset="-120"/>
              </a:rPr>
              <a:t>Regression</a:t>
            </a:r>
            <a:endParaRPr lang="en-US" sz="1500" dirty="0"/>
          </a:p>
        </p:txBody>
      </p:sp>
      <p:sp>
        <p:nvSpPr>
          <p:cNvPr id="10" name="Text 8"/>
          <p:cNvSpPr/>
          <p:nvPr/>
        </p:nvSpPr>
        <p:spPr>
          <a:xfrm>
            <a:off x="812800" y="4486870"/>
            <a:ext cx="1088339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DCE4F0"/>
                </a:solidFill>
                <a:latin typeface="Nunito Sans" pitchFamily="34" charset="0"/>
                <a:ea typeface="Nunito Sans" pitchFamily="34" charset="-122"/>
                <a:cs typeface="Nunito Sans" pitchFamily="34" charset="-120"/>
              </a:rPr>
              <a:t>Then add any other types you think apply.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DELIVERABLE 1 · 1 OF 2</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Four types at the core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35"/>
          <a:ext cx="10553700" cy="2303198"/>
        </p:xfrm>
        <a:graphic>
          <a:graphicData uri="http://schemas.openxmlformats.org/drawingml/2006/table">
            <a:tbl>
              <a:tblPr/>
              <a:tblGrid>
                <a:gridCol w="1688592">
                  <a:extLst>
                    <a:ext uri="{9D8B030D-6E8A-4147-A177-3AD203B41FA5}">
                      <a16:colId xmlns:a16="http://schemas.microsoft.com/office/drawing/2014/main" val="20000"/>
                    </a:ext>
                  </a:extLst>
                </a:gridCol>
                <a:gridCol w="3588258">
                  <a:extLst>
                    <a:ext uri="{9D8B030D-6E8A-4147-A177-3AD203B41FA5}">
                      <a16:colId xmlns:a16="http://schemas.microsoft.com/office/drawing/2014/main" val="20001"/>
                    </a:ext>
                  </a:extLst>
                </a:gridCol>
                <a:gridCol w="5276850">
                  <a:extLst>
                    <a:ext uri="{9D8B030D-6E8A-4147-A177-3AD203B41FA5}">
                      <a16:colId xmlns:a16="http://schemas.microsoft.com/office/drawing/2014/main" val="20002"/>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Type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Why it applies</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What to test</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Functional</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Verifies each AC behaves as specified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Cart, shipping and card validation; order creation; confirmation</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Integration</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Checkout talks to the payment gateway, inventory, order service and email service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Correct amount and currency sent; Declined and Timeout handled; stock reduced; email triggered with correct data</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System</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The full journey must work end to end, production-like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Login → cart → checkout → pay → order in My Orders → email received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Security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Card data and money are involved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Card masked (**** 1111); CVV never stored or shown; HTTPS only; no price tampering via URL/API; session timeout</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DELIVERABLE 1 · 2 OF 2</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Plus load, change and the customer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35"/>
          <a:ext cx="10553700" cy="2422525"/>
        </p:xfrm>
        <a:graphic>
          <a:graphicData uri="http://schemas.openxmlformats.org/drawingml/2006/table">
            <a:tbl>
              <a:tblPr/>
              <a:tblGrid>
                <a:gridCol w="1899666">
                  <a:extLst>
                    <a:ext uri="{9D8B030D-6E8A-4147-A177-3AD203B41FA5}">
                      <a16:colId xmlns:a16="http://schemas.microsoft.com/office/drawing/2014/main" val="20000"/>
                    </a:ext>
                  </a:extLst>
                </a:gridCol>
                <a:gridCol w="3799332">
                  <a:extLst>
                    <a:ext uri="{9D8B030D-6E8A-4147-A177-3AD203B41FA5}">
                      <a16:colId xmlns:a16="http://schemas.microsoft.com/office/drawing/2014/main" val="20001"/>
                    </a:ext>
                  </a:extLst>
                </a:gridCol>
                <a:gridCol w="4854702">
                  <a:extLst>
                    <a:ext uri="{9D8B030D-6E8A-4147-A177-3AD203B41FA5}">
                      <a16:colId xmlns:a16="http://schemas.microsoft.com/office/drawing/2014/main" val="20002"/>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Type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Why it applies</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What to test</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Performance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Checkout must work at sale peaks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Payment response under load (e.g. 500 concurrent checkouts); no duplicate orders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Regression</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Critical revenue flow touched by many changes</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Automated checkout regression every build; full regression before release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Compatibility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Customers use many devices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The 5 listed platforms, especially Safari iOS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Usability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Abandoned checkouts lose revenue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Clear errors, minimal steps, mobile-friendly forms</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Smoke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Every new build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Can a valid card purchase complete?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4441763"/>
            <a:ext cx="10566400" cy="502907"/>
          </a:xfrm>
          <a:prstGeom prst="roundRect">
            <a:avLst>
              <a:gd name="adj" fmla="val 15152"/>
            </a:avLst>
          </a:prstGeom>
          <a:solidFill>
            <a:srgbClr val="FBEBDD"/>
          </a:solidFill>
          <a:ln/>
        </p:spPr>
        <p:txBody>
          <a:bodyPr wrap="square" lIns="180882" tIns="104682" rIns="0" bIns="79282"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Remember from Ch. 1: </a:t>
            </a:r>
            <a:r>
              <a:rPr lang="en-US" sz="1400" b="1" dirty="0">
                <a:solidFill>
                  <a:srgbClr val="A14F0A"/>
                </a:solidFill>
                <a:latin typeface="Nunito Sans" pitchFamily="34" charset="0"/>
                <a:ea typeface="Nunito Sans" pitchFamily="34" charset="-122"/>
                <a:cs typeface="Nunito Sans" pitchFamily="34" charset="-120"/>
              </a:rPr>
              <a:t>System + Functional + Regression</a:t>
            </a:r>
            <a:r>
              <a:rPr lang="en-US" sz="1400" dirty="0">
                <a:solidFill>
                  <a:srgbClr val="14213D"/>
                </a:solidFill>
                <a:latin typeface="Nunito Sans" pitchFamily="34" charset="0"/>
                <a:ea typeface="Nunito Sans" pitchFamily="34" charset="-122"/>
                <a:cs typeface="Nunito Sans" pitchFamily="34" charset="-120"/>
              </a:rPr>
              <a:t> testing of checkout is one activity with several labels.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2029489"/>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DELIVERABLE 2 · TEST STRATEGY · 5 MIN</a:t>
            </a:r>
            <a:endParaRPr lang="en-US" sz="1200" dirty="0"/>
          </a:p>
        </p:txBody>
      </p:sp>
      <p:sp>
        <p:nvSpPr>
          <p:cNvPr id="3" name="Text 1"/>
          <p:cNvSpPr>
            <a:spLocks noGrp="1"/>
          </p:cNvSpPr>
          <p:nvPr>
            <p:ph type="title"/>
          </p:nvPr>
        </p:nvSpPr>
        <p:spPr>
          <a:xfrm>
            <a:off x="812800" y="2496809"/>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BFBF8"/>
                </a:solidFill>
                <a:latin typeface="Domine" pitchFamily="18" charset="0"/>
                <a:ea typeface="Domine" pitchFamily="18" charset="-122"/>
                <a:cs typeface="Domine" pitchFamily="18" charset="-120"/>
              </a:rPr>
              <a:t>Plan where to test hardest</a:t>
            </a:r>
            <a:endParaRPr lang="en-US" sz="3600" dirty="0"/>
          </a:p>
        </p:txBody>
      </p:sp>
      <p:sp>
        <p:nvSpPr>
          <p:cNvPr id="4" name="Shape 2"/>
          <p:cNvSpPr/>
          <p:nvPr/>
        </p:nvSpPr>
        <p:spPr>
          <a:xfrm>
            <a:off x="812800" y="3253718"/>
            <a:ext cx="5207000" cy="711200"/>
          </a:xfrm>
          <a:prstGeom prst="roundRect">
            <a:avLst>
              <a:gd name="adj" fmla="val 14286"/>
            </a:avLst>
          </a:prstGeom>
          <a:solidFill>
            <a:srgbClr val="24345A"/>
          </a:solidFill>
          <a:ln/>
        </p:spPr>
      </p:sp>
      <p:sp>
        <p:nvSpPr>
          <p:cNvPr id="5" name="Text 3"/>
          <p:cNvSpPr/>
          <p:nvPr/>
        </p:nvSpPr>
        <p:spPr>
          <a:xfrm>
            <a:off x="1016000" y="3431518"/>
            <a:ext cx="3556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0A04B"/>
                </a:solidFill>
                <a:latin typeface="Domine" pitchFamily="18" charset="0"/>
                <a:ea typeface="Domine" pitchFamily="18" charset="-122"/>
                <a:cs typeface="Domine" pitchFamily="18" charset="-120"/>
              </a:rPr>
              <a:t>a</a:t>
            </a:r>
            <a:endParaRPr lang="en-US" sz="2000" dirty="0"/>
          </a:p>
        </p:txBody>
      </p:sp>
      <p:sp>
        <p:nvSpPr>
          <p:cNvPr id="6" name="Text 4"/>
          <p:cNvSpPr/>
          <p:nvPr/>
        </p:nvSpPr>
        <p:spPr>
          <a:xfrm>
            <a:off x="1473200" y="3486547"/>
            <a:ext cx="2418636"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BFBF8"/>
                </a:solidFill>
                <a:latin typeface="Nunito Sans" pitchFamily="34" charset="0"/>
                <a:ea typeface="Nunito Sans" pitchFamily="34" charset="-122"/>
                <a:cs typeface="Nunito Sans" pitchFamily="34" charset="-120"/>
              </a:rPr>
              <a:t>Identify the main </a:t>
            </a:r>
            <a:r>
              <a:rPr lang="en-US" sz="1600" b="1" dirty="0">
                <a:solidFill>
                  <a:srgbClr val="FBFBF8"/>
                </a:solidFill>
                <a:latin typeface="Nunito Sans" pitchFamily="34" charset="0"/>
                <a:ea typeface="Nunito Sans" pitchFamily="34" charset="-122"/>
                <a:cs typeface="Nunito Sans" pitchFamily="34" charset="-120"/>
              </a:rPr>
              <a:t>risks</a:t>
            </a:r>
            <a:endParaRPr lang="en-US" sz="1600" dirty="0"/>
          </a:p>
        </p:txBody>
      </p:sp>
      <p:sp>
        <p:nvSpPr>
          <p:cNvPr id="7" name="Shape 5"/>
          <p:cNvSpPr/>
          <p:nvPr/>
        </p:nvSpPr>
        <p:spPr>
          <a:xfrm>
            <a:off x="6172200" y="3253718"/>
            <a:ext cx="5207000" cy="711200"/>
          </a:xfrm>
          <a:prstGeom prst="roundRect">
            <a:avLst>
              <a:gd name="adj" fmla="val 14286"/>
            </a:avLst>
          </a:prstGeom>
          <a:solidFill>
            <a:srgbClr val="24345A"/>
          </a:solidFill>
          <a:ln/>
        </p:spPr>
      </p:sp>
      <p:sp>
        <p:nvSpPr>
          <p:cNvPr id="8" name="Text 6"/>
          <p:cNvSpPr/>
          <p:nvPr/>
        </p:nvSpPr>
        <p:spPr>
          <a:xfrm>
            <a:off x="6375400" y="3431518"/>
            <a:ext cx="3556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0A04B"/>
                </a:solidFill>
                <a:latin typeface="Domine" pitchFamily="18" charset="0"/>
                <a:ea typeface="Domine" pitchFamily="18" charset="-122"/>
                <a:cs typeface="Domine" pitchFamily="18" charset="-120"/>
              </a:rPr>
              <a:t>b</a:t>
            </a:r>
            <a:endParaRPr lang="en-US" sz="2000" dirty="0"/>
          </a:p>
        </p:txBody>
      </p:sp>
      <p:sp>
        <p:nvSpPr>
          <p:cNvPr id="9" name="Text 7"/>
          <p:cNvSpPr/>
          <p:nvPr/>
        </p:nvSpPr>
        <p:spPr>
          <a:xfrm>
            <a:off x="6832600" y="3486547"/>
            <a:ext cx="2641044"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BFBF8"/>
                </a:solidFill>
                <a:latin typeface="Nunito Sans" pitchFamily="34" charset="0"/>
                <a:ea typeface="Nunito Sans" pitchFamily="34" charset="-122"/>
                <a:cs typeface="Nunito Sans" pitchFamily="34" charset="-120"/>
              </a:rPr>
              <a:t>Define </a:t>
            </a:r>
            <a:r>
              <a:rPr lang="en-US" sz="1600" b="1" dirty="0">
                <a:solidFill>
                  <a:srgbClr val="FBFBF8"/>
                </a:solidFill>
                <a:latin typeface="Nunito Sans" pitchFamily="34" charset="0"/>
                <a:ea typeface="Nunito Sans" pitchFamily="34" charset="-122"/>
                <a:cs typeface="Nunito Sans" pitchFamily="34" charset="-120"/>
              </a:rPr>
              <a:t>testing priorities</a:t>
            </a:r>
            <a:endParaRPr lang="en-US" sz="1600" dirty="0"/>
          </a:p>
        </p:txBody>
      </p:sp>
      <p:sp>
        <p:nvSpPr>
          <p:cNvPr id="10" name="Shape 8"/>
          <p:cNvSpPr/>
          <p:nvPr/>
        </p:nvSpPr>
        <p:spPr>
          <a:xfrm>
            <a:off x="812800" y="4117318"/>
            <a:ext cx="5207000" cy="711200"/>
          </a:xfrm>
          <a:prstGeom prst="roundRect">
            <a:avLst>
              <a:gd name="adj" fmla="val 14286"/>
            </a:avLst>
          </a:prstGeom>
          <a:solidFill>
            <a:srgbClr val="24345A"/>
          </a:solidFill>
          <a:ln/>
        </p:spPr>
      </p:sp>
      <p:sp>
        <p:nvSpPr>
          <p:cNvPr id="11" name="Text 9"/>
          <p:cNvSpPr/>
          <p:nvPr/>
        </p:nvSpPr>
        <p:spPr>
          <a:xfrm>
            <a:off x="1016000" y="4295118"/>
            <a:ext cx="3556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0A04B"/>
                </a:solidFill>
                <a:latin typeface="Domine" pitchFamily="18" charset="0"/>
                <a:ea typeface="Domine" pitchFamily="18" charset="-122"/>
                <a:cs typeface="Domine" pitchFamily="18" charset="-120"/>
              </a:rPr>
              <a:t>c</a:t>
            </a:r>
            <a:endParaRPr lang="en-US" sz="2000" dirty="0"/>
          </a:p>
        </p:txBody>
      </p:sp>
      <p:sp>
        <p:nvSpPr>
          <p:cNvPr id="12" name="Text 10"/>
          <p:cNvSpPr/>
          <p:nvPr/>
        </p:nvSpPr>
        <p:spPr>
          <a:xfrm>
            <a:off x="1473200" y="4350147"/>
            <a:ext cx="3090069"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BFBF8"/>
                </a:solidFill>
                <a:latin typeface="Nunito Sans" pitchFamily="34" charset="0"/>
                <a:ea typeface="Nunito Sans" pitchFamily="34" charset="-122"/>
                <a:cs typeface="Nunito Sans" pitchFamily="34" charset="-120"/>
              </a:rPr>
              <a:t>Pick </a:t>
            </a:r>
            <a:r>
              <a:rPr lang="en-US" sz="1600" b="1" dirty="0">
                <a:solidFill>
                  <a:srgbClr val="FBFBF8"/>
                </a:solidFill>
                <a:latin typeface="Nunito Sans" pitchFamily="34" charset="0"/>
                <a:ea typeface="Nunito Sans" pitchFamily="34" charset="-122"/>
                <a:cs typeface="Nunito Sans" pitchFamily="34" charset="-120"/>
              </a:rPr>
              <a:t>automation candidates</a:t>
            </a:r>
            <a:endParaRPr lang="en-US" sz="1600" dirty="0"/>
          </a:p>
        </p:txBody>
      </p:sp>
      <p:sp>
        <p:nvSpPr>
          <p:cNvPr id="13" name="Shape 11"/>
          <p:cNvSpPr/>
          <p:nvPr/>
        </p:nvSpPr>
        <p:spPr>
          <a:xfrm>
            <a:off x="6172200" y="4117318"/>
            <a:ext cx="5207000" cy="711200"/>
          </a:xfrm>
          <a:prstGeom prst="roundRect">
            <a:avLst>
              <a:gd name="adj" fmla="val 14286"/>
            </a:avLst>
          </a:prstGeom>
          <a:solidFill>
            <a:srgbClr val="24345A"/>
          </a:solidFill>
          <a:ln/>
        </p:spPr>
      </p:sp>
      <p:sp>
        <p:nvSpPr>
          <p:cNvPr id="14" name="Text 12"/>
          <p:cNvSpPr/>
          <p:nvPr/>
        </p:nvSpPr>
        <p:spPr>
          <a:xfrm>
            <a:off x="6375400" y="4295118"/>
            <a:ext cx="3556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0A04B"/>
                </a:solidFill>
                <a:latin typeface="Domine" pitchFamily="18" charset="0"/>
                <a:ea typeface="Domine" pitchFamily="18" charset="-122"/>
                <a:cs typeface="Domine" pitchFamily="18" charset="-120"/>
              </a:rPr>
              <a:t>d</a:t>
            </a:r>
            <a:endParaRPr lang="en-US" sz="2000" dirty="0"/>
          </a:p>
        </p:txBody>
      </p:sp>
      <p:sp>
        <p:nvSpPr>
          <p:cNvPr id="15" name="Text 13"/>
          <p:cNvSpPr/>
          <p:nvPr/>
        </p:nvSpPr>
        <p:spPr>
          <a:xfrm>
            <a:off x="6832600" y="4350147"/>
            <a:ext cx="2856151"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BFBF8"/>
                </a:solidFill>
                <a:latin typeface="Nunito Sans" pitchFamily="34" charset="0"/>
                <a:ea typeface="Nunito Sans" pitchFamily="34" charset="-122"/>
                <a:cs typeface="Nunito Sans" pitchFamily="34" charset="-120"/>
              </a:rPr>
              <a:t>Set </a:t>
            </a:r>
            <a:r>
              <a:rPr lang="en-US" sz="1600" b="1" dirty="0">
                <a:solidFill>
                  <a:srgbClr val="FBFBF8"/>
                </a:solidFill>
                <a:latin typeface="Nunito Sans" pitchFamily="34" charset="0"/>
                <a:ea typeface="Nunito Sans" pitchFamily="34" charset="-122"/>
                <a:cs typeface="Nunito Sans" pitchFamily="34" charset="-120"/>
              </a:rPr>
              <a:t>entry and exit criteria</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(A) RISKS · LIKELIHOOD × IMPACT</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Money and orders top the list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38"/>
          <a:ext cx="10553700" cy="2993827"/>
        </p:xfrm>
        <a:graphic>
          <a:graphicData uri="http://schemas.openxmlformats.org/drawingml/2006/table">
            <a:tbl>
              <a:tblPr/>
              <a:tblGrid>
                <a:gridCol w="738759">
                  <a:extLst>
                    <a:ext uri="{9D8B030D-6E8A-4147-A177-3AD203B41FA5}">
                      <a16:colId xmlns:a16="http://schemas.microsoft.com/office/drawing/2014/main" val="20000"/>
                    </a:ext>
                  </a:extLst>
                </a:gridCol>
                <a:gridCol w="6437757">
                  <a:extLst>
                    <a:ext uri="{9D8B030D-6E8A-4147-A177-3AD203B41FA5}">
                      <a16:colId xmlns:a16="http://schemas.microsoft.com/office/drawing/2014/main" val="20001"/>
                    </a:ext>
                  </a:extLst>
                </a:gridCol>
                <a:gridCol w="949833">
                  <a:extLst>
                    <a:ext uri="{9D8B030D-6E8A-4147-A177-3AD203B41FA5}">
                      <a16:colId xmlns:a16="http://schemas.microsoft.com/office/drawing/2014/main" val="20002"/>
                    </a:ext>
                  </a:extLst>
                </a:gridCol>
                <a:gridCol w="738759">
                  <a:extLst>
                    <a:ext uri="{9D8B030D-6E8A-4147-A177-3AD203B41FA5}">
                      <a16:colId xmlns:a16="http://schemas.microsoft.com/office/drawing/2014/main" val="20003"/>
                    </a:ext>
                  </a:extLst>
                </a:gridCol>
                <a:gridCol w="1688592">
                  <a:extLst>
                    <a:ext uri="{9D8B030D-6E8A-4147-A177-3AD203B41FA5}">
                      <a16:colId xmlns:a16="http://schemas.microsoft.com/office/drawing/2014/main" val="20004"/>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Risk</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L</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I</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Level</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R1</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Charged but no order created (or order without payment)</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H</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Critical</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R2</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Duplicate charge or order (double-click, retry, refresh)</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H</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Critical</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R3</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Card data exposed or stored insecurely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L–M</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H</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High</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R4</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Gateway timeout handled badly (stuck, unclear state)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H</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High</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32647">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R5</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Invalid shipping data accepted, undeliverable orders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Medium</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32647">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R6</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Confirmation email not sent</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Medium</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332647">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R7</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Layout issues on mobile Safari block checkout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Medium</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r h="332647">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R8</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Slow checkout during sales</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L–M</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Medium</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(B) PRIORITIES AND APPROACH</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Depth where the risk is</a:t>
            </a:r>
            <a:endParaRPr lang="en-US" sz="3200" dirty="0"/>
          </a:p>
        </p:txBody>
      </p:sp>
      <p:sp>
        <p:nvSpPr>
          <p:cNvPr id="4" name="Shape 2"/>
          <p:cNvSpPr/>
          <p:nvPr/>
        </p:nvSpPr>
        <p:spPr>
          <a:xfrm>
            <a:off x="819150" y="1784288"/>
            <a:ext cx="3800475" cy="1414595"/>
          </a:xfrm>
          <a:prstGeom prst="roundRect">
            <a:avLst>
              <a:gd name="adj" fmla="val 6733"/>
            </a:avLst>
          </a:prstGeom>
          <a:solidFill>
            <a:srgbClr val="FBEBDD"/>
          </a:solidFill>
          <a:ln w="12700">
            <a:solidFill>
              <a:srgbClr val="A14F0A"/>
            </a:solidFill>
            <a:prstDash val="solid"/>
          </a:ln>
        </p:spPr>
      </p:sp>
      <p:sp>
        <p:nvSpPr>
          <p:cNvPr id="5" name="Text 3"/>
          <p:cNvSpPr/>
          <p:nvPr/>
        </p:nvSpPr>
        <p:spPr>
          <a:xfrm>
            <a:off x="1028700" y="1968438"/>
            <a:ext cx="3482816" cy="345414"/>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A14F0A"/>
                </a:solidFill>
                <a:latin typeface="Domine" pitchFamily="18" charset="0"/>
                <a:ea typeface="Domine" pitchFamily="18" charset="-122"/>
                <a:cs typeface="Domine" pitchFamily="18" charset="-120"/>
              </a:rPr>
              <a:t>P1</a:t>
            </a:r>
            <a:endParaRPr lang="en-US" sz="1800" dirty="0"/>
          </a:p>
        </p:txBody>
      </p:sp>
      <p:sp>
        <p:nvSpPr>
          <p:cNvPr id="6" name="Text 4"/>
          <p:cNvSpPr/>
          <p:nvPr/>
        </p:nvSpPr>
        <p:spPr>
          <a:xfrm>
            <a:off x="1028700" y="2351949"/>
            <a:ext cx="3482816" cy="68818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4213D"/>
                </a:solidFill>
                <a:latin typeface="Nunito Sans" pitchFamily="34" charset="0"/>
                <a:ea typeface="Nunito Sans" pitchFamily="34" charset="-122"/>
                <a:cs typeface="Nunito Sans" pitchFamily="34" charset="-120"/>
              </a:rPr>
              <a:t>Successful payment E2E; failed payment, no order (AC7); duplicate-payment prevention; gateway timeout; card-data security</a:t>
            </a:r>
            <a:endParaRPr lang="en-US" sz="1200" dirty="0"/>
          </a:p>
        </p:txBody>
      </p:sp>
      <p:sp>
        <p:nvSpPr>
          <p:cNvPr id="7" name="Shape 5"/>
          <p:cNvSpPr/>
          <p:nvPr/>
        </p:nvSpPr>
        <p:spPr>
          <a:xfrm>
            <a:off x="4778375" y="1777938"/>
            <a:ext cx="3787775" cy="1427295"/>
          </a:xfrm>
          <a:prstGeom prst="roundRect">
            <a:avLst>
              <a:gd name="adj" fmla="val 7118"/>
            </a:avLst>
          </a:prstGeom>
          <a:solidFill>
            <a:srgbClr val="EEF2F7"/>
          </a:solidFill>
          <a:ln/>
        </p:spPr>
      </p:sp>
      <p:sp>
        <p:nvSpPr>
          <p:cNvPr id="8" name="Text 6"/>
          <p:cNvSpPr/>
          <p:nvPr/>
        </p:nvSpPr>
        <p:spPr>
          <a:xfrm>
            <a:off x="4981575" y="1955738"/>
            <a:ext cx="3482816" cy="345414"/>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4213D"/>
                </a:solidFill>
                <a:latin typeface="Domine" pitchFamily="18" charset="0"/>
                <a:ea typeface="Domine" pitchFamily="18" charset="-122"/>
                <a:cs typeface="Domine" pitchFamily="18" charset="-120"/>
              </a:rPr>
              <a:t>P2</a:t>
            </a:r>
            <a:endParaRPr lang="en-US" sz="1800" dirty="0"/>
          </a:p>
        </p:txBody>
      </p:sp>
      <p:sp>
        <p:nvSpPr>
          <p:cNvPr id="9" name="Text 7"/>
          <p:cNvSpPr/>
          <p:nvPr/>
        </p:nvSpPr>
        <p:spPr>
          <a:xfrm>
            <a:off x="4981575" y="2339249"/>
            <a:ext cx="3482816" cy="68818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A5C"/>
                </a:solidFill>
                <a:latin typeface="Nunito Sans" pitchFamily="34" charset="0"/>
                <a:ea typeface="Nunito Sans" pitchFamily="34" charset="-122"/>
                <a:cs typeface="Nunito Sans" pitchFamily="34" charset="-120"/>
              </a:rPr>
              <a:t>Shipping and card validations (EP/BVA); confirmation email; out-of-stock during checkout; cross-platform</a:t>
            </a:r>
            <a:endParaRPr lang="en-US" sz="1200" dirty="0"/>
          </a:p>
        </p:txBody>
      </p:sp>
      <p:sp>
        <p:nvSpPr>
          <p:cNvPr id="10" name="Shape 8"/>
          <p:cNvSpPr/>
          <p:nvPr/>
        </p:nvSpPr>
        <p:spPr>
          <a:xfrm>
            <a:off x="8718550" y="1777938"/>
            <a:ext cx="2660650" cy="1427295"/>
          </a:xfrm>
          <a:prstGeom prst="roundRect">
            <a:avLst>
              <a:gd name="adj" fmla="val 7118"/>
            </a:avLst>
          </a:prstGeom>
          <a:solidFill>
            <a:srgbClr val="EEF2F7"/>
          </a:solidFill>
          <a:ln/>
        </p:spPr>
      </p:sp>
      <p:sp>
        <p:nvSpPr>
          <p:cNvPr id="11" name="Text 9"/>
          <p:cNvSpPr/>
          <p:nvPr/>
        </p:nvSpPr>
        <p:spPr>
          <a:xfrm>
            <a:off x="8921750" y="1955738"/>
            <a:ext cx="2321877" cy="345414"/>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4213D"/>
                </a:solidFill>
                <a:latin typeface="Domine" pitchFamily="18" charset="0"/>
                <a:ea typeface="Domine" pitchFamily="18" charset="-122"/>
                <a:cs typeface="Domine" pitchFamily="18" charset="-120"/>
              </a:rPr>
              <a:t>P3</a:t>
            </a:r>
            <a:endParaRPr lang="en-US" sz="1800" dirty="0"/>
          </a:p>
        </p:txBody>
      </p:sp>
      <p:sp>
        <p:nvSpPr>
          <p:cNvPr id="12" name="Text 10"/>
          <p:cNvSpPr/>
          <p:nvPr/>
        </p:nvSpPr>
        <p:spPr>
          <a:xfrm>
            <a:off x="8921750" y="2339249"/>
            <a:ext cx="2321877" cy="46725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4A5C"/>
                </a:solidFill>
                <a:latin typeface="Nunito Sans" pitchFamily="34" charset="0"/>
                <a:ea typeface="Nunito Sans" pitchFamily="34" charset="-122"/>
                <a:cs typeface="Nunito Sans" pitchFamily="34" charset="-120"/>
              </a:rPr>
              <a:t>Cosmetic and usability details; rare edge cases</a:t>
            </a:r>
            <a:endParaRPr lang="en-US" sz="1200" dirty="0"/>
          </a:p>
        </p:txBody>
      </p:sp>
      <p:sp>
        <p:nvSpPr>
          <p:cNvPr id="13" name="Text 11"/>
          <p:cNvSpPr/>
          <p:nvPr/>
        </p:nvSpPr>
        <p:spPr>
          <a:xfrm>
            <a:off x="812800" y="3433831"/>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14F0A"/>
                </a:solidFill>
                <a:latin typeface="Nunito Sans" pitchFamily="34" charset="0"/>
                <a:ea typeface="Nunito Sans" pitchFamily="34" charset="-122"/>
                <a:cs typeface="Nunito Sans" pitchFamily="34" charset="-120"/>
              </a:rPr>
              <a:t>APPROACH</a:t>
            </a:r>
            <a:endParaRPr lang="en-US" sz="1200" dirty="0"/>
          </a:p>
        </p:txBody>
      </p:sp>
      <p:sp>
        <p:nvSpPr>
          <p:cNvPr id="14" name="Text 12"/>
          <p:cNvSpPr/>
          <p:nvPr/>
        </p:nvSpPr>
        <p:spPr>
          <a:xfrm>
            <a:off x="812800" y="3723351"/>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Requirement-based</a:t>
            </a:r>
            <a:r>
              <a:rPr lang="en-US" sz="1400" dirty="0">
                <a:solidFill>
                  <a:srgbClr val="3D4A5C"/>
                </a:solidFill>
                <a:latin typeface="Nunito Sans" pitchFamily="34" charset="0"/>
                <a:ea typeface="Nunito Sans" pitchFamily="34" charset="-122"/>
                <a:cs typeface="Nunito Sans" pitchFamily="34" charset="-120"/>
              </a:rPr>
              <a:t> coverage of all 7 AC (RTM) + </a:t>
            </a:r>
            <a:r>
              <a:rPr lang="en-US" sz="1400" b="1" dirty="0">
                <a:solidFill>
                  <a:srgbClr val="14213D"/>
                </a:solidFill>
                <a:latin typeface="Nunito Sans" pitchFamily="34" charset="0"/>
                <a:ea typeface="Nunito Sans" pitchFamily="34" charset="-122"/>
                <a:cs typeface="Nunito Sans" pitchFamily="34" charset="-120"/>
              </a:rPr>
              <a:t>risk-based</a:t>
            </a:r>
            <a:r>
              <a:rPr lang="en-US" sz="1400" dirty="0">
                <a:solidFill>
                  <a:srgbClr val="3D4A5C"/>
                </a:solidFill>
                <a:latin typeface="Nunito Sans" pitchFamily="34" charset="0"/>
                <a:ea typeface="Nunito Sans" pitchFamily="34" charset="-122"/>
                <a:cs typeface="Nunito Sans" pitchFamily="34" charset="-120"/>
              </a:rPr>
              <a:t> depth on R1–R4 + a </a:t>
            </a:r>
            <a:r>
              <a:rPr lang="en-US" sz="1400" b="1" dirty="0">
                <a:solidFill>
                  <a:srgbClr val="14213D"/>
                </a:solidFill>
                <a:latin typeface="Nunito Sans" pitchFamily="34" charset="0"/>
                <a:ea typeface="Nunito Sans" pitchFamily="34" charset="-122"/>
                <a:cs typeface="Nunito Sans" pitchFamily="34" charset="-120"/>
              </a:rPr>
              <a:t>60-minute exploratory session</a:t>
            </a:r>
            <a:r>
              <a:rPr lang="en-US" sz="1400" dirty="0">
                <a:solidFill>
                  <a:srgbClr val="3D4A5C"/>
                </a:solidFill>
                <a:latin typeface="Nunito Sans" pitchFamily="34" charset="0"/>
                <a:ea typeface="Nunito Sans" pitchFamily="34" charset="-122"/>
                <a:cs typeface="Nunito Sans" pitchFamily="34" charset="-120"/>
              </a:rPr>
              <a:t>:</a:t>
            </a:r>
            <a:endParaRPr lang="en-US" sz="1400" dirty="0"/>
          </a:p>
        </p:txBody>
      </p:sp>
      <p:sp>
        <p:nvSpPr>
          <p:cNvPr id="15" name="Shape 13"/>
          <p:cNvSpPr/>
          <p:nvPr/>
        </p:nvSpPr>
        <p:spPr>
          <a:xfrm>
            <a:off x="838200" y="4200860"/>
            <a:ext cx="0" cy="566341"/>
          </a:xfrm>
          <a:prstGeom prst="line">
            <a:avLst/>
          </a:prstGeom>
          <a:noFill/>
          <a:ln w="50800">
            <a:solidFill>
              <a:srgbClr val="A14F0A"/>
            </a:solidFill>
            <a:prstDash val="solid"/>
          </a:ln>
        </p:spPr>
      </p:sp>
      <p:sp>
        <p:nvSpPr>
          <p:cNvPr id="16" name="Text 14"/>
          <p:cNvSpPr/>
          <p:nvPr/>
        </p:nvSpPr>
        <p:spPr>
          <a:xfrm>
            <a:off x="1066800" y="4226260"/>
            <a:ext cx="10621772"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4213D"/>
                </a:solidFill>
                <a:latin typeface="Domine" pitchFamily="18" charset="0"/>
                <a:ea typeface="Domine" pitchFamily="18" charset="-122"/>
                <a:cs typeface="Domine" pitchFamily="18" charset="-120"/>
              </a:rPr>
              <a:t>"Explore payment interruptions (refresh, back, double-click, network loss) to discover duplicate-charge and orphan-order issues."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(C) AUTOMATION CANDIDATES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Repetitive, stable and critical</a:t>
            </a:r>
            <a:endParaRPr lang="en-US" sz="3200" dirty="0"/>
          </a:p>
        </p:txBody>
      </p:sp>
      <p:sp>
        <p:nvSpPr>
          <p:cNvPr id="4" name="Shape 2"/>
          <p:cNvSpPr/>
          <p:nvPr/>
        </p:nvSpPr>
        <p:spPr>
          <a:xfrm>
            <a:off x="812800" y="1803338"/>
            <a:ext cx="6116307" cy="2689688"/>
          </a:xfrm>
          <a:prstGeom prst="roundRect">
            <a:avLst>
              <a:gd name="adj" fmla="val 3777"/>
            </a:avLst>
          </a:prstGeom>
          <a:solidFill>
            <a:srgbClr val="EEF2F7"/>
          </a:solidFill>
          <a:ln/>
        </p:spPr>
      </p:sp>
      <p:sp>
        <p:nvSpPr>
          <p:cNvPr id="5" name="Text 3"/>
          <p:cNvSpPr/>
          <p:nvPr/>
        </p:nvSpPr>
        <p:spPr>
          <a:xfrm>
            <a:off x="1066800" y="2031938"/>
            <a:ext cx="5776556"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B5C9E"/>
                </a:solidFill>
                <a:latin typeface="Domine" pitchFamily="18" charset="0"/>
                <a:ea typeface="Domine" pitchFamily="18" charset="-122"/>
                <a:cs typeface="Domine" pitchFamily="18" charset="-120"/>
              </a:rPr>
              <a:t>Automate</a:t>
            </a:r>
            <a:endParaRPr lang="en-US" sz="1800" dirty="0"/>
          </a:p>
        </p:txBody>
      </p:sp>
      <p:pic>
        <p:nvPicPr>
          <p:cNvPr id="6" name="Image 0" descr="Check"/>
          <p:cNvPicPr>
            <a:picLocks noChangeAspect="1"/>
          </p:cNvPicPr>
          <p:nvPr/>
        </p:nvPicPr>
        <p:blipFill>
          <a:blip r:embed="rId3"/>
          <a:srcRect/>
          <a:stretch/>
        </p:blipFill>
        <p:spPr>
          <a:xfrm>
            <a:off x="1066800" y="2434499"/>
            <a:ext cx="203200" cy="203200"/>
          </a:xfrm>
          <a:prstGeom prst="rect">
            <a:avLst/>
          </a:prstGeom>
        </p:spPr>
      </p:pic>
      <p:sp>
        <p:nvSpPr>
          <p:cNvPr id="7" name="Text 4"/>
          <p:cNvSpPr/>
          <p:nvPr/>
        </p:nvSpPr>
        <p:spPr>
          <a:xfrm>
            <a:off x="1371600" y="2420541"/>
            <a:ext cx="4890611"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Happy-path checkout (smoke + regression, every build)</a:t>
            </a:r>
            <a:endParaRPr lang="en-US" sz="1300" dirty="0"/>
          </a:p>
        </p:txBody>
      </p:sp>
      <p:pic>
        <p:nvPicPr>
          <p:cNvPr id="8" name="Image 1" descr="Check"/>
          <p:cNvPicPr>
            <a:picLocks noChangeAspect="1"/>
          </p:cNvPicPr>
          <p:nvPr/>
        </p:nvPicPr>
        <p:blipFill>
          <a:blip r:embed="rId4"/>
          <a:srcRect t="-337" b="-337"/>
          <a:stretch/>
        </p:blipFill>
        <p:spPr>
          <a:xfrm>
            <a:off x="1066800" y="2895470"/>
            <a:ext cx="176609" cy="203200"/>
          </a:xfrm>
          <a:prstGeom prst="rect">
            <a:avLst/>
          </a:prstGeom>
        </p:spPr>
      </p:pic>
      <p:sp>
        <p:nvSpPr>
          <p:cNvPr id="9" name="Text 5"/>
          <p:cNvSpPr/>
          <p:nvPr/>
        </p:nvSpPr>
        <p:spPr>
          <a:xfrm>
            <a:off x="1345009" y="2765958"/>
            <a:ext cx="5490000"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Declined, insufficient-funds and invalid-card flows, data-driven with sandbox cards</a:t>
            </a:r>
            <a:endParaRPr lang="en-US" sz="1300" dirty="0"/>
          </a:p>
        </p:txBody>
      </p:sp>
      <p:pic>
        <p:nvPicPr>
          <p:cNvPr id="10" name="Image 2" descr="Check"/>
          <p:cNvPicPr>
            <a:picLocks noChangeAspect="1"/>
          </p:cNvPicPr>
          <p:nvPr/>
        </p:nvPicPr>
        <p:blipFill>
          <a:blip r:embed="rId3"/>
          <a:srcRect/>
          <a:stretch/>
        </p:blipFill>
        <p:spPr>
          <a:xfrm>
            <a:off x="1066800" y="3356440"/>
            <a:ext cx="203200" cy="203200"/>
          </a:xfrm>
          <a:prstGeom prst="rect">
            <a:avLst/>
          </a:prstGeom>
        </p:spPr>
      </p:pic>
      <p:sp>
        <p:nvSpPr>
          <p:cNvPr id="11" name="Text 6"/>
          <p:cNvSpPr/>
          <p:nvPr/>
        </p:nvSpPr>
        <p:spPr>
          <a:xfrm>
            <a:off x="1371600" y="3342481"/>
            <a:ext cx="4646613"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Shipping-field BVA: PIN 5/6/7 digits, mobile 9/10/11</a:t>
            </a:r>
            <a:endParaRPr lang="en-US" sz="1300" dirty="0"/>
          </a:p>
        </p:txBody>
      </p:sp>
      <p:pic>
        <p:nvPicPr>
          <p:cNvPr id="12" name="Image 3" descr="Check"/>
          <p:cNvPicPr>
            <a:picLocks noChangeAspect="1"/>
          </p:cNvPicPr>
          <p:nvPr/>
        </p:nvPicPr>
        <p:blipFill>
          <a:blip r:embed="rId3"/>
          <a:srcRect/>
          <a:stretch/>
        </p:blipFill>
        <p:spPr>
          <a:xfrm>
            <a:off x="1066800" y="3701852"/>
            <a:ext cx="203200" cy="203200"/>
          </a:xfrm>
          <a:prstGeom prst="rect">
            <a:avLst/>
          </a:prstGeom>
        </p:spPr>
      </p:pic>
      <p:sp>
        <p:nvSpPr>
          <p:cNvPr id="13" name="Text 7"/>
          <p:cNvSpPr/>
          <p:nvPr/>
        </p:nvSpPr>
        <p:spPr>
          <a:xfrm>
            <a:off x="1371600" y="3687899"/>
            <a:ext cx="4381341"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API: no order when the gateway returns Declined</a:t>
            </a:r>
            <a:endParaRPr lang="en-US" sz="1300" dirty="0"/>
          </a:p>
        </p:txBody>
      </p:sp>
      <p:pic>
        <p:nvPicPr>
          <p:cNvPr id="14" name="Image 4" descr="Check"/>
          <p:cNvPicPr>
            <a:picLocks noChangeAspect="1"/>
          </p:cNvPicPr>
          <p:nvPr/>
        </p:nvPicPr>
        <p:blipFill>
          <a:blip r:embed="rId3"/>
          <a:srcRect/>
          <a:stretch/>
        </p:blipFill>
        <p:spPr>
          <a:xfrm>
            <a:off x="1066800" y="4047269"/>
            <a:ext cx="203200" cy="203200"/>
          </a:xfrm>
          <a:prstGeom prst="rect">
            <a:avLst/>
          </a:prstGeom>
        </p:spPr>
      </p:pic>
      <p:sp>
        <p:nvSpPr>
          <p:cNvPr id="15" name="Text 8"/>
          <p:cNvSpPr/>
          <p:nvPr/>
        </p:nvSpPr>
        <p:spPr>
          <a:xfrm>
            <a:off x="1371600" y="4033310"/>
            <a:ext cx="2799715"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Load test: concurrent checkouts</a:t>
            </a:r>
            <a:endParaRPr lang="en-US" sz="1300" dirty="0"/>
          </a:p>
        </p:txBody>
      </p:sp>
      <p:sp>
        <p:nvSpPr>
          <p:cNvPr id="16" name="Shape 9"/>
          <p:cNvSpPr/>
          <p:nvPr/>
        </p:nvSpPr>
        <p:spPr>
          <a:xfrm>
            <a:off x="7132307" y="1803338"/>
            <a:ext cx="4246893" cy="2689688"/>
          </a:xfrm>
          <a:prstGeom prst="roundRect">
            <a:avLst>
              <a:gd name="adj" fmla="val 3777"/>
            </a:avLst>
          </a:prstGeom>
          <a:solidFill>
            <a:srgbClr val="FBEBDD"/>
          </a:solidFill>
          <a:ln/>
        </p:spPr>
      </p:sp>
      <p:sp>
        <p:nvSpPr>
          <p:cNvPr id="17" name="Text 10"/>
          <p:cNvSpPr/>
          <p:nvPr/>
        </p:nvSpPr>
        <p:spPr>
          <a:xfrm>
            <a:off x="7386307" y="2031938"/>
            <a:ext cx="3851060"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A14F0A"/>
                </a:solidFill>
                <a:latin typeface="Domine" pitchFamily="18" charset="0"/>
                <a:ea typeface="Domine" pitchFamily="18" charset="-122"/>
                <a:cs typeface="Domine" pitchFamily="18" charset="-120"/>
              </a:rPr>
              <a:t>Not for now</a:t>
            </a:r>
            <a:endParaRPr lang="en-US" sz="1800" dirty="0"/>
          </a:p>
        </p:txBody>
      </p:sp>
      <p:sp>
        <p:nvSpPr>
          <p:cNvPr id="18" name="Text 11"/>
          <p:cNvSpPr/>
          <p:nvPr/>
        </p:nvSpPr>
        <p:spPr>
          <a:xfrm>
            <a:off x="7386307" y="2420541"/>
            <a:ext cx="385106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Exploratory interruption testing</a:t>
            </a:r>
            <a:endParaRPr lang="en-US" sz="1300" dirty="0"/>
          </a:p>
        </p:txBody>
      </p:sp>
      <p:sp>
        <p:nvSpPr>
          <p:cNvPr id="19" name="Text 12"/>
          <p:cNvSpPr/>
          <p:nvPr/>
        </p:nvSpPr>
        <p:spPr>
          <a:xfrm>
            <a:off x="7386307" y="2765958"/>
            <a:ext cx="385106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Usability</a:t>
            </a:r>
            <a:endParaRPr lang="en-US" sz="1300" dirty="0"/>
          </a:p>
        </p:txBody>
      </p:sp>
      <p:sp>
        <p:nvSpPr>
          <p:cNvPr id="20" name="Text 13"/>
          <p:cNvSpPr/>
          <p:nvPr/>
        </p:nvSpPr>
        <p:spPr>
          <a:xfrm>
            <a:off x="7386307" y="3111370"/>
            <a:ext cx="385106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Visual checks on Safari iOS</a:t>
            </a:r>
            <a:endParaRPr lang="en-US" sz="1300" dirty="0"/>
          </a:p>
        </p:txBody>
      </p:sp>
      <p:sp>
        <p:nvSpPr>
          <p:cNvPr id="21" name="Text 14"/>
          <p:cNvSpPr/>
          <p:nvPr/>
        </p:nvSpPr>
        <p:spPr>
          <a:xfrm>
            <a:off x="7386307" y="3456781"/>
            <a:ext cx="385106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Email content review</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(D) ENTRY AND EXIT CRITERIA</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When to start, when to stop</a:t>
            </a:r>
            <a:endParaRPr lang="en-US" sz="3200" dirty="0"/>
          </a:p>
        </p:txBody>
      </p:sp>
      <p:sp>
        <p:nvSpPr>
          <p:cNvPr id="4" name="Shape 2"/>
          <p:cNvSpPr/>
          <p:nvPr/>
        </p:nvSpPr>
        <p:spPr>
          <a:xfrm>
            <a:off x="812800" y="1803338"/>
            <a:ext cx="5168900" cy="2420475"/>
          </a:xfrm>
          <a:prstGeom prst="roundRect">
            <a:avLst>
              <a:gd name="adj" fmla="val 4198"/>
            </a:avLst>
          </a:prstGeom>
          <a:solidFill>
            <a:srgbClr val="EEF2F7"/>
          </a:solidFill>
          <a:ln/>
        </p:spPr>
      </p:sp>
      <p:sp>
        <p:nvSpPr>
          <p:cNvPr id="5" name="Text 3"/>
          <p:cNvSpPr/>
          <p:nvPr/>
        </p:nvSpPr>
        <p:spPr>
          <a:xfrm>
            <a:off x="1066800" y="2031938"/>
            <a:ext cx="4800727"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B5C9E"/>
                </a:solidFill>
                <a:latin typeface="Domine" pitchFamily="18" charset="0"/>
                <a:ea typeface="Domine" pitchFamily="18" charset="-122"/>
                <a:cs typeface="Domine" pitchFamily="18" charset="-120"/>
              </a:rPr>
              <a:t>Entry</a:t>
            </a:r>
            <a:endParaRPr lang="en-US" sz="1800" dirty="0"/>
          </a:p>
        </p:txBody>
      </p:sp>
      <p:sp>
        <p:nvSpPr>
          <p:cNvPr id="6" name="Text 4"/>
          <p:cNvSpPr/>
          <p:nvPr/>
        </p:nvSpPr>
        <p:spPr>
          <a:xfrm>
            <a:off x="1066800" y="2407841"/>
            <a:ext cx="4800727"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US-301 AC agreed</a:t>
            </a:r>
            <a:endParaRPr lang="en-US" sz="1300" dirty="0"/>
          </a:p>
        </p:txBody>
      </p:sp>
      <p:sp>
        <p:nvSpPr>
          <p:cNvPr id="7" name="Text 5"/>
          <p:cNvSpPr/>
          <p:nvPr/>
        </p:nvSpPr>
        <p:spPr>
          <a:xfrm>
            <a:off x="1066800" y="2740558"/>
            <a:ext cx="4800727"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Build passes smoke</a:t>
            </a:r>
            <a:endParaRPr lang="en-US" sz="1300" dirty="0"/>
          </a:p>
        </p:txBody>
      </p:sp>
      <p:sp>
        <p:nvSpPr>
          <p:cNvPr id="8" name="Text 6"/>
          <p:cNvSpPr/>
          <p:nvPr/>
        </p:nvSpPr>
        <p:spPr>
          <a:xfrm>
            <a:off x="1066800" y="3073270"/>
            <a:ext cx="4800727"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QA environment and payment sandbox available</a:t>
            </a:r>
            <a:endParaRPr lang="en-US" sz="1300" dirty="0"/>
          </a:p>
        </p:txBody>
      </p:sp>
      <p:sp>
        <p:nvSpPr>
          <p:cNvPr id="9" name="Text 7"/>
          <p:cNvSpPr/>
          <p:nvPr/>
        </p:nvSpPr>
        <p:spPr>
          <a:xfrm>
            <a:off x="1066800" y="3405981"/>
            <a:ext cx="4800727"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Test cards and test users ready</a:t>
            </a:r>
            <a:endParaRPr lang="en-US" sz="1300" dirty="0"/>
          </a:p>
        </p:txBody>
      </p:sp>
      <p:sp>
        <p:nvSpPr>
          <p:cNvPr id="10" name="Text 8"/>
          <p:cNvSpPr/>
          <p:nvPr/>
        </p:nvSpPr>
        <p:spPr>
          <a:xfrm>
            <a:off x="1066800" y="3738699"/>
            <a:ext cx="4800727"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Test cases reviewed</a:t>
            </a:r>
            <a:endParaRPr lang="en-US" sz="1300" dirty="0"/>
          </a:p>
        </p:txBody>
      </p:sp>
      <p:sp>
        <p:nvSpPr>
          <p:cNvPr id="11" name="Shape 9"/>
          <p:cNvSpPr/>
          <p:nvPr/>
        </p:nvSpPr>
        <p:spPr>
          <a:xfrm>
            <a:off x="6191250" y="1809688"/>
            <a:ext cx="5181600" cy="2407775"/>
          </a:xfrm>
          <a:prstGeom prst="roundRect">
            <a:avLst>
              <a:gd name="adj" fmla="val 3956"/>
            </a:avLst>
          </a:prstGeom>
          <a:solidFill>
            <a:srgbClr val="FBEBDD"/>
          </a:solidFill>
          <a:ln w="12700">
            <a:solidFill>
              <a:srgbClr val="A14F0A"/>
            </a:solidFill>
            <a:prstDash val="solid"/>
          </a:ln>
        </p:spPr>
      </p:sp>
      <p:sp>
        <p:nvSpPr>
          <p:cNvPr id="12" name="Text 10"/>
          <p:cNvSpPr/>
          <p:nvPr/>
        </p:nvSpPr>
        <p:spPr>
          <a:xfrm>
            <a:off x="6451600" y="2044638"/>
            <a:ext cx="4800727"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A14F0A"/>
                </a:solidFill>
                <a:latin typeface="Domine" pitchFamily="18" charset="0"/>
                <a:ea typeface="Domine" pitchFamily="18" charset="-122"/>
                <a:cs typeface="Domine" pitchFamily="18" charset="-120"/>
              </a:rPr>
              <a:t>Exit</a:t>
            </a:r>
            <a:endParaRPr lang="en-US" sz="1800" dirty="0"/>
          </a:p>
        </p:txBody>
      </p:sp>
      <p:sp>
        <p:nvSpPr>
          <p:cNvPr id="13" name="Text 11"/>
          <p:cNvSpPr/>
          <p:nvPr/>
        </p:nvSpPr>
        <p:spPr>
          <a:xfrm>
            <a:off x="6451600" y="2420541"/>
            <a:ext cx="4800727"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100%</a:t>
            </a:r>
            <a:r>
              <a:rPr lang="en-US" sz="1300" dirty="0">
                <a:solidFill>
                  <a:srgbClr val="14213D"/>
                </a:solidFill>
                <a:latin typeface="Nunito Sans" pitchFamily="34" charset="0"/>
                <a:ea typeface="Nunito Sans" pitchFamily="34" charset="-122"/>
                <a:cs typeface="Nunito Sans" pitchFamily="34" charset="-120"/>
              </a:rPr>
              <a:t> of P1 and </a:t>
            </a:r>
            <a:r>
              <a:rPr lang="en-US" sz="1300" b="1" dirty="0">
                <a:solidFill>
                  <a:srgbClr val="14213D"/>
                </a:solidFill>
                <a:latin typeface="Nunito Sans" pitchFamily="34" charset="0"/>
                <a:ea typeface="Nunito Sans" pitchFamily="34" charset="-122"/>
                <a:cs typeface="Nunito Sans" pitchFamily="34" charset="-120"/>
              </a:rPr>
              <a:t>≥ 95%</a:t>
            </a:r>
            <a:r>
              <a:rPr lang="en-US" sz="1300" dirty="0">
                <a:solidFill>
                  <a:srgbClr val="14213D"/>
                </a:solidFill>
                <a:latin typeface="Nunito Sans" pitchFamily="34" charset="0"/>
                <a:ea typeface="Nunito Sans" pitchFamily="34" charset="-122"/>
                <a:cs typeface="Nunito Sans" pitchFamily="34" charset="-120"/>
              </a:rPr>
              <a:t> of all test cases executed</a:t>
            </a:r>
            <a:endParaRPr lang="en-US" sz="1300" dirty="0"/>
          </a:p>
        </p:txBody>
      </p:sp>
      <p:sp>
        <p:nvSpPr>
          <p:cNvPr id="14" name="Text 12"/>
          <p:cNvSpPr/>
          <p:nvPr/>
        </p:nvSpPr>
        <p:spPr>
          <a:xfrm>
            <a:off x="6451600" y="2753258"/>
            <a:ext cx="4800727"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0</a:t>
            </a:r>
            <a:r>
              <a:rPr lang="en-US" sz="1300" dirty="0">
                <a:solidFill>
                  <a:srgbClr val="14213D"/>
                </a:solidFill>
                <a:latin typeface="Nunito Sans" pitchFamily="34" charset="0"/>
                <a:ea typeface="Nunito Sans" pitchFamily="34" charset="-122"/>
                <a:cs typeface="Nunito Sans" pitchFamily="34" charset="-120"/>
              </a:rPr>
              <a:t> open Critical/High defects</a:t>
            </a:r>
            <a:endParaRPr lang="en-US" sz="1300" dirty="0"/>
          </a:p>
        </p:txBody>
      </p:sp>
      <p:sp>
        <p:nvSpPr>
          <p:cNvPr id="15" name="Text 13"/>
          <p:cNvSpPr/>
          <p:nvPr/>
        </p:nvSpPr>
        <p:spPr>
          <a:xfrm>
            <a:off x="6451600" y="3085970"/>
            <a:ext cx="4800727"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All 7 AC traced to passing tests</a:t>
            </a:r>
            <a:endParaRPr lang="en-US" sz="1300" dirty="0"/>
          </a:p>
        </p:txBody>
      </p:sp>
      <p:sp>
        <p:nvSpPr>
          <p:cNvPr id="16" name="Text 14"/>
          <p:cNvSpPr/>
          <p:nvPr/>
        </p:nvSpPr>
        <p:spPr>
          <a:xfrm>
            <a:off x="6451600" y="3418681"/>
            <a:ext cx="4800727"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Medium/Low triaged: fixed, or deferred with PO sign-off</a:t>
            </a:r>
            <a:endParaRPr lang="en-US" sz="1300" dirty="0"/>
          </a:p>
        </p:txBody>
      </p:sp>
      <p:sp>
        <p:nvSpPr>
          <p:cNvPr id="17" name="Text 15"/>
          <p:cNvSpPr/>
          <p:nvPr/>
        </p:nvSpPr>
        <p:spPr>
          <a:xfrm>
            <a:off x="6451600" y="3751399"/>
            <a:ext cx="4800727"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Regression passed; summary report shared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358968"/>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DELIVERABLE 3 · TEST SCENARIOS · 6 MIN</a:t>
            </a:r>
            <a:endParaRPr lang="en-US" sz="1200" dirty="0"/>
          </a:p>
        </p:txBody>
      </p:sp>
      <p:sp>
        <p:nvSpPr>
          <p:cNvPr id="3" name="Text 1"/>
          <p:cNvSpPr>
            <a:spLocks noGrp="1"/>
          </p:cNvSpPr>
          <p:nvPr>
            <p:ph type="title"/>
          </p:nvPr>
        </p:nvSpPr>
        <p:spPr>
          <a:xfrm>
            <a:off x="812800" y="1826289"/>
            <a:ext cx="10883392" cy="1031214"/>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BFBF8"/>
                </a:solidFill>
                <a:latin typeface="Domine" pitchFamily="18" charset="0"/>
                <a:ea typeface="Domine" pitchFamily="18" charset="-122"/>
                <a:cs typeface="Domine" pitchFamily="18" charset="-120"/>
              </a:rPr>
              <a:t>List 15+ scenarios, classify each, map it to an AC</a:t>
            </a:r>
            <a:endParaRPr lang="en-US" sz="3600" dirty="0"/>
          </a:p>
        </p:txBody>
      </p:sp>
      <p:sp>
        <p:nvSpPr>
          <p:cNvPr id="4" name="Text 2"/>
          <p:cNvSpPr/>
          <p:nvPr/>
        </p:nvSpPr>
        <p:spPr>
          <a:xfrm>
            <a:off x="812800" y="3086100"/>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C9D3E3"/>
                </a:solidFill>
                <a:latin typeface="Nunito Sans" pitchFamily="34" charset="0"/>
                <a:ea typeface="Nunito Sans" pitchFamily="34" charset="-122"/>
                <a:cs typeface="Nunito Sans" pitchFamily="34" charset="-120"/>
              </a:rPr>
              <a:t>Include at least:</a:t>
            </a:r>
            <a:endParaRPr lang="en-US" sz="1400" dirty="0"/>
          </a:p>
        </p:txBody>
      </p:sp>
      <p:sp>
        <p:nvSpPr>
          <p:cNvPr id="5" name="Text 3"/>
          <p:cNvSpPr/>
          <p:nvPr/>
        </p:nvSpPr>
        <p:spPr>
          <a:xfrm>
            <a:off x="812800" y="3589009"/>
            <a:ext cx="1947730" cy="375907"/>
          </a:xfrm>
          <a:prstGeom prst="roundRect">
            <a:avLst>
              <a:gd name="adj" fmla="val 50000"/>
            </a:avLst>
          </a:prstGeom>
          <a:solidFill>
            <a:srgbClr val="F0A04B"/>
          </a:solidFill>
          <a:ln/>
        </p:spPr>
        <p:txBody>
          <a:bodyPr wrap="none" lIns="0" tIns="0" rIns="0" bIns="0" rtlCol="0" anchor="ctr">
            <a:normAutofit/>
          </a:bodyPr>
          <a:lstStyle/>
          <a:p>
            <a:pPr marL="0" indent="0" algn="ctr">
              <a:lnSpc>
                <a:spcPts val="1960"/>
              </a:lnSpc>
              <a:buNone/>
            </a:pPr>
            <a:r>
              <a:rPr lang="en-US" sz="1400" b="1" dirty="0">
                <a:solidFill>
                  <a:srgbClr val="14213D"/>
                </a:solidFill>
                <a:latin typeface="Nunito Sans" pitchFamily="34" charset="0"/>
                <a:ea typeface="Nunito Sans" pitchFamily="34" charset="-122"/>
                <a:cs typeface="Nunito Sans" pitchFamily="34" charset="-120"/>
              </a:rPr>
              <a:t>Successful payment</a:t>
            </a:r>
            <a:endParaRPr lang="en-US" sz="1400" dirty="0"/>
          </a:p>
        </p:txBody>
      </p:sp>
      <p:sp>
        <p:nvSpPr>
          <p:cNvPr id="6" name="Text 4"/>
          <p:cNvSpPr/>
          <p:nvPr/>
        </p:nvSpPr>
        <p:spPr>
          <a:xfrm>
            <a:off x="2862130" y="3589009"/>
            <a:ext cx="1571823" cy="375907"/>
          </a:xfrm>
          <a:prstGeom prst="roundRect">
            <a:avLst>
              <a:gd name="adj" fmla="val 50000"/>
            </a:avLst>
          </a:prstGeom>
          <a:solidFill>
            <a:srgbClr val="F0A04B"/>
          </a:solidFill>
          <a:ln/>
        </p:spPr>
        <p:txBody>
          <a:bodyPr wrap="none" lIns="0" tIns="0" rIns="0" bIns="0" rtlCol="0" anchor="ctr">
            <a:normAutofit/>
          </a:bodyPr>
          <a:lstStyle/>
          <a:p>
            <a:pPr marL="0" indent="0" algn="ctr">
              <a:lnSpc>
                <a:spcPts val="1960"/>
              </a:lnSpc>
              <a:buNone/>
            </a:pPr>
            <a:r>
              <a:rPr lang="en-US" sz="1400" b="1" dirty="0">
                <a:solidFill>
                  <a:srgbClr val="14213D"/>
                </a:solidFill>
                <a:latin typeface="Nunito Sans" pitchFamily="34" charset="0"/>
                <a:ea typeface="Nunito Sans" pitchFamily="34" charset="-122"/>
                <a:cs typeface="Nunito Sans" pitchFamily="34" charset="-120"/>
              </a:rPr>
              <a:t>Failed payment</a:t>
            </a:r>
            <a:endParaRPr lang="en-US" sz="1400" dirty="0"/>
          </a:p>
        </p:txBody>
      </p:sp>
      <p:sp>
        <p:nvSpPr>
          <p:cNvPr id="7" name="Text 5"/>
          <p:cNvSpPr/>
          <p:nvPr/>
        </p:nvSpPr>
        <p:spPr>
          <a:xfrm>
            <a:off x="4535554" y="3589009"/>
            <a:ext cx="1259417" cy="375907"/>
          </a:xfrm>
          <a:prstGeom prst="roundRect">
            <a:avLst>
              <a:gd name="adj" fmla="val 50000"/>
            </a:avLst>
          </a:prstGeom>
          <a:solidFill>
            <a:srgbClr val="F0A04B"/>
          </a:solidFill>
          <a:ln/>
        </p:spPr>
        <p:txBody>
          <a:bodyPr wrap="none" lIns="0" tIns="0" rIns="0" bIns="0" rtlCol="0" anchor="ctr">
            <a:normAutofit/>
          </a:bodyPr>
          <a:lstStyle/>
          <a:p>
            <a:pPr marL="0" indent="0" algn="ctr">
              <a:lnSpc>
                <a:spcPts val="1960"/>
              </a:lnSpc>
              <a:buNone/>
            </a:pPr>
            <a:r>
              <a:rPr lang="en-US" sz="1400" b="1" dirty="0">
                <a:solidFill>
                  <a:srgbClr val="14213D"/>
                </a:solidFill>
                <a:latin typeface="Nunito Sans" pitchFamily="34" charset="0"/>
                <a:ea typeface="Nunito Sans" pitchFamily="34" charset="-122"/>
                <a:cs typeface="Nunito Sans" pitchFamily="34" charset="-120"/>
              </a:rPr>
              <a:t>Invalid card</a:t>
            </a:r>
            <a:endParaRPr lang="en-US" sz="1400" dirty="0"/>
          </a:p>
        </p:txBody>
      </p:sp>
      <p:sp>
        <p:nvSpPr>
          <p:cNvPr id="8" name="Text 6"/>
          <p:cNvSpPr/>
          <p:nvPr/>
        </p:nvSpPr>
        <p:spPr>
          <a:xfrm>
            <a:off x="5896570" y="3589009"/>
            <a:ext cx="1335021" cy="375907"/>
          </a:xfrm>
          <a:prstGeom prst="roundRect">
            <a:avLst>
              <a:gd name="adj" fmla="val 50000"/>
            </a:avLst>
          </a:prstGeom>
          <a:solidFill>
            <a:srgbClr val="F0A04B"/>
          </a:solidFill>
          <a:ln/>
        </p:spPr>
        <p:txBody>
          <a:bodyPr wrap="none" lIns="0" tIns="0" rIns="0" bIns="0" rtlCol="0" anchor="ctr">
            <a:normAutofit/>
          </a:bodyPr>
          <a:lstStyle/>
          <a:p>
            <a:pPr marL="0" indent="0" algn="ctr">
              <a:lnSpc>
                <a:spcPts val="1960"/>
              </a:lnSpc>
              <a:buNone/>
            </a:pPr>
            <a:r>
              <a:rPr lang="en-US" sz="1400" b="1" dirty="0">
                <a:solidFill>
                  <a:srgbClr val="14213D"/>
                </a:solidFill>
                <a:latin typeface="Nunito Sans" pitchFamily="34" charset="0"/>
                <a:ea typeface="Nunito Sans" pitchFamily="34" charset="-122"/>
                <a:cs typeface="Nunito Sans" pitchFamily="34" charset="-120"/>
              </a:rPr>
              <a:t>Expired card</a:t>
            </a:r>
            <a:endParaRPr lang="en-US" sz="1400" dirty="0"/>
          </a:p>
        </p:txBody>
      </p:sp>
      <p:sp>
        <p:nvSpPr>
          <p:cNvPr id="9" name="Text 7"/>
          <p:cNvSpPr/>
          <p:nvPr/>
        </p:nvSpPr>
        <p:spPr>
          <a:xfrm>
            <a:off x="7333192" y="3589009"/>
            <a:ext cx="1728854" cy="375907"/>
          </a:xfrm>
          <a:prstGeom prst="roundRect">
            <a:avLst>
              <a:gd name="adj" fmla="val 50000"/>
            </a:avLst>
          </a:prstGeom>
          <a:solidFill>
            <a:srgbClr val="F0A04B"/>
          </a:solidFill>
          <a:ln/>
        </p:spPr>
        <p:txBody>
          <a:bodyPr wrap="none" lIns="0" tIns="0" rIns="0" bIns="0" rtlCol="0" anchor="ctr">
            <a:normAutofit/>
          </a:bodyPr>
          <a:lstStyle/>
          <a:p>
            <a:pPr marL="0" indent="0" algn="ctr">
              <a:lnSpc>
                <a:spcPts val="1960"/>
              </a:lnSpc>
              <a:buNone/>
            </a:pPr>
            <a:r>
              <a:rPr lang="en-US" sz="1400" b="1" dirty="0">
                <a:solidFill>
                  <a:srgbClr val="14213D"/>
                </a:solidFill>
                <a:latin typeface="Nunito Sans" pitchFamily="34" charset="0"/>
                <a:ea typeface="Nunito Sans" pitchFamily="34" charset="-122"/>
                <a:cs typeface="Nunito Sans" pitchFamily="34" charset="-120"/>
              </a:rPr>
              <a:t>Insufficient funds</a:t>
            </a:r>
            <a:endParaRPr lang="en-US" sz="1400" dirty="0"/>
          </a:p>
        </p:txBody>
      </p:sp>
      <p:sp>
        <p:nvSpPr>
          <p:cNvPr id="10" name="Text 8"/>
          <p:cNvSpPr/>
          <p:nvPr/>
        </p:nvSpPr>
        <p:spPr>
          <a:xfrm>
            <a:off x="9163645" y="3589009"/>
            <a:ext cx="2050124" cy="375907"/>
          </a:xfrm>
          <a:prstGeom prst="roundRect">
            <a:avLst>
              <a:gd name="adj" fmla="val 50000"/>
            </a:avLst>
          </a:prstGeom>
          <a:solidFill>
            <a:srgbClr val="F0A04B"/>
          </a:solidFill>
          <a:ln/>
        </p:spPr>
        <p:txBody>
          <a:bodyPr wrap="none" lIns="0" tIns="0" rIns="0" bIns="0" rtlCol="0" anchor="ctr">
            <a:normAutofit/>
          </a:bodyPr>
          <a:lstStyle/>
          <a:p>
            <a:pPr marL="0" indent="0" algn="ctr">
              <a:lnSpc>
                <a:spcPts val="1960"/>
              </a:lnSpc>
              <a:buNone/>
            </a:pPr>
            <a:r>
              <a:rPr lang="en-US" sz="1400" b="1" dirty="0">
                <a:solidFill>
                  <a:srgbClr val="14213D"/>
                </a:solidFill>
                <a:latin typeface="Nunito Sans" pitchFamily="34" charset="0"/>
                <a:ea typeface="Nunito Sans" pitchFamily="34" charset="-122"/>
                <a:cs typeface="Nunito Sans" pitchFamily="34" charset="-120"/>
              </a:rPr>
              <a:t>Network interruption</a:t>
            </a:r>
            <a:endParaRPr lang="en-US" sz="1400" dirty="0"/>
          </a:p>
        </p:txBody>
      </p:sp>
      <p:sp>
        <p:nvSpPr>
          <p:cNvPr id="11" name="Text 9"/>
          <p:cNvSpPr/>
          <p:nvPr/>
        </p:nvSpPr>
        <p:spPr>
          <a:xfrm>
            <a:off x="812800" y="4066518"/>
            <a:ext cx="2567848" cy="375907"/>
          </a:xfrm>
          <a:prstGeom prst="roundRect">
            <a:avLst>
              <a:gd name="adj" fmla="val 50000"/>
            </a:avLst>
          </a:prstGeom>
          <a:solidFill>
            <a:srgbClr val="F0A04B"/>
          </a:solidFill>
          <a:ln/>
        </p:spPr>
        <p:txBody>
          <a:bodyPr wrap="none" lIns="0" tIns="0" rIns="0" bIns="0" rtlCol="0" anchor="ctr">
            <a:normAutofit/>
          </a:bodyPr>
          <a:lstStyle/>
          <a:p>
            <a:pPr marL="0" indent="0" algn="ctr">
              <a:lnSpc>
                <a:spcPts val="1960"/>
              </a:lnSpc>
              <a:buNone/>
            </a:pPr>
            <a:r>
              <a:rPr lang="en-US" sz="1400" b="1" dirty="0">
                <a:solidFill>
                  <a:srgbClr val="14213D"/>
                </a:solidFill>
                <a:latin typeface="Nunito Sans" pitchFamily="34" charset="0"/>
                <a:ea typeface="Nunito Sans" pitchFamily="34" charset="-122"/>
                <a:cs typeface="Nunito Sans" pitchFamily="34" charset="-120"/>
              </a:rPr>
              <a:t>Duplicate payment attempt</a:t>
            </a:r>
            <a:endParaRPr lang="en-US" sz="1400" dirty="0"/>
          </a:p>
        </p:txBody>
      </p:sp>
      <p:sp>
        <p:nvSpPr>
          <p:cNvPr id="12" name="Shape 10"/>
          <p:cNvSpPr/>
          <p:nvPr/>
        </p:nvSpPr>
        <p:spPr>
          <a:xfrm>
            <a:off x="812800" y="4696420"/>
            <a:ext cx="10566400" cy="802614"/>
          </a:xfrm>
          <a:prstGeom prst="roundRect">
            <a:avLst>
              <a:gd name="adj" fmla="val 9494"/>
            </a:avLst>
          </a:prstGeom>
          <a:solidFill>
            <a:srgbClr val="24345A"/>
          </a:solidFill>
          <a:ln/>
        </p:spPr>
      </p:sp>
      <p:pic>
        <p:nvPicPr>
          <p:cNvPr id="13" name="Image 0" descr="Lightbulb"/>
          <p:cNvPicPr>
            <a:picLocks noChangeAspect="1"/>
          </p:cNvPicPr>
          <p:nvPr/>
        </p:nvPicPr>
        <p:blipFill>
          <a:blip r:embed="rId3"/>
          <a:srcRect t="-93" b="-93"/>
          <a:stretch/>
        </p:blipFill>
        <p:spPr>
          <a:xfrm>
            <a:off x="1016000" y="4970729"/>
            <a:ext cx="177469" cy="254000"/>
          </a:xfrm>
          <a:prstGeom prst="rect">
            <a:avLst/>
          </a:prstGeom>
        </p:spPr>
      </p:pic>
      <p:sp>
        <p:nvSpPr>
          <p:cNvPr id="14" name="Text 11"/>
          <p:cNvSpPr/>
          <p:nvPr/>
        </p:nvSpPr>
        <p:spPr>
          <a:xfrm>
            <a:off x="1320469" y="4848820"/>
            <a:ext cx="10151197" cy="52321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DCE4F0"/>
                </a:solidFill>
                <a:latin typeface="Nunito Sans" pitchFamily="34" charset="0"/>
                <a:ea typeface="Nunito Sans" pitchFamily="34" charset="-122"/>
                <a:cs typeface="Nunito Sans" pitchFamily="34" charset="-120"/>
              </a:rPr>
              <a:t>Tip:</a:t>
            </a:r>
            <a:r>
              <a:rPr lang="en-US" sz="1400" dirty="0">
                <a:solidFill>
                  <a:srgbClr val="DCE4F0"/>
                </a:solidFill>
                <a:latin typeface="Nunito Sans" pitchFamily="34" charset="0"/>
                <a:ea typeface="Nunito Sans" pitchFamily="34" charset="-122"/>
                <a:cs typeface="Nunito Sans" pitchFamily="34" charset="-120"/>
              </a:rPr>
              <a:t> write the use case in your head first: add item → checkout → shipping → payment → authorize → order → confirmation. Then find alternate and exception flows at each step.</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SCENARIOS 1–9 OF 25</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Cart, shipping and card details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38"/>
          <a:ext cx="10553700" cy="3539794"/>
        </p:xfrm>
        <a:graphic>
          <a:graphicData uri="http://schemas.openxmlformats.org/drawingml/2006/table">
            <a:tbl>
              <a:tblPr/>
              <a:tblGrid>
                <a:gridCol w="1583055">
                  <a:extLst>
                    <a:ext uri="{9D8B030D-6E8A-4147-A177-3AD203B41FA5}">
                      <a16:colId xmlns:a16="http://schemas.microsoft.com/office/drawing/2014/main" val="20000"/>
                    </a:ext>
                  </a:extLst>
                </a:gridCol>
                <a:gridCol w="5804535">
                  <a:extLst>
                    <a:ext uri="{9D8B030D-6E8A-4147-A177-3AD203B41FA5}">
                      <a16:colId xmlns:a16="http://schemas.microsoft.com/office/drawing/2014/main" val="20001"/>
                    </a:ext>
                  </a:extLst>
                </a:gridCol>
                <a:gridCol w="2005203">
                  <a:extLst>
                    <a:ext uri="{9D8B030D-6E8A-4147-A177-3AD203B41FA5}">
                      <a16:colId xmlns:a16="http://schemas.microsoft.com/office/drawing/2014/main" val="20002"/>
                    </a:ext>
                  </a:extLst>
                </a:gridCol>
                <a:gridCol w="1160907">
                  <a:extLst>
                    <a:ext uri="{9D8B030D-6E8A-4147-A177-3AD203B41FA5}">
                      <a16:colId xmlns:a16="http://schemas.microsoft.com/office/drawing/2014/main" val="20003"/>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ID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Scenario</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Type</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AC</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TS_CHK_01</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successful payment with a valid card creates an order and shows confirmation</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Positive / E2E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AC3–6</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TS_CHK_02</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checkout is blocked when the cart is empty</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Negative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AC1</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TS_CHK_03</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checkout with exactly one item succeeds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Boundary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AC1</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TS_CHK_04</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an item that goes out of stock during checkout is handled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Exception</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AC1</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TS_CHK_05</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missing mandatory shipping fields are rejected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Negative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AC2</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TS_CHK_06</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PIN code accepts exactly 6 digits only</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Boundary</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AC2</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TS_CHK_07</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mobile number accepts exactly 10 digits only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Boundary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AC2</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TS_CHK_08</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invalid card number is rejected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Negative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AC3</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8"/>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TS_CHK_09</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expired card is rejected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Negative / Boundary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AC3</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SCENARIOS 10–17 OF 25</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Payment outcomes and interruptions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38"/>
          <a:ext cx="10553700" cy="3207147"/>
        </p:xfrm>
        <a:graphic>
          <a:graphicData uri="http://schemas.openxmlformats.org/drawingml/2006/table">
            <a:tbl>
              <a:tblPr/>
              <a:tblGrid>
                <a:gridCol w="1583055">
                  <a:extLst>
                    <a:ext uri="{9D8B030D-6E8A-4147-A177-3AD203B41FA5}">
                      <a16:colId xmlns:a16="http://schemas.microsoft.com/office/drawing/2014/main" val="20000"/>
                    </a:ext>
                  </a:extLst>
                </a:gridCol>
                <a:gridCol w="5804535">
                  <a:extLst>
                    <a:ext uri="{9D8B030D-6E8A-4147-A177-3AD203B41FA5}">
                      <a16:colId xmlns:a16="http://schemas.microsoft.com/office/drawing/2014/main" val="20001"/>
                    </a:ext>
                  </a:extLst>
                </a:gridCol>
                <a:gridCol w="2005203">
                  <a:extLst>
                    <a:ext uri="{9D8B030D-6E8A-4147-A177-3AD203B41FA5}">
                      <a16:colId xmlns:a16="http://schemas.microsoft.com/office/drawing/2014/main" val="20002"/>
                    </a:ext>
                  </a:extLst>
                </a:gridCol>
                <a:gridCol w="1160907">
                  <a:extLst>
                    <a:ext uri="{9D8B030D-6E8A-4147-A177-3AD203B41FA5}">
                      <a16:colId xmlns:a16="http://schemas.microsoft.com/office/drawing/2014/main" val="20003"/>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ID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Scenario</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Type</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AC</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TS_CHK_10</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card expiring in the current month is accepted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Boundary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AC3</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TS_CHK_11</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invalid CVV (2 or 4 digits, letters) is rejected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Negative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AC3</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TS_CHK_12</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declined payment does not create an order</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Negative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AC4, AC7</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TS_CHK_13</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insufficient-funds response does not create an order</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Negative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AC4, AC7</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TS_CHK_14</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network interruption or gateway timeout leaves no order and no charge, with a clear message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Exception</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AC4, AC7</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TS_CHK_15</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double-clicking "Place Order" creates only one order and one charge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Exception / Error guessing</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AC5</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TS_CHK_16</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browser Back/Refresh after success does not re-submit payment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Exception</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AC5</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TS_CHK_17</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order details (items, qty, prices, address, total) are correct</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Positive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AC5</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SCENARIOS 18–25 OF 25</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Confirmation, security, retries, platforms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38"/>
          <a:ext cx="10553700" cy="2993827"/>
        </p:xfrm>
        <a:graphic>
          <a:graphicData uri="http://schemas.openxmlformats.org/drawingml/2006/table">
            <a:tbl>
              <a:tblPr/>
              <a:tblGrid>
                <a:gridCol w="1583055">
                  <a:extLst>
                    <a:ext uri="{9D8B030D-6E8A-4147-A177-3AD203B41FA5}">
                      <a16:colId xmlns:a16="http://schemas.microsoft.com/office/drawing/2014/main" val="20000"/>
                    </a:ext>
                  </a:extLst>
                </a:gridCol>
                <a:gridCol w="5804535">
                  <a:extLst>
                    <a:ext uri="{9D8B030D-6E8A-4147-A177-3AD203B41FA5}">
                      <a16:colId xmlns:a16="http://schemas.microsoft.com/office/drawing/2014/main" val="20001"/>
                    </a:ext>
                  </a:extLst>
                </a:gridCol>
                <a:gridCol w="2005203">
                  <a:extLst>
                    <a:ext uri="{9D8B030D-6E8A-4147-A177-3AD203B41FA5}">
                      <a16:colId xmlns:a16="http://schemas.microsoft.com/office/drawing/2014/main" val="20002"/>
                    </a:ext>
                  </a:extLst>
                </a:gridCol>
                <a:gridCol w="1160907">
                  <a:extLst>
                    <a:ext uri="{9D8B030D-6E8A-4147-A177-3AD203B41FA5}">
                      <a16:colId xmlns:a16="http://schemas.microsoft.com/office/drawing/2014/main" val="20003"/>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ID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Scenario</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Type</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AC</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TS_CHK_18</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confirmation page shows order number and summary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Positive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AC6</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TS_CHK_19</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confirmation email is received with correct details</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Positive / Integration</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AC6</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TS_CHK_20</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card number is masked and CVV is never stored or displayed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Security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AC3</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TS_CHK_21</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session timeout during payment is handled safely</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Exception / Security</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AC4, AC7</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TS_CHK_22</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the cart is retained after a failed payment so the customer can retry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Alternate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AC7</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TS_CHK_23</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retry with a valid card after a decline succeeds (one order only)</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Alternate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AC4, AC5</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TS_CHK_24</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checkout works on all 5 supported platforms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Compatibility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All</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TS_CHK_25</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Verify order status changes Created → Paid after authorization</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State transition</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AC4, AC5</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DELIVERABLE 4 · TEST CASES · 8 MIN</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Turn two scenarios into executable test cases</a:t>
            </a:r>
            <a:endParaRPr lang="en-US" sz="3200" dirty="0"/>
          </a:p>
        </p:txBody>
      </p:sp>
      <p:sp>
        <p:nvSpPr>
          <p:cNvPr id="4" name="Shape 2"/>
          <p:cNvSpPr/>
          <p:nvPr/>
        </p:nvSpPr>
        <p:spPr>
          <a:xfrm>
            <a:off x="812800" y="1803338"/>
            <a:ext cx="6197600" cy="1074341"/>
          </a:xfrm>
          <a:prstGeom prst="roundRect">
            <a:avLst>
              <a:gd name="adj" fmla="val 7093"/>
            </a:avLst>
          </a:prstGeom>
          <a:solidFill>
            <a:srgbClr val="24345A"/>
          </a:solidFill>
          <a:ln/>
        </p:spPr>
      </p:sp>
      <p:sp>
        <p:nvSpPr>
          <p:cNvPr id="5" name="Text 3"/>
          <p:cNvSpPr/>
          <p:nvPr/>
        </p:nvSpPr>
        <p:spPr>
          <a:xfrm>
            <a:off x="1016000" y="1955738"/>
            <a:ext cx="596493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Nunito Sans" pitchFamily="34" charset="0"/>
                <a:ea typeface="Nunito Sans" pitchFamily="34" charset="-122"/>
                <a:cs typeface="Nunito Sans" pitchFamily="34" charset="-120"/>
              </a:rPr>
              <a:t>Suggested</a:t>
            </a:r>
            <a:endParaRPr lang="en-US" sz="1200" dirty="0"/>
          </a:p>
        </p:txBody>
      </p:sp>
      <p:sp>
        <p:nvSpPr>
          <p:cNvPr id="6" name="Text 4"/>
          <p:cNvSpPr/>
          <p:nvPr/>
        </p:nvSpPr>
        <p:spPr>
          <a:xfrm>
            <a:off x="1016000" y="2207158"/>
            <a:ext cx="596493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BFBF8"/>
                </a:solidFill>
                <a:latin typeface="Nunito Sans" pitchFamily="34" charset="0"/>
                <a:ea typeface="Nunito Sans" pitchFamily="34" charset="-122"/>
                <a:cs typeface="Nunito Sans" pitchFamily="34" charset="-120"/>
              </a:rPr>
              <a:t>TS_CHK_12 → </a:t>
            </a:r>
            <a:r>
              <a:rPr lang="en-US" sz="1500" b="1" dirty="0">
                <a:solidFill>
                  <a:srgbClr val="F0A04B"/>
                </a:solidFill>
                <a:latin typeface="Nunito Sans" pitchFamily="34" charset="0"/>
                <a:ea typeface="Nunito Sans" pitchFamily="34" charset="-122"/>
                <a:cs typeface="Nunito Sans" pitchFamily="34" charset="-120"/>
              </a:rPr>
              <a:t>TC_CHK_005</a:t>
            </a:r>
            <a:endParaRPr lang="en-US" sz="1500" dirty="0"/>
          </a:p>
        </p:txBody>
      </p:sp>
      <p:sp>
        <p:nvSpPr>
          <p:cNvPr id="7" name="Text 5"/>
          <p:cNvSpPr/>
          <p:nvPr/>
        </p:nvSpPr>
        <p:spPr>
          <a:xfrm>
            <a:off x="1016000" y="2511958"/>
            <a:ext cx="596493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CE4F0"/>
                </a:solidFill>
                <a:latin typeface="Nunito Sans" pitchFamily="34" charset="0"/>
                <a:ea typeface="Nunito Sans" pitchFamily="34" charset="-122"/>
                <a:cs typeface="Nunito Sans" pitchFamily="34" charset="-120"/>
              </a:rPr>
              <a:t>Declined payment, no order</a:t>
            </a:r>
            <a:endParaRPr lang="en-US" sz="1200" dirty="0"/>
          </a:p>
        </p:txBody>
      </p:sp>
      <p:sp>
        <p:nvSpPr>
          <p:cNvPr id="8" name="Shape 6"/>
          <p:cNvSpPr/>
          <p:nvPr/>
        </p:nvSpPr>
        <p:spPr>
          <a:xfrm>
            <a:off x="812800" y="3004679"/>
            <a:ext cx="6197600" cy="1074341"/>
          </a:xfrm>
          <a:prstGeom prst="roundRect">
            <a:avLst>
              <a:gd name="adj" fmla="val 7093"/>
            </a:avLst>
          </a:prstGeom>
          <a:solidFill>
            <a:srgbClr val="24345A"/>
          </a:solidFill>
          <a:ln/>
        </p:spPr>
      </p:sp>
      <p:sp>
        <p:nvSpPr>
          <p:cNvPr id="9" name="Text 7"/>
          <p:cNvSpPr/>
          <p:nvPr/>
        </p:nvSpPr>
        <p:spPr>
          <a:xfrm>
            <a:off x="1016000" y="3157079"/>
            <a:ext cx="596493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E3"/>
                </a:solidFill>
                <a:latin typeface="Nunito Sans" pitchFamily="34" charset="0"/>
                <a:ea typeface="Nunito Sans" pitchFamily="34" charset="-122"/>
                <a:cs typeface="Nunito Sans" pitchFamily="34" charset="-120"/>
              </a:rPr>
              <a:t>Suggested</a:t>
            </a:r>
            <a:endParaRPr lang="en-US" sz="1200" dirty="0"/>
          </a:p>
        </p:txBody>
      </p:sp>
      <p:sp>
        <p:nvSpPr>
          <p:cNvPr id="10" name="Text 8"/>
          <p:cNvSpPr/>
          <p:nvPr/>
        </p:nvSpPr>
        <p:spPr>
          <a:xfrm>
            <a:off x="1016000" y="3408499"/>
            <a:ext cx="596493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BFBF8"/>
                </a:solidFill>
                <a:latin typeface="Nunito Sans" pitchFamily="34" charset="0"/>
                <a:ea typeface="Nunito Sans" pitchFamily="34" charset="-122"/>
                <a:cs typeface="Nunito Sans" pitchFamily="34" charset="-120"/>
              </a:rPr>
              <a:t>TS_CHK_15 → </a:t>
            </a:r>
            <a:r>
              <a:rPr lang="en-US" sz="1500" b="1" dirty="0">
                <a:solidFill>
                  <a:srgbClr val="F0A04B"/>
                </a:solidFill>
                <a:latin typeface="Nunito Sans" pitchFamily="34" charset="0"/>
                <a:ea typeface="Nunito Sans" pitchFamily="34" charset="-122"/>
                <a:cs typeface="Nunito Sans" pitchFamily="34" charset="-120"/>
              </a:rPr>
              <a:t>TC_CHK_010</a:t>
            </a:r>
            <a:endParaRPr lang="en-US" sz="1500" dirty="0"/>
          </a:p>
        </p:txBody>
      </p:sp>
      <p:sp>
        <p:nvSpPr>
          <p:cNvPr id="11" name="Text 9"/>
          <p:cNvSpPr/>
          <p:nvPr/>
        </p:nvSpPr>
        <p:spPr>
          <a:xfrm>
            <a:off x="1016000" y="3713299"/>
            <a:ext cx="596493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CE4F0"/>
                </a:solidFill>
                <a:latin typeface="Nunito Sans" pitchFamily="34" charset="0"/>
                <a:ea typeface="Nunito Sans" pitchFamily="34" charset="-122"/>
                <a:cs typeface="Nunito Sans" pitchFamily="34" charset="-120"/>
              </a:rPr>
              <a:t>Double-click Place Order</a:t>
            </a:r>
            <a:endParaRPr lang="en-US" sz="1200" dirty="0"/>
          </a:p>
        </p:txBody>
      </p:sp>
      <p:sp>
        <p:nvSpPr>
          <p:cNvPr id="12" name="Text 10"/>
          <p:cNvSpPr/>
          <p:nvPr/>
        </p:nvSpPr>
        <p:spPr>
          <a:xfrm>
            <a:off x="812800" y="4206019"/>
            <a:ext cx="6383528"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Also apply </a:t>
            </a:r>
            <a:r>
              <a:rPr lang="en-US" sz="1400" b="1" dirty="0">
                <a:solidFill>
                  <a:srgbClr val="DCE4F0"/>
                </a:solidFill>
                <a:latin typeface="Nunito Sans" pitchFamily="34" charset="0"/>
                <a:ea typeface="Nunito Sans" pitchFamily="34" charset="-122"/>
                <a:cs typeface="Nunito Sans" pitchFamily="34" charset="-120"/>
              </a:rPr>
              <a:t>one design technique</a:t>
            </a:r>
            <a:r>
              <a:rPr lang="en-US" sz="1400" dirty="0">
                <a:solidFill>
                  <a:srgbClr val="DCE4F0"/>
                </a:solidFill>
                <a:latin typeface="Nunito Sans" pitchFamily="34" charset="0"/>
                <a:ea typeface="Nunito Sans" pitchFamily="34" charset="-122"/>
                <a:cs typeface="Nunito Sans" pitchFamily="34" charset="-120"/>
              </a:rPr>
              <a:t> to part of checkout: EP/BVA, decision table or state transition.</a:t>
            </a:r>
            <a:endParaRPr lang="en-US" sz="1400" dirty="0"/>
          </a:p>
        </p:txBody>
      </p:sp>
      <p:sp>
        <p:nvSpPr>
          <p:cNvPr id="13" name="Shape 11"/>
          <p:cNvSpPr/>
          <p:nvPr/>
        </p:nvSpPr>
        <p:spPr>
          <a:xfrm>
            <a:off x="7315200" y="1803338"/>
            <a:ext cx="4064000" cy="3261056"/>
          </a:xfrm>
          <a:prstGeom prst="roundRect">
            <a:avLst>
              <a:gd name="adj" fmla="val 3116"/>
            </a:avLst>
          </a:prstGeom>
          <a:solidFill>
            <a:srgbClr val="24345A"/>
          </a:solidFill>
          <a:ln/>
        </p:spPr>
      </p:sp>
      <p:sp>
        <p:nvSpPr>
          <p:cNvPr id="14" name="Text 12"/>
          <p:cNvSpPr/>
          <p:nvPr/>
        </p:nvSpPr>
        <p:spPr>
          <a:xfrm>
            <a:off x="7543800" y="1981138"/>
            <a:ext cx="371500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4B"/>
                </a:solidFill>
                <a:latin typeface="Nunito Sans" pitchFamily="34" charset="0"/>
                <a:ea typeface="Nunito Sans" pitchFamily="34" charset="-122"/>
                <a:cs typeface="Nunito Sans" pitchFamily="34" charset="-120"/>
              </a:rPr>
              <a:t>TEMPLATE</a:t>
            </a:r>
            <a:endParaRPr lang="en-US" sz="1200" dirty="0"/>
          </a:p>
        </p:txBody>
      </p:sp>
      <p:sp>
        <p:nvSpPr>
          <p:cNvPr id="15" name="Text 13"/>
          <p:cNvSpPr/>
          <p:nvPr/>
        </p:nvSpPr>
        <p:spPr>
          <a:xfrm>
            <a:off x="7543800" y="2232558"/>
            <a:ext cx="3715004"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CE4F0"/>
                </a:solidFill>
                <a:latin typeface="Nunito Sans" pitchFamily="34" charset="0"/>
                <a:ea typeface="Nunito Sans" pitchFamily="34" charset="-122"/>
                <a:cs typeface="Nunito Sans" pitchFamily="34" charset="-120"/>
              </a:rPr>
              <a:t>Test Case ID</a:t>
            </a:r>
            <a:endParaRPr lang="en-US" sz="1300" dirty="0"/>
          </a:p>
        </p:txBody>
      </p:sp>
      <p:sp>
        <p:nvSpPr>
          <p:cNvPr id="16" name="Text 14"/>
          <p:cNvSpPr/>
          <p:nvPr/>
        </p:nvSpPr>
        <p:spPr>
          <a:xfrm>
            <a:off x="7543800" y="2501776"/>
            <a:ext cx="3715004"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CE4F0"/>
                </a:solidFill>
                <a:latin typeface="Nunito Sans" pitchFamily="34" charset="0"/>
                <a:ea typeface="Nunito Sans" pitchFamily="34" charset="-122"/>
                <a:cs typeface="Nunito Sans" pitchFamily="34" charset="-120"/>
              </a:rPr>
              <a:t>Title</a:t>
            </a:r>
            <a:endParaRPr lang="en-US" sz="1300" dirty="0"/>
          </a:p>
        </p:txBody>
      </p:sp>
      <p:sp>
        <p:nvSpPr>
          <p:cNvPr id="17" name="Text 15"/>
          <p:cNvSpPr/>
          <p:nvPr/>
        </p:nvSpPr>
        <p:spPr>
          <a:xfrm>
            <a:off x="7543800" y="2770981"/>
            <a:ext cx="3715004"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CE4F0"/>
                </a:solidFill>
                <a:latin typeface="Nunito Sans" pitchFamily="34" charset="0"/>
                <a:ea typeface="Nunito Sans" pitchFamily="34" charset="-122"/>
                <a:cs typeface="Nunito Sans" pitchFamily="34" charset="-120"/>
              </a:rPr>
              <a:t>Requirement / Scenario</a:t>
            </a:r>
            <a:endParaRPr lang="en-US" sz="1300" dirty="0"/>
          </a:p>
        </p:txBody>
      </p:sp>
      <p:sp>
        <p:nvSpPr>
          <p:cNvPr id="18" name="Text 16"/>
          <p:cNvSpPr/>
          <p:nvPr/>
        </p:nvSpPr>
        <p:spPr>
          <a:xfrm>
            <a:off x="7543800" y="3040199"/>
            <a:ext cx="3715004"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CE4F0"/>
                </a:solidFill>
                <a:latin typeface="Nunito Sans" pitchFamily="34" charset="0"/>
                <a:ea typeface="Nunito Sans" pitchFamily="34" charset="-122"/>
                <a:cs typeface="Nunito Sans" pitchFamily="34" charset="-120"/>
              </a:rPr>
              <a:t>Priority</a:t>
            </a:r>
            <a:endParaRPr lang="en-US" sz="1300" dirty="0"/>
          </a:p>
        </p:txBody>
      </p:sp>
      <p:sp>
        <p:nvSpPr>
          <p:cNvPr id="19" name="Text 17"/>
          <p:cNvSpPr/>
          <p:nvPr/>
        </p:nvSpPr>
        <p:spPr>
          <a:xfrm>
            <a:off x="7543800" y="3309417"/>
            <a:ext cx="3715004"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CE4F0"/>
                </a:solidFill>
                <a:latin typeface="Nunito Sans" pitchFamily="34" charset="0"/>
                <a:ea typeface="Nunito Sans" pitchFamily="34" charset="-122"/>
                <a:cs typeface="Nunito Sans" pitchFamily="34" charset="-120"/>
              </a:rPr>
              <a:t>Preconditions</a:t>
            </a:r>
            <a:endParaRPr lang="en-US" sz="1300" dirty="0"/>
          </a:p>
        </p:txBody>
      </p:sp>
      <p:sp>
        <p:nvSpPr>
          <p:cNvPr id="20" name="Text 18"/>
          <p:cNvSpPr/>
          <p:nvPr/>
        </p:nvSpPr>
        <p:spPr>
          <a:xfrm>
            <a:off x="7543800" y="3578622"/>
            <a:ext cx="3715004"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CE4F0"/>
                </a:solidFill>
                <a:latin typeface="Nunito Sans" pitchFamily="34" charset="0"/>
                <a:ea typeface="Nunito Sans" pitchFamily="34" charset="-122"/>
                <a:cs typeface="Nunito Sans" pitchFamily="34" charset="-120"/>
              </a:rPr>
              <a:t>Test Data</a:t>
            </a:r>
            <a:endParaRPr lang="en-US" sz="1300" dirty="0"/>
          </a:p>
        </p:txBody>
      </p:sp>
      <p:sp>
        <p:nvSpPr>
          <p:cNvPr id="21" name="Text 19"/>
          <p:cNvSpPr/>
          <p:nvPr/>
        </p:nvSpPr>
        <p:spPr>
          <a:xfrm>
            <a:off x="7543800" y="3847840"/>
            <a:ext cx="3715004"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CE4F0"/>
                </a:solidFill>
                <a:latin typeface="Nunito Sans" pitchFamily="34" charset="0"/>
                <a:ea typeface="Nunito Sans" pitchFamily="34" charset="-122"/>
                <a:cs typeface="Nunito Sans" pitchFamily="34" charset="-120"/>
              </a:rPr>
              <a:t>Steps</a:t>
            </a:r>
            <a:endParaRPr lang="en-US" sz="1300" dirty="0"/>
          </a:p>
        </p:txBody>
      </p:sp>
      <p:sp>
        <p:nvSpPr>
          <p:cNvPr id="22" name="Text 20"/>
          <p:cNvSpPr/>
          <p:nvPr/>
        </p:nvSpPr>
        <p:spPr>
          <a:xfrm>
            <a:off x="7543800" y="4117057"/>
            <a:ext cx="3715004"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CE4F0"/>
                </a:solidFill>
                <a:latin typeface="Nunito Sans" pitchFamily="34" charset="0"/>
                <a:ea typeface="Nunito Sans" pitchFamily="34" charset="-122"/>
                <a:cs typeface="Nunito Sans" pitchFamily="34" charset="-120"/>
              </a:rPr>
              <a:t>Expected Result</a:t>
            </a:r>
            <a:endParaRPr lang="en-US" sz="1300" dirty="0"/>
          </a:p>
        </p:txBody>
      </p:sp>
      <p:sp>
        <p:nvSpPr>
          <p:cNvPr id="23" name="Text 21"/>
          <p:cNvSpPr/>
          <p:nvPr/>
        </p:nvSpPr>
        <p:spPr>
          <a:xfrm>
            <a:off x="7543800" y="4386263"/>
            <a:ext cx="3715004"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CE4F0"/>
                </a:solidFill>
                <a:latin typeface="Nunito Sans" pitchFamily="34" charset="0"/>
                <a:ea typeface="Nunito Sans" pitchFamily="34" charset="-122"/>
                <a:cs typeface="Nunito Sans" pitchFamily="34" charset="-120"/>
              </a:rPr>
              <a:t>Actual Result</a:t>
            </a:r>
            <a:endParaRPr lang="en-US" sz="1300" dirty="0"/>
          </a:p>
        </p:txBody>
      </p:sp>
      <p:sp>
        <p:nvSpPr>
          <p:cNvPr id="24" name="Text 22"/>
          <p:cNvSpPr/>
          <p:nvPr/>
        </p:nvSpPr>
        <p:spPr>
          <a:xfrm>
            <a:off x="7543800" y="4655480"/>
            <a:ext cx="3715004"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CE4F0"/>
                </a:solidFill>
                <a:latin typeface="Nunito Sans" pitchFamily="34" charset="0"/>
                <a:ea typeface="Nunito Sans" pitchFamily="34" charset="-122"/>
                <a:cs typeface="Nunito Sans" pitchFamily="34" charset="-120"/>
              </a:rPr>
              <a:t>Status: </a:t>
            </a:r>
            <a:r>
              <a:rPr lang="en-US" sz="1300" dirty="0">
                <a:solidFill>
                  <a:srgbClr val="F0A04B"/>
                </a:solidFill>
                <a:latin typeface="Nunito Sans" pitchFamily="34" charset="0"/>
                <a:ea typeface="Nunito Sans" pitchFamily="34" charset="-122"/>
                <a:cs typeface="Nunito Sans" pitchFamily="34" charset="-120"/>
              </a:rPr>
              <a:t>Not Executed</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TEST CASE INDEX</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The team's 18 test cases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38"/>
          <a:ext cx="5143500" cy="3326474"/>
        </p:xfrm>
        <a:graphic>
          <a:graphicData uri="http://schemas.openxmlformats.org/drawingml/2006/table">
            <a:tbl>
              <a:tblPr/>
              <a:tblGrid>
                <a:gridCol w="1645920">
                  <a:extLst>
                    <a:ext uri="{9D8B030D-6E8A-4147-A177-3AD203B41FA5}">
                      <a16:colId xmlns:a16="http://schemas.microsoft.com/office/drawing/2014/main" val="20000"/>
                    </a:ext>
                  </a:extLst>
                </a:gridCol>
                <a:gridCol w="3497580">
                  <a:extLst>
                    <a:ext uri="{9D8B030D-6E8A-4147-A177-3AD203B41FA5}">
                      <a16:colId xmlns:a16="http://schemas.microsoft.com/office/drawing/2014/main" val="20001"/>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TC ID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Title</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TC_CHK_001</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Successful purchase, valid Visa</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TC_CHK_002</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Checkout blocked, empty cart</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TC_CHK_003</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Mandatory shipping field missing</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TC_CHK_004</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Invalid card number (Luhn fail)</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32647">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TC_CHK_005</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Declined card, no order created</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extLst>
                  <a:ext uri="{0D108BD9-81ED-4DB2-BD59-A6C34878D82A}">
                    <a16:rowId xmlns:a16="http://schemas.microsoft.com/office/drawing/2014/main" val="10005"/>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TC_CHK_006</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Insufficient funds, no order</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TC_CHK_007</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Expired card rejected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TC_CHK_008</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Invalid CVV rejected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8"/>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TC_CHK_009</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Gateway timeout, no order, clear message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235700" y="1790638"/>
          <a:ext cx="5143500" cy="3326474"/>
        </p:xfrm>
        <a:graphic>
          <a:graphicData uri="http://schemas.openxmlformats.org/drawingml/2006/table">
            <a:tbl>
              <a:tblPr/>
              <a:tblGrid>
                <a:gridCol w="1645920">
                  <a:extLst>
                    <a:ext uri="{9D8B030D-6E8A-4147-A177-3AD203B41FA5}">
                      <a16:colId xmlns:a16="http://schemas.microsoft.com/office/drawing/2014/main" val="20000"/>
                    </a:ext>
                  </a:extLst>
                </a:gridCol>
                <a:gridCol w="3497580">
                  <a:extLst>
                    <a:ext uri="{9D8B030D-6E8A-4147-A177-3AD203B41FA5}">
                      <a16:colId xmlns:a16="http://schemas.microsoft.com/office/drawing/2014/main" val="20001"/>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TC ID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Title</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TC_CHK_010</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Double-click creates one order</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TC_CHK_011</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Back after success doesn't re-charge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TC_CHK_012</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PIN boundary: 5 digits rejected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TC_CHK_013</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Item out of stock during checkout</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TC_CHK_014</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Order details correct in My Orders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TC_CHK_015</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Confirmation email received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TC_CHK_016</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Card masked, CVV not stored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TC_CHK_017</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Session timeout during payment</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8"/>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TC_CHK_018</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Checkout on Safari iOS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TC_CHK_001 · P1 · AC3–AC6</a:t>
            </a:r>
            <a:endParaRPr lang="en-US" sz="1200" dirty="0"/>
          </a:p>
        </p:txBody>
      </p:sp>
      <p:sp>
        <p:nvSpPr>
          <p:cNvPr id="3" name="Text 1"/>
          <p:cNvSpPr>
            <a:spLocks noGrp="1"/>
          </p:cNvSpPr>
          <p:nvPr>
            <p:ph type="title"/>
          </p:nvPr>
        </p:nvSpPr>
        <p:spPr>
          <a:xfrm>
            <a:off x="812800" y="11023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4213D"/>
                </a:solidFill>
                <a:latin typeface="Domine" pitchFamily="18" charset="0"/>
                <a:ea typeface="Domine" pitchFamily="18" charset="-122"/>
                <a:cs typeface="Domine" pitchFamily="18" charset="-120"/>
              </a:rPr>
              <a:t>Successful purchase with a valid Visa card</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9341"/>
          <a:ext cx="10553700" cy="2729839"/>
        </p:xfrm>
        <a:graphic>
          <a:graphicData uri="http://schemas.openxmlformats.org/drawingml/2006/table">
            <a:tbl>
              <a:tblPr/>
              <a:tblGrid>
                <a:gridCol w="1899666">
                  <a:extLst>
                    <a:ext uri="{9D8B030D-6E8A-4147-A177-3AD203B41FA5}">
                      <a16:colId xmlns:a16="http://schemas.microsoft.com/office/drawing/2014/main" val="20000"/>
                    </a:ext>
                  </a:extLst>
                </a:gridCol>
                <a:gridCol w="8654034">
                  <a:extLst>
                    <a:ext uri="{9D8B030D-6E8A-4147-A177-3AD203B41FA5}">
                      <a16:colId xmlns:a16="http://schemas.microsoft.com/office/drawing/2014/main" val="20001"/>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Field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Value</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Preconditions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asha@example.com logged in; cart: 1 × Wireless Mouse (₹1,200) + 1 × USB Cable (₹250); stock ≥ 5 for both</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Test data</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Asha Rao, 12 MG Road, Bengaluru, Karnataka, PIN 560001, mobile 9876543210 · Card 4111 1111 1111 1111, exp 12/28, CVV 123, ASHA RAO</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Steps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1. Cart → Checkout  2. Enter shipping → Continue  3. Enter card data  4. Place Order</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1185929">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Expected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1. Confirmation shows order number (ORD-#####) and total ₹1,450</a:t>
                      </a:r>
                      <a:endParaRPr lang="en-US" sz="1200" dirty="0">
                        <a:latin typeface="Nunito Sans" charset="0"/>
                        <a:ea typeface="Nunito Sans" charset="0"/>
                        <a:cs typeface="Nunito Sans" charset="0"/>
                      </a:endParaRPr>
                    </a:p>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2. My Orders: status Paid, correct items, quantities, address</a:t>
                      </a:r>
                      <a:endParaRPr lang="en-US" sz="1200" dirty="0">
                        <a:latin typeface="Nunito Sans" charset="0"/>
                        <a:ea typeface="Nunito Sans" charset="0"/>
                        <a:cs typeface="Nunito Sans" charset="0"/>
                      </a:endParaRPr>
                    </a:p>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3. Sandbox: exactly one authorization of ₹1,450</a:t>
                      </a:r>
                      <a:endParaRPr lang="en-US" sz="1200" dirty="0">
                        <a:latin typeface="Nunito Sans" charset="0"/>
                        <a:ea typeface="Nunito Sans" charset="0"/>
                        <a:cs typeface="Nunito Sans" charset="0"/>
                      </a:endParaRPr>
                    </a:p>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4. Email at asha@example.com within 2 minutes</a:t>
                      </a:r>
                      <a:endParaRPr lang="en-US" sz="1200" dirty="0">
                        <a:latin typeface="Nunito Sans" charset="0"/>
                        <a:ea typeface="Nunito Sans" charset="0"/>
                        <a:cs typeface="Nunito Sans" charset="0"/>
                      </a:endParaRPr>
                    </a:p>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5. Cart is empty  6. Stock of each item reduced by 1</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THE TWO SUGGESTED TEST CASES · BOTH P1</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Expected results say what must not happen</a:t>
            </a:r>
            <a:endParaRPr lang="en-US" sz="3200" dirty="0"/>
          </a:p>
        </p:txBody>
      </p:sp>
      <p:sp>
        <p:nvSpPr>
          <p:cNvPr id="4" name="Shape 2"/>
          <p:cNvSpPr/>
          <p:nvPr/>
        </p:nvSpPr>
        <p:spPr>
          <a:xfrm>
            <a:off x="812800" y="1777938"/>
            <a:ext cx="5181600" cy="2587956"/>
          </a:xfrm>
          <a:prstGeom prst="roundRect">
            <a:avLst>
              <a:gd name="adj" fmla="val 3926"/>
            </a:avLst>
          </a:prstGeom>
          <a:solidFill>
            <a:srgbClr val="EEF2F7"/>
          </a:solidFill>
          <a:ln/>
        </p:spPr>
      </p:sp>
      <p:sp>
        <p:nvSpPr>
          <p:cNvPr id="5" name="Text 3"/>
          <p:cNvSpPr/>
          <p:nvPr/>
        </p:nvSpPr>
        <p:spPr>
          <a:xfrm>
            <a:off x="1041400" y="1981138"/>
            <a:ext cx="486613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14F0A"/>
                </a:solidFill>
                <a:latin typeface="Nunito Sans" pitchFamily="34" charset="0"/>
                <a:ea typeface="Nunito Sans" pitchFamily="34" charset="-122"/>
                <a:cs typeface="Nunito Sans" pitchFamily="34" charset="-120"/>
              </a:rPr>
              <a:t>TC_CHK_005 · AC4, AC7 · TS_CHK_12</a:t>
            </a:r>
            <a:endParaRPr lang="en-US" sz="1200" dirty="0"/>
          </a:p>
        </p:txBody>
      </p:sp>
      <p:sp>
        <p:nvSpPr>
          <p:cNvPr id="6" name="Text 4"/>
          <p:cNvSpPr/>
          <p:nvPr/>
        </p:nvSpPr>
        <p:spPr>
          <a:xfrm>
            <a:off x="1041400" y="2283358"/>
            <a:ext cx="4866132"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omine" pitchFamily="18" charset="0"/>
                <a:ea typeface="Domine" pitchFamily="18" charset="-122"/>
                <a:cs typeface="Domine" pitchFamily="18" charset="-120"/>
              </a:rPr>
              <a:t>Declined card, no order created</a:t>
            </a:r>
            <a:endParaRPr lang="en-US" sz="1600" dirty="0"/>
          </a:p>
        </p:txBody>
      </p:sp>
      <p:sp>
        <p:nvSpPr>
          <p:cNvPr id="7" name="Text 5"/>
          <p:cNvSpPr/>
          <p:nvPr/>
        </p:nvSpPr>
        <p:spPr>
          <a:xfrm>
            <a:off x="1041400" y="2616076"/>
            <a:ext cx="486613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D4A5C"/>
                </a:solidFill>
                <a:latin typeface="Nunito Sans" pitchFamily="34" charset="0"/>
                <a:ea typeface="Nunito Sans" pitchFamily="34" charset="-122"/>
                <a:cs typeface="Nunito Sans" pitchFamily="34" charset="-120"/>
              </a:rPr>
              <a:t>Pre:</a:t>
            </a:r>
            <a:r>
              <a:rPr lang="en-US" sz="1200" dirty="0">
                <a:solidFill>
                  <a:srgbClr val="3D4A5C"/>
                </a:solidFill>
                <a:latin typeface="Nunito Sans" pitchFamily="34" charset="0"/>
                <a:ea typeface="Nunito Sans" pitchFamily="34" charset="-122"/>
                <a:cs typeface="Nunito Sans" pitchFamily="34" charset="-120"/>
              </a:rPr>
              <a:t> logged in; cart 1 × Wireless Mouse (₹1,200); saved address</a:t>
            </a:r>
            <a:endParaRPr lang="en-US" sz="1200" dirty="0"/>
          </a:p>
        </p:txBody>
      </p:sp>
      <p:sp>
        <p:nvSpPr>
          <p:cNvPr id="8" name="Text 6"/>
          <p:cNvSpPr/>
          <p:nvPr/>
        </p:nvSpPr>
        <p:spPr>
          <a:xfrm>
            <a:off x="1041400" y="2918296"/>
            <a:ext cx="486613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D4A5C"/>
                </a:solidFill>
                <a:latin typeface="Nunito Sans" pitchFamily="34" charset="0"/>
                <a:ea typeface="Nunito Sans" pitchFamily="34" charset="-122"/>
                <a:cs typeface="Nunito Sans" pitchFamily="34" charset="-120"/>
              </a:rPr>
              <a:t>Data:</a:t>
            </a:r>
            <a:r>
              <a:rPr lang="en-US" sz="1200" dirty="0">
                <a:solidFill>
                  <a:srgbClr val="3D4A5C"/>
                </a:solidFill>
                <a:latin typeface="Nunito Sans" pitchFamily="34" charset="0"/>
                <a:ea typeface="Nunito Sans" pitchFamily="34" charset="-122"/>
                <a:cs typeface="Nunito Sans" pitchFamily="34" charset="-120"/>
              </a:rPr>
              <a:t> card 4000 0000 0000 0002, 12/28, CVV 123</a:t>
            </a:r>
            <a:endParaRPr lang="en-US" sz="1200" dirty="0"/>
          </a:p>
        </p:txBody>
      </p:sp>
      <p:sp>
        <p:nvSpPr>
          <p:cNvPr id="9" name="Text 7"/>
          <p:cNvSpPr/>
          <p:nvPr/>
        </p:nvSpPr>
        <p:spPr>
          <a:xfrm>
            <a:off x="1041400" y="3220517"/>
            <a:ext cx="486613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D4A5C"/>
                </a:solidFill>
                <a:latin typeface="Nunito Sans" pitchFamily="34" charset="0"/>
                <a:ea typeface="Nunito Sans" pitchFamily="34" charset="-122"/>
                <a:cs typeface="Nunito Sans" pitchFamily="34" charset="-120"/>
              </a:rPr>
              <a:t>Steps:</a:t>
            </a:r>
            <a:r>
              <a:rPr lang="en-US" sz="1200" dirty="0">
                <a:solidFill>
                  <a:srgbClr val="3D4A5C"/>
                </a:solidFill>
                <a:latin typeface="Nunito Sans" pitchFamily="34" charset="0"/>
                <a:ea typeface="Nunito Sans" pitchFamily="34" charset="-122"/>
                <a:cs typeface="Nunito Sans" pitchFamily="34" charset="-120"/>
              </a:rPr>
              <a:t> checkout, saved address → card data → Place Order</a:t>
            </a:r>
            <a:endParaRPr lang="en-US" sz="1200" dirty="0"/>
          </a:p>
        </p:txBody>
      </p:sp>
      <p:sp>
        <p:nvSpPr>
          <p:cNvPr id="10" name="Text 8"/>
          <p:cNvSpPr/>
          <p:nvPr/>
        </p:nvSpPr>
        <p:spPr>
          <a:xfrm>
            <a:off x="1041400" y="3522737"/>
            <a:ext cx="4866132"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Nunito Sans" pitchFamily="34" charset="0"/>
                <a:ea typeface="Nunito Sans" pitchFamily="34" charset="-122"/>
                <a:cs typeface="Nunito Sans" pitchFamily="34" charset="-120"/>
              </a:rPr>
              <a:t>Expected:</a:t>
            </a:r>
            <a:r>
              <a:rPr lang="en-US" sz="1200" dirty="0">
                <a:solidFill>
                  <a:srgbClr val="14213D"/>
                </a:solidFill>
                <a:latin typeface="Nunito Sans" pitchFamily="34" charset="0"/>
                <a:ea typeface="Nunito Sans" pitchFamily="34" charset="-122"/>
                <a:cs typeface="Nunito Sans" pitchFamily="34" charset="-120"/>
              </a:rPr>
              <a:t> "Your payment was declined. Please try another card." · </a:t>
            </a:r>
            <a:r>
              <a:rPr lang="en-US" sz="1200" b="1" dirty="0">
                <a:solidFill>
                  <a:srgbClr val="A14F0A"/>
                </a:solidFill>
                <a:latin typeface="Nunito Sans" pitchFamily="34" charset="0"/>
                <a:ea typeface="Nunito Sans" pitchFamily="34" charset="-122"/>
                <a:cs typeface="Nunito Sans" pitchFamily="34" charset="-120"/>
              </a:rPr>
              <a:t>no</a:t>
            </a:r>
            <a:r>
              <a:rPr lang="en-US" sz="1200" dirty="0">
                <a:solidFill>
                  <a:srgbClr val="14213D"/>
                </a:solidFill>
                <a:latin typeface="Nunito Sans" pitchFamily="34" charset="0"/>
                <a:ea typeface="Nunito Sans" pitchFamily="34" charset="-122"/>
                <a:cs typeface="Nunito Sans" pitchFamily="34" charset="-120"/>
              </a:rPr>
              <a:t> new order · item still in cart · </a:t>
            </a:r>
            <a:r>
              <a:rPr lang="en-US" sz="1200" b="1" dirty="0">
                <a:solidFill>
                  <a:srgbClr val="A14F0A"/>
                </a:solidFill>
                <a:latin typeface="Nunito Sans" pitchFamily="34" charset="0"/>
                <a:ea typeface="Nunito Sans" pitchFamily="34" charset="-122"/>
                <a:cs typeface="Nunito Sans" pitchFamily="34" charset="-120"/>
              </a:rPr>
              <a:t>no</a:t>
            </a:r>
            <a:r>
              <a:rPr lang="en-US" sz="1200" dirty="0">
                <a:solidFill>
                  <a:srgbClr val="14213D"/>
                </a:solidFill>
                <a:latin typeface="Nunito Sans" pitchFamily="34" charset="0"/>
                <a:ea typeface="Nunito Sans" pitchFamily="34" charset="-122"/>
                <a:cs typeface="Nunito Sans" pitchFamily="34" charset="-120"/>
              </a:rPr>
              <a:t> email · stock unchanged</a:t>
            </a:r>
            <a:endParaRPr lang="en-US" sz="1200" dirty="0"/>
          </a:p>
        </p:txBody>
      </p:sp>
      <p:sp>
        <p:nvSpPr>
          <p:cNvPr id="11" name="Shape 9"/>
          <p:cNvSpPr/>
          <p:nvPr/>
        </p:nvSpPr>
        <p:spPr>
          <a:xfrm>
            <a:off x="6197600" y="1777938"/>
            <a:ext cx="5181600" cy="2587956"/>
          </a:xfrm>
          <a:prstGeom prst="roundRect">
            <a:avLst>
              <a:gd name="adj" fmla="val 3926"/>
            </a:avLst>
          </a:prstGeom>
          <a:solidFill>
            <a:srgbClr val="EEF2F7"/>
          </a:solidFill>
          <a:ln/>
        </p:spPr>
      </p:sp>
      <p:sp>
        <p:nvSpPr>
          <p:cNvPr id="12" name="Text 10"/>
          <p:cNvSpPr/>
          <p:nvPr/>
        </p:nvSpPr>
        <p:spPr>
          <a:xfrm>
            <a:off x="6426200" y="1981138"/>
            <a:ext cx="486613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14F0A"/>
                </a:solidFill>
                <a:latin typeface="Nunito Sans" pitchFamily="34" charset="0"/>
                <a:ea typeface="Nunito Sans" pitchFamily="34" charset="-122"/>
                <a:cs typeface="Nunito Sans" pitchFamily="34" charset="-120"/>
              </a:rPr>
              <a:t>TC_CHK_010 · AC5 · TS_CHK_15</a:t>
            </a:r>
            <a:endParaRPr lang="en-US" sz="1200" dirty="0"/>
          </a:p>
        </p:txBody>
      </p:sp>
      <p:sp>
        <p:nvSpPr>
          <p:cNvPr id="13" name="Text 11"/>
          <p:cNvSpPr/>
          <p:nvPr/>
        </p:nvSpPr>
        <p:spPr>
          <a:xfrm>
            <a:off x="6426200" y="2283358"/>
            <a:ext cx="4866132"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omine" pitchFamily="18" charset="0"/>
                <a:ea typeface="Domine" pitchFamily="18" charset="-122"/>
                <a:cs typeface="Domine" pitchFamily="18" charset="-120"/>
              </a:rPr>
              <a:t>Double-click Place Order, one order only</a:t>
            </a:r>
            <a:endParaRPr lang="en-US" sz="1600" dirty="0"/>
          </a:p>
        </p:txBody>
      </p:sp>
      <p:sp>
        <p:nvSpPr>
          <p:cNvPr id="14" name="Text 12"/>
          <p:cNvSpPr/>
          <p:nvPr/>
        </p:nvSpPr>
        <p:spPr>
          <a:xfrm>
            <a:off x="6426200" y="2616076"/>
            <a:ext cx="486613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D4A5C"/>
                </a:solidFill>
                <a:latin typeface="Nunito Sans" pitchFamily="34" charset="0"/>
                <a:ea typeface="Nunito Sans" pitchFamily="34" charset="-122"/>
                <a:cs typeface="Nunito Sans" pitchFamily="34" charset="-120"/>
              </a:rPr>
              <a:t>Pre:</a:t>
            </a:r>
            <a:r>
              <a:rPr lang="en-US" sz="1200" dirty="0">
                <a:solidFill>
                  <a:srgbClr val="3D4A5C"/>
                </a:solidFill>
                <a:latin typeface="Nunito Sans" pitchFamily="34" charset="0"/>
                <a:ea typeface="Nunito Sans" pitchFamily="34" charset="-122"/>
                <a:cs typeface="Nunito Sans" pitchFamily="34" charset="-120"/>
              </a:rPr>
              <a:t> logged in; cart totals ₹2,450; saved address</a:t>
            </a:r>
            <a:endParaRPr lang="en-US" sz="1200" dirty="0"/>
          </a:p>
        </p:txBody>
      </p:sp>
      <p:sp>
        <p:nvSpPr>
          <p:cNvPr id="15" name="Text 13"/>
          <p:cNvSpPr/>
          <p:nvPr/>
        </p:nvSpPr>
        <p:spPr>
          <a:xfrm>
            <a:off x="6426200" y="2918296"/>
            <a:ext cx="486613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D4A5C"/>
                </a:solidFill>
                <a:latin typeface="Nunito Sans" pitchFamily="34" charset="0"/>
                <a:ea typeface="Nunito Sans" pitchFamily="34" charset="-122"/>
                <a:cs typeface="Nunito Sans" pitchFamily="34" charset="-120"/>
              </a:rPr>
              <a:t>Data:</a:t>
            </a:r>
            <a:r>
              <a:rPr lang="en-US" sz="1200" dirty="0">
                <a:solidFill>
                  <a:srgbClr val="3D4A5C"/>
                </a:solidFill>
                <a:latin typeface="Nunito Sans" pitchFamily="34" charset="0"/>
                <a:ea typeface="Nunito Sans" pitchFamily="34" charset="-122"/>
                <a:cs typeface="Nunito Sans" pitchFamily="34" charset="-120"/>
              </a:rPr>
              <a:t> card 4111 1111 1111 1111, 12/28, CVV 123</a:t>
            </a:r>
            <a:endParaRPr lang="en-US" sz="1200" dirty="0"/>
          </a:p>
        </p:txBody>
      </p:sp>
      <p:sp>
        <p:nvSpPr>
          <p:cNvPr id="16" name="Text 14"/>
          <p:cNvSpPr/>
          <p:nvPr/>
        </p:nvSpPr>
        <p:spPr>
          <a:xfrm>
            <a:off x="6426200" y="3220517"/>
            <a:ext cx="4866132"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D4A5C"/>
                </a:solidFill>
                <a:latin typeface="Nunito Sans" pitchFamily="34" charset="0"/>
                <a:ea typeface="Nunito Sans" pitchFamily="34" charset="-122"/>
                <a:cs typeface="Nunito Sans" pitchFamily="34" charset="-120"/>
              </a:rPr>
              <a:t>Steps:</a:t>
            </a:r>
            <a:r>
              <a:rPr lang="en-US" sz="1200" dirty="0">
                <a:solidFill>
                  <a:srgbClr val="3D4A5C"/>
                </a:solidFill>
                <a:latin typeface="Nunito Sans" pitchFamily="34" charset="0"/>
                <a:ea typeface="Nunito Sans" pitchFamily="34" charset="-122"/>
                <a:cs typeface="Nunito Sans" pitchFamily="34" charset="-120"/>
              </a:rPr>
              <a:t> checkout, saved address → card data → </a:t>
            </a:r>
            <a:r>
              <a:rPr lang="en-US" sz="1200" b="1" dirty="0">
                <a:solidFill>
                  <a:srgbClr val="3D4A5C"/>
                </a:solidFill>
                <a:latin typeface="Nunito Sans" pitchFamily="34" charset="0"/>
                <a:ea typeface="Nunito Sans" pitchFamily="34" charset="-122"/>
                <a:cs typeface="Nunito Sans" pitchFamily="34" charset="-120"/>
              </a:rPr>
              <a:t>rapidly double-click</a:t>
            </a:r>
            <a:r>
              <a:rPr lang="en-US" sz="1200" dirty="0">
                <a:solidFill>
                  <a:srgbClr val="3D4A5C"/>
                </a:solidFill>
                <a:latin typeface="Nunito Sans" pitchFamily="34" charset="0"/>
                <a:ea typeface="Nunito Sans" pitchFamily="34" charset="-122"/>
                <a:cs typeface="Nunito Sans" pitchFamily="34" charset="-120"/>
              </a:rPr>
              <a:t> Place Order</a:t>
            </a:r>
            <a:endParaRPr lang="en-US" sz="1200" dirty="0"/>
          </a:p>
        </p:txBody>
      </p:sp>
      <p:sp>
        <p:nvSpPr>
          <p:cNvPr id="17" name="Text 15"/>
          <p:cNvSpPr/>
          <p:nvPr/>
        </p:nvSpPr>
        <p:spPr>
          <a:xfrm>
            <a:off x="6426200" y="3736057"/>
            <a:ext cx="4866132" cy="45204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Nunito Sans" pitchFamily="34" charset="0"/>
                <a:ea typeface="Nunito Sans" pitchFamily="34" charset="-122"/>
                <a:cs typeface="Nunito Sans" pitchFamily="34" charset="-120"/>
              </a:rPr>
              <a:t>Expected:</a:t>
            </a:r>
            <a:r>
              <a:rPr lang="en-US" sz="1200" dirty="0">
                <a:solidFill>
                  <a:srgbClr val="14213D"/>
                </a:solidFill>
                <a:latin typeface="Nunito Sans" pitchFamily="34" charset="0"/>
                <a:ea typeface="Nunito Sans" pitchFamily="34" charset="-122"/>
                <a:cs typeface="Nunito Sans" pitchFamily="34" charset="-120"/>
              </a:rPr>
              <a:t> button disables after first click · exactly </a:t>
            </a:r>
            <a:r>
              <a:rPr lang="en-US" sz="1200" b="1" dirty="0">
                <a:solidFill>
                  <a:srgbClr val="A14F0A"/>
                </a:solidFill>
                <a:latin typeface="Nunito Sans" pitchFamily="34" charset="0"/>
                <a:ea typeface="Nunito Sans" pitchFamily="34" charset="-122"/>
                <a:cs typeface="Nunito Sans" pitchFamily="34" charset="-120"/>
              </a:rPr>
              <a:t>one</a:t>
            </a:r>
            <a:r>
              <a:rPr lang="en-US" sz="1200" dirty="0">
                <a:solidFill>
                  <a:srgbClr val="14213D"/>
                </a:solidFill>
                <a:latin typeface="Nunito Sans" pitchFamily="34" charset="0"/>
                <a:ea typeface="Nunito Sans" pitchFamily="34" charset="-122"/>
                <a:cs typeface="Nunito Sans" pitchFamily="34" charset="-120"/>
              </a:rPr>
              <a:t> order · exactly </a:t>
            </a:r>
            <a:r>
              <a:rPr lang="en-US" sz="1200" b="1" dirty="0">
                <a:solidFill>
                  <a:srgbClr val="A14F0A"/>
                </a:solidFill>
                <a:latin typeface="Nunito Sans" pitchFamily="34" charset="0"/>
                <a:ea typeface="Nunito Sans" pitchFamily="34" charset="-122"/>
                <a:cs typeface="Nunito Sans" pitchFamily="34" charset="-120"/>
              </a:rPr>
              <a:t>one</a:t>
            </a:r>
            <a:r>
              <a:rPr lang="en-US" sz="1200" dirty="0">
                <a:solidFill>
                  <a:srgbClr val="14213D"/>
                </a:solidFill>
                <a:latin typeface="Nunito Sans" pitchFamily="34" charset="0"/>
                <a:ea typeface="Nunito Sans" pitchFamily="34" charset="-122"/>
                <a:cs typeface="Nunito Sans" pitchFamily="34" charset="-120"/>
              </a:rPr>
              <a:t> authorization of ₹2,450 · one email</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TECHNIQUE · BOUNDARY VALUE ANALYSIS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Test either side of every edge</a:t>
            </a:r>
            <a:endParaRPr lang="en-US" sz="3200" dirty="0"/>
          </a:p>
        </p:txBody>
      </p:sp>
      <p:sp>
        <p:nvSpPr>
          <p:cNvPr id="4" name="Text 2"/>
          <p:cNvSpPr/>
          <p:nvPr/>
        </p:nvSpPr>
        <p:spPr>
          <a:xfrm>
            <a:off x="812800" y="1803338"/>
            <a:ext cx="5310886"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omine" pitchFamily="18" charset="0"/>
                <a:ea typeface="Domine" pitchFamily="18" charset="-122"/>
                <a:cs typeface="Domine" pitchFamily="18" charset="-120"/>
              </a:rPr>
              <a:t>PIN code: exactly 6 digits</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186856"/>
          <a:ext cx="5143500" cy="1796521"/>
        </p:xfrm>
        <a:graphic>
          <a:graphicData uri="http://schemas.openxmlformats.org/drawingml/2006/table">
            <a:tbl>
              <a:tblPr/>
              <a:tblGrid>
                <a:gridCol w="2828925">
                  <a:extLst>
                    <a:ext uri="{9D8B030D-6E8A-4147-A177-3AD203B41FA5}">
                      <a16:colId xmlns:a16="http://schemas.microsoft.com/office/drawing/2014/main" val="20000"/>
                    </a:ext>
                  </a:extLst>
                </a:gridCol>
                <a:gridCol w="2314575">
                  <a:extLst>
                    <a:ext uri="{9D8B030D-6E8A-4147-A177-3AD203B41FA5}">
                      <a16:colId xmlns:a16="http://schemas.microsoft.com/office/drawing/2014/main" val="20001"/>
                    </a:ext>
                  </a:extLst>
                </a:gridCol>
              </a:tblGrid>
              <a:tr h="359304">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Input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Expected</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56000 (5 digits)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A14F0A"/>
                          </a:solidFill>
                          <a:latin typeface="Nunito Sans" pitchFamily="34" charset="0"/>
                          <a:ea typeface="Nunito Sans" pitchFamily="34" charset="-122"/>
                          <a:cs typeface="Nunito Sans" pitchFamily="34" charset="-120"/>
                        </a:rPr>
                        <a:t>Rejected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560001 (6 digits)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2B5C9E"/>
                          </a:solidFill>
                          <a:latin typeface="Nunito Sans" pitchFamily="34" charset="0"/>
                          <a:ea typeface="Nunito Sans" pitchFamily="34" charset="-122"/>
                          <a:cs typeface="Nunito Sans" pitchFamily="34" charset="-120"/>
                        </a:rPr>
                        <a:t>Accepted</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5600011 (7 digits)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A14F0A"/>
                          </a:solidFill>
                          <a:latin typeface="Nunito Sans" pitchFamily="34" charset="0"/>
                          <a:ea typeface="Nunito Sans" pitchFamily="34" charset="-122"/>
                          <a:cs typeface="Nunito Sans" pitchFamily="34" charset="-120"/>
                        </a:rPr>
                        <a:t>Rejected (or blocked)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56000A, empty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A14F0A"/>
                          </a:solidFill>
                          <a:latin typeface="Nunito Sans" pitchFamily="34" charset="0"/>
                          <a:ea typeface="Nunito Sans" pitchFamily="34" charset="-122"/>
                          <a:cs typeface="Nunito Sans" pitchFamily="34" charset="-120"/>
                        </a:rPr>
                        <a:t>Rejected</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bl>
          </a:graphicData>
        </a:graphic>
      </p:graphicFrame>
      <p:sp>
        <p:nvSpPr>
          <p:cNvPr id="6" name="Text 3"/>
          <p:cNvSpPr/>
          <p:nvPr/>
        </p:nvSpPr>
        <p:spPr>
          <a:xfrm>
            <a:off x="6223000" y="1803338"/>
            <a:ext cx="5310886"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Domine" pitchFamily="18" charset="0"/>
                <a:ea typeface="Domine" pitchFamily="18" charset="-122"/>
                <a:cs typeface="Domine" pitchFamily="18" charset="-120"/>
              </a:rPr>
              <a:t>Card expiry: today is Oct 2026</a:t>
            </a:r>
            <a:endParaRPr lang="en-US" sz="1600" dirty="0"/>
          </a:p>
        </p:txBody>
      </p:sp>
      <p:sp>
        <p:nvSpPr>
          <p:cNvPr id="7" name="Shape 4"/>
          <p:cNvSpPr/>
          <p:nvPr/>
        </p:nvSpPr>
        <p:spPr>
          <a:xfrm>
            <a:off x="6223000" y="2174156"/>
            <a:ext cx="5156200" cy="520700"/>
          </a:xfrm>
          <a:prstGeom prst="roundRect">
            <a:avLst>
              <a:gd name="adj" fmla="val 14634"/>
            </a:avLst>
          </a:prstGeom>
          <a:solidFill>
            <a:srgbClr val="EEF2F7"/>
          </a:solidFill>
          <a:ln/>
        </p:spPr>
      </p:sp>
      <p:sp>
        <p:nvSpPr>
          <p:cNvPr id="8" name="Text 5"/>
          <p:cNvSpPr/>
          <p:nvPr/>
        </p:nvSpPr>
        <p:spPr>
          <a:xfrm>
            <a:off x="6400800" y="2301156"/>
            <a:ext cx="6858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JetBrains Mono" pitchFamily="49" charset="0"/>
                <a:ea typeface="JetBrains Mono" pitchFamily="49" charset="-122"/>
                <a:cs typeface="JetBrains Mono" pitchFamily="49" charset="-120"/>
              </a:rPr>
              <a:t>09/26</a:t>
            </a:r>
            <a:endParaRPr lang="en-US" sz="1500" dirty="0"/>
          </a:p>
        </p:txBody>
      </p:sp>
      <p:sp>
        <p:nvSpPr>
          <p:cNvPr id="9" name="Text 6"/>
          <p:cNvSpPr/>
          <p:nvPr/>
        </p:nvSpPr>
        <p:spPr>
          <a:xfrm>
            <a:off x="9277747" y="2318941"/>
            <a:ext cx="1923653" cy="256514"/>
          </a:xfrm>
          <a:prstGeom prst="rect">
            <a:avLst/>
          </a:prstGeom>
          <a:noFill/>
          <a:ln/>
        </p:spPr>
        <p:txBody>
          <a:bodyPr wrap="square" lIns="0" tIns="0" rIns="0" bIns="0" rtlCol="0" anchor="t">
            <a:normAutofit/>
          </a:bodyPr>
          <a:lstStyle/>
          <a:p>
            <a:pPr marL="0" indent="0" algn="r">
              <a:lnSpc>
                <a:spcPts val="1820"/>
              </a:lnSpc>
              <a:buNone/>
            </a:pPr>
            <a:r>
              <a:rPr lang="en-US" sz="1300" b="1" dirty="0">
                <a:solidFill>
                  <a:srgbClr val="A14F0A"/>
                </a:solidFill>
                <a:latin typeface="Nunito Sans" pitchFamily="34" charset="0"/>
                <a:ea typeface="Nunito Sans" pitchFamily="34" charset="-122"/>
                <a:cs typeface="Nunito Sans" pitchFamily="34" charset="-120"/>
              </a:rPr>
              <a:t>Rejected</a:t>
            </a:r>
            <a:r>
              <a:rPr lang="en-US" sz="1300" dirty="0">
                <a:solidFill>
                  <a:srgbClr val="A14F0A"/>
                </a:solidFill>
                <a:latin typeface="Nunito Sans" pitchFamily="34" charset="0"/>
                <a:ea typeface="Nunito Sans" pitchFamily="34" charset="-122"/>
                <a:cs typeface="Nunito Sans" pitchFamily="34" charset="-120"/>
              </a:rPr>
              <a:t> (last month)</a:t>
            </a:r>
            <a:endParaRPr lang="en-US" sz="1300" dirty="0"/>
          </a:p>
        </p:txBody>
      </p:sp>
      <p:sp>
        <p:nvSpPr>
          <p:cNvPr id="10" name="Shape 7"/>
          <p:cNvSpPr/>
          <p:nvPr/>
        </p:nvSpPr>
        <p:spPr>
          <a:xfrm>
            <a:off x="6229350" y="2802806"/>
            <a:ext cx="5143500" cy="533400"/>
          </a:xfrm>
          <a:prstGeom prst="roundRect">
            <a:avLst>
              <a:gd name="adj" fmla="val 13095"/>
            </a:avLst>
          </a:prstGeom>
          <a:solidFill>
            <a:srgbClr val="FBEBDD"/>
          </a:solidFill>
          <a:ln w="12700">
            <a:solidFill>
              <a:srgbClr val="A14F0A"/>
            </a:solidFill>
            <a:prstDash val="solid"/>
          </a:ln>
        </p:spPr>
      </p:sp>
      <p:sp>
        <p:nvSpPr>
          <p:cNvPr id="11" name="Text 8"/>
          <p:cNvSpPr/>
          <p:nvPr/>
        </p:nvSpPr>
        <p:spPr>
          <a:xfrm>
            <a:off x="6413500" y="2936156"/>
            <a:ext cx="6858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JetBrains Mono" pitchFamily="49" charset="0"/>
                <a:ea typeface="JetBrains Mono" pitchFamily="49" charset="-122"/>
                <a:cs typeface="JetBrains Mono" pitchFamily="49" charset="-120"/>
              </a:rPr>
              <a:t>10/26</a:t>
            </a:r>
            <a:endParaRPr lang="en-US" sz="1500" dirty="0"/>
          </a:p>
        </p:txBody>
      </p:sp>
      <p:sp>
        <p:nvSpPr>
          <p:cNvPr id="12" name="Text 9"/>
          <p:cNvSpPr/>
          <p:nvPr/>
        </p:nvSpPr>
        <p:spPr>
          <a:xfrm>
            <a:off x="8902145" y="2953941"/>
            <a:ext cx="2286556" cy="256514"/>
          </a:xfrm>
          <a:prstGeom prst="rect">
            <a:avLst/>
          </a:prstGeom>
          <a:noFill/>
          <a:ln/>
        </p:spPr>
        <p:txBody>
          <a:bodyPr wrap="square" lIns="0" tIns="0" rIns="0" bIns="0" rtlCol="0" anchor="t">
            <a:normAutofit/>
          </a:bodyPr>
          <a:lstStyle/>
          <a:p>
            <a:pPr marL="0" indent="0" algn="r">
              <a:lnSpc>
                <a:spcPts val="1820"/>
              </a:lnSpc>
              <a:buNone/>
            </a:pPr>
            <a:r>
              <a:rPr lang="en-US" sz="1300" b="1" dirty="0">
                <a:solidFill>
                  <a:srgbClr val="2B5C9E"/>
                </a:solidFill>
                <a:latin typeface="Nunito Sans" pitchFamily="34" charset="0"/>
                <a:ea typeface="Nunito Sans" pitchFamily="34" charset="-122"/>
                <a:cs typeface="Nunito Sans" pitchFamily="34" charset="-120"/>
              </a:rPr>
              <a:t>Accepted</a:t>
            </a:r>
            <a:r>
              <a:rPr lang="en-US" sz="1300" dirty="0">
                <a:solidFill>
                  <a:srgbClr val="2B5C9E"/>
                </a:solidFill>
                <a:latin typeface="Nunito Sans" pitchFamily="34" charset="0"/>
                <a:ea typeface="Nunito Sans" pitchFamily="34" charset="-122"/>
                <a:cs typeface="Nunito Sans" pitchFamily="34" charset="-120"/>
              </a:rPr>
              <a:t> (current month)</a:t>
            </a:r>
            <a:endParaRPr lang="en-US" sz="1300" dirty="0"/>
          </a:p>
        </p:txBody>
      </p:sp>
      <p:sp>
        <p:nvSpPr>
          <p:cNvPr id="13" name="Shape 10"/>
          <p:cNvSpPr/>
          <p:nvPr/>
        </p:nvSpPr>
        <p:spPr>
          <a:xfrm>
            <a:off x="6223000" y="3444156"/>
            <a:ext cx="5156200" cy="520700"/>
          </a:xfrm>
          <a:prstGeom prst="roundRect">
            <a:avLst>
              <a:gd name="adj" fmla="val 14634"/>
            </a:avLst>
          </a:prstGeom>
          <a:solidFill>
            <a:srgbClr val="EEF2F7"/>
          </a:solidFill>
          <a:ln/>
        </p:spPr>
      </p:sp>
      <p:sp>
        <p:nvSpPr>
          <p:cNvPr id="14" name="Text 11"/>
          <p:cNvSpPr/>
          <p:nvPr/>
        </p:nvSpPr>
        <p:spPr>
          <a:xfrm>
            <a:off x="6400800" y="3571156"/>
            <a:ext cx="6858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JetBrains Mono" pitchFamily="49" charset="0"/>
                <a:ea typeface="JetBrains Mono" pitchFamily="49" charset="-122"/>
                <a:cs typeface="JetBrains Mono" pitchFamily="49" charset="-120"/>
              </a:rPr>
              <a:t>11/26</a:t>
            </a:r>
            <a:endParaRPr lang="en-US" sz="1500" dirty="0"/>
          </a:p>
        </p:txBody>
      </p:sp>
      <p:sp>
        <p:nvSpPr>
          <p:cNvPr id="15" name="Text 12"/>
          <p:cNvSpPr/>
          <p:nvPr/>
        </p:nvSpPr>
        <p:spPr>
          <a:xfrm>
            <a:off x="9153129" y="3588941"/>
            <a:ext cx="2048272" cy="256514"/>
          </a:xfrm>
          <a:prstGeom prst="rect">
            <a:avLst/>
          </a:prstGeom>
          <a:noFill/>
          <a:ln/>
        </p:spPr>
        <p:txBody>
          <a:bodyPr wrap="square" lIns="0" tIns="0" rIns="0" bIns="0" rtlCol="0" anchor="t">
            <a:normAutofit/>
          </a:bodyPr>
          <a:lstStyle/>
          <a:p>
            <a:pPr marL="0" indent="0" algn="r">
              <a:lnSpc>
                <a:spcPts val="1820"/>
              </a:lnSpc>
              <a:buNone/>
            </a:pPr>
            <a:r>
              <a:rPr lang="en-US" sz="1300" b="1" dirty="0">
                <a:solidFill>
                  <a:srgbClr val="2B5C9E"/>
                </a:solidFill>
                <a:latin typeface="Nunito Sans" pitchFamily="34" charset="0"/>
                <a:ea typeface="Nunito Sans" pitchFamily="34" charset="-122"/>
                <a:cs typeface="Nunito Sans" pitchFamily="34" charset="-120"/>
              </a:rPr>
              <a:t>Accepted</a:t>
            </a:r>
            <a:r>
              <a:rPr lang="en-US" sz="1300" dirty="0">
                <a:solidFill>
                  <a:srgbClr val="2B5C9E"/>
                </a:solidFill>
                <a:latin typeface="Nunito Sans" pitchFamily="34" charset="0"/>
                <a:ea typeface="Nunito Sans" pitchFamily="34" charset="-122"/>
                <a:cs typeface="Nunito Sans" pitchFamily="34" charset="-120"/>
              </a:rPr>
              <a:t> (next month)</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TECHNIQUE · DECISION TABLE</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Payment outcome, rule by rule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8"/>
          <a:ext cx="10553700" cy="2541852"/>
        </p:xfrm>
        <a:graphic>
          <a:graphicData uri="http://schemas.openxmlformats.org/drawingml/2006/table">
            <a:tbl>
              <a:tblPr/>
              <a:tblGrid>
                <a:gridCol w="2110740">
                  <a:extLst>
                    <a:ext uri="{9D8B030D-6E8A-4147-A177-3AD203B41FA5}">
                      <a16:colId xmlns:a16="http://schemas.microsoft.com/office/drawing/2014/main" val="20000"/>
                    </a:ext>
                  </a:extLst>
                </a:gridCol>
                <a:gridCol w="1794129">
                  <a:extLst>
                    <a:ext uri="{9D8B030D-6E8A-4147-A177-3AD203B41FA5}">
                      <a16:colId xmlns:a16="http://schemas.microsoft.com/office/drawing/2014/main" val="20001"/>
                    </a:ext>
                  </a:extLst>
                </a:gridCol>
                <a:gridCol w="2110740">
                  <a:extLst>
                    <a:ext uri="{9D8B030D-6E8A-4147-A177-3AD203B41FA5}">
                      <a16:colId xmlns:a16="http://schemas.microsoft.com/office/drawing/2014/main" val="20002"/>
                    </a:ext>
                  </a:extLst>
                </a:gridCol>
                <a:gridCol w="2638425">
                  <a:extLst>
                    <a:ext uri="{9D8B030D-6E8A-4147-A177-3AD203B41FA5}">
                      <a16:colId xmlns:a16="http://schemas.microsoft.com/office/drawing/2014/main" val="20003"/>
                    </a:ext>
                  </a:extLst>
                </a:gridCol>
                <a:gridCol w="1899666">
                  <a:extLst>
                    <a:ext uri="{9D8B030D-6E8A-4147-A177-3AD203B41FA5}">
                      <a16:colId xmlns:a16="http://schemas.microsoft.com/office/drawing/2014/main" val="20004"/>
                    </a:ext>
                  </a:extLst>
                </a:gridCol>
              </a:tblGrid>
              <a:tr h="332647">
                <a:tc>
                  <a:txBody>
                    <a:bodyPr/>
                    <a:lstStyle/>
                    <a:p>
                      <a:pPr marL="0" indent="0">
                        <a:lnSpc>
                          <a:spcPts val="1680"/>
                        </a:lnSpc>
                        <a:buNone/>
                      </a:pP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R1</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R2</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R3</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R4</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Card details valid?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Yes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Yes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Yes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No</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Gateway response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Authorized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Declined / Insufficient</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Timeout</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Not sent</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Create order?</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2B5C9E"/>
                          </a:solidFill>
                          <a:latin typeface="Nunito Sans" pitchFamily="34" charset="0"/>
                          <a:ea typeface="Nunito Sans" pitchFamily="34" charset="-122"/>
                          <a:cs typeface="Nunito Sans" pitchFamily="34" charset="-120"/>
                        </a:rPr>
                        <a:t>Yes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No</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No</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No</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Charge customer?</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2B5C9E"/>
                          </a:solidFill>
                          <a:latin typeface="Nunito Sans" pitchFamily="34" charset="0"/>
                          <a:ea typeface="Nunito Sans" pitchFamily="34" charset="-122"/>
                          <a:cs typeface="Nunito Sans" pitchFamily="34" charset="-120"/>
                        </a:rPr>
                        <a:t>Yes</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No</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No (or auto-reversed)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No</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32647">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Send confirmation?</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2B5C9E"/>
                          </a:solidFill>
                          <a:latin typeface="Nunito Sans" pitchFamily="34" charset="0"/>
                          <a:ea typeface="Nunito Sans" pitchFamily="34" charset="-122"/>
                          <a:cs typeface="Nunito Sans" pitchFamily="34" charset="-120"/>
                        </a:rPr>
                        <a:t>Yes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No</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No</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No</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545968">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Message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Confirmation page</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"Payment declined"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"Payment could not be completed, you have not been charged"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Field-level validation error</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5011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DELIVERABLE 5 · DEFECTS · 7 MIN</a:t>
            </a:r>
            <a:endParaRPr lang="en-US" sz="1200" dirty="0"/>
          </a:p>
        </p:txBody>
      </p:sp>
      <p:sp>
        <p:nvSpPr>
          <p:cNvPr id="3" name="Text 1"/>
          <p:cNvSpPr>
            <a:spLocks noGrp="1"/>
          </p:cNvSpPr>
          <p:nvPr>
            <p:ph type="title"/>
          </p:nvPr>
        </p:nvSpPr>
        <p:spPr>
          <a:xfrm>
            <a:off x="812800" y="1968500"/>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BFBF8"/>
                </a:solidFill>
                <a:latin typeface="Domine" pitchFamily="18" charset="0"/>
                <a:ea typeface="Domine" pitchFamily="18" charset="-122"/>
                <a:cs typeface="Domine" pitchFamily="18" charset="-120"/>
              </a:rPr>
              <a:t>Report the failures, then follow them through</a:t>
            </a:r>
            <a:endParaRPr lang="en-US" sz="3600" dirty="0"/>
          </a:p>
        </p:txBody>
      </p:sp>
      <p:sp>
        <p:nvSpPr>
          <p:cNvPr id="4" name="Text 2"/>
          <p:cNvSpPr/>
          <p:nvPr/>
        </p:nvSpPr>
        <p:spPr>
          <a:xfrm>
            <a:off x="812800" y="2725415"/>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Nunito Sans" pitchFamily="34" charset="0"/>
                <a:ea typeface="Nunito Sans" pitchFamily="34" charset="-122"/>
                <a:cs typeface="Nunito Sans" pitchFamily="34" charset="-120"/>
              </a:rPr>
              <a:t>QA build 3.2.0-rc5 · Chrome 129, Windows 11 unless stated · 5 of 7 test cases failed</a:t>
            </a:r>
            <a:endParaRPr lang="en-US" sz="1400" dirty="0"/>
          </a:p>
        </p:txBody>
      </p:sp>
      <p:sp>
        <p:nvSpPr>
          <p:cNvPr id="5" name="Shape 3"/>
          <p:cNvSpPr/>
          <p:nvPr/>
        </p:nvSpPr>
        <p:spPr>
          <a:xfrm>
            <a:off x="812800" y="3228318"/>
            <a:ext cx="10566400" cy="624814"/>
          </a:xfrm>
          <a:prstGeom prst="roundRect">
            <a:avLst>
              <a:gd name="adj" fmla="val 12196"/>
            </a:avLst>
          </a:prstGeom>
          <a:solidFill>
            <a:srgbClr val="24345A"/>
          </a:solidFill>
          <a:ln/>
        </p:spPr>
      </p:sp>
      <p:sp>
        <p:nvSpPr>
          <p:cNvPr id="6" name="Text 4"/>
          <p:cNvSpPr/>
          <p:nvPr/>
        </p:nvSpPr>
        <p:spPr>
          <a:xfrm>
            <a:off x="1016000" y="3380718"/>
            <a:ext cx="304800" cy="345414"/>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0A04B"/>
                </a:solidFill>
                <a:latin typeface="Domine" pitchFamily="18" charset="0"/>
                <a:ea typeface="Domine" pitchFamily="18" charset="-122"/>
                <a:cs typeface="Domine" pitchFamily="18" charset="-120"/>
              </a:rPr>
              <a:t>1</a:t>
            </a:r>
            <a:endParaRPr lang="en-US" sz="1800" dirty="0"/>
          </a:p>
        </p:txBody>
      </p:sp>
      <p:sp>
        <p:nvSpPr>
          <p:cNvPr id="7" name="Text 5"/>
          <p:cNvSpPr/>
          <p:nvPr/>
        </p:nvSpPr>
        <p:spPr>
          <a:xfrm>
            <a:off x="1422400" y="3418818"/>
            <a:ext cx="632714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BFBF8"/>
                </a:solidFill>
                <a:latin typeface="Nunito Sans" pitchFamily="34" charset="0"/>
                <a:ea typeface="Nunito Sans" pitchFamily="34" charset="-122"/>
                <a:cs typeface="Nunito Sans" pitchFamily="34" charset="-120"/>
              </a:rPr>
              <a:t>Write a </a:t>
            </a:r>
            <a:r>
              <a:rPr lang="en-US" sz="1500" b="1" dirty="0">
                <a:solidFill>
                  <a:srgbClr val="FBFBF8"/>
                </a:solidFill>
                <a:latin typeface="Nunito Sans" pitchFamily="34" charset="0"/>
                <a:ea typeface="Nunito Sans" pitchFamily="34" charset="-122"/>
                <a:cs typeface="Nunito Sans" pitchFamily="34" charset="-120"/>
              </a:rPr>
              <a:t>full</a:t>
            </a:r>
            <a:r>
              <a:rPr lang="en-US" sz="1500" dirty="0">
                <a:solidFill>
                  <a:srgbClr val="FBFBF8"/>
                </a:solidFill>
                <a:latin typeface="Nunito Sans" pitchFamily="34" charset="0"/>
                <a:ea typeface="Nunito Sans" pitchFamily="34" charset="-122"/>
                <a:cs typeface="Nunito Sans" pitchFamily="34" charset="-120"/>
              </a:rPr>
              <a:t> defect report for </a:t>
            </a:r>
            <a:r>
              <a:rPr lang="en-US" sz="1500" b="1" dirty="0">
                <a:solidFill>
                  <a:srgbClr val="F0A04B"/>
                </a:solidFill>
                <a:latin typeface="Nunito Sans" pitchFamily="34" charset="0"/>
                <a:ea typeface="Nunito Sans" pitchFamily="34" charset="-122"/>
                <a:cs typeface="Nunito Sans" pitchFamily="34" charset="-120"/>
              </a:rPr>
              <a:t>TC_CHK_010</a:t>
            </a:r>
            <a:r>
              <a:rPr lang="en-US" sz="1500" dirty="0">
                <a:solidFill>
                  <a:srgbClr val="FBFBF8"/>
                </a:solidFill>
                <a:latin typeface="Nunito Sans" pitchFamily="34" charset="0"/>
                <a:ea typeface="Nunito Sans" pitchFamily="34" charset="-122"/>
                <a:cs typeface="Nunito Sans" pitchFamily="34" charset="-120"/>
              </a:rPr>
              <a:t> and </a:t>
            </a:r>
            <a:r>
              <a:rPr lang="en-US" sz="1500" b="1" dirty="0">
                <a:solidFill>
                  <a:srgbClr val="F0A04B"/>
                </a:solidFill>
                <a:latin typeface="Nunito Sans" pitchFamily="34" charset="0"/>
                <a:ea typeface="Nunito Sans" pitchFamily="34" charset="-122"/>
                <a:cs typeface="Nunito Sans" pitchFamily="34" charset="-120"/>
              </a:rPr>
              <a:t>TC_CHK_007</a:t>
            </a:r>
            <a:r>
              <a:rPr lang="en-US" sz="1500" dirty="0">
                <a:solidFill>
                  <a:srgbClr val="FBFBF8"/>
                </a:solidFill>
                <a:latin typeface="Nunito Sans" pitchFamily="34" charset="0"/>
                <a:ea typeface="Nunito Sans" pitchFamily="34" charset="-122"/>
                <a:cs typeface="Nunito Sans" pitchFamily="34" charset="-120"/>
              </a:rPr>
              <a:t>.</a:t>
            </a:r>
            <a:endParaRPr lang="en-US" sz="1500" dirty="0"/>
          </a:p>
        </p:txBody>
      </p:sp>
      <p:sp>
        <p:nvSpPr>
          <p:cNvPr id="8" name="Shape 6"/>
          <p:cNvSpPr/>
          <p:nvPr/>
        </p:nvSpPr>
        <p:spPr>
          <a:xfrm>
            <a:off x="812800" y="3980135"/>
            <a:ext cx="10566400" cy="624814"/>
          </a:xfrm>
          <a:prstGeom prst="roundRect">
            <a:avLst>
              <a:gd name="adj" fmla="val 12196"/>
            </a:avLst>
          </a:prstGeom>
          <a:solidFill>
            <a:srgbClr val="24345A"/>
          </a:solidFill>
          <a:ln/>
        </p:spPr>
      </p:sp>
      <p:sp>
        <p:nvSpPr>
          <p:cNvPr id="9" name="Text 7"/>
          <p:cNvSpPr/>
          <p:nvPr/>
        </p:nvSpPr>
        <p:spPr>
          <a:xfrm>
            <a:off x="1016000" y="4132535"/>
            <a:ext cx="304800" cy="345414"/>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0A04B"/>
                </a:solidFill>
                <a:latin typeface="Domine" pitchFamily="18" charset="0"/>
                <a:ea typeface="Domine" pitchFamily="18" charset="-122"/>
                <a:cs typeface="Domine" pitchFamily="18" charset="-120"/>
              </a:rPr>
              <a:t>2</a:t>
            </a:r>
            <a:endParaRPr lang="en-US" sz="1800" dirty="0"/>
          </a:p>
        </p:txBody>
      </p:sp>
      <p:sp>
        <p:nvSpPr>
          <p:cNvPr id="10" name="Text 8"/>
          <p:cNvSpPr/>
          <p:nvPr/>
        </p:nvSpPr>
        <p:spPr>
          <a:xfrm>
            <a:off x="1422400" y="4170635"/>
            <a:ext cx="5877639"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BFBF8"/>
                </a:solidFill>
                <a:latin typeface="Nunito Sans" pitchFamily="34" charset="0"/>
                <a:ea typeface="Nunito Sans" pitchFamily="34" charset="-122"/>
                <a:cs typeface="Nunito Sans" pitchFamily="34" charset="-120"/>
              </a:rPr>
              <a:t>For the other three failures: just </a:t>
            </a:r>
            <a:r>
              <a:rPr lang="en-US" sz="1500" b="1" dirty="0">
                <a:solidFill>
                  <a:srgbClr val="FBFBF8"/>
                </a:solidFill>
                <a:latin typeface="Nunito Sans" pitchFamily="34" charset="0"/>
                <a:ea typeface="Nunito Sans" pitchFamily="34" charset="-122"/>
                <a:cs typeface="Nunito Sans" pitchFamily="34" charset="-120"/>
              </a:rPr>
              <a:t>title + severity + priority</a:t>
            </a:r>
            <a:r>
              <a:rPr lang="en-US" sz="1500" dirty="0">
                <a:solidFill>
                  <a:srgbClr val="FBFBF8"/>
                </a:solidFill>
                <a:latin typeface="Nunito Sans" pitchFamily="34" charset="0"/>
                <a:ea typeface="Nunito Sans" pitchFamily="34" charset="-122"/>
                <a:cs typeface="Nunito Sans" pitchFamily="34" charset="-120"/>
              </a:rPr>
              <a:t>.</a:t>
            </a:r>
            <a:endParaRPr lang="en-US" sz="1500" dirty="0"/>
          </a:p>
        </p:txBody>
      </p:sp>
      <p:sp>
        <p:nvSpPr>
          <p:cNvPr id="11" name="Shape 9"/>
          <p:cNvSpPr/>
          <p:nvPr/>
        </p:nvSpPr>
        <p:spPr>
          <a:xfrm>
            <a:off x="812800" y="4731941"/>
            <a:ext cx="10566400" cy="624814"/>
          </a:xfrm>
          <a:prstGeom prst="roundRect">
            <a:avLst>
              <a:gd name="adj" fmla="val 12196"/>
            </a:avLst>
          </a:prstGeom>
          <a:solidFill>
            <a:srgbClr val="24345A"/>
          </a:solidFill>
          <a:ln/>
        </p:spPr>
      </p:sp>
      <p:sp>
        <p:nvSpPr>
          <p:cNvPr id="12" name="Text 10"/>
          <p:cNvSpPr/>
          <p:nvPr/>
        </p:nvSpPr>
        <p:spPr>
          <a:xfrm>
            <a:off x="1016000" y="4884341"/>
            <a:ext cx="304800" cy="345414"/>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0A04B"/>
                </a:solidFill>
                <a:latin typeface="Domine" pitchFamily="18" charset="0"/>
                <a:ea typeface="Domine" pitchFamily="18" charset="-122"/>
                <a:cs typeface="Domine" pitchFamily="18" charset="-120"/>
              </a:rPr>
              <a:t>3</a:t>
            </a:r>
            <a:endParaRPr lang="en-US" sz="1800" dirty="0"/>
          </a:p>
        </p:txBody>
      </p:sp>
      <p:sp>
        <p:nvSpPr>
          <p:cNvPr id="13" name="Text 11"/>
          <p:cNvSpPr/>
          <p:nvPr/>
        </p:nvSpPr>
        <p:spPr>
          <a:xfrm>
            <a:off x="1422400" y="4922441"/>
            <a:ext cx="72086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BFBF8"/>
                </a:solidFill>
                <a:latin typeface="Nunito Sans" pitchFamily="34" charset="0"/>
                <a:ea typeface="Nunito Sans" pitchFamily="34" charset="-122"/>
                <a:cs typeface="Nunito Sans" pitchFamily="34" charset="-120"/>
              </a:rPr>
              <a:t>Use the triage outcomes to move </a:t>
            </a:r>
            <a:r>
              <a:rPr lang="en-US" sz="1500" b="1" dirty="0">
                <a:solidFill>
                  <a:srgbClr val="FBFBF8"/>
                </a:solidFill>
                <a:latin typeface="Nunito Sans" pitchFamily="34" charset="0"/>
                <a:ea typeface="Nunito Sans" pitchFamily="34" charset="-122"/>
                <a:cs typeface="Nunito Sans" pitchFamily="34" charset="-120"/>
              </a:rPr>
              <a:t>all five</a:t>
            </a:r>
            <a:r>
              <a:rPr lang="en-US" sz="1500" dirty="0">
                <a:solidFill>
                  <a:srgbClr val="FBFBF8"/>
                </a:solidFill>
                <a:latin typeface="Nunito Sans" pitchFamily="34" charset="0"/>
                <a:ea typeface="Nunito Sans" pitchFamily="34" charset="-122"/>
                <a:cs typeface="Nunito Sans" pitchFamily="34" charset="-120"/>
              </a:rPr>
              <a:t> defects through the life cycle.</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GIVEN · EXECUTION RESULTS · BUILD 3.2.0-RC5</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What the test run found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38"/>
          <a:ext cx="10553700" cy="3087820"/>
        </p:xfrm>
        <a:graphic>
          <a:graphicData uri="http://schemas.openxmlformats.org/drawingml/2006/table">
            <a:tbl>
              <a:tblPr/>
              <a:tblGrid>
                <a:gridCol w="1688592">
                  <a:extLst>
                    <a:ext uri="{9D8B030D-6E8A-4147-A177-3AD203B41FA5}">
                      <a16:colId xmlns:a16="http://schemas.microsoft.com/office/drawing/2014/main" val="20000"/>
                    </a:ext>
                  </a:extLst>
                </a:gridCol>
                <a:gridCol w="1055370">
                  <a:extLst>
                    <a:ext uri="{9D8B030D-6E8A-4147-A177-3AD203B41FA5}">
                      <a16:colId xmlns:a16="http://schemas.microsoft.com/office/drawing/2014/main" val="20001"/>
                    </a:ext>
                  </a:extLst>
                </a:gridCol>
                <a:gridCol w="7809738">
                  <a:extLst>
                    <a:ext uri="{9D8B030D-6E8A-4147-A177-3AD203B41FA5}">
                      <a16:colId xmlns:a16="http://schemas.microsoft.com/office/drawing/2014/main" val="20002"/>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TC ID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Status</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Actual result observed</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TC_CHK_001</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2B5C9E"/>
                          </a:solidFill>
                          <a:latin typeface="Nunito Sans" pitchFamily="34" charset="0"/>
                          <a:ea typeface="Nunito Sans" pitchFamily="34" charset="-122"/>
                          <a:cs typeface="Nunito Sans" pitchFamily="34" charset="-120"/>
                        </a:rPr>
                        <a:t>Pass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As expected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TC_CHK_005</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2B5C9E"/>
                          </a:solidFill>
                          <a:latin typeface="Nunito Sans" pitchFamily="34" charset="0"/>
                          <a:ea typeface="Nunito Sans" pitchFamily="34" charset="-122"/>
                          <a:cs typeface="Nunito Sans" pitchFamily="34" charset="-120"/>
                        </a:rPr>
                        <a:t>Pass</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As expected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TC_CHK_007</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Fail</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Expiry 09/26 (past month) accepted; sandbox authorized; order ORD-10311 created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TC_CHK_010</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Fail</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Double-click created two orders (ORD-10322, ORD-10323) and two authorizations of ₹2,450. Reproduced 4/5 times</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TC_CHK_012</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Fail</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PIN 56000 (5 digits) accepted; order created with invalid PIN</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TC_CHK_015</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Fail</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Email not received for 3 of 5 saved-card orders; on-screen confirmation correct; all new-card emails received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545968">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TC_CHK_018</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Fail</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Safari, iPhone 14 (iOS 18): Place Order partly hidden behind the sticky "Need help?" chat bubble; tappable only after scrolling to the very bottom</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GIVEN · TRIAGE AND FIX OUTCOMES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What happened next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38"/>
          <a:ext cx="10553700" cy="2618052"/>
        </p:xfrm>
        <a:graphic>
          <a:graphicData uri="http://schemas.openxmlformats.org/drawingml/2006/table">
            <a:tbl>
              <a:tblPr/>
              <a:tblGrid>
                <a:gridCol w="1899666">
                  <a:extLst>
                    <a:ext uri="{9D8B030D-6E8A-4147-A177-3AD203B41FA5}">
                      <a16:colId xmlns:a16="http://schemas.microsoft.com/office/drawing/2014/main" val="20000"/>
                    </a:ext>
                  </a:extLst>
                </a:gridCol>
                <a:gridCol w="8654034">
                  <a:extLst>
                    <a:ext uri="{9D8B030D-6E8A-4147-A177-3AD203B41FA5}">
                      <a16:colId xmlns:a16="http://schemas.microsoft.com/office/drawing/2014/main" val="20001"/>
                    </a:ext>
                  </a:extLst>
                </a:gridCol>
              </a:tblGrid>
              <a:tr h="359304">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Failed TC</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Outcome</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TC_CHK_010</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Accepted. Fixed in rc6. Retest passed; regression on checkout passed.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590418">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TC_CHK_007</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Accepted. Fixed in rc6. Retest failed: 09/26 now rejected, but 10/26 (current month) also rejected. Fixed again in rc7; retest and regression passed.</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TC_CHK_012</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Accepted. Fixed in rc6. Retest passed.</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TC_CHK_015</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The lead found BUG-298 (raised last week) already reports "Emails not sent for saved-card payments".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590418">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TC_CHK_018</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Valid, but the PO scheduled the chat-bubble redesign for next release; the scroll workaround is acceptable for now.</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FULL REPORT · BUG-311</a:t>
            </a:r>
            <a:endParaRPr lang="en-US" sz="1200" dirty="0"/>
          </a:p>
        </p:txBody>
      </p:sp>
      <p:sp>
        <p:nvSpPr>
          <p:cNvPr id="3" name="Text 1"/>
          <p:cNvSpPr>
            <a:spLocks noGrp="1"/>
          </p:cNvSpPr>
          <p:nvPr>
            <p:ph type="title"/>
          </p:nvPr>
        </p:nvSpPr>
        <p:spPr>
          <a:xfrm>
            <a:off x="812800" y="1102320"/>
            <a:ext cx="10883392" cy="726414"/>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4213D"/>
                </a:solidFill>
                <a:latin typeface="Domine" pitchFamily="18" charset="0"/>
                <a:ea typeface="Domine" pitchFamily="18" charset="-122"/>
                <a:cs typeface="Domine" pitchFamily="18" charset="-120"/>
              </a:rPr>
              <a:t>Checkout: double-clicking "Place Order" creates duplicate orders and double-charges the customer</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19238"/>
          <a:ext cx="10553700" cy="2993827"/>
        </p:xfrm>
        <a:graphic>
          <a:graphicData uri="http://schemas.openxmlformats.org/drawingml/2006/table">
            <a:tbl>
              <a:tblPr/>
              <a:tblGrid>
                <a:gridCol w="2110740">
                  <a:extLst>
                    <a:ext uri="{9D8B030D-6E8A-4147-A177-3AD203B41FA5}">
                      <a16:colId xmlns:a16="http://schemas.microsoft.com/office/drawing/2014/main" val="20000"/>
                    </a:ext>
                  </a:extLst>
                </a:gridCol>
                <a:gridCol w="8442960">
                  <a:extLst>
                    <a:ext uri="{9D8B030D-6E8A-4147-A177-3AD203B41FA5}">
                      <a16:colId xmlns:a16="http://schemas.microsoft.com/office/drawing/2014/main" val="20001"/>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Field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Value</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Module · Env</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Checkout → Payment · QA, build 3.2.0-rc5, Chrome 129, Windows 11</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Pre · Data</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asha@example.com logged in; cart ₹2,450; saved address · Card 4111 1111 1111 1111, 12/28, CVV 123</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Steps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1. Cart → Checkout  2. Saved address → Continue  3. Enter card data  4. Double-click Place Order quickly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Expected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One order, one authorization of ₹2,450, button disabled after first click (US-301 AC5)</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Actual</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Two orders (ORD-10322, ORD-10323) and two authorizations of ₹2,450 in sandbox</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Repro</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4/5 attempts</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Sev / Pri</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Critical / P1 (financial loss, customer trust)</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extLst>
                  <a:ext uri="{0D108BD9-81ED-4DB2-BD59-A6C34878D82A}">
                    <a16:rowId xmlns:a16="http://schemas.microsoft.com/office/drawing/2014/main" val="10007"/>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Attach · Link</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Screen recording, sandbox log, My Orders screenshot · TC_CHK_010, US-301</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BCB1"/>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BUG-312 IN FULL, THREE SHORT ONES</a:t>
            </a:r>
            <a:endParaRPr lang="en-US" sz="1200" dirty="0"/>
          </a:p>
        </p:txBody>
      </p:sp>
      <p:sp>
        <p:nvSpPr>
          <p:cNvPr id="3" name="Text 1"/>
          <p:cNvSpPr>
            <a:spLocks noGrp="1"/>
          </p:cNvSpPr>
          <p:nvPr>
            <p:ph type="title"/>
          </p:nvPr>
        </p:nvSpPr>
        <p:spPr>
          <a:xfrm>
            <a:off x="812800" y="1102320"/>
            <a:ext cx="10883392" cy="726414"/>
          </a:xfrm>
          <a:prstGeom prst="rect">
            <a:avLst/>
          </a:prstGeom>
          <a:noFill/>
          <a:ln/>
        </p:spPr>
        <p:txBody>
          <a:bodyPr wrap="square" lIns="0" tIns="0" rIns="0" bIns="0" rtlCol="0" anchor="t">
            <a:normAutofit/>
          </a:bodyPr>
          <a:lstStyle/>
          <a:p>
            <a:pPr marL="0" indent="0" algn="l">
              <a:lnSpc>
                <a:spcPts val="2760"/>
              </a:lnSpc>
              <a:buNone/>
            </a:pPr>
            <a:r>
              <a:rPr lang="en-US" sz="2400" b="1" i="0" dirty="0">
                <a:solidFill>
                  <a:srgbClr val="14213D"/>
                </a:solidFill>
                <a:latin typeface="Domine" pitchFamily="18" charset="0"/>
                <a:ea typeface="Domine" pitchFamily="18" charset="-122"/>
                <a:cs typeface="Domine" pitchFamily="18" charset="-120"/>
              </a:rPr>
              <a:t>Payment: expired card (past expiry month) is accepted and an order is created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19238"/>
          <a:ext cx="10553700" cy="1330590"/>
        </p:xfrm>
        <a:graphic>
          <a:graphicData uri="http://schemas.openxmlformats.org/drawingml/2006/table">
            <a:tbl>
              <a:tblPr/>
              <a:tblGrid>
                <a:gridCol w="2110740">
                  <a:extLst>
                    <a:ext uri="{9D8B030D-6E8A-4147-A177-3AD203B41FA5}">
                      <a16:colId xmlns:a16="http://schemas.microsoft.com/office/drawing/2014/main" val="20000"/>
                    </a:ext>
                  </a:extLst>
                </a:gridCol>
                <a:gridCol w="8442960">
                  <a:extLst>
                    <a:ext uri="{9D8B030D-6E8A-4147-A177-3AD203B41FA5}">
                      <a16:colId xmlns:a16="http://schemas.microsoft.com/office/drawing/2014/main" val="20001"/>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Field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Value</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Steps</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Checkout with card 4111 1111 1111 1111, exp 09/26, CVV 123 (today 06-Oct-2026) → Place Order</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Expected · Actual</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"Card has expired"; no gateway call; no order (AC3) · Payment authorized, order ORD-10311 created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Sev / Pri</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80"/>
                        </a:lnSpc>
                        <a:buNone/>
                      </a:pPr>
                      <a:r>
                        <a:rPr lang="en-US" sz="1200" dirty="0">
                          <a:solidFill>
                            <a:srgbClr val="A14F0A"/>
                          </a:solidFill>
                          <a:latin typeface="Nunito Sans" pitchFamily="34" charset="0"/>
                          <a:ea typeface="Nunito Sans" pitchFamily="34" charset="-122"/>
                          <a:cs typeface="Nunito Sans" pitchFamily="34" charset="-120"/>
                        </a:rPr>
                        <a:t>High / P1 (real gateways may decline later: orphan orders, chargebacks)</a:t>
                      </a:r>
                      <a:endParaRPr lang="en-US" sz="1200" dirty="0">
                        <a:latin typeface="Nunito Sans" charset="0"/>
                        <a:ea typeface="Nunito Sans" charset="0"/>
                        <a:cs typeface="Nunito Sans" charset="0"/>
                      </a:endParaRPr>
                    </a:p>
                  </a:txBody>
                  <a:tcPr marL="53340" marR="53340" marT="53340" marB="533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extLst>
                  <a:ext uri="{0D108BD9-81ED-4DB2-BD59-A6C34878D82A}">
                    <a16:rowId xmlns:a16="http://schemas.microsoft.com/office/drawing/2014/main" val="10003"/>
                  </a:ext>
                </a:extLst>
              </a:tr>
            </a:tbl>
          </a:graphicData>
        </a:graphic>
      </p:graphicFrame>
      <p:sp>
        <p:nvSpPr>
          <p:cNvPr id="5" name="Shape 2"/>
          <p:cNvSpPr/>
          <p:nvPr/>
        </p:nvSpPr>
        <p:spPr>
          <a:xfrm>
            <a:off x="812800" y="3553023"/>
            <a:ext cx="3420533" cy="1473002"/>
          </a:xfrm>
          <a:prstGeom prst="roundRect">
            <a:avLst>
              <a:gd name="adj" fmla="val 5173"/>
            </a:avLst>
          </a:prstGeom>
          <a:solidFill>
            <a:srgbClr val="EEF2F7"/>
          </a:solidFill>
          <a:ln/>
        </p:spPr>
      </p:sp>
      <p:sp>
        <p:nvSpPr>
          <p:cNvPr id="6" name="Text 3"/>
          <p:cNvSpPr/>
          <p:nvPr/>
        </p:nvSpPr>
        <p:spPr>
          <a:xfrm>
            <a:off x="990600" y="3705423"/>
            <a:ext cx="315688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14F0A"/>
                </a:solidFill>
                <a:latin typeface="Nunito Sans" pitchFamily="34" charset="0"/>
                <a:ea typeface="Nunito Sans" pitchFamily="34" charset="-122"/>
                <a:cs typeface="Nunito Sans" pitchFamily="34" charset="-120"/>
              </a:rPr>
              <a:t>BUG-313 · Medium / P2</a:t>
            </a:r>
            <a:endParaRPr lang="en-US" sz="1200" dirty="0"/>
          </a:p>
        </p:txBody>
      </p:sp>
      <p:sp>
        <p:nvSpPr>
          <p:cNvPr id="7" name="Text 4"/>
          <p:cNvSpPr/>
          <p:nvPr/>
        </p:nvSpPr>
        <p:spPr>
          <a:xfrm>
            <a:off x="990600" y="3969544"/>
            <a:ext cx="315688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Nunito Sans" pitchFamily="34" charset="0"/>
                <a:ea typeface="Nunito Sans" pitchFamily="34" charset="-122"/>
                <a:cs typeface="Nunito Sans" pitchFamily="34" charset="-120"/>
              </a:rPr>
              <a:t>Shipping: 5-digit PIN code is accepted</a:t>
            </a:r>
            <a:endParaRPr lang="en-US" sz="1200" dirty="0"/>
          </a:p>
        </p:txBody>
      </p:sp>
      <p:sp>
        <p:nvSpPr>
          <p:cNvPr id="8" name="Text 5"/>
          <p:cNvSpPr/>
          <p:nvPr/>
        </p:nvSpPr>
        <p:spPr>
          <a:xfrm>
            <a:off x="990600" y="4233664"/>
            <a:ext cx="315688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Undeliverable orders; support can correct</a:t>
            </a:r>
            <a:endParaRPr lang="en-US" sz="1200" dirty="0"/>
          </a:p>
        </p:txBody>
      </p:sp>
      <p:sp>
        <p:nvSpPr>
          <p:cNvPr id="9" name="Shape 6"/>
          <p:cNvSpPr/>
          <p:nvPr/>
        </p:nvSpPr>
        <p:spPr>
          <a:xfrm>
            <a:off x="4385733" y="3553023"/>
            <a:ext cx="3420533" cy="1473002"/>
          </a:xfrm>
          <a:prstGeom prst="roundRect">
            <a:avLst>
              <a:gd name="adj" fmla="val 5173"/>
            </a:avLst>
          </a:prstGeom>
          <a:solidFill>
            <a:srgbClr val="EEF2F7"/>
          </a:solidFill>
          <a:ln/>
        </p:spPr>
      </p:sp>
      <p:sp>
        <p:nvSpPr>
          <p:cNvPr id="10" name="Text 7"/>
          <p:cNvSpPr/>
          <p:nvPr/>
        </p:nvSpPr>
        <p:spPr>
          <a:xfrm>
            <a:off x="4563533" y="3705423"/>
            <a:ext cx="315688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14F0A"/>
                </a:solidFill>
                <a:latin typeface="Nunito Sans" pitchFamily="34" charset="0"/>
                <a:ea typeface="Nunito Sans" pitchFamily="34" charset="-122"/>
                <a:cs typeface="Nunito Sans" pitchFamily="34" charset="-120"/>
              </a:rPr>
              <a:t>BUG-314 · High / P2</a:t>
            </a:r>
            <a:endParaRPr lang="en-US" sz="1200" dirty="0"/>
          </a:p>
        </p:txBody>
      </p:sp>
      <p:sp>
        <p:nvSpPr>
          <p:cNvPr id="11" name="Text 8"/>
          <p:cNvSpPr/>
          <p:nvPr/>
        </p:nvSpPr>
        <p:spPr>
          <a:xfrm>
            <a:off x="4563533" y="3969544"/>
            <a:ext cx="315688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Nunito Sans" pitchFamily="34" charset="0"/>
                <a:ea typeface="Nunito Sans" pitchFamily="34" charset="-122"/>
                <a:cs typeface="Nunito Sans" pitchFamily="34" charset="-120"/>
              </a:rPr>
              <a:t>Email: confirmation not sent for saved-card payments (intermittent)</a:t>
            </a:r>
            <a:endParaRPr lang="en-US" sz="1200" dirty="0"/>
          </a:p>
        </p:txBody>
      </p:sp>
      <p:sp>
        <p:nvSpPr>
          <p:cNvPr id="12" name="Text 9"/>
          <p:cNvSpPr/>
          <p:nvPr/>
        </p:nvSpPr>
        <p:spPr>
          <a:xfrm>
            <a:off x="4563533" y="4446984"/>
            <a:ext cx="315688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AC6 not met; on-screen confirmation mitigates</a:t>
            </a:r>
            <a:endParaRPr lang="en-US" sz="1200" dirty="0"/>
          </a:p>
        </p:txBody>
      </p:sp>
      <p:sp>
        <p:nvSpPr>
          <p:cNvPr id="13" name="Shape 10"/>
          <p:cNvSpPr/>
          <p:nvPr/>
        </p:nvSpPr>
        <p:spPr>
          <a:xfrm>
            <a:off x="7958667" y="3553023"/>
            <a:ext cx="3420533" cy="1473002"/>
          </a:xfrm>
          <a:prstGeom prst="roundRect">
            <a:avLst>
              <a:gd name="adj" fmla="val 5173"/>
            </a:avLst>
          </a:prstGeom>
          <a:solidFill>
            <a:srgbClr val="EEF2F7"/>
          </a:solidFill>
          <a:ln/>
        </p:spPr>
      </p:sp>
      <p:sp>
        <p:nvSpPr>
          <p:cNvPr id="14" name="Text 11"/>
          <p:cNvSpPr/>
          <p:nvPr/>
        </p:nvSpPr>
        <p:spPr>
          <a:xfrm>
            <a:off x="8136467" y="3705423"/>
            <a:ext cx="3156881"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A14F0A"/>
                </a:solidFill>
                <a:latin typeface="Nunito Sans" pitchFamily="34" charset="0"/>
                <a:ea typeface="Nunito Sans" pitchFamily="34" charset="-122"/>
                <a:cs typeface="Nunito Sans" pitchFamily="34" charset="-120"/>
              </a:rPr>
              <a:t>BUG-315 · Medium / P3</a:t>
            </a:r>
            <a:endParaRPr lang="en-US" sz="1200" dirty="0"/>
          </a:p>
        </p:txBody>
      </p:sp>
      <p:sp>
        <p:nvSpPr>
          <p:cNvPr id="15" name="Text 12"/>
          <p:cNvSpPr/>
          <p:nvPr/>
        </p:nvSpPr>
        <p:spPr>
          <a:xfrm>
            <a:off x="8136467" y="3969544"/>
            <a:ext cx="315688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Nunito Sans" pitchFamily="34" charset="0"/>
                <a:ea typeface="Nunito Sans" pitchFamily="34" charset="-122"/>
                <a:cs typeface="Nunito Sans" pitchFamily="34" charset="-120"/>
              </a:rPr>
              <a:t>Safari iOS: Place Order partly hidden behind chat bubble</a:t>
            </a:r>
            <a:endParaRPr lang="en-US" sz="1200" dirty="0"/>
          </a:p>
        </p:txBody>
      </p:sp>
      <p:sp>
        <p:nvSpPr>
          <p:cNvPr id="16" name="Text 13"/>
          <p:cNvSpPr/>
          <p:nvPr/>
        </p:nvSpPr>
        <p:spPr>
          <a:xfrm>
            <a:off x="8136467" y="4446984"/>
            <a:ext cx="315688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Workaround exists; may hurt mobile conversion</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LIFE CYCLE PATHS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Five defects, four different paths</a:t>
            </a:r>
            <a:endParaRPr lang="en-US" sz="3200" dirty="0"/>
          </a:p>
        </p:txBody>
      </p:sp>
      <p:sp>
        <p:nvSpPr>
          <p:cNvPr id="4" name="Shape 2"/>
          <p:cNvSpPr/>
          <p:nvPr/>
        </p:nvSpPr>
        <p:spPr>
          <a:xfrm>
            <a:off x="812800" y="1777938"/>
            <a:ext cx="10566400" cy="467320"/>
          </a:xfrm>
          <a:prstGeom prst="roundRect">
            <a:avLst>
              <a:gd name="adj" fmla="val 16306"/>
            </a:avLst>
          </a:prstGeom>
          <a:solidFill>
            <a:srgbClr val="EEF2F7"/>
          </a:solidFill>
          <a:ln/>
        </p:spPr>
      </p:sp>
      <p:sp>
        <p:nvSpPr>
          <p:cNvPr id="5" name="Text 3"/>
          <p:cNvSpPr/>
          <p:nvPr/>
        </p:nvSpPr>
        <p:spPr>
          <a:xfrm>
            <a:off x="990600" y="1904938"/>
            <a:ext cx="196215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Nunito Sans" pitchFamily="34" charset="0"/>
                <a:ea typeface="Nunito Sans" pitchFamily="34" charset="-122"/>
                <a:cs typeface="Nunito Sans" pitchFamily="34" charset="-120"/>
              </a:rPr>
              <a:t>BUG-311 · double charge</a:t>
            </a:r>
            <a:endParaRPr lang="en-US" sz="1200" dirty="0"/>
          </a:p>
        </p:txBody>
      </p:sp>
      <p:sp>
        <p:nvSpPr>
          <p:cNvPr id="6" name="Text 4"/>
          <p:cNvSpPr/>
          <p:nvPr/>
        </p:nvSpPr>
        <p:spPr>
          <a:xfrm>
            <a:off x="3073400" y="1904938"/>
            <a:ext cx="83718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New → Assigned → Open → Fixed → Retest → Verified → </a:t>
            </a:r>
            <a:r>
              <a:rPr lang="en-US" sz="1200" b="1" dirty="0">
                <a:solidFill>
                  <a:srgbClr val="14213D"/>
                </a:solidFill>
                <a:latin typeface="Nunito Sans" pitchFamily="34" charset="0"/>
                <a:ea typeface="Nunito Sans" pitchFamily="34" charset="-122"/>
                <a:cs typeface="Nunito Sans" pitchFamily="34" charset="-120"/>
              </a:rPr>
              <a:t>Closed</a:t>
            </a:r>
            <a:endParaRPr lang="en-US" sz="1200" dirty="0"/>
          </a:p>
        </p:txBody>
      </p:sp>
      <p:sp>
        <p:nvSpPr>
          <p:cNvPr id="7" name="Shape 5"/>
          <p:cNvSpPr/>
          <p:nvPr/>
        </p:nvSpPr>
        <p:spPr>
          <a:xfrm>
            <a:off x="812800" y="2346858"/>
            <a:ext cx="10566400" cy="680641"/>
          </a:xfrm>
          <a:prstGeom prst="roundRect">
            <a:avLst>
              <a:gd name="adj" fmla="val 11195"/>
            </a:avLst>
          </a:prstGeom>
          <a:solidFill>
            <a:srgbClr val="FBEBDD"/>
          </a:solidFill>
          <a:ln/>
        </p:spPr>
      </p:sp>
      <p:sp>
        <p:nvSpPr>
          <p:cNvPr id="8" name="Text 6"/>
          <p:cNvSpPr/>
          <p:nvPr/>
        </p:nvSpPr>
        <p:spPr>
          <a:xfrm>
            <a:off x="990600" y="2473858"/>
            <a:ext cx="196215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Nunito Sans" pitchFamily="34" charset="0"/>
                <a:ea typeface="Nunito Sans" pitchFamily="34" charset="-122"/>
                <a:cs typeface="Nunito Sans" pitchFamily="34" charset="-120"/>
              </a:rPr>
              <a:t>BUG-312 · expired card</a:t>
            </a:r>
            <a:endParaRPr lang="en-US" sz="1200" dirty="0"/>
          </a:p>
        </p:txBody>
      </p:sp>
      <p:sp>
        <p:nvSpPr>
          <p:cNvPr id="9" name="Text 7"/>
          <p:cNvSpPr/>
          <p:nvPr/>
        </p:nvSpPr>
        <p:spPr>
          <a:xfrm>
            <a:off x="3073400" y="2473858"/>
            <a:ext cx="837184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New → Assigned → Open → Fixed → Retest → </a:t>
            </a:r>
            <a:r>
              <a:rPr lang="en-US" sz="1200" b="1" dirty="0">
                <a:solidFill>
                  <a:srgbClr val="A14F0A"/>
                </a:solidFill>
                <a:latin typeface="Nunito Sans" pitchFamily="34" charset="0"/>
                <a:ea typeface="Nunito Sans" pitchFamily="34" charset="-122"/>
                <a:cs typeface="Nunito Sans" pitchFamily="34" charset="-120"/>
              </a:rPr>
              <a:t>Reopened</a:t>
            </a:r>
            <a:r>
              <a:rPr lang="en-US" sz="1200" dirty="0">
                <a:solidFill>
                  <a:srgbClr val="3D4A5C"/>
                </a:solidFill>
                <a:latin typeface="Nunito Sans" pitchFamily="34" charset="0"/>
                <a:ea typeface="Nunito Sans" pitchFamily="34" charset="-122"/>
                <a:cs typeface="Nunito Sans" pitchFamily="34" charset="-120"/>
              </a:rPr>
              <a:t> (current month now wrongly rejected) → Assigned → Open → Fixed → Retest → Verified → </a:t>
            </a:r>
            <a:r>
              <a:rPr lang="en-US" sz="1200" b="1" dirty="0">
                <a:solidFill>
                  <a:srgbClr val="14213D"/>
                </a:solidFill>
                <a:latin typeface="Nunito Sans" pitchFamily="34" charset="0"/>
                <a:ea typeface="Nunito Sans" pitchFamily="34" charset="-122"/>
                <a:cs typeface="Nunito Sans" pitchFamily="34" charset="-120"/>
              </a:rPr>
              <a:t>Closed</a:t>
            </a:r>
            <a:endParaRPr lang="en-US" sz="1200" dirty="0"/>
          </a:p>
        </p:txBody>
      </p:sp>
      <p:sp>
        <p:nvSpPr>
          <p:cNvPr id="10" name="Shape 8"/>
          <p:cNvSpPr/>
          <p:nvPr/>
        </p:nvSpPr>
        <p:spPr>
          <a:xfrm>
            <a:off x="812800" y="3129099"/>
            <a:ext cx="10566400" cy="467320"/>
          </a:xfrm>
          <a:prstGeom prst="roundRect">
            <a:avLst>
              <a:gd name="adj" fmla="val 16306"/>
            </a:avLst>
          </a:prstGeom>
          <a:solidFill>
            <a:srgbClr val="EEF2F7"/>
          </a:solidFill>
          <a:ln/>
        </p:spPr>
      </p:sp>
      <p:sp>
        <p:nvSpPr>
          <p:cNvPr id="11" name="Text 9"/>
          <p:cNvSpPr/>
          <p:nvPr/>
        </p:nvSpPr>
        <p:spPr>
          <a:xfrm>
            <a:off x="990600" y="3256099"/>
            <a:ext cx="196215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Nunito Sans" pitchFamily="34" charset="0"/>
                <a:ea typeface="Nunito Sans" pitchFamily="34" charset="-122"/>
                <a:cs typeface="Nunito Sans" pitchFamily="34" charset="-120"/>
              </a:rPr>
              <a:t>BUG-313 · PIN code</a:t>
            </a:r>
            <a:endParaRPr lang="en-US" sz="1200" dirty="0"/>
          </a:p>
        </p:txBody>
      </p:sp>
      <p:sp>
        <p:nvSpPr>
          <p:cNvPr id="12" name="Text 10"/>
          <p:cNvSpPr/>
          <p:nvPr/>
        </p:nvSpPr>
        <p:spPr>
          <a:xfrm>
            <a:off x="3073400" y="3256099"/>
            <a:ext cx="83718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New → Assigned → Open → Fixed → Retest → Verified → </a:t>
            </a:r>
            <a:r>
              <a:rPr lang="en-US" sz="1200" b="1" dirty="0">
                <a:solidFill>
                  <a:srgbClr val="14213D"/>
                </a:solidFill>
                <a:latin typeface="Nunito Sans" pitchFamily="34" charset="0"/>
                <a:ea typeface="Nunito Sans" pitchFamily="34" charset="-122"/>
                <a:cs typeface="Nunito Sans" pitchFamily="34" charset="-120"/>
              </a:rPr>
              <a:t>Closed</a:t>
            </a:r>
            <a:r>
              <a:rPr lang="en-US" sz="1200" dirty="0">
                <a:solidFill>
                  <a:srgbClr val="3D4A5C"/>
                </a:solidFill>
                <a:latin typeface="Nunito Sans" pitchFamily="34" charset="0"/>
                <a:ea typeface="Nunito Sans" pitchFamily="34" charset="-122"/>
                <a:cs typeface="Nunito Sans" pitchFamily="34" charset="-120"/>
              </a:rPr>
              <a:t> (after regression on the shipping form)</a:t>
            </a:r>
            <a:endParaRPr lang="en-US" sz="1200" dirty="0"/>
          </a:p>
        </p:txBody>
      </p:sp>
      <p:sp>
        <p:nvSpPr>
          <p:cNvPr id="13" name="Shape 11"/>
          <p:cNvSpPr/>
          <p:nvPr/>
        </p:nvSpPr>
        <p:spPr>
          <a:xfrm>
            <a:off x="812800" y="3698019"/>
            <a:ext cx="10566400" cy="467320"/>
          </a:xfrm>
          <a:prstGeom prst="roundRect">
            <a:avLst>
              <a:gd name="adj" fmla="val 16306"/>
            </a:avLst>
          </a:prstGeom>
          <a:solidFill>
            <a:srgbClr val="EEF2F7"/>
          </a:solidFill>
          <a:ln/>
        </p:spPr>
      </p:sp>
      <p:sp>
        <p:nvSpPr>
          <p:cNvPr id="14" name="Text 12"/>
          <p:cNvSpPr/>
          <p:nvPr/>
        </p:nvSpPr>
        <p:spPr>
          <a:xfrm>
            <a:off x="990600" y="3825019"/>
            <a:ext cx="196215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Nunito Sans" pitchFamily="34" charset="0"/>
                <a:ea typeface="Nunito Sans" pitchFamily="34" charset="-122"/>
                <a:cs typeface="Nunito Sans" pitchFamily="34" charset="-120"/>
              </a:rPr>
              <a:t>BUG-314 · email</a:t>
            </a:r>
            <a:endParaRPr lang="en-US" sz="1200" dirty="0"/>
          </a:p>
        </p:txBody>
      </p:sp>
      <p:sp>
        <p:nvSpPr>
          <p:cNvPr id="15" name="Text 13"/>
          <p:cNvSpPr/>
          <p:nvPr/>
        </p:nvSpPr>
        <p:spPr>
          <a:xfrm>
            <a:off x="3073400" y="3825019"/>
            <a:ext cx="83718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New → </a:t>
            </a:r>
            <a:r>
              <a:rPr lang="en-US" sz="1200" b="1" dirty="0">
                <a:solidFill>
                  <a:srgbClr val="A14F0A"/>
                </a:solidFill>
                <a:latin typeface="Nunito Sans" pitchFamily="34" charset="0"/>
                <a:ea typeface="Nunito Sans" pitchFamily="34" charset="-122"/>
                <a:cs typeface="Nunito Sans" pitchFamily="34" charset="-120"/>
              </a:rPr>
              <a:t>Duplicate</a:t>
            </a:r>
            <a:r>
              <a:rPr lang="en-US" sz="1200" dirty="0">
                <a:solidFill>
                  <a:srgbClr val="3D4A5C"/>
                </a:solidFill>
                <a:latin typeface="Nunito Sans" pitchFamily="34" charset="0"/>
                <a:ea typeface="Nunito Sans" pitchFamily="34" charset="-122"/>
                <a:cs typeface="Nunito Sans" pitchFamily="34" charset="-120"/>
              </a:rPr>
              <a:t> (of BUG-298) → </a:t>
            </a:r>
            <a:r>
              <a:rPr lang="en-US" sz="1200" b="1" dirty="0">
                <a:solidFill>
                  <a:srgbClr val="14213D"/>
                </a:solidFill>
                <a:latin typeface="Nunito Sans" pitchFamily="34" charset="0"/>
                <a:ea typeface="Nunito Sans" pitchFamily="34" charset="-122"/>
                <a:cs typeface="Nunito Sans" pitchFamily="34" charset="-120"/>
              </a:rPr>
              <a:t>Closed</a:t>
            </a:r>
            <a:r>
              <a:rPr lang="en-US" sz="1200" dirty="0">
                <a:solidFill>
                  <a:srgbClr val="3D4A5C"/>
                </a:solidFill>
                <a:latin typeface="Nunito Sans" pitchFamily="34" charset="0"/>
                <a:ea typeface="Nunito Sans" pitchFamily="34" charset="-122"/>
                <a:cs typeface="Nunito Sans" pitchFamily="34" charset="-120"/>
              </a:rPr>
              <a:t>. Add your evidence to BUG-298 as a comment.</a:t>
            </a:r>
            <a:endParaRPr lang="en-US" sz="1200" dirty="0"/>
          </a:p>
        </p:txBody>
      </p:sp>
      <p:sp>
        <p:nvSpPr>
          <p:cNvPr id="16" name="Shape 14"/>
          <p:cNvSpPr/>
          <p:nvPr/>
        </p:nvSpPr>
        <p:spPr>
          <a:xfrm>
            <a:off x="812800" y="4266940"/>
            <a:ext cx="10566400" cy="467320"/>
          </a:xfrm>
          <a:prstGeom prst="roundRect">
            <a:avLst>
              <a:gd name="adj" fmla="val 16306"/>
            </a:avLst>
          </a:prstGeom>
          <a:solidFill>
            <a:srgbClr val="EEF2F7"/>
          </a:solidFill>
          <a:ln/>
        </p:spPr>
      </p:sp>
      <p:sp>
        <p:nvSpPr>
          <p:cNvPr id="17" name="Text 15"/>
          <p:cNvSpPr/>
          <p:nvPr/>
        </p:nvSpPr>
        <p:spPr>
          <a:xfrm>
            <a:off x="990600" y="4393940"/>
            <a:ext cx="196215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Nunito Sans" pitchFamily="34" charset="0"/>
                <a:ea typeface="Nunito Sans" pitchFamily="34" charset="-122"/>
                <a:cs typeface="Nunito Sans" pitchFamily="34" charset="-120"/>
              </a:rPr>
              <a:t>BUG-315 · Safari layout</a:t>
            </a:r>
            <a:endParaRPr lang="en-US" sz="1200" dirty="0"/>
          </a:p>
        </p:txBody>
      </p:sp>
      <p:sp>
        <p:nvSpPr>
          <p:cNvPr id="18" name="Text 16"/>
          <p:cNvSpPr/>
          <p:nvPr/>
        </p:nvSpPr>
        <p:spPr>
          <a:xfrm>
            <a:off x="3073400" y="4393940"/>
            <a:ext cx="83718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New → </a:t>
            </a:r>
            <a:r>
              <a:rPr lang="en-US" sz="1200" b="1" dirty="0">
                <a:solidFill>
                  <a:srgbClr val="A14F0A"/>
                </a:solidFill>
                <a:latin typeface="Nunito Sans" pitchFamily="34" charset="0"/>
                <a:ea typeface="Nunito Sans" pitchFamily="34" charset="-122"/>
                <a:cs typeface="Nunito Sans" pitchFamily="34" charset="-120"/>
              </a:rPr>
              <a:t>Deferred</a:t>
            </a:r>
            <a:r>
              <a:rPr lang="en-US" sz="1200" dirty="0">
                <a:solidFill>
                  <a:srgbClr val="3D4A5C"/>
                </a:solidFill>
                <a:latin typeface="Nunito Sans" pitchFamily="34" charset="0"/>
                <a:ea typeface="Nunito Sans" pitchFamily="34" charset="-122"/>
                <a:cs typeface="Nunito Sans" pitchFamily="34" charset="-120"/>
              </a:rPr>
              <a:t> to next release, with PO sign-off</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LESSONS FROM DELIVERABLE 5</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What these defects teach</a:t>
            </a:r>
            <a:endParaRPr lang="en-US" sz="3200" dirty="0"/>
          </a:p>
        </p:txBody>
      </p:sp>
      <p:sp>
        <p:nvSpPr>
          <p:cNvPr id="4" name="Shape 2"/>
          <p:cNvSpPr/>
          <p:nvPr/>
        </p:nvSpPr>
        <p:spPr>
          <a:xfrm>
            <a:off x="812800" y="1854138"/>
            <a:ext cx="3378200" cy="1785541"/>
          </a:xfrm>
          <a:prstGeom prst="roundRect">
            <a:avLst>
              <a:gd name="adj" fmla="val 5690"/>
            </a:avLst>
          </a:prstGeom>
          <a:solidFill>
            <a:srgbClr val="24345A"/>
          </a:solidFill>
          <a:ln/>
        </p:spPr>
      </p:sp>
      <p:sp>
        <p:nvSpPr>
          <p:cNvPr id="5" name="Text 3"/>
          <p:cNvSpPr/>
          <p:nvPr/>
        </p:nvSpPr>
        <p:spPr>
          <a:xfrm>
            <a:off x="1041400" y="2082738"/>
            <a:ext cx="3008630"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A04B"/>
                </a:solidFill>
                <a:latin typeface="Domine" pitchFamily="18" charset="0"/>
                <a:ea typeface="Domine" pitchFamily="18" charset="-122"/>
                <a:cs typeface="Domine" pitchFamily="18" charset="-120"/>
              </a:rPr>
              <a:t>Retest the boundaries</a:t>
            </a:r>
            <a:endParaRPr lang="en-US" sz="1600" dirty="0"/>
          </a:p>
        </p:txBody>
      </p:sp>
      <p:sp>
        <p:nvSpPr>
          <p:cNvPr id="6" name="Text 4"/>
          <p:cNvSpPr/>
          <p:nvPr/>
        </p:nvSpPr>
        <p:spPr>
          <a:xfrm>
            <a:off x="1041400" y="2428156"/>
            <a:ext cx="3008630" cy="98292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DCE4F0"/>
                </a:solidFill>
                <a:latin typeface="Nunito Sans" pitchFamily="34" charset="0"/>
                <a:ea typeface="Nunito Sans" pitchFamily="34" charset="-122"/>
                <a:cs typeface="Nunito Sans" pitchFamily="34" charset="-120"/>
              </a:rPr>
              <a:t>BUG-312 reopened because the fix broke the next boundary. Retest around a fix (09/26, 10/26, 11/26), not just the original failing value.</a:t>
            </a:r>
            <a:endParaRPr lang="en-US" sz="1300" dirty="0"/>
          </a:p>
        </p:txBody>
      </p:sp>
      <p:sp>
        <p:nvSpPr>
          <p:cNvPr id="7" name="Shape 5"/>
          <p:cNvSpPr/>
          <p:nvPr/>
        </p:nvSpPr>
        <p:spPr>
          <a:xfrm>
            <a:off x="4394200" y="1854138"/>
            <a:ext cx="3378200" cy="1785541"/>
          </a:xfrm>
          <a:prstGeom prst="roundRect">
            <a:avLst>
              <a:gd name="adj" fmla="val 5690"/>
            </a:avLst>
          </a:prstGeom>
          <a:solidFill>
            <a:srgbClr val="24345A"/>
          </a:solidFill>
          <a:ln/>
        </p:spPr>
      </p:sp>
      <p:sp>
        <p:nvSpPr>
          <p:cNvPr id="8" name="Text 6"/>
          <p:cNvSpPr/>
          <p:nvPr/>
        </p:nvSpPr>
        <p:spPr>
          <a:xfrm>
            <a:off x="4622800" y="2082738"/>
            <a:ext cx="3149600"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A04B"/>
                </a:solidFill>
                <a:latin typeface="Domine" pitchFamily="18" charset="0"/>
                <a:ea typeface="Domine" pitchFamily="18" charset="-122"/>
                <a:cs typeface="Domine" pitchFamily="18" charset="-120"/>
              </a:rPr>
              <a:t>Regress what the fix touched</a:t>
            </a:r>
            <a:endParaRPr lang="en-US" sz="1600" dirty="0"/>
          </a:p>
        </p:txBody>
      </p:sp>
      <p:sp>
        <p:nvSpPr>
          <p:cNvPr id="9" name="Text 7"/>
          <p:cNvSpPr/>
          <p:nvPr/>
        </p:nvSpPr>
        <p:spPr>
          <a:xfrm>
            <a:off x="4622800" y="2428156"/>
            <a:ext cx="3008630" cy="98292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DCE4F0"/>
                </a:solidFill>
                <a:latin typeface="Nunito Sans" pitchFamily="34" charset="0"/>
                <a:ea typeface="Nunito Sans" pitchFamily="34" charset="-122"/>
                <a:cs typeface="Nunito Sans" pitchFamily="34" charset="-120"/>
              </a:rPr>
              <a:t>BUG-311's fix changed the submit logic, so regression must cover successful payment, declined payment and retry flows.</a:t>
            </a:r>
            <a:endParaRPr lang="en-US" sz="1300" dirty="0"/>
          </a:p>
        </p:txBody>
      </p:sp>
      <p:sp>
        <p:nvSpPr>
          <p:cNvPr id="10" name="Shape 8"/>
          <p:cNvSpPr/>
          <p:nvPr/>
        </p:nvSpPr>
        <p:spPr>
          <a:xfrm>
            <a:off x="7981950" y="1860488"/>
            <a:ext cx="3390900" cy="1772841"/>
          </a:xfrm>
          <a:prstGeom prst="roundRect">
            <a:avLst>
              <a:gd name="adj" fmla="val 5373"/>
            </a:avLst>
          </a:prstGeom>
          <a:solidFill>
            <a:srgbClr val="24345A"/>
          </a:solidFill>
          <a:ln w="12700">
            <a:solidFill>
              <a:srgbClr val="F0A04B"/>
            </a:solidFill>
            <a:prstDash val="solid"/>
          </a:ln>
        </p:spPr>
      </p:sp>
      <p:sp>
        <p:nvSpPr>
          <p:cNvPr id="11" name="Text 9"/>
          <p:cNvSpPr/>
          <p:nvPr/>
        </p:nvSpPr>
        <p:spPr>
          <a:xfrm>
            <a:off x="8216900" y="2095438"/>
            <a:ext cx="3008630"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A04B"/>
                </a:solidFill>
                <a:latin typeface="Domine" pitchFamily="18" charset="0"/>
                <a:ea typeface="Domine" pitchFamily="18" charset="-122"/>
                <a:cs typeface="Domine" pitchFamily="18" charset="-120"/>
              </a:rPr>
              <a:t>Check the exit criteria</a:t>
            </a:r>
            <a:endParaRPr lang="en-US" sz="1600" dirty="0"/>
          </a:p>
        </p:txBody>
      </p:sp>
      <p:sp>
        <p:nvSpPr>
          <p:cNvPr id="12" name="Text 10"/>
          <p:cNvSpPr/>
          <p:nvPr/>
        </p:nvSpPr>
        <p:spPr>
          <a:xfrm>
            <a:off x="8216900" y="2440856"/>
            <a:ext cx="3008630" cy="98292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DCE4F0"/>
                </a:solidFill>
                <a:latin typeface="Nunito Sans" pitchFamily="34" charset="0"/>
                <a:ea typeface="Nunito Sans" pitchFamily="34" charset="-122"/>
                <a:cs typeface="Nunito Sans" pitchFamily="34" charset="-120"/>
              </a:rPr>
              <a:t>0 open Critical/High; BUG-315 deferred with sign-off. Release can proceed </a:t>
            </a:r>
            <a:r>
              <a:rPr lang="en-US" sz="1300" b="1" dirty="0">
                <a:solidFill>
                  <a:srgbClr val="DCE4F0"/>
                </a:solidFill>
                <a:latin typeface="Nunito Sans" pitchFamily="34" charset="0"/>
                <a:ea typeface="Nunito Sans" pitchFamily="34" charset="-122"/>
                <a:cs typeface="Nunito Sans" pitchFamily="34" charset="-120"/>
              </a:rPr>
              <a:t>if BUG-298 is fixed</a:t>
            </a:r>
            <a:r>
              <a:rPr lang="en-US" sz="1300" dirty="0">
                <a:solidFill>
                  <a:srgbClr val="DCE4F0"/>
                </a:solidFill>
                <a:latin typeface="Nunito Sans" pitchFamily="34" charset="0"/>
                <a:ea typeface="Nunito Sans" pitchFamily="34" charset="-122"/>
                <a:cs typeface="Nunito Sans" pitchFamily="34" charset="-120"/>
              </a:rPr>
              <a:t>, since BUG-314 is tracked under it.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DELIVERABLE 6 · ESTIMATION · 6 MIN</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How long will checkout testing take?</a:t>
            </a:r>
            <a:endParaRPr lang="en-US" sz="3200" dirty="0"/>
          </a:p>
        </p:txBody>
      </p:sp>
      <p:sp>
        <p:nvSpPr>
          <p:cNvPr id="4" name="Text 2"/>
          <p:cNvSpPr/>
          <p:nvPr/>
        </p:nvSpPr>
        <p:spPr>
          <a:xfrm>
            <a:off x="812800" y="1803338"/>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Use </a:t>
            </a:r>
            <a:r>
              <a:rPr lang="en-US" sz="1400" b="1" dirty="0">
                <a:solidFill>
                  <a:srgbClr val="DCE4F0"/>
                </a:solidFill>
                <a:latin typeface="Nunito Sans" pitchFamily="34" charset="0"/>
                <a:ea typeface="Nunito Sans" pitchFamily="34" charset="-122"/>
                <a:cs typeface="Nunito Sans" pitchFamily="34" charset="-120"/>
              </a:rPr>
              <a:t>WBS + test-case-based</a:t>
            </a:r>
            <a:r>
              <a:rPr lang="en-US" sz="1400" dirty="0">
                <a:solidFill>
                  <a:srgbClr val="DCE4F0"/>
                </a:solidFill>
                <a:latin typeface="Nunito Sans" pitchFamily="34" charset="0"/>
                <a:ea typeface="Nunito Sans" pitchFamily="34" charset="-122"/>
                <a:cs typeface="Nunito Sans" pitchFamily="34" charset="-120"/>
              </a:rPr>
              <a:t>, then a </a:t>
            </a:r>
            <a:r>
              <a:rPr lang="en-US" sz="1400" b="1" dirty="0">
                <a:solidFill>
                  <a:srgbClr val="DCE4F0"/>
                </a:solidFill>
                <a:latin typeface="Nunito Sans" pitchFamily="34" charset="0"/>
                <a:ea typeface="Nunito Sans" pitchFamily="34" charset="-122"/>
                <a:cs typeface="Nunito Sans" pitchFamily="34" charset="-120"/>
              </a:rPr>
              <a:t>three-point</a:t>
            </a:r>
            <a:r>
              <a:rPr lang="en-US" sz="1400" dirty="0">
                <a:solidFill>
                  <a:srgbClr val="DCE4F0"/>
                </a:solidFill>
                <a:latin typeface="Nunito Sans" pitchFamily="34" charset="0"/>
                <a:ea typeface="Nunito Sans" pitchFamily="34" charset="-122"/>
                <a:cs typeface="Nunito Sans" pitchFamily="34" charset="-120"/>
              </a:rPr>
              <a:t> estimate, then convert to a </a:t>
            </a:r>
            <a:r>
              <a:rPr lang="en-US" sz="1400" b="1" dirty="0">
                <a:solidFill>
                  <a:srgbClr val="DCE4F0"/>
                </a:solidFill>
                <a:latin typeface="Nunito Sans" pitchFamily="34" charset="0"/>
                <a:ea typeface="Nunito Sans" pitchFamily="34" charset="-122"/>
                <a:cs typeface="Nunito Sans" pitchFamily="34" charset="-120"/>
              </a:rPr>
              <a:t>schedule</a:t>
            </a:r>
            <a:r>
              <a:rPr lang="en-US" sz="1400" dirty="0">
                <a:solidFill>
                  <a:srgbClr val="DCE4F0"/>
                </a:solidFill>
                <a:latin typeface="Nunito Sans" pitchFamily="34" charset="0"/>
                <a:ea typeface="Nunito Sans" pitchFamily="34" charset="-122"/>
                <a:cs typeface="Nunito Sans" pitchFamily="34" charset="-120"/>
              </a:rPr>
              <a:t>.</a:t>
            </a:r>
            <a:endParaRPr lang="en-US" sz="1400" dirty="0"/>
          </a:p>
        </p:txBody>
      </p:sp>
      <p:sp>
        <p:nvSpPr>
          <p:cNvPr id="5" name="Text 3"/>
          <p:cNvSpPr/>
          <p:nvPr/>
        </p:nvSpPr>
        <p:spPr>
          <a:xfrm>
            <a:off x="812800" y="2306241"/>
            <a:ext cx="5283200" cy="716227"/>
          </a:xfrm>
          <a:prstGeom prst="roundRect">
            <a:avLst>
              <a:gd name="adj" fmla="val 10639"/>
            </a:avLst>
          </a:prstGeom>
          <a:solidFill>
            <a:srgbClr val="24345A"/>
          </a:solidFill>
          <a:ln/>
        </p:spPr>
        <p:txBody>
          <a:bodyPr wrap="square" lIns="155482" tIns="104682" rIns="7654" bIns="79282" rtlCol="0" anchor="t">
            <a:normAutofit/>
          </a:bodyPr>
          <a:lstStyle/>
          <a:p>
            <a:pPr marL="0" indent="0" algn="l">
              <a:lnSpc>
                <a:spcPts val="1820"/>
              </a:lnSpc>
              <a:buNone/>
            </a:pPr>
            <a:r>
              <a:rPr lang="en-US" sz="1300" b="1" dirty="0">
                <a:solidFill>
                  <a:srgbClr val="F0A04B"/>
                </a:solidFill>
                <a:latin typeface="Nunito Sans" pitchFamily="34" charset="0"/>
                <a:ea typeface="Nunito Sans" pitchFamily="34" charset="-122"/>
                <a:cs typeface="Nunito Sans" pitchFamily="34" charset="-120"/>
              </a:rPr>
              <a:t>50 test cases</a:t>
            </a:r>
            <a:r>
              <a:rPr lang="en-US" sz="1300" dirty="0">
                <a:solidFill>
                  <a:srgbClr val="FBFBF8"/>
                </a:solidFill>
                <a:latin typeface="Nunito Sans" pitchFamily="34" charset="0"/>
                <a:ea typeface="Nunito Sans" pitchFamily="34" charset="-122"/>
                <a:cs typeface="Nunito Sans" pitchFamily="34" charset="-120"/>
              </a:rPr>
              <a:t> from 25 scenarios: 20 simple, 20 medium, 10 complex</a:t>
            </a:r>
            <a:endParaRPr lang="en-US" sz="1300" dirty="0"/>
          </a:p>
        </p:txBody>
      </p:sp>
      <p:sp>
        <p:nvSpPr>
          <p:cNvPr id="6" name="Text 4"/>
          <p:cNvSpPr/>
          <p:nvPr/>
        </p:nvSpPr>
        <p:spPr>
          <a:xfrm>
            <a:off x="6096000" y="2306241"/>
            <a:ext cx="5283200" cy="716227"/>
          </a:xfrm>
          <a:prstGeom prst="roundRect">
            <a:avLst>
              <a:gd name="adj" fmla="val 10639"/>
            </a:avLst>
          </a:prstGeom>
          <a:solidFill>
            <a:srgbClr val="24345A"/>
          </a:solidFill>
          <a:ln/>
        </p:spPr>
        <p:txBody>
          <a:bodyPr wrap="square" lIns="155482" tIns="104682" rIns="7654" bIns="79282" rtlCol="0" anchor="t">
            <a:normAutofit/>
          </a:bodyPr>
          <a:lstStyle/>
          <a:p>
            <a:pPr marL="0" indent="0" algn="l">
              <a:lnSpc>
                <a:spcPts val="1820"/>
              </a:lnSpc>
              <a:buNone/>
            </a:pPr>
            <a:r>
              <a:rPr lang="en-US" sz="1300" dirty="0">
                <a:solidFill>
                  <a:srgbClr val="FBFBF8"/>
                </a:solidFill>
                <a:latin typeface="Nunito Sans" pitchFamily="34" charset="0"/>
                <a:ea typeface="Nunito Sans" pitchFamily="34" charset="-122"/>
                <a:cs typeface="Nunito Sans" pitchFamily="34" charset="-120"/>
              </a:rPr>
              <a:t>Design + execution: simple </a:t>
            </a:r>
            <a:r>
              <a:rPr lang="en-US" sz="1300" b="1" dirty="0">
                <a:solidFill>
                  <a:srgbClr val="FBFBF8"/>
                </a:solidFill>
                <a:latin typeface="Nunito Sans" pitchFamily="34" charset="0"/>
                <a:ea typeface="Nunito Sans" pitchFamily="34" charset="-122"/>
                <a:cs typeface="Nunito Sans" pitchFamily="34" charset="-120"/>
              </a:rPr>
              <a:t>10 + 5</a:t>
            </a:r>
            <a:r>
              <a:rPr lang="en-US" sz="1300" dirty="0">
                <a:solidFill>
                  <a:srgbClr val="FBFBF8"/>
                </a:solidFill>
                <a:latin typeface="Nunito Sans" pitchFamily="34" charset="0"/>
                <a:ea typeface="Nunito Sans" pitchFamily="34" charset="-122"/>
                <a:cs typeface="Nunito Sans" pitchFamily="34" charset="-120"/>
              </a:rPr>
              <a:t>, medium </a:t>
            </a:r>
            <a:r>
              <a:rPr lang="en-US" sz="1300" b="1" dirty="0">
                <a:solidFill>
                  <a:srgbClr val="FBFBF8"/>
                </a:solidFill>
                <a:latin typeface="Nunito Sans" pitchFamily="34" charset="0"/>
                <a:ea typeface="Nunito Sans" pitchFamily="34" charset="-122"/>
                <a:cs typeface="Nunito Sans" pitchFamily="34" charset="-120"/>
              </a:rPr>
              <a:t>20 + 10</a:t>
            </a:r>
            <a:r>
              <a:rPr lang="en-US" sz="1300" dirty="0">
                <a:solidFill>
                  <a:srgbClr val="FBFBF8"/>
                </a:solidFill>
                <a:latin typeface="Nunito Sans" pitchFamily="34" charset="0"/>
                <a:ea typeface="Nunito Sans" pitchFamily="34" charset="-122"/>
                <a:cs typeface="Nunito Sans" pitchFamily="34" charset="-120"/>
              </a:rPr>
              <a:t>, complex </a:t>
            </a:r>
            <a:r>
              <a:rPr lang="en-US" sz="1300" b="1" dirty="0">
                <a:solidFill>
                  <a:srgbClr val="FBFBF8"/>
                </a:solidFill>
                <a:latin typeface="Nunito Sans" pitchFamily="34" charset="0"/>
                <a:ea typeface="Nunito Sans" pitchFamily="34" charset="-122"/>
                <a:cs typeface="Nunito Sans" pitchFamily="34" charset="-120"/>
              </a:rPr>
              <a:t>40 + 20</a:t>
            </a:r>
            <a:r>
              <a:rPr lang="en-US" sz="1300" dirty="0">
                <a:solidFill>
                  <a:srgbClr val="FBFBF8"/>
                </a:solidFill>
                <a:latin typeface="Nunito Sans" pitchFamily="34" charset="0"/>
                <a:ea typeface="Nunito Sans" pitchFamily="34" charset="-122"/>
                <a:cs typeface="Nunito Sans" pitchFamily="34" charset="-120"/>
              </a:rPr>
              <a:t> min</a:t>
            </a:r>
            <a:endParaRPr lang="en-US" sz="1300" dirty="0"/>
          </a:p>
        </p:txBody>
      </p:sp>
      <p:sp>
        <p:nvSpPr>
          <p:cNvPr id="7" name="Text 5"/>
          <p:cNvSpPr/>
          <p:nvPr/>
        </p:nvSpPr>
        <p:spPr>
          <a:xfrm>
            <a:off x="812800" y="3022476"/>
            <a:ext cx="5283200" cy="485114"/>
          </a:xfrm>
          <a:prstGeom prst="roundRect">
            <a:avLst>
              <a:gd name="adj" fmla="val 15708"/>
            </a:avLst>
          </a:prstGeom>
          <a:solidFill>
            <a:srgbClr val="24345A"/>
          </a:solidFill>
          <a:ln/>
        </p:spPr>
        <p:txBody>
          <a:bodyPr wrap="square" lIns="155482" tIns="104682" rIns="7654" bIns="79282" rtlCol="0" anchor="t">
            <a:normAutofit/>
          </a:bodyPr>
          <a:lstStyle/>
          <a:p>
            <a:pPr marL="0" indent="0" algn="l">
              <a:lnSpc>
                <a:spcPts val="1820"/>
              </a:lnSpc>
              <a:buNone/>
            </a:pPr>
            <a:r>
              <a:rPr lang="en-US" sz="1300" b="1" dirty="0">
                <a:solidFill>
                  <a:srgbClr val="F0A04B"/>
                </a:solidFill>
                <a:latin typeface="Nunito Sans" pitchFamily="34" charset="0"/>
                <a:ea typeface="Nunito Sans" pitchFamily="34" charset="-122"/>
                <a:cs typeface="Nunito Sans" pitchFamily="34" charset="-120"/>
              </a:rPr>
              <a:t>15 TCs</a:t>
            </a:r>
            <a:r>
              <a:rPr lang="en-US" sz="1300" dirty="0">
                <a:solidFill>
                  <a:srgbClr val="FBFBF8"/>
                </a:solidFill>
                <a:latin typeface="Nunito Sans" pitchFamily="34" charset="0"/>
                <a:ea typeface="Nunito Sans" pitchFamily="34" charset="-122"/>
                <a:cs typeface="Nunito Sans" pitchFamily="34" charset="-120"/>
              </a:rPr>
              <a:t> on the 4 non-primary platforms at ~8 min each</a:t>
            </a:r>
            <a:endParaRPr lang="en-US" sz="1300" dirty="0"/>
          </a:p>
        </p:txBody>
      </p:sp>
      <p:sp>
        <p:nvSpPr>
          <p:cNvPr id="8" name="Text 6"/>
          <p:cNvSpPr/>
          <p:nvPr/>
        </p:nvSpPr>
        <p:spPr>
          <a:xfrm>
            <a:off x="6096000" y="3022476"/>
            <a:ext cx="5283200" cy="485114"/>
          </a:xfrm>
          <a:prstGeom prst="roundRect">
            <a:avLst>
              <a:gd name="adj" fmla="val 15708"/>
            </a:avLst>
          </a:prstGeom>
          <a:solidFill>
            <a:srgbClr val="24345A"/>
          </a:solidFill>
          <a:ln/>
        </p:spPr>
        <p:txBody>
          <a:bodyPr wrap="square" lIns="155482" tIns="104682" rIns="7654" bIns="79282" rtlCol="0" anchor="t">
            <a:normAutofit/>
          </a:bodyPr>
          <a:lstStyle/>
          <a:p>
            <a:pPr marL="0" indent="0" algn="l">
              <a:lnSpc>
                <a:spcPts val="1820"/>
              </a:lnSpc>
              <a:buNone/>
            </a:pPr>
            <a:r>
              <a:rPr lang="en-US" sz="1300" b="1" dirty="0">
                <a:solidFill>
                  <a:srgbClr val="F0A04B"/>
                </a:solidFill>
                <a:latin typeface="Nunito Sans" pitchFamily="34" charset="0"/>
                <a:ea typeface="Nunito Sans" pitchFamily="34" charset="-122"/>
                <a:cs typeface="Nunito Sans" pitchFamily="34" charset="-120"/>
              </a:rPr>
              <a:t>12 TCs</a:t>
            </a:r>
            <a:r>
              <a:rPr lang="en-US" sz="1300" dirty="0">
                <a:solidFill>
                  <a:srgbClr val="FBFBF8"/>
                </a:solidFill>
                <a:latin typeface="Nunito Sans" pitchFamily="34" charset="0"/>
                <a:ea typeface="Nunito Sans" pitchFamily="34" charset="-122"/>
                <a:cs typeface="Nunito Sans" pitchFamily="34" charset="-120"/>
              </a:rPr>
              <a:t> automated at ~2 h each</a:t>
            </a:r>
            <a:endParaRPr lang="en-US" sz="1300" dirty="0"/>
          </a:p>
        </p:txBody>
      </p:sp>
      <p:sp>
        <p:nvSpPr>
          <p:cNvPr id="9" name="Text 7"/>
          <p:cNvSpPr/>
          <p:nvPr/>
        </p:nvSpPr>
        <p:spPr>
          <a:xfrm>
            <a:off x="812800" y="3507581"/>
            <a:ext cx="5283200" cy="485114"/>
          </a:xfrm>
          <a:prstGeom prst="roundRect">
            <a:avLst>
              <a:gd name="adj" fmla="val 15708"/>
            </a:avLst>
          </a:prstGeom>
          <a:solidFill>
            <a:srgbClr val="24345A"/>
          </a:solidFill>
          <a:ln/>
        </p:spPr>
        <p:txBody>
          <a:bodyPr wrap="square" lIns="155482" tIns="104682" rIns="7654" bIns="79282" rtlCol="0" anchor="t">
            <a:normAutofit/>
          </a:bodyPr>
          <a:lstStyle/>
          <a:p>
            <a:pPr marL="0" indent="0" algn="l">
              <a:lnSpc>
                <a:spcPts val="1820"/>
              </a:lnSpc>
              <a:buNone/>
            </a:pPr>
            <a:r>
              <a:rPr lang="en-US" sz="1300" b="1" dirty="0">
                <a:solidFill>
                  <a:srgbClr val="F0A04B"/>
                </a:solidFill>
                <a:latin typeface="Nunito Sans" pitchFamily="34" charset="0"/>
                <a:ea typeface="Nunito Sans" pitchFamily="34" charset="-122"/>
                <a:cs typeface="Nunito Sans" pitchFamily="34" charset="-120"/>
              </a:rPr>
              <a:t>2 regression cycles</a:t>
            </a:r>
            <a:r>
              <a:rPr lang="en-US" sz="1300" dirty="0">
                <a:solidFill>
                  <a:srgbClr val="FBFBF8"/>
                </a:solidFill>
                <a:latin typeface="Nunito Sans" pitchFamily="34" charset="0"/>
                <a:ea typeface="Nunito Sans" pitchFamily="34" charset="-122"/>
                <a:cs typeface="Nunito Sans" pitchFamily="34" charset="-120"/>
              </a:rPr>
              <a:t> of ~5 h; performance ~6 h; security ~4 h</a:t>
            </a:r>
            <a:endParaRPr lang="en-US" sz="1300" dirty="0"/>
          </a:p>
        </p:txBody>
      </p:sp>
      <p:sp>
        <p:nvSpPr>
          <p:cNvPr id="10" name="Text 8"/>
          <p:cNvSpPr/>
          <p:nvPr/>
        </p:nvSpPr>
        <p:spPr>
          <a:xfrm>
            <a:off x="6096000" y="3507581"/>
            <a:ext cx="5283200" cy="485114"/>
          </a:xfrm>
          <a:prstGeom prst="roundRect">
            <a:avLst>
              <a:gd name="adj" fmla="val 15708"/>
            </a:avLst>
          </a:prstGeom>
          <a:solidFill>
            <a:srgbClr val="24345A"/>
          </a:solidFill>
          <a:ln/>
        </p:spPr>
        <p:txBody>
          <a:bodyPr wrap="square" lIns="155482" tIns="104682" rIns="7654" bIns="79282" rtlCol="0" anchor="t">
            <a:normAutofit/>
          </a:bodyPr>
          <a:lstStyle/>
          <a:p>
            <a:pPr marL="0" indent="0" algn="l">
              <a:lnSpc>
                <a:spcPts val="1820"/>
              </a:lnSpc>
              <a:buNone/>
            </a:pPr>
            <a:r>
              <a:rPr lang="en-US" sz="1300" b="1" dirty="0">
                <a:solidFill>
                  <a:srgbClr val="F0A04B"/>
                </a:solidFill>
                <a:latin typeface="Nunito Sans" pitchFamily="34" charset="0"/>
                <a:ea typeface="Nunito Sans" pitchFamily="34" charset="-122"/>
                <a:cs typeface="Nunito Sans" pitchFamily="34" charset="-120"/>
              </a:rPr>
              <a:t>2 testers</a:t>
            </a:r>
            <a:r>
              <a:rPr lang="en-US" sz="1300" dirty="0">
                <a:solidFill>
                  <a:srgbClr val="FBFBF8"/>
                </a:solidFill>
                <a:latin typeface="Nunito Sans" pitchFamily="34" charset="0"/>
                <a:ea typeface="Nunito Sans" pitchFamily="34" charset="-122"/>
                <a:cs typeface="Nunito Sans" pitchFamily="34" charset="-120"/>
              </a:rPr>
              <a:t>, 6 productive h/day each</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7794"/>
          </a:xfrm>
          <a:prstGeom prst="rect">
            <a:avLst/>
          </a:prstGeom>
          <a:noFill/>
          <a:ln/>
        </p:spPr>
        <p:txBody>
          <a:bodyPr wrap="square" lIns="0" tIns="0" rIns="0" bIns="0" rtlCol="0" anchor="t">
            <a:normAutofit/>
          </a:bodyPr>
          <a:lstStyle/>
          <a:p>
            <a:pPr marL="0" indent="0" algn="l">
              <a:lnSpc>
                <a:spcPts val="1675"/>
              </a:lnSpc>
              <a:buNone/>
            </a:pPr>
            <a:r>
              <a:rPr lang="en-US" sz="1196" b="1" kern="0" spc="150" dirty="0">
                <a:solidFill>
                  <a:srgbClr val="A14F0A"/>
                </a:solidFill>
                <a:latin typeface="Nunito Sans" pitchFamily="34" charset="0"/>
                <a:ea typeface="Nunito Sans" pitchFamily="34" charset="-122"/>
                <a:cs typeface="Nunito Sans" pitchFamily="34" charset="-120"/>
              </a:rPr>
              <a:t>MODEL ANSWER · WBS + TEST-CASE-BASED</a:t>
            </a:r>
            <a:endParaRPr lang="en-US" sz="1196" dirty="0"/>
          </a:p>
        </p:txBody>
      </p:sp>
      <p:sp>
        <p:nvSpPr>
          <p:cNvPr id="3" name="Text 1"/>
          <p:cNvSpPr>
            <a:spLocks noGrp="1"/>
          </p:cNvSpPr>
          <p:nvPr>
            <p:ph type="title"/>
          </p:nvPr>
        </p:nvSpPr>
        <p:spPr>
          <a:xfrm>
            <a:off x="812800" y="1101403"/>
            <a:ext cx="10883392" cy="470561"/>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Most likely: about 102 hours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37072"/>
          <a:ext cx="10553700" cy="4308144"/>
        </p:xfrm>
        <a:graphic>
          <a:graphicData uri="http://schemas.openxmlformats.org/drawingml/2006/table">
            <a:tbl>
              <a:tblPr/>
              <a:tblGrid>
                <a:gridCol w="4221480">
                  <a:extLst>
                    <a:ext uri="{9D8B030D-6E8A-4147-A177-3AD203B41FA5}">
                      <a16:colId xmlns:a16="http://schemas.microsoft.com/office/drawing/2014/main" val="20000"/>
                    </a:ext>
                  </a:extLst>
                </a:gridCol>
                <a:gridCol w="5065776">
                  <a:extLst>
                    <a:ext uri="{9D8B030D-6E8A-4147-A177-3AD203B41FA5}">
                      <a16:colId xmlns:a16="http://schemas.microsoft.com/office/drawing/2014/main" val="20001"/>
                    </a:ext>
                  </a:extLst>
                </a:gridCol>
                <a:gridCol w="1266444">
                  <a:extLst>
                    <a:ext uri="{9D8B030D-6E8A-4147-A177-3AD203B41FA5}">
                      <a16:colId xmlns:a16="http://schemas.microsoft.com/office/drawing/2014/main" val="20002"/>
                    </a:ext>
                  </a:extLst>
                </a:gridCol>
              </a:tblGrid>
              <a:tr h="331391">
                <a:tc>
                  <a:txBody>
                    <a:bodyPr/>
                    <a:lstStyle/>
                    <a:p>
                      <a:pPr marL="0" indent="0">
                        <a:lnSpc>
                          <a:spcPts val="1670"/>
                        </a:lnSpc>
                        <a:buNone/>
                      </a:pPr>
                      <a:r>
                        <a:rPr lang="en-US" sz="1193" b="1" dirty="0">
                          <a:solidFill>
                            <a:srgbClr val="FBFBF8"/>
                          </a:solidFill>
                          <a:latin typeface="Nunito Sans" pitchFamily="34" charset="0"/>
                          <a:ea typeface="Nunito Sans" pitchFamily="34" charset="-122"/>
                          <a:cs typeface="Nunito Sans" pitchFamily="34" charset="-120"/>
                        </a:rPr>
                        <a:t>Task</a:t>
                      </a:r>
                      <a:endParaRPr lang="en-US" sz="1193" dirty="0">
                        <a:latin typeface="Nunito Sans" charset="0"/>
                        <a:ea typeface="Nunito Sans" charset="0"/>
                        <a:cs typeface="Nunito Sans" charset="0"/>
                      </a:endParaRPr>
                    </a:p>
                  </a:txBody>
                  <a:tcPr marL="53007" marR="53007" marT="53007" marB="53007">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70"/>
                        </a:lnSpc>
                        <a:buNone/>
                      </a:pPr>
                      <a:r>
                        <a:rPr lang="en-US" sz="1193" b="1" dirty="0">
                          <a:solidFill>
                            <a:srgbClr val="FBFBF8"/>
                          </a:solidFill>
                          <a:latin typeface="Nunito Sans" pitchFamily="34" charset="0"/>
                          <a:ea typeface="Nunito Sans" pitchFamily="34" charset="-122"/>
                          <a:cs typeface="Nunito Sans" pitchFamily="34" charset="-120"/>
                        </a:rPr>
                        <a:t>Calculation</a:t>
                      </a:r>
                      <a:endParaRPr lang="en-US" sz="1193" dirty="0">
                        <a:latin typeface="Nunito Sans" charset="0"/>
                        <a:ea typeface="Nunito Sans" charset="0"/>
                        <a:cs typeface="Nunito Sans" charset="0"/>
                      </a:endParaRPr>
                    </a:p>
                  </a:txBody>
                  <a:tcPr marL="53007" marR="53007" marT="53007" marB="53007">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1670"/>
                        </a:lnSpc>
                        <a:buNone/>
                      </a:pPr>
                      <a:r>
                        <a:rPr lang="en-US" sz="1193" b="1" dirty="0">
                          <a:solidFill>
                            <a:srgbClr val="FBFBF8"/>
                          </a:solidFill>
                          <a:latin typeface="Nunito Sans" pitchFamily="34" charset="0"/>
                          <a:ea typeface="Nunito Sans" pitchFamily="34" charset="-122"/>
                          <a:cs typeface="Nunito Sans" pitchFamily="34" charset="-120"/>
                        </a:rPr>
                        <a:t>Hours</a:t>
                      </a:r>
                      <a:endParaRPr lang="en-US" sz="1193" dirty="0">
                        <a:latin typeface="Nunito Sans" charset="0"/>
                        <a:ea typeface="Nunito Sans" charset="0"/>
                        <a:cs typeface="Nunito Sans" charset="0"/>
                      </a:endParaRPr>
                    </a:p>
                  </a:txBody>
                  <a:tcPr marL="53007" marR="53007" marT="53007" marB="53007">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1391">
                <a:tc>
                  <a:txBody>
                    <a:bodyPr/>
                    <a:lstStyle/>
                    <a:p>
                      <a:pPr marL="0" indent="0">
                        <a:lnSpc>
                          <a:spcPts val="1670"/>
                        </a:lnSpc>
                        <a:buNone/>
                      </a:pPr>
                      <a:r>
                        <a:rPr lang="en-US" sz="1193" dirty="0">
                          <a:solidFill>
                            <a:srgbClr val="3D4A5C"/>
                          </a:solidFill>
                          <a:latin typeface="Nunito Sans" pitchFamily="34" charset="0"/>
                          <a:ea typeface="Nunito Sans" pitchFamily="34" charset="-122"/>
                          <a:cs typeface="Nunito Sans" pitchFamily="34" charset="-120"/>
                        </a:rPr>
                        <a:t>Requirement analysis, strategy, scenarios</a:t>
                      </a:r>
                      <a:endParaRPr lang="en-US" sz="1193" dirty="0">
                        <a:latin typeface="Nunito Sans" charset="0"/>
                        <a:ea typeface="Nunito Sans" charset="0"/>
                        <a:cs typeface="Nunito Sans" charset="0"/>
                      </a:endParaRPr>
                    </a:p>
                  </a:txBody>
                  <a:tcPr marL="53007" marR="53007" marT="53007" marB="53007">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70"/>
                        </a:lnSpc>
                        <a:buNone/>
                      </a:pPr>
                      <a:endParaRPr lang="en-US" sz="1193" dirty="0">
                        <a:latin typeface="Nunito Sans" charset="0"/>
                        <a:ea typeface="Nunito Sans" charset="0"/>
                        <a:cs typeface="Nunito Sans" charset="0"/>
                      </a:endParaRPr>
                    </a:p>
                  </a:txBody>
                  <a:tcPr marL="53007" marR="53007" marT="53007" marB="53007">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670"/>
                        </a:lnSpc>
                        <a:buNone/>
                      </a:pPr>
                      <a:r>
                        <a:rPr lang="en-US" sz="1193" dirty="0">
                          <a:solidFill>
                            <a:srgbClr val="3D4A5C"/>
                          </a:solidFill>
                          <a:latin typeface="Nunito Sans" pitchFamily="34" charset="0"/>
                          <a:ea typeface="Nunito Sans" pitchFamily="34" charset="-122"/>
                          <a:cs typeface="Nunito Sans" pitchFamily="34" charset="-120"/>
                        </a:rPr>
                        <a:t>3</a:t>
                      </a:r>
                      <a:endParaRPr lang="en-US" sz="1193" dirty="0">
                        <a:latin typeface="Nunito Sans" charset="0"/>
                        <a:ea typeface="Nunito Sans" charset="0"/>
                        <a:cs typeface="Nunito Sans" charset="0"/>
                      </a:endParaRPr>
                    </a:p>
                  </a:txBody>
                  <a:tcPr marL="53007" marR="53007" marT="53007" marB="53007">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31391">
                <a:tc>
                  <a:txBody>
                    <a:bodyPr/>
                    <a:lstStyle/>
                    <a:p>
                      <a:pPr marL="0" indent="0">
                        <a:lnSpc>
                          <a:spcPts val="1670"/>
                        </a:lnSpc>
                        <a:buNone/>
                      </a:pPr>
                      <a:r>
                        <a:rPr lang="en-US" sz="1193" dirty="0">
                          <a:solidFill>
                            <a:srgbClr val="3D4A5C"/>
                          </a:solidFill>
                          <a:latin typeface="Nunito Sans" pitchFamily="34" charset="0"/>
                          <a:ea typeface="Nunito Sans" pitchFamily="34" charset="-122"/>
                          <a:cs typeface="Nunito Sans" pitchFamily="34" charset="-120"/>
                        </a:rPr>
                        <a:t>Design + 1st execution (primary)</a:t>
                      </a:r>
                      <a:endParaRPr lang="en-US" sz="1193" dirty="0">
                        <a:latin typeface="Nunito Sans" charset="0"/>
                        <a:ea typeface="Nunito Sans" charset="0"/>
                        <a:cs typeface="Nunito Sans" charset="0"/>
                      </a:endParaRPr>
                    </a:p>
                  </a:txBody>
                  <a:tcPr marL="53007" marR="53007" marT="53007" marB="53007">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70"/>
                        </a:lnSpc>
                        <a:buNone/>
                      </a:pPr>
                      <a:r>
                        <a:rPr lang="en-US" sz="1193" dirty="0">
                          <a:solidFill>
                            <a:srgbClr val="3D4A5C"/>
                          </a:solidFill>
                          <a:latin typeface="Nunito Sans" pitchFamily="34" charset="0"/>
                          <a:ea typeface="Nunito Sans" pitchFamily="34" charset="-122"/>
                          <a:cs typeface="Nunito Sans" pitchFamily="34" charset="-120"/>
                        </a:rPr>
                        <a:t>20×15 + 20×30 + 10×60 min = 1,500 min</a:t>
                      </a:r>
                      <a:endParaRPr lang="en-US" sz="1193" dirty="0">
                        <a:latin typeface="Nunito Sans" charset="0"/>
                        <a:ea typeface="Nunito Sans" charset="0"/>
                        <a:cs typeface="Nunito Sans" charset="0"/>
                      </a:endParaRPr>
                    </a:p>
                  </a:txBody>
                  <a:tcPr marL="53007" marR="53007" marT="53007" marB="53007">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r">
                        <a:lnSpc>
                          <a:spcPts val="1670"/>
                        </a:lnSpc>
                        <a:buNone/>
                      </a:pPr>
                      <a:r>
                        <a:rPr lang="en-US" sz="1193" dirty="0">
                          <a:solidFill>
                            <a:srgbClr val="3D4A5C"/>
                          </a:solidFill>
                          <a:latin typeface="Nunito Sans" pitchFamily="34" charset="0"/>
                          <a:ea typeface="Nunito Sans" pitchFamily="34" charset="-122"/>
                          <a:cs typeface="Nunito Sans" pitchFamily="34" charset="-120"/>
                        </a:rPr>
                        <a:t>25</a:t>
                      </a:r>
                      <a:endParaRPr lang="en-US" sz="1193" dirty="0">
                        <a:latin typeface="Nunito Sans" charset="0"/>
                        <a:ea typeface="Nunito Sans" charset="0"/>
                        <a:cs typeface="Nunito Sans" charset="0"/>
                      </a:endParaRPr>
                    </a:p>
                  </a:txBody>
                  <a:tcPr marL="53007" marR="53007" marT="53007" marB="53007">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1391">
                <a:tc>
                  <a:txBody>
                    <a:bodyPr/>
                    <a:lstStyle/>
                    <a:p>
                      <a:pPr marL="0" indent="0">
                        <a:lnSpc>
                          <a:spcPts val="1670"/>
                        </a:lnSpc>
                        <a:buNone/>
                      </a:pPr>
                      <a:r>
                        <a:rPr lang="en-US" sz="1193" dirty="0">
                          <a:solidFill>
                            <a:srgbClr val="3D4A5C"/>
                          </a:solidFill>
                          <a:latin typeface="Nunito Sans" pitchFamily="34" charset="0"/>
                          <a:ea typeface="Nunito Sans" pitchFamily="34" charset="-122"/>
                          <a:cs typeface="Nunito Sans" pitchFamily="34" charset="-120"/>
                        </a:rPr>
                        <a:t>Test case review</a:t>
                      </a:r>
                      <a:endParaRPr lang="en-US" sz="1193" dirty="0">
                        <a:latin typeface="Nunito Sans" charset="0"/>
                        <a:ea typeface="Nunito Sans" charset="0"/>
                        <a:cs typeface="Nunito Sans" charset="0"/>
                      </a:endParaRPr>
                    </a:p>
                  </a:txBody>
                  <a:tcPr marL="53007" marR="53007" marT="53007" marB="53007">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70"/>
                        </a:lnSpc>
                        <a:buNone/>
                      </a:pPr>
                      <a:endParaRPr lang="en-US" sz="1193" dirty="0">
                        <a:latin typeface="Nunito Sans" charset="0"/>
                        <a:ea typeface="Nunito Sans" charset="0"/>
                        <a:cs typeface="Nunito Sans" charset="0"/>
                      </a:endParaRPr>
                    </a:p>
                  </a:txBody>
                  <a:tcPr marL="53007" marR="53007" marT="53007" marB="53007">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670"/>
                        </a:lnSpc>
                        <a:buNone/>
                      </a:pPr>
                      <a:r>
                        <a:rPr lang="en-US" sz="1193" dirty="0">
                          <a:solidFill>
                            <a:srgbClr val="3D4A5C"/>
                          </a:solidFill>
                          <a:latin typeface="Nunito Sans" pitchFamily="34" charset="0"/>
                          <a:ea typeface="Nunito Sans" pitchFamily="34" charset="-122"/>
                          <a:cs typeface="Nunito Sans" pitchFamily="34" charset="-120"/>
                        </a:rPr>
                        <a:t>3</a:t>
                      </a:r>
                      <a:endParaRPr lang="en-US" sz="1193" dirty="0">
                        <a:latin typeface="Nunito Sans" charset="0"/>
                        <a:ea typeface="Nunito Sans" charset="0"/>
                        <a:cs typeface="Nunito Sans" charset="0"/>
                      </a:endParaRPr>
                    </a:p>
                  </a:txBody>
                  <a:tcPr marL="53007" marR="53007" marT="53007" marB="53007">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1391">
                <a:tc>
                  <a:txBody>
                    <a:bodyPr/>
                    <a:lstStyle/>
                    <a:p>
                      <a:pPr marL="0" indent="0">
                        <a:lnSpc>
                          <a:spcPts val="1670"/>
                        </a:lnSpc>
                        <a:buNone/>
                      </a:pPr>
                      <a:r>
                        <a:rPr lang="en-US" sz="1193" dirty="0">
                          <a:solidFill>
                            <a:srgbClr val="3D4A5C"/>
                          </a:solidFill>
                          <a:latin typeface="Nunito Sans" pitchFamily="34" charset="0"/>
                          <a:ea typeface="Nunito Sans" pitchFamily="34" charset="-122"/>
                          <a:cs typeface="Nunito Sans" pitchFamily="34" charset="-120"/>
                        </a:rPr>
                        <a:t>Test data &amp; environment setup</a:t>
                      </a:r>
                      <a:endParaRPr lang="en-US" sz="1193" dirty="0">
                        <a:latin typeface="Nunito Sans" charset="0"/>
                        <a:ea typeface="Nunito Sans" charset="0"/>
                        <a:cs typeface="Nunito Sans" charset="0"/>
                      </a:endParaRPr>
                    </a:p>
                  </a:txBody>
                  <a:tcPr marL="53007" marR="53007" marT="53007" marB="53007">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70"/>
                        </a:lnSpc>
                        <a:buNone/>
                      </a:pPr>
                      <a:r>
                        <a:rPr lang="en-US" sz="1193" dirty="0">
                          <a:solidFill>
                            <a:srgbClr val="3D4A5C"/>
                          </a:solidFill>
                          <a:latin typeface="Nunito Sans" pitchFamily="34" charset="0"/>
                          <a:ea typeface="Nunito Sans" pitchFamily="34" charset="-122"/>
                          <a:cs typeface="Nunito Sans" pitchFamily="34" charset="-120"/>
                        </a:rPr>
                        <a:t>sandbox cards, users, products, devices</a:t>
                      </a:r>
                      <a:endParaRPr lang="en-US" sz="1193" dirty="0">
                        <a:latin typeface="Nunito Sans" charset="0"/>
                        <a:ea typeface="Nunito Sans" charset="0"/>
                        <a:cs typeface="Nunito Sans" charset="0"/>
                      </a:endParaRPr>
                    </a:p>
                  </a:txBody>
                  <a:tcPr marL="53007" marR="53007" marT="53007" marB="53007">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r">
                        <a:lnSpc>
                          <a:spcPts val="1670"/>
                        </a:lnSpc>
                        <a:buNone/>
                      </a:pPr>
                      <a:r>
                        <a:rPr lang="en-US" sz="1193" dirty="0">
                          <a:solidFill>
                            <a:srgbClr val="3D4A5C"/>
                          </a:solidFill>
                          <a:latin typeface="Nunito Sans" pitchFamily="34" charset="0"/>
                          <a:ea typeface="Nunito Sans" pitchFamily="34" charset="-122"/>
                          <a:cs typeface="Nunito Sans" pitchFamily="34" charset="-120"/>
                        </a:rPr>
                        <a:t>6</a:t>
                      </a:r>
                      <a:endParaRPr lang="en-US" sz="1193" dirty="0">
                        <a:latin typeface="Nunito Sans" charset="0"/>
                        <a:ea typeface="Nunito Sans" charset="0"/>
                        <a:cs typeface="Nunito Sans" charset="0"/>
                      </a:endParaRPr>
                    </a:p>
                  </a:txBody>
                  <a:tcPr marL="53007" marR="53007" marT="53007" marB="53007">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31391">
                <a:tc>
                  <a:txBody>
                    <a:bodyPr/>
                    <a:lstStyle/>
                    <a:p>
                      <a:pPr marL="0" indent="0">
                        <a:lnSpc>
                          <a:spcPts val="1670"/>
                        </a:lnSpc>
                        <a:buNone/>
                      </a:pPr>
                      <a:r>
                        <a:rPr lang="en-US" sz="1193" dirty="0">
                          <a:solidFill>
                            <a:srgbClr val="3D4A5C"/>
                          </a:solidFill>
                          <a:latin typeface="Nunito Sans" pitchFamily="34" charset="0"/>
                          <a:ea typeface="Nunito Sans" pitchFamily="34" charset="-122"/>
                          <a:cs typeface="Nunito Sans" pitchFamily="34" charset="-120"/>
                        </a:rPr>
                        <a:t>Cross-platform execution</a:t>
                      </a:r>
                      <a:endParaRPr lang="en-US" sz="1193" dirty="0">
                        <a:latin typeface="Nunito Sans" charset="0"/>
                        <a:ea typeface="Nunito Sans" charset="0"/>
                        <a:cs typeface="Nunito Sans" charset="0"/>
                      </a:endParaRPr>
                    </a:p>
                  </a:txBody>
                  <a:tcPr marL="53007" marR="53007" marT="53007" marB="53007">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70"/>
                        </a:lnSpc>
                        <a:buNone/>
                      </a:pPr>
                      <a:r>
                        <a:rPr lang="en-US" sz="1193" dirty="0">
                          <a:solidFill>
                            <a:srgbClr val="3D4A5C"/>
                          </a:solidFill>
                          <a:latin typeface="Nunito Sans" pitchFamily="34" charset="0"/>
                          <a:ea typeface="Nunito Sans" pitchFamily="34" charset="-122"/>
                          <a:cs typeface="Nunito Sans" pitchFamily="34" charset="-120"/>
                        </a:rPr>
                        <a:t>15 × 4 × 8 min = 480 min</a:t>
                      </a:r>
                      <a:endParaRPr lang="en-US" sz="1193" dirty="0">
                        <a:latin typeface="Nunito Sans" charset="0"/>
                        <a:ea typeface="Nunito Sans" charset="0"/>
                        <a:cs typeface="Nunito Sans" charset="0"/>
                      </a:endParaRPr>
                    </a:p>
                  </a:txBody>
                  <a:tcPr marL="53007" marR="53007" marT="53007" marB="53007">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670"/>
                        </a:lnSpc>
                        <a:buNone/>
                      </a:pPr>
                      <a:r>
                        <a:rPr lang="en-US" sz="1193" dirty="0">
                          <a:solidFill>
                            <a:srgbClr val="3D4A5C"/>
                          </a:solidFill>
                          <a:latin typeface="Nunito Sans" pitchFamily="34" charset="0"/>
                          <a:ea typeface="Nunito Sans" pitchFamily="34" charset="-122"/>
                          <a:cs typeface="Nunito Sans" pitchFamily="34" charset="-120"/>
                        </a:rPr>
                        <a:t>8</a:t>
                      </a:r>
                      <a:endParaRPr lang="en-US" sz="1193" dirty="0">
                        <a:latin typeface="Nunito Sans" charset="0"/>
                        <a:ea typeface="Nunito Sans" charset="0"/>
                        <a:cs typeface="Nunito Sans" charset="0"/>
                      </a:endParaRPr>
                    </a:p>
                  </a:txBody>
                  <a:tcPr marL="53007" marR="53007" marT="53007" marB="53007">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31391">
                <a:tc>
                  <a:txBody>
                    <a:bodyPr/>
                    <a:lstStyle/>
                    <a:p>
                      <a:pPr marL="0" indent="0">
                        <a:lnSpc>
                          <a:spcPts val="1670"/>
                        </a:lnSpc>
                        <a:buNone/>
                      </a:pPr>
                      <a:r>
                        <a:rPr lang="en-US" sz="1193" dirty="0">
                          <a:solidFill>
                            <a:srgbClr val="3D4A5C"/>
                          </a:solidFill>
                          <a:latin typeface="Nunito Sans" pitchFamily="34" charset="0"/>
                          <a:ea typeface="Nunito Sans" pitchFamily="34" charset="-122"/>
                          <a:cs typeface="Nunito Sans" pitchFamily="34" charset="-120"/>
                        </a:rPr>
                        <a:t>Defect reporting &amp; retesting</a:t>
                      </a:r>
                      <a:endParaRPr lang="en-US" sz="1193" dirty="0">
                        <a:latin typeface="Nunito Sans" charset="0"/>
                        <a:ea typeface="Nunito Sans" charset="0"/>
                        <a:cs typeface="Nunito Sans" charset="0"/>
                      </a:endParaRPr>
                    </a:p>
                  </a:txBody>
                  <a:tcPr marL="53007" marR="53007" marT="53007" marB="53007">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70"/>
                        </a:lnSpc>
                        <a:buNone/>
                      </a:pPr>
                      <a:r>
                        <a:rPr lang="en-US" sz="1193" dirty="0">
                          <a:solidFill>
                            <a:srgbClr val="3D4A5C"/>
                          </a:solidFill>
                          <a:latin typeface="Nunito Sans" pitchFamily="34" charset="0"/>
                          <a:ea typeface="Nunito Sans" pitchFamily="34" charset="-122"/>
                          <a:cs typeface="Nunito Sans" pitchFamily="34" charset="-120"/>
                        </a:rPr>
                        <a:t>25% × (8.3 h primary + 8 h cross) ≈ 4.1</a:t>
                      </a:r>
                      <a:endParaRPr lang="en-US" sz="1193" dirty="0">
                        <a:latin typeface="Nunito Sans" charset="0"/>
                        <a:ea typeface="Nunito Sans" charset="0"/>
                        <a:cs typeface="Nunito Sans" charset="0"/>
                      </a:endParaRPr>
                    </a:p>
                  </a:txBody>
                  <a:tcPr marL="53007" marR="53007" marT="53007" marB="53007">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r">
                        <a:lnSpc>
                          <a:spcPts val="1670"/>
                        </a:lnSpc>
                        <a:buNone/>
                      </a:pPr>
                      <a:r>
                        <a:rPr lang="en-US" sz="1193" dirty="0">
                          <a:solidFill>
                            <a:srgbClr val="3D4A5C"/>
                          </a:solidFill>
                          <a:latin typeface="Nunito Sans" pitchFamily="34" charset="0"/>
                          <a:ea typeface="Nunito Sans" pitchFamily="34" charset="-122"/>
                          <a:cs typeface="Nunito Sans" pitchFamily="34" charset="-120"/>
                        </a:rPr>
                        <a:t>4</a:t>
                      </a:r>
                      <a:endParaRPr lang="en-US" sz="1193" dirty="0">
                        <a:latin typeface="Nunito Sans" charset="0"/>
                        <a:ea typeface="Nunito Sans" charset="0"/>
                        <a:cs typeface="Nunito Sans" charset="0"/>
                      </a:endParaRPr>
                    </a:p>
                  </a:txBody>
                  <a:tcPr marL="53007" marR="53007" marT="53007" marB="53007">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331391">
                <a:tc>
                  <a:txBody>
                    <a:bodyPr/>
                    <a:lstStyle/>
                    <a:p>
                      <a:pPr marL="0" indent="0">
                        <a:lnSpc>
                          <a:spcPts val="1670"/>
                        </a:lnSpc>
                        <a:buNone/>
                      </a:pPr>
                      <a:r>
                        <a:rPr lang="en-US" sz="1193" dirty="0">
                          <a:solidFill>
                            <a:srgbClr val="3D4A5C"/>
                          </a:solidFill>
                          <a:latin typeface="Nunito Sans" pitchFamily="34" charset="0"/>
                          <a:ea typeface="Nunito Sans" pitchFamily="34" charset="-122"/>
                          <a:cs typeface="Nunito Sans" pitchFamily="34" charset="-120"/>
                        </a:rPr>
                        <a:t>Automation</a:t>
                      </a:r>
                      <a:endParaRPr lang="en-US" sz="1193" dirty="0">
                        <a:latin typeface="Nunito Sans" charset="0"/>
                        <a:ea typeface="Nunito Sans" charset="0"/>
                        <a:cs typeface="Nunito Sans" charset="0"/>
                      </a:endParaRPr>
                    </a:p>
                  </a:txBody>
                  <a:tcPr marL="53007" marR="53007" marT="53007" marB="53007">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70"/>
                        </a:lnSpc>
                        <a:buNone/>
                      </a:pPr>
                      <a:r>
                        <a:rPr lang="en-US" sz="1193" dirty="0">
                          <a:solidFill>
                            <a:srgbClr val="3D4A5C"/>
                          </a:solidFill>
                          <a:latin typeface="Nunito Sans" pitchFamily="34" charset="0"/>
                          <a:ea typeface="Nunito Sans" pitchFamily="34" charset="-122"/>
                          <a:cs typeface="Nunito Sans" pitchFamily="34" charset="-120"/>
                        </a:rPr>
                        <a:t>12 × 2 h</a:t>
                      </a:r>
                      <a:endParaRPr lang="en-US" sz="1193" dirty="0">
                        <a:latin typeface="Nunito Sans" charset="0"/>
                        <a:ea typeface="Nunito Sans" charset="0"/>
                        <a:cs typeface="Nunito Sans" charset="0"/>
                      </a:endParaRPr>
                    </a:p>
                  </a:txBody>
                  <a:tcPr marL="53007" marR="53007" marT="53007" marB="53007">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670"/>
                        </a:lnSpc>
                        <a:buNone/>
                      </a:pPr>
                      <a:r>
                        <a:rPr lang="en-US" sz="1193" dirty="0">
                          <a:solidFill>
                            <a:srgbClr val="3D4A5C"/>
                          </a:solidFill>
                          <a:latin typeface="Nunito Sans" pitchFamily="34" charset="0"/>
                          <a:ea typeface="Nunito Sans" pitchFamily="34" charset="-122"/>
                          <a:cs typeface="Nunito Sans" pitchFamily="34" charset="-120"/>
                        </a:rPr>
                        <a:t>24</a:t>
                      </a:r>
                      <a:endParaRPr lang="en-US" sz="1193" dirty="0">
                        <a:latin typeface="Nunito Sans" charset="0"/>
                        <a:ea typeface="Nunito Sans" charset="0"/>
                        <a:cs typeface="Nunito Sans" charset="0"/>
                      </a:endParaRPr>
                    </a:p>
                  </a:txBody>
                  <a:tcPr marL="53007" marR="53007" marT="53007" marB="53007">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r h="331391">
                <a:tc>
                  <a:txBody>
                    <a:bodyPr/>
                    <a:lstStyle/>
                    <a:p>
                      <a:pPr marL="0" indent="0">
                        <a:lnSpc>
                          <a:spcPts val="1670"/>
                        </a:lnSpc>
                        <a:buNone/>
                      </a:pPr>
                      <a:r>
                        <a:rPr lang="en-US" sz="1193" dirty="0">
                          <a:solidFill>
                            <a:srgbClr val="3D4A5C"/>
                          </a:solidFill>
                          <a:latin typeface="Nunito Sans" pitchFamily="34" charset="0"/>
                          <a:ea typeface="Nunito Sans" pitchFamily="34" charset="-122"/>
                          <a:cs typeface="Nunito Sans" pitchFamily="34" charset="-120"/>
                        </a:rPr>
                        <a:t>Regression</a:t>
                      </a:r>
                      <a:endParaRPr lang="en-US" sz="1193" dirty="0">
                        <a:latin typeface="Nunito Sans" charset="0"/>
                        <a:ea typeface="Nunito Sans" charset="0"/>
                        <a:cs typeface="Nunito Sans" charset="0"/>
                      </a:endParaRPr>
                    </a:p>
                  </a:txBody>
                  <a:tcPr marL="53007" marR="53007" marT="53007" marB="53007">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70"/>
                        </a:lnSpc>
                        <a:buNone/>
                      </a:pPr>
                      <a:r>
                        <a:rPr lang="en-US" sz="1193" dirty="0">
                          <a:solidFill>
                            <a:srgbClr val="3D4A5C"/>
                          </a:solidFill>
                          <a:latin typeface="Nunito Sans" pitchFamily="34" charset="0"/>
                          <a:ea typeface="Nunito Sans" pitchFamily="34" charset="-122"/>
                          <a:cs typeface="Nunito Sans" pitchFamily="34" charset="-120"/>
                        </a:rPr>
                        <a:t>2 × 5 h</a:t>
                      </a:r>
                      <a:endParaRPr lang="en-US" sz="1193" dirty="0">
                        <a:latin typeface="Nunito Sans" charset="0"/>
                        <a:ea typeface="Nunito Sans" charset="0"/>
                        <a:cs typeface="Nunito Sans" charset="0"/>
                      </a:endParaRPr>
                    </a:p>
                  </a:txBody>
                  <a:tcPr marL="53007" marR="53007" marT="53007" marB="53007">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r">
                        <a:lnSpc>
                          <a:spcPts val="1670"/>
                        </a:lnSpc>
                        <a:buNone/>
                      </a:pPr>
                      <a:r>
                        <a:rPr lang="en-US" sz="1193" dirty="0">
                          <a:solidFill>
                            <a:srgbClr val="3D4A5C"/>
                          </a:solidFill>
                          <a:latin typeface="Nunito Sans" pitchFamily="34" charset="0"/>
                          <a:ea typeface="Nunito Sans" pitchFamily="34" charset="-122"/>
                          <a:cs typeface="Nunito Sans" pitchFamily="34" charset="-120"/>
                        </a:rPr>
                        <a:t>10</a:t>
                      </a:r>
                      <a:endParaRPr lang="en-US" sz="1193" dirty="0">
                        <a:latin typeface="Nunito Sans" charset="0"/>
                        <a:ea typeface="Nunito Sans" charset="0"/>
                        <a:cs typeface="Nunito Sans" charset="0"/>
                      </a:endParaRPr>
                    </a:p>
                  </a:txBody>
                  <a:tcPr marL="53007" marR="53007" marT="53007" marB="53007">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8"/>
                  </a:ext>
                </a:extLst>
              </a:tr>
              <a:tr h="331391">
                <a:tc>
                  <a:txBody>
                    <a:bodyPr/>
                    <a:lstStyle/>
                    <a:p>
                      <a:pPr marL="0" indent="0">
                        <a:lnSpc>
                          <a:spcPts val="1670"/>
                        </a:lnSpc>
                        <a:buNone/>
                      </a:pPr>
                      <a:r>
                        <a:rPr lang="en-US" sz="1193" dirty="0">
                          <a:solidFill>
                            <a:srgbClr val="3D4A5C"/>
                          </a:solidFill>
                          <a:latin typeface="Nunito Sans" pitchFamily="34" charset="0"/>
                          <a:ea typeface="Nunito Sans" pitchFamily="34" charset="-122"/>
                          <a:cs typeface="Nunito Sans" pitchFamily="34" charset="-120"/>
                        </a:rPr>
                        <a:t>Performance + security checks</a:t>
                      </a:r>
                      <a:endParaRPr lang="en-US" sz="1193" dirty="0">
                        <a:latin typeface="Nunito Sans" charset="0"/>
                        <a:ea typeface="Nunito Sans" charset="0"/>
                        <a:cs typeface="Nunito Sans" charset="0"/>
                      </a:endParaRPr>
                    </a:p>
                  </a:txBody>
                  <a:tcPr marL="53007" marR="53007" marT="53007" marB="53007">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70"/>
                        </a:lnSpc>
                        <a:buNone/>
                      </a:pPr>
                      <a:r>
                        <a:rPr lang="en-US" sz="1193" dirty="0">
                          <a:solidFill>
                            <a:srgbClr val="3D4A5C"/>
                          </a:solidFill>
                          <a:latin typeface="Nunito Sans" pitchFamily="34" charset="0"/>
                          <a:ea typeface="Nunito Sans" pitchFamily="34" charset="-122"/>
                          <a:cs typeface="Nunito Sans" pitchFamily="34" charset="-120"/>
                        </a:rPr>
                        <a:t>6 h + 4 h</a:t>
                      </a:r>
                      <a:endParaRPr lang="en-US" sz="1193" dirty="0">
                        <a:latin typeface="Nunito Sans" charset="0"/>
                        <a:ea typeface="Nunito Sans" charset="0"/>
                        <a:cs typeface="Nunito Sans" charset="0"/>
                      </a:endParaRPr>
                    </a:p>
                  </a:txBody>
                  <a:tcPr marL="53007" marR="53007" marT="53007" marB="53007">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670"/>
                        </a:lnSpc>
                        <a:buNone/>
                      </a:pPr>
                      <a:r>
                        <a:rPr lang="en-US" sz="1193" dirty="0">
                          <a:solidFill>
                            <a:srgbClr val="3D4A5C"/>
                          </a:solidFill>
                          <a:latin typeface="Nunito Sans" pitchFamily="34" charset="0"/>
                          <a:ea typeface="Nunito Sans" pitchFamily="34" charset="-122"/>
                          <a:cs typeface="Nunito Sans" pitchFamily="34" charset="-120"/>
                        </a:rPr>
                        <a:t>10</a:t>
                      </a:r>
                      <a:endParaRPr lang="en-US" sz="1193" dirty="0">
                        <a:latin typeface="Nunito Sans" charset="0"/>
                        <a:ea typeface="Nunito Sans" charset="0"/>
                        <a:cs typeface="Nunito Sans" charset="0"/>
                      </a:endParaRPr>
                    </a:p>
                  </a:txBody>
                  <a:tcPr marL="53007" marR="53007" marT="53007" marB="53007">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9"/>
                  </a:ext>
                </a:extLst>
              </a:tr>
              <a:tr h="331391">
                <a:tc>
                  <a:txBody>
                    <a:bodyPr/>
                    <a:lstStyle/>
                    <a:p>
                      <a:pPr marL="0" indent="0">
                        <a:lnSpc>
                          <a:spcPts val="1670"/>
                        </a:lnSpc>
                        <a:buNone/>
                      </a:pPr>
                      <a:r>
                        <a:rPr lang="en-US" sz="1193" dirty="0">
                          <a:solidFill>
                            <a:srgbClr val="14213D"/>
                          </a:solidFill>
                          <a:latin typeface="Nunito Sans" pitchFamily="34" charset="0"/>
                          <a:ea typeface="Nunito Sans" pitchFamily="34" charset="-122"/>
                          <a:cs typeface="Nunito Sans" pitchFamily="34" charset="-120"/>
                        </a:rPr>
                        <a:t>Subtotal</a:t>
                      </a:r>
                      <a:endParaRPr lang="en-US" sz="1193" dirty="0">
                        <a:latin typeface="Nunito Sans" charset="0"/>
                        <a:ea typeface="Nunito Sans" charset="0"/>
                        <a:cs typeface="Nunito Sans" charset="0"/>
                      </a:endParaRPr>
                    </a:p>
                  </a:txBody>
                  <a:tcPr marL="53007" marR="53007" marT="53007" marB="53007">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70"/>
                        </a:lnSpc>
                        <a:buNone/>
                      </a:pPr>
                      <a:endParaRPr lang="en-US" sz="1193" dirty="0">
                        <a:latin typeface="Nunito Sans" charset="0"/>
                        <a:ea typeface="Nunito Sans" charset="0"/>
                        <a:cs typeface="Nunito Sans" charset="0"/>
                      </a:endParaRPr>
                    </a:p>
                  </a:txBody>
                  <a:tcPr marL="53007" marR="53007" marT="53007" marB="53007">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r">
                        <a:lnSpc>
                          <a:spcPts val="1670"/>
                        </a:lnSpc>
                        <a:buNone/>
                      </a:pPr>
                      <a:r>
                        <a:rPr lang="en-US" sz="1193" dirty="0">
                          <a:solidFill>
                            <a:srgbClr val="14213D"/>
                          </a:solidFill>
                          <a:latin typeface="Nunito Sans" pitchFamily="34" charset="0"/>
                          <a:ea typeface="Nunito Sans" pitchFamily="34" charset="-122"/>
                          <a:cs typeface="Nunito Sans" pitchFamily="34" charset="-120"/>
                        </a:rPr>
                        <a:t>93</a:t>
                      </a:r>
                      <a:endParaRPr lang="en-US" sz="1193" dirty="0">
                        <a:latin typeface="Nunito Sans" charset="0"/>
                        <a:ea typeface="Nunito Sans" charset="0"/>
                        <a:cs typeface="Nunito Sans" charset="0"/>
                      </a:endParaRPr>
                    </a:p>
                  </a:txBody>
                  <a:tcPr marL="53007" marR="53007" marT="53007" marB="53007">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10"/>
                  </a:ext>
                </a:extLst>
              </a:tr>
              <a:tr h="331391">
                <a:tc>
                  <a:txBody>
                    <a:bodyPr/>
                    <a:lstStyle/>
                    <a:p>
                      <a:pPr marL="0" indent="0">
                        <a:lnSpc>
                          <a:spcPts val="1670"/>
                        </a:lnSpc>
                        <a:buNone/>
                      </a:pPr>
                      <a:r>
                        <a:rPr lang="en-US" sz="1193" dirty="0">
                          <a:solidFill>
                            <a:srgbClr val="3D4A5C"/>
                          </a:solidFill>
                          <a:latin typeface="Nunito Sans" pitchFamily="34" charset="0"/>
                          <a:ea typeface="Nunito Sans" pitchFamily="34" charset="-122"/>
                          <a:cs typeface="Nunito Sans" pitchFamily="34" charset="-120"/>
                        </a:rPr>
                        <a:t>Management, meetings, reporting</a:t>
                      </a:r>
                      <a:endParaRPr lang="en-US" sz="1193" dirty="0">
                        <a:latin typeface="Nunito Sans" charset="0"/>
                        <a:ea typeface="Nunito Sans" charset="0"/>
                        <a:cs typeface="Nunito Sans" charset="0"/>
                      </a:endParaRPr>
                    </a:p>
                  </a:txBody>
                  <a:tcPr marL="53007" marR="53007" marT="53007" marB="53007">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70"/>
                        </a:lnSpc>
                        <a:buNone/>
                      </a:pPr>
                      <a:r>
                        <a:rPr lang="en-US" sz="1193" dirty="0">
                          <a:solidFill>
                            <a:srgbClr val="3D4A5C"/>
                          </a:solidFill>
                          <a:latin typeface="Nunito Sans" pitchFamily="34" charset="0"/>
                          <a:ea typeface="Nunito Sans" pitchFamily="34" charset="-122"/>
                          <a:cs typeface="Nunito Sans" pitchFamily="34" charset="-120"/>
                        </a:rPr>
                        <a:t>10% × 93 ≈ 9.3</a:t>
                      </a:r>
                      <a:endParaRPr lang="en-US" sz="1193" dirty="0">
                        <a:latin typeface="Nunito Sans" charset="0"/>
                        <a:ea typeface="Nunito Sans" charset="0"/>
                        <a:cs typeface="Nunito Sans" charset="0"/>
                      </a:endParaRPr>
                    </a:p>
                  </a:txBody>
                  <a:tcPr marL="53007" marR="53007" marT="53007" marB="53007">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670"/>
                        </a:lnSpc>
                        <a:buNone/>
                      </a:pPr>
                      <a:r>
                        <a:rPr lang="en-US" sz="1193" dirty="0">
                          <a:solidFill>
                            <a:srgbClr val="3D4A5C"/>
                          </a:solidFill>
                          <a:latin typeface="Nunito Sans" pitchFamily="34" charset="0"/>
                          <a:ea typeface="Nunito Sans" pitchFamily="34" charset="-122"/>
                          <a:cs typeface="Nunito Sans" pitchFamily="34" charset="-120"/>
                        </a:rPr>
                        <a:t>9</a:t>
                      </a:r>
                      <a:endParaRPr lang="en-US" sz="1193" dirty="0">
                        <a:latin typeface="Nunito Sans" charset="0"/>
                        <a:ea typeface="Nunito Sans" charset="0"/>
                        <a:cs typeface="Nunito Sans" charset="0"/>
                      </a:endParaRPr>
                    </a:p>
                  </a:txBody>
                  <a:tcPr marL="53007" marR="53007" marT="53007" marB="53007">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11"/>
                  </a:ext>
                </a:extLst>
              </a:tr>
              <a:tr h="331457">
                <a:tc>
                  <a:txBody>
                    <a:bodyPr/>
                    <a:lstStyle/>
                    <a:p>
                      <a:pPr marL="0" indent="0">
                        <a:lnSpc>
                          <a:spcPts val="1670"/>
                        </a:lnSpc>
                        <a:buNone/>
                      </a:pPr>
                      <a:r>
                        <a:rPr lang="en-US" sz="1193" dirty="0">
                          <a:solidFill>
                            <a:srgbClr val="14213D"/>
                          </a:solidFill>
                          <a:latin typeface="Nunito Sans" pitchFamily="34" charset="0"/>
                          <a:ea typeface="Nunito Sans" pitchFamily="34" charset="-122"/>
                          <a:cs typeface="Nunito Sans" pitchFamily="34" charset="-120"/>
                        </a:rPr>
                        <a:t>Most likely (M)</a:t>
                      </a:r>
                      <a:endParaRPr lang="en-US" sz="1193" dirty="0">
                        <a:latin typeface="Nunito Sans" charset="0"/>
                        <a:ea typeface="Nunito Sans" charset="0"/>
                        <a:cs typeface="Nunito Sans" charset="0"/>
                      </a:endParaRPr>
                    </a:p>
                  </a:txBody>
                  <a:tcPr marL="53007" marR="53007" marT="53007" marB="53007">
                    <a:lnL w="12700" cap="flat" cmpd="sng" algn="ctr">
                      <a:solidFill>
                        <a:srgbClr val="C8C8C6"/>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70"/>
                        </a:lnSpc>
                        <a:buNone/>
                      </a:pPr>
                      <a:endParaRPr lang="en-US" sz="1193" dirty="0">
                        <a:latin typeface="Nunito Sans" charset="0"/>
                        <a:ea typeface="Nunito Sans" charset="0"/>
                        <a:cs typeface="Nunito Sans" charset="0"/>
                      </a:endParaRPr>
                    </a:p>
                  </a:txBody>
                  <a:tcPr marL="53007" marR="53007" marT="53007" marB="53007">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gn="r">
                        <a:lnSpc>
                          <a:spcPts val="1670"/>
                        </a:lnSpc>
                        <a:buNone/>
                      </a:pPr>
                      <a:r>
                        <a:rPr lang="en-US" sz="1193" dirty="0">
                          <a:solidFill>
                            <a:srgbClr val="A14F0A"/>
                          </a:solidFill>
                          <a:latin typeface="Nunito Sans" pitchFamily="34" charset="0"/>
                          <a:ea typeface="Nunito Sans" pitchFamily="34" charset="-122"/>
                          <a:cs typeface="Nunito Sans" pitchFamily="34" charset="-120"/>
                        </a:rPr>
                        <a:t>102</a:t>
                      </a:r>
                      <a:endParaRPr lang="en-US" sz="1193" dirty="0">
                        <a:latin typeface="Nunito Sans" charset="0"/>
                        <a:ea typeface="Nunito Sans" charset="0"/>
                        <a:cs typeface="Nunito Sans" charset="0"/>
                      </a:endParaRPr>
                    </a:p>
                  </a:txBody>
                  <a:tcPr marL="53007" marR="53007" marT="53007" marB="53007">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THREE-POINT AND SCHEDULE</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About 106 hours, about 9 working days</a:t>
            </a:r>
            <a:endParaRPr lang="en-US" sz="3200" dirty="0"/>
          </a:p>
        </p:txBody>
      </p:sp>
      <p:sp>
        <p:nvSpPr>
          <p:cNvPr id="4" name="Shape 2"/>
          <p:cNvSpPr/>
          <p:nvPr/>
        </p:nvSpPr>
        <p:spPr>
          <a:xfrm>
            <a:off x="812800" y="1803350"/>
            <a:ext cx="6116307" cy="1866768"/>
          </a:xfrm>
          <a:prstGeom prst="roundRect">
            <a:avLst>
              <a:gd name="adj" fmla="val 5443"/>
            </a:avLst>
          </a:prstGeom>
          <a:solidFill>
            <a:srgbClr val="EEF2F7"/>
          </a:solidFill>
          <a:ln/>
        </p:spPr>
      </p:sp>
      <p:sp>
        <p:nvSpPr>
          <p:cNvPr id="5" name="Text 3"/>
          <p:cNvSpPr/>
          <p:nvPr/>
        </p:nvSpPr>
        <p:spPr>
          <a:xfrm>
            <a:off x="1066800" y="2006550"/>
            <a:ext cx="5776556"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JetBrains Mono" pitchFamily="49" charset="0"/>
                <a:ea typeface="JetBrains Mono" pitchFamily="49" charset="-122"/>
                <a:cs typeface="JetBrains Mono" pitchFamily="49" charset="-120"/>
              </a:rPr>
              <a:t>O = 85 h · M = 102 h · P = 145 h</a:t>
            </a:r>
            <a:endParaRPr lang="en-US" sz="1300" dirty="0"/>
          </a:p>
        </p:txBody>
      </p:sp>
      <p:sp>
        <p:nvSpPr>
          <p:cNvPr id="6" name="Text 4"/>
          <p:cNvSpPr/>
          <p:nvPr/>
        </p:nvSpPr>
        <p:spPr>
          <a:xfrm>
            <a:off x="1066800" y="2313856"/>
            <a:ext cx="5776556"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E = (85 + 4×102 + 145) / 6</a:t>
            </a:r>
            <a:endParaRPr lang="en-US" sz="1300" dirty="0"/>
          </a:p>
        </p:txBody>
      </p:sp>
      <p:sp>
        <p:nvSpPr>
          <p:cNvPr id="7" name="Text 5"/>
          <p:cNvSpPr/>
          <p:nvPr/>
        </p:nvSpPr>
        <p:spPr>
          <a:xfrm>
            <a:off x="1066800" y="2621161"/>
            <a:ext cx="5776556"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  = 638 / 6 ≈ </a:t>
            </a:r>
            <a:r>
              <a:rPr lang="en-US" sz="1300" b="1" dirty="0">
                <a:solidFill>
                  <a:srgbClr val="A14F0A"/>
                </a:solidFill>
                <a:latin typeface="JetBrains Mono" pitchFamily="49" charset="0"/>
                <a:ea typeface="JetBrains Mono" pitchFamily="49" charset="-122"/>
                <a:cs typeface="JetBrains Mono" pitchFamily="49" charset="-120"/>
              </a:rPr>
              <a:t>106.3 h</a:t>
            </a:r>
            <a:endParaRPr lang="en-US" sz="1300" dirty="0"/>
          </a:p>
        </p:txBody>
      </p:sp>
      <p:sp>
        <p:nvSpPr>
          <p:cNvPr id="8" name="Text 6"/>
          <p:cNvSpPr/>
          <p:nvPr/>
        </p:nvSpPr>
        <p:spPr>
          <a:xfrm>
            <a:off x="1066800" y="2928491"/>
            <a:ext cx="5776556"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JetBrains Mono" pitchFamily="49" charset="0"/>
                <a:ea typeface="JetBrains Mono" pitchFamily="49" charset="-122"/>
                <a:cs typeface="JetBrains Mono" pitchFamily="49" charset="-120"/>
              </a:rPr>
              <a:t>SD = (145 − 85) / 6 = 10 h</a:t>
            </a:r>
            <a:endParaRPr lang="en-US" sz="1300" dirty="0"/>
          </a:p>
        </p:txBody>
      </p:sp>
      <p:sp>
        <p:nvSpPr>
          <p:cNvPr id="9" name="Text 7"/>
          <p:cNvSpPr/>
          <p:nvPr/>
        </p:nvSpPr>
        <p:spPr>
          <a:xfrm>
            <a:off x="1066800" y="3235796"/>
            <a:ext cx="5776556"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JetBrains Mono" pitchFamily="49" charset="0"/>
                <a:ea typeface="JetBrains Mono" pitchFamily="49" charset="-122"/>
                <a:cs typeface="JetBrains Mono" pitchFamily="49" charset="-120"/>
              </a:rPr>
              <a:t>Likely range ≈ 96–116 h</a:t>
            </a:r>
            <a:endParaRPr lang="en-US" sz="1300" dirty="0"/>
          </a:p>
        </p:txBody>
      </p:sp>
      <p:sp>
        <p:nvSpPr>
          <p:cNvPr id="10" name="Shape 8"/>
          <p:cNvSpPr/>
          <p:nvPr/>
        </p:nvSpPr>
        <p:spPr>
          <a:xfrm>
            <a:off x="7132307" y="1803350"/>
            <a:ext cx="4246893" cy="1866768"/>
          </a:xfrm>
          <a:prstGeom prst="roundRect">
            <a:avLst>
              <a:gd name="adj" fmla="val 5443"/>
            </a:avLst>
          </a:prstGeom>
          <a:solidFill>
            <a:srgbClr val="EEF2F7"/>
          </a:solidFill>
          <a:ln/>
        </p:spPr>
      </p:sp>
      <p:sp>
        <p:nvSpPr>
          <p:cNvPr id="11" name="Text 9"/>
          <p:cNvSpPr/>
          <p:nvPr/>
        </p:nvSpPr>
        <p:spPr>
          <a:xfrm>
            <a:off x="7386307" y="2006550"/>
            <a:ext cx="385106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JetBrains Mono" pitchFamily="49" charset="0"/>
                <a:ea typeface="JetBrains Mono" pitchFamily="49" charset="-122"/>
                <a:cs typeface="JetBrains Mono" pitchFamily="49" charset="-120"/>
              </a:rPr>
              <a:t>Capacity = 2 × 6 = 12 h/day</a:t>
            </a:r>
            <a:endParaRPr lang="en-US" sz="1300" dirty="0"/>
          </a:p>
        </p:txBody>
      </p:sp>
      <p:sp>
        <p:nvSpPr>
          <p:cNvPr id="12" name="Text 10"/>
          <p:cNvSpPr/>
          <p:nvPr/>
        </p:nvSpPr>
        <p:spPr>
          <a:xfrm>
            <a:off x="7386307" y="2313856"/>
            <a:ext cx="385106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106.3 ÷ 12 ≈ 8.9</a:t>
            </a:r>
            <a:endParaRPr lang="en-US" sz="1300" dirty="0"/>
          </a:p>
        </p:txBody>
      </p:sp>
      <p:sp>
        <p:nvSpPr>
          <p:cNvPr id="13" name="Text 11"/>
          <p:cNvSpPr/>
          <p:nvPr/>
        </p:nvSpPr>
        <p:spPr>
          <a:xfrm>
            <a:off x="7386307" y="2621161"/>
            <a:ext cx="385106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A14F0A"/>
                </a:solidFill>
                <a:latin typeface="Domine" pitchFamily="18" charset="0"/>
                <a:ea typeface="Domine" pitchFamily="18" charset="-122"/>
                <a:cs typeface="Domine" pitchFamily="18" charset="-120"/>
              </a:rPr>
              <a:t>~9 working days</a:t>
            </a:r>
            <a:endParaRPr lang="en-US" sz="2200" dirty="0"/>
          </a:p>
        </p:txBody>
      </p:sp>
      <p:sp>
        <p:nvSpPr>
          <p:cNvPr id="14" name="Text 12"/>
          <p:cNvSpPr/>
          <p:nvPr/>
        </p:nvSpPr>
        <p:spPr>
          <a:xfrm>
            <a:off x="812800" y="3924102"/>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Why P is so high:</a:t>
            </a:r>
            <a:r>
              <a:rPr lang="en-US" sz="1400" dirty="0">
                <a:solidFill>
                  <a:srgbClr val="3D4A5C"/>
                </a:solidFill>
                <a:latin typeface="Nunito Sans" pitchFamily="34" charset="0"/>
                <a:ea typeface="Nunito Sans" pitchFamily="34" charset="-122"/>
                <a:cs typeface="Nunito Sans" pitchFamily="34" charset="-120"/>
              </a:rPr>
              <a:t> an unstable gateway sandbox, many defects, and reopened fixes like BUG-312.</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ASSUMPTIONS AND RISK</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What the number depends on</a:t>
            </a:r>
            <a:endParaRPr lang="en-US" sz="3200" dirty="0"/>
          </a:p>
        </p:txBody>
      </p:sp>
      <p:pic>
        <p:nvPicPr>
          <p:cNvPr id="4" name="Image 0" descr="Check"/>
          <p:cNvPicPr>
            <a:picLocks noChangeAspect="1"/>
          </p:cNvPicPr>
          <p:nvPr/>
        </p:nvPicPr>
        <p:blipFill>
          <a:blip r:embed="rId3"/>
          <a:srcRect/>
          <a:stretch/>
        </p:blipFill>
        <p:spPr>
          <a:xfrm>
            <a:off x="812800" y="1826171"/>
            <a:ext cx="203200" cy="203200"/>
          </a:xfrm>
          <a:prstGeom prst="rect">
            <a:avLst/>
          </a:prstGeom>
        </p:spPr>
      </p:pic>
      <p:sp>
        <p:nvSpPr>
          <p:cNvPr id="5" name="Text 2"/>
          <p:cNvSpPr/>
          <p:nvPr/>
        </p:nvSpPr>
        <p:spPr>
          <a:xfrm>
            <a:off x="1143000" y="1803350"/>
            <a:ext cx="5993765"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Payment sandbox and email service available and stable in QA</a:t>
            </a:r>
            <a:endParaRPr lang="en-US" sz="1400" dirty="0"/>
          </a:p>
        </p:txBody>
      </p:sp>
      <p:pic>
        <p:nvPicPr>
          <p:cNvPr id="6" name="Image 1" descr="Check"/>
          <p:cNvPicPr>
            <a:picLocks noChangeAspect="1"/>
          </p:cNvPicPr>
          <p:nvPr/>
        </p:nvPicPr>
        <p:blipFill>
          <a:blip r:embed="rId3"/>
          <a:srcRect/>
          <a:stretch/>
        </p:blipFill>
        <p:spPr>
          <a:xfrm>
            <a:off x="812800" y="2189361"/>
            <a:ext cx="203200" cy="203200"/>
          </a:xfrm>
          <a:prstGeom prst="rect">
            <a:avLst/>
          </a:prstGeom>
        </p:spPr>
      </p:pic>
      <p:sp>
        <p:nvSpPr>
          <p:cNvPr id="7" name="Text 3"/>
          <p:cNvSpPr/>
          <p:nvPr/>
        </p:nvSpPr>
        <p:spPr>
          <a:xfrm>
            <a:off x="1143000" y="2166541"/>
            <a:ext cx="557934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Builds pass smoke; Critical/High defects fixed within 1 day</a:t>
            </a:r>
            <a:endParaRPr lang="en-US" sz="1400" dirty="0"/>
          </a:p>
        </p:txBody>
      </p:sp>
      <p:pic>
        <p:nvPicPr>
          <p:cNvPr id="8" name="Image 2" descr="Check"/>
          <p:cNvPicPr>
            <a:picLocks noChangeAspect="1"/>
          </p:cNvPicPr>
          <p:nvPr/>
        </p:nvPicPr>
        <p:blipFill>
          <a:blip r:embed="rId3"/>
          <a:srcRect/>
          <a:stretch/>
        </p:blipFill>
        <p:spPr>
          <a:xfrm>
            <a:off x="812800" y="2552576"/>
            <a:ext cx="203200" cy="203200"/>
          </a:xfrm>
          <a:prstGeom prst="rect">
            <a:avLst/>
          </a:prstGeom>
        </p:spPr>
      </p:pic>
      <p:sp>
        <p:nvSpPr>
          <p:cNvPr id="9" name="Text 4"/>
          <p:cNvSpPr/>
          <p:nvPr/>
        </p:nvSpPr>
        <p:spPr>
          <a:xfrm>
            <a:off x="1143000" y="2529756"/>
            <a:ext cx="4750911"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US-301 AC stay stable; changes are re-estimated</a:t>
            </a:r>
            <a:endParaRPr lang="en-US" sz="1400" dirty="0"/>
          </a:p>
        </p:txBody>
      </p:sp>
      <p:pic>
        <p:nvPicPr>
          <p:cNvPr id="10" name="Image 3" descr="Check"/>
          <p:cNvPicPr>
            <a:picLocks noChangeAspect="1"/>
          </p:cNvPicPr>
          <p:nvPr/>
        </p:nvPicPr>
        <p:blipFill>
          <a:blip r:embed="rId3"/>
          <a:srcRect/>
          <a:stretch/>
        </p:blipFill>
        <p:spPr>
          <a:xfrm>
            <a:off x="812800" y="2915791"/>
            <a:ext cx="203200" cy="203200"/>
          </a:xfrm>
          <a:prstGeom prst="rect">
            <a:avLst/>
          </a:prstGeom>
        </p:spPr>
      </p:pic>
      <p:sp>
        <p:nvSpPr>
          <p:cNvPr id="11" name="Text 5"/>
          <p:cNvSpPr/>
          <p:nvPr/>
        </p:nvSpPr>
        <p:spPr>
          <a:xfrm>
            <a:off x="1143000" y="2892971"/>
            <a:ext cx="562768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Automation framework already exists; only scripts are built</a:t>
            </a:r>
            <a:endParaRPr lang="en-US" sz="1400" dirty="0"/>
          </a:p>
        </p:txBody>
      </p:sp>
      <p:pic>
        <p:nvPicPr>
          <p:cNvPr id="12" name="Image 4" descr="Check"/>
          <p:cNvPicPr>
            <a:picLocks noChangeAspect="1"/>
          </p:cNvPicPr>
          <p:nvPr/>
        </p:nvPicPr>
        <p:blipFill>
          <a:blip r:embed="rId3"/>
          <a:srcRect/>
          <a:stretch/>
        </p:blipFill>
        <p:spPr>
          <a:xfrm>
            <a:off x="812800" y="3278981"/>
            <a:ext cx="203200" cy="203200"/>
          </a:xfrm>
          <a:prstGeom prst="rect">
            <a:avLst/>
          </a:prstGeom>
        </p:spPr>
      </p:pic>
      <p:sp>
        <p:nvSpPr>
          <p:cNvPr id="13" name="Text 6"/>
          <p:cNvSpPr/>
          <p:nvPr/>
        </p:nvSpPr>
        <p:spPr>
          <a:xfrm>
            <a:off x="1143000" y="3256161"/>
            <a:ext cx="7937103"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Out of scope:</a:t>
            </a:r>
            <a:r>
              <a:rPr lang="en-US" sz="1400" dirty="0">
                <a:solidFill>
                  <a:srgbClr val="3D4A5C"/>
                </a:solidFill>
                <a:latin typeface="Nunito Sans" pitchFamily="34" charset="0"/>
                <a:ea typeface="Nunito Sans" pitchFamily="34" charset="-122"/>
                <a:cs typeface="Nunito Sans" pitchFamily="34" charset="-120"/>
              </a:rPr>
              <a:t> full penetration testing and large-scale load testing (separate teams)</a:t>
            </a:r>
            <a:endParaRPr lang="en-US" sz="1400" dirty="0"/>
          </a:p>
        </p:txBody>
      </p:sp>
      <p:sp>
        <p:nvSpPr>
          <p:cNvPr id="14" name="Shape 7"/>
          <p:cNvSpPr/>
          <p:nvPr/>
        </p:nvSpPr>
        <p:spPr>
          <a:xfrm>
            <a:off x="812800" y="3759076"/>
            <a:ext cx="10566400" cy="802614"/>
          </a:xfrm>
          <a:prstGeom prst="roundRect">
            <a:avLst>
              <a:gd name="adj" fmla="val 9494"/>
            </a:avLst>
          </a:prstGeom>
          <a:solidFill>
            <a:srgbClr val="FBEBDD"/>
          </a:solidFill>
          <a:ln/>
        </p:spPr>
      </p:sp>
      <p:pic>
        <p:nvPicPr>
          <p:cNvPr id="15" name="Image 5" descr="Warning"/>
          <p:cNvPicPr>
            <a:picLocks noChangeAspect="1"/>
          </p:cNvPicPr>
          <p:nvPr/>
        </p:nvPicPr>
        <p:blipFill>
          <a:blip r:embed="rId4"/>
          <a:srcRect t="-262" b="-262"/>
          <a:stretch/>
        </p:blipFill>
        <p:spPr>
          <a:xfrm>
            <a:off x="1016000" y="4020691"/>
            <a:ext cx="202142" cy="279400"/>
          </a:xfrm>
          <a:prstGeom prst="rect">
            <a:avLst/>
          </a:prstGeom>
        </p:spPr>
      </p:pic>
      <p:sp>
        <p:nvSpPr>
          <p:cNvPr id="16" name="Text 8"/>
          <p:cNvSpPr/>
          <p:nvPr/>
        </p:nvSpPr>
        <p:spPr>
          <a:xfrm>
            <a:off x="1370542" y="3911476"/>
            <a:ext cx="10099623" cy="52321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Nunito Sans" pitchFamily="34" charset="0"/>
                <a:ea typeface="Nunito Sans" pitchFamily="34" charset="-122"/>
                <a:cs typeface="Nunito Sans" pitchFamily="34" charset="-120"/>
              </a:rPr>
              <a:t>Only 5 testing days left in the sprint?</a:t>
            </a:r>
            <a:r>
              <a:rPr lang="en-US" sz="1400" dirty="0">
                <a:solidFill>
                  <a:srgbClr val="14213D"/>
                </a:solidFill>
                <a:latin typeface="Nunito Sans" pitchFamily="34" charset="0"/>
                <a:ea typeface="Nunito Sans" pitchFamily="34" charset="-122"/>
                <a:cs typeface="Nunito Sans" pitchFamily="34" charset="-120"/>
              </a:rPr>
              <a:t> Propose a </a:t>
            </a:r>
            <a:r>
              <a:rPr lang="en-US" sz="1400" b="1" dirty="0">
                <a:solidFill>
                  <a:srgbClr val="A14F0A"/>
                </a:solidFill>
                <a:latin typeface="Nunito Sans" pitchFamily="34" charset="0"/>
                <a:ea typeface="Nunito Sans" pitchFamily="34" charset="-122"/>
                <a:cs typeface="Nunito Sans" pitchFamily="34" charset="-120"/>
              </a:rPr>
              <a:t>risk-based cut</a:t>
            </a:r>
            <a:r>
              <a:rPr lang="en-US" sz="1400" dirty="0">
                <a:solidFill>
                  <a:srgbClr val="14213D"/>
                </a:solidFill>
                <a:latin typeface="Nunito Sans" pitchFamily="34" charset="0"/>
                <a:ea typeface="Nunito Sans" pitchFamily="34" charset="-122"/>
                <a:cs typeface="Nunito Sans" pitchFamily="34" charset="-120"/>
              </a:rPr>
              <a:t>: all P1 tests + automation of the 5 most critical flows now; remaining automation and P3 tests next sprint.</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SELF-ASSESSMENT</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Check your work before you finish</a:t>
            </a:r>
            <a:endParaRPr lang="en-US" sz="3200" dirty="0"/>
          </a:p>
        </p:txBody>
      </p:sp>
      <p:pic>
        <p:nvPicPr>
          <p:cNvPr id="4" name="Image 0" descr="CheckCircle"/>
          <p:cNvPicPr>
            <a:picLocks noChangeAspect="1"/>
          </p:cNvPicPr>
          <p:nvPr/>
        </p:nvPicPr>
        <p:blipFill>
          <a:blip r:embed="rId3"/>
          <a:srcRect/>
          <a:stretch/>
        </p:blipFill>
        <p:spPr>
          <a:xfrm>
            <a:off x="812800" y="1817291"/>
            <a:ext cx="203200" cy="203200"/>
          </a:xfrm>
          <a:prstGeom prst="rect">
            <a:avLst/>
          </a:prstGeom>
        </p:spPr>
      </p:pic>
      <p:sp>
        <p:nvSpPr>
          <p:cNvPr id="5" name="Text 2"/>
          <p:cNvSpPr/>
          <p:nvPr/>
        </p:nvSpPr>
        <p:spPr>
          <a:xfrm>
            <a:off x="1143000" y="1803350"/>
            <a:ext cx="5031264"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Multiple </a:t>
            </a:r>
            <a:r>
              <a:rPr lang="en-US" sz="1300" b="1" dirty="0">
                <a:solidFill>
                  <a:srgbClr val="14213D"/>
                </a:solidFill>
                <a:latin typeface="Nunito Sans" pitchFamily="34" charset="0"/>
                <a:ea typeface="Nunito Sans" pitchFamily="34" charset="-122"/>
                <a:cs typeface="Nunito Sans" pitchFamily="34" charset="-120"/>
              </a:rPr>
              <a:t>testing types</a:t>
            </a:r>
            <a:r>
              <a:rPr lang="en-US" sz="1300" dirty="0">
                <a:solidFill>
                  <a:srgbClr val="3D4A5C"/>
                </a:solidFill>
                <a:latin typeface="Nunito Sans" pitchFamily="34" charset="0"/>
                <a:ea typeface="Nunito Sans" pitchFamily="34" charset="-122"/>
                <a:cs typeface="Nunito Sans" pitchFamily="34" charset="-120"/>
              </a:rPr>
              <a:t>, each with a reason why it applies</a:t>
            </a:r>
            <a:endParaRPr lang="en-US" sz="1300" dirty="0"/>
          </a:p>
        </p:txBody>
      </p:sp>
      <p:pic>
        <p:nvPicPr>
          <p:cNvPr id="6" name="Image 1" descr="CheckCircle"/>
          <p:cNvPicPr>
            <a:picLocks noChangeAspect="1"/>
          </p:cNvPicPr>
          <p:nvPr/>
        </p:nvPicPr>
        <p:blipFill>
          <a:blip r:embed="rId3"/>
          <a:srcRect/>
          <a:stretch/>
        </p:blipFill>
        <p:spPr>
          <a:xfrm>
            <a:off x="812800" y="2137321"/>
            <a:ext cx="203200" cy="203200"/>
          </a:xfrm>
          <a:prstGeom prst="rect">
            <a:avLst/>
          </a:prstGeom>
        </p:spPr>
      </p:pic>
      <p:sp>
        <p:nvSpPr>
          <p:cNvPr id="7" name="Text 3"/>
          <p:cNvSpPr/>
          <p:nvPr/>
        </p:nvSpPr>
        <p:spPr>
          <a:xfrm>
            <a:off x="1143000" y="2123356"/>
            <a:ext cx="449969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Risks</a:t>
            </a:r>
            <a:r>
              <a:rPr lang="en-US" sz="1300" dirty="0">
                <a:solidFill>
                  <a:srgbClr val="3D4A5C"/>
                </a:solidFill>
                <a:latin typeface="Nunito Sans" pitchFamily="34" charset="0"/>
                <a:ea typeface="Nunito Sans" pitchFamily="34" charset="-122"/>
                <a:cs typeface="Nunito Sans" pitchFamily="34" charset="-120"/>
              </a:rPr>
              <a:t> ranked by likelihood × impact, with </a:t>
            </a:r>
            <a:r>
              <a:rPr lang="en-US" sz="1300" b="1" dirty="0">
                <a:solidFill>
                  <a:srgbClr val="14213D"/>
                </a:solidFill>
                <a:latin typeface="Nunito Sans" pitchFamily="34" charset="0"/>
                <a:ea typeface="Nunito Sans" pitchFamily="34" charset="-122"/>
                <a:cs typeface="Nunito Sans" pitchFamily="34" charset="-120"/>
              </a:rPr>
              <a:t>priorities</a:t>
            </a:r>
            <a:endParaRPr lang="en-US" sz="1300" dirty="0"/>
          </a:p>
        </p:txBody>
      </p:sp>
      <p:pic>
        <p:nvPicPr>
          <p:cNvPr id="8" name="Image 2" descr="CheckCircle"/>
          <p:cNvPicPr>
            <a:picLocks noChangeAspect="1"/>
          </p:cNvPicPr>
          <p:nvPr/>
        </p:nvPicPr>
        <p:blipFill>
          <a:blip r:embed="rId3"/>
          <a:srcRect/>
          <a:stretch/>
        </p:blipFill>
        <p:spPr>
          <a:xfrm>
            <a:off x="812800" y="2457326"/>
            <a:ext cx="203200" cy="203200"/>
          </a:xfrm>
          <a:prstGeom prst="rect">
            <a:avLst/>
          </a:prstGeom>
        </p:spPr>
      </p:pic>
      <p:sp>
        <p:nvSpPr>
          <p:cNvPr id="9" name="Text 4"/>
          <p:cNvSpPr/>
          <p:nvPr/>
        </p:nvSpPr>
        <p:spPr>
          <a:xfrm>
            <a:off x="1143000" y="2443361"/>
            <a:ext cx="6465173"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Automation candidates</a:t>
            </a:r>
            <a:r>
              <a:rPr lang="en-US" sz="1300" dirty="0">
                <a:solidFill>
                  <a:srgbClr val="3D4A5C"/>
                </a:solidFill>
                <a:latin typeface="Nunito Sans" pitchFamily="34" charset="0"/>
                <a:ea typeface="Nunito Sans" pitchFamily="34" charset="-122"/>
                <a:cs typeface="Nunito Sans" pitchFamily="34" charset="-120"/>
              </a:rPr>
              <a:t> chosen by clear criteria: repetitive, stable, critical</a:t>
            </a:r>
            <a:endParaRPr lang="en-US" sz="1300" dirty="0"/>
          </a:p>
        </p:txBody>
      </p:sp>
      <p:pic>
        <p:nvPicPr>
          <p:cNvPr id="10" name="Image 3" descr="CheckCircle"/>
          <p:cNvPicPr>
            <a:picLocks noChangeAspect="1"/>
          </p:cNvPicPr>
          <p:nvPr/>
        </p:nvPicPr>
        <p:blipFill>
          <a:blip r:embed="rId3"/>
          <a:srcRect/>
          <a:stretch/>
        </p:blipFill>
        <p:spPr>
          <a:xfrm>
            <a:off x="812800" y="2777331"/>
            <a:ext cx="203200" cy="203200"/>
          </a:xfrm>
          <a:prstGeom prst="rect">
            <a:avLst/>
          </a:prstGeom>
        </p:spPr>
      </p:pic>
      <p:sp>
        <p:nvSpPr>
          <p:cNvPr id="11" name="Text 5"/>
          <p:cNvSpPr/>
          <p:nvPr/>
        </p:nvSpPr>
        <p:spPr>
          <a:xfrm>
            <a:off x="1143000" y="2763391"/>
            <a:ext cx="8492728"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Scenarios</a:t>
            </a:r>
            <a:r>
              <a:rPr lang="en-US" sz="1300" dirty="0">
                <a:solidFill>
                  <a:srgbClr val="3D4A5C"/>
                </a:solidFill>
                <a:latin typeface="Nunito Sans" pitchFamily="34" charset="0"/>
                <a:ea typeface="Nunito Sans" pitchFamily="34" charset="-122"/>
                <a:cs typeface="Nunito Sans" pitchFamily="34" charset="-120"/>
              </a:rPr>
              <a:t> cover positive, negative, boundary, alternate, exception and E2E, mapped to every AC</a:t>
            </a:r>
            <a:endParaRPr lang="en-US" sz="1300" dirty="0"/>
          </a:p>
        </p:txBody>
      </p:sp>
      <p:pic>
        <p:nvPicPr>
          <p:cNvPr id="12" name="Image 4" descr="CheckCircle"/>
          <p:cNvPicPr>
            <a:picLocks noChangeAspect="1"/>
          </p:cNvPicPr>
          <p:nvPr/>
        </p:nvPicPr>
        <p:blipFill>
          <a:blip r:embed="rId3"/>
          <a:srcRect/>
          <a:stretch/>
        </p:blipFill>
        <p:spPr>
          <a:xfrm>
            <a:off x="812800" y="3097361"/>
            <a:ext cx="203200" cy="203200"/>
          </a:xfrm>
          <a:prstGeom prst="rect">
            <a:avLst/>
          </a:prstGeom>
        </p:spPr>
      </p:pic>
      <p:sp>
        <p:nvSpPr>
          <p:cNvPr id="13" name="Text 6"/>
          <p:cNvSpPr/>
          <p:nvPr/>
        </p:nvSpPr>
        <p:spPr>
          <a:xfrm>
            <a:off x="1143000" y="3083396"/>
            <a:ext cx="7626271"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Test cases</a:t>
            </a:r>
            <a:r>
              <a:rPr lang="en-US" sz="1300" dirty="0">
                <a:solidFill>
                  <a:srgbClr val="3D4A5C"/>
                </a:solidFill>
                <a:latin typeface="Nunito Sans" pitchFamily="34" charset="0"/>
                <a:ea typeface="Nunito Sans" pitchFamily="34" charset="-122"/>
                <a:cs typeface="Nunito Sans" pitchFamily="34" charset="-120"/>
              </a:rPr>
              <a:t> have specific data and expected results that include what must not happen</a:t>
            </a:r>
            <a:endParaRPr lang="en-US" sz="1300" dirty="0"/>
          </a:p>
        </p:txBody>
      </p:sp>
      <p:pic>
        <p:nvPicPr>
          <p:cNvPr id="14" name="Image 5" descr="CheckCircle"/>
          <p:cNvPicPr>
            <a:picLocks noChangeAspect="1"/>
          </p:cNvPicPr>
          <p:nvPr/>
        </p:nvPicPr>
        <p:blipFill>
          <a:blip r:embed="rId3"/>
          <a:srcRect/>
          <a:stretch/>
        </p:blipFill>
        <p:spPr>
          <a:xfrm>
            <a:off x="812800" y="3417367"/>
            <a:ext cx="203200" cy="203200"/>
          </a:xfrm>
          <a:prstGeom prst="rect">
            <a:avLst/>
          </a:prstGeom>
        </p:spPr>
      </p:pic>
      <p:sp>
        <p:nvSpPr>
          <p:cNvPr id="15" name="Text 7"/>
          <p:cNvSpPr/>
          <p:nvPr/>
        </p:nvSpPr>
        <p:spPr>
          <a:xfrm>
            <a:off x="1143000" y="3403402"/>
            <a:ext cx="6407785"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At least one </a:t>
            </a:r>
            <a:r>
              <a:rPr lang="en-US" sz="1300" b="1" dirty="0">
                <a:solidFill>
                  <a:srgbClr val="14213D"/>
                </a:solidFill>
                <a:latin typeface="Nunito Sans" pitchFamily="34" charset="0"/>
                <a:ea typeface="Nunito Sans" pitchFamily="34" charset="-122"/>
                <a:cs typeface="Nunito Sans" pitchFamily="34" charset="-120"/>
              </a:rPr>
              <a:t>design technique</a:t>
            </a:r>
            <a:r>
              <a:rPr lang="en-US" sz="1300" dirty="0">
                <a:solidFill>
                  <a:srgbClr val="3D4A5C"/>
                </a:solidFill>
                <a:latin typeface="Nunito Sans" pitchFamily="34" charset="0"/>
                <a:ea typeface="Nunito Sans" pitchFamily="34" charset="-122"/>
                <a:cs typeface="Nunito Sans" pitchFamily="34" charset="-120"/>
              </a:rPr>
              <a:t>: EP/BVA, decision table or state transition</a:t>
            </a:r>
            <a:endParaRPr lang="en-US" sz="1300" dirty="0"/>
          </a:p>
        </p:txBody>
      </p:sp>
      <p:pic>
        <p:nvPicPr>
          <p:cNvPr id="16" name="Image 6" descr="CheckCircle"/>
          <p:cNvPicPr>
            <a:picLocks noChangeAspect="1"/>
          </p:cNvPicPr>
          <p:nvPr/>
        </p:nvPicPr>
        <p:blipFill>
          <a:blip r:embed="rId3"/>
          <a:srcRect/>
          <a:stretch/>
        </p:blipFill>
        <p:spPr>
          <a:xfrm>
            <a:off x="812800" y="3737372"/>
            <a:ext cx="203200" cy="203200"/>
          </a:xfrm>
          <a:prstGeom prst="rect">
            <a:avLst/>
          </a:prstGeom>
        </p:spPr>
      </p:pic>
      <p:sp>
        <p:nvSpPr>
          <p:cNvPr id="17" name="Text 8"/>
          <p:cNvSpPr/>
          <p:nvPr/>
        </p:nvSpPr>
        <p:spPr>
          <a:xfrm>
            <a:off x="1143000" y="3723432"/>
            <a:ext cx="5693410"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Defect reports</a:t>
            </a:r>
            <a:r>
              <a:rPr lang="en-US" sz="1300" dirty="0">
                <a:solidFill>
                  <a:srgbClr val="3D4A5C"/>
                </a:solidFill>
                <a:latin typeface="Nunito Sans" pitchFamily="34" charset="0"/>
                <a:ea typeface="Nunito Sans" pitchFamily="34" charset="-122"/>
                <a:cs typeface="Nunito Sans" pitchFamily="34" charset="-120"/>
              </a:rPr>
              <a:t> are reproducible, with correct severity vs. priority</a:t>
            </a:r>
            <a:endParaRPr lang="en-US" sz="1300" dirty="0"/>
          </a:p>
        </p:txBody>
      </p:sp>
      <p:pic>
        <p:nvPicPr>
          <p:cNvPr id="18" name="Image 7" descr="CheckCircle"/>
          <p:cNvPicPr>
            <a:picLocks noChangeAspect="1"/>
          </p:cNvPicPr>
          <p:nvPr/>
        </p:nvPicPr>
        <p:blipFill>
          <a:blip r:embed="rId3"/>
          <a:srcRect/>
          <a:stretch/>
        </p:blipFill>
        <p:spPr>
          <a:xfrm>
            <a:off x="812800" y="4057402"/>
            <a:ext cx="203200" cy="203200"/>
          </a:xfrm>
          <a:prstGeom prst="rect">
            <a:avLst/>
          </a:prstGeom>
        </p:spPr>
      </p:pic>
      <p:sp>
        <p:nvSpPr>
          <p:cNvPr id="19" name="Text 9"/>
          <p:cNvSpPr/>
          <p:nvPr/>
        </p:nvSpPr>
        <p:spPr>
          <a:xfrm>
            <a:off x="1143000" y="4043437"/>
            <a:ext cx="8194993"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Each defect traced through the right </a:t>
            </a:r>
            <a:r>
              <a:rPr lang="en-US" sz="1300" b="1" dirty="0">
                <a:solidFill>
                  <a:srgbClr val="14213D"/>
                </a:solidFill>
                <a:latin typeface="Nunito Sans" pitchFamily="34" charset="0"/>
                <a:ea typeface="Nunito Sans" pitchFamily="34" charset="-122"/>
                <a:cs typeface="Nunito Sans" pitchFamily="34" charset="-120"/>
              </a:rPr>
              <a:t>life cycle path</a:t>
            </a:r>
            <a:r>
              <a:rPr lang="en-US" sz="1300" dirty="0">
                <a:solidFill>
                  <a:srgbClr val="3D4A5C"/>
                </a:solidFill>
                <a:latin typeface="Nunito Sans" pitchFamily="34" charset="0"/>
                <a:ea typeface="Nunito Sans" pitchFamily="34" charset="-122"/>
                <a:cs typeface="Nunito Sans" pitchFamily="34" charset="-120"/>
              </a:rPr>
              <a:t>, including Reopened, Duplicate, Deferred</a:t>
            </a:r>
            <a:endParaRPr lang="en-US" sz="1300" dirty="0"/>
          </a:p>
        </p:txBody>
      </p:sp>
      <p:pic>
        <p:nvPicPr>
          <p:cNvPr id="20" name="Image 8" descr="CheckCircle"/>
          <p:cNvPicPr>
            <a:picLocks noChangeAspect="1"/>
          </p:cNvPicPr>
          <p:nvPr/>
        </p:nvPicPr>
        <p:blipFill>
          <a:blip r:embed="rId3"/>
          <a:srcRect/>
          <a:stretch/>
        </p:blipFill>
        <p:spPr>
          <a:xfrm>
            <a:off x="812800" y="4377407"/>
            <a:ext cx="203200" cy="203200"/>
          </a:xfrm>
          <a:prstGeom prst="rect">
            <a:avLst/>
          </a:prstGeom>
        </p:spPr>
      </p:pic>
      <p:sp>
        <p:nvSpPr>
          <p:cNvPr id="21" name="Text 10"/>
          <p:cNvSpPr/>
          <p:nvPr/>
        </p:nvSpPr>
        <p:spPr>
          <a:xfrm>
            <a:off x="1143000" y="4363442"/>
            <a:ext cx="6529388"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Estimate</a:t>
            </a:r>
            <a:r>
              <a:rPr lang="en-US" sz="1300" dirty="0">
                <a:solidFill>
                  <a:srgbClr val="3D4A5C"/>
                </a:solidFill>
                <a:latin typeface="Nunito Sans" pitchFamily="34" charset="0"/>
                <a:ea typeface="Nunito Sans" pitchFamily="34" charset="-122"/>
                <a:cs typeface="Nunito Sans" pitchFamily="34" charset="-120"/>
              </a:rPr>
              <a:t> includes all task types, three-point, a schedule and assumptions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2321595"/>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COURSE WRAP-UP</a:t>
            </a:r>
            <a:endParaRPr lang="en-US" sz="1200" dirty="0"/>
          </a:p>
        </p:txBody>
      </p:sp>
      <p:sp>
        <p:nvSpPr>
          <p:cNvPr id="3" name="Text 1"/>
          <p:cNvSpPr>
            <a:spLocks noGrp="1"/>
          </p:cNvSpPr>
          <p:nvPr>
            <p:ph type="title"/>
          </p:nvPr>
        </p:nvSpPr>
        <p:spPr>
          <a:xfrm>
            <a:off x="812800" y="2611115"/>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BFBF8"/>
                </a:solidFill>
                <a:latin typeface="Domine" pitchFamily="18" charset="0"/>
                <a:ea typeface="Domine" pitchFamily="18" charset="-122"/>
                <a:cs typeface="Domine" pitchFamily="18" charset="-120"/>
              </a:rPr>
              <a:t>The journey you'll follow on real projects</a:t>
            </a:r>
            <a:endParaRPr lang="en-US" sz="3600" dirty="0"/>
          </a:p>
        </p:txBody>
      </p:sp>
      <p:sp>
        <p:nvSpPr>
          <p:cNvPr id="4" name="Text 2"/>
          <p:cNvSpPr/>
          <p:nvPr/>
        </p:nvSpPr>
        <p:spPr>
          <a:xfrm>
            <a:off x="812800" y="3469630"/>
            <a:ext cx="1570633" cy="469900"/>
          </a:xfrm>
          <a:prstGeom prst="roundRect">
            <a:avLst>
              <a:gd name="adj" fmla="val 16216"/>
            </a:avLst>
          </a:prstGeom>
          <a:solidFill>
            <a:srgbClr val="24345A"/>
          </a:solidFill>
          <a:ln/>
        </p:spPr>
        <p:txBody>
          <a:bodyPr wrap="none" lIns="0" tIns="0" rIns="0" bIns="0" rtlCol="0" anchor="ctr">
            <a:normAutofit/>
          </a:bodyPr>
          <a:lstStyle/>
          <a:p>
            <a:pPr marL="0" indent="0" algn="ctr">
              <a:lnSpc>
                <a:spcPts val="2100"/>
              </a:lnSpc>
              <a:buNone/>
            </a:pPr>
            <a:r>
              <a:rPr lang="en-US" sz="1500" b="1" dirty="0">
                <a:solidFill>
                  <a:srgbClr val="FBFBF8"/>
                </a:solidFill>
                <a:latin typeface="Nunito Sans" pitchFamily="34" charset="0"/>
                <a:ea typeface="Nunito Sans" pitchFamily="34" charset="-122"/>
                <a:cs typeface="Nunito Sans" pitchFamily="34" charset="-120"/>
              </a:rPr>
              <a:t>Testing Types</a:t>
            </a:r>
            <a:endParaRPr lang="en-US" sz="1500" dirty="0"/>
          </a:p>
        </p:txBody>
      </p:sp>
      <p:pic>
        <p:nvPicPr>
          <p:cNvPr id="5" name="Image 0" descr="arrow-right"/>
          <p:cNvPicPr>
            <a:picLocks noChangeAspect="1"/>
          </p:cNvPicPr>
          <p:nvPr/>
        </p:nvPicPr>
        <p:blipFill>
          <a:blip r:embed="rId3"/>
          <a:srcRect/>
          <a:stretch/>
        </p:blipFill>
        <p:spPr>
          <a:xfrm>
            <a:off x="2510433" y="3628380"/>
            <a:ext cx="304800" cy="152400"/>
          </a:xfrm>
          <a:prstGeom prst="rect">
            <a:avLst/>
          </a:prstGeom>
        </p:spPr>
      </p:pic>
      <p:sp>
        <p:nvSpPr>
          <p:cNvPr id="6" name="Text 3"/>
          <p:cNvSpPr/>
          <p:nvPr/>
        </p:nvSpPr>
        <p:spPr>
          <a:xfrm>
            <a:off x="2942233" y="3469630"/>
            <a:ext cx="1116674" cy="469900"/>
          </a:xfrm>
          <a:prstGeom prst="roundRect">
            <a:avLst>
              <a:gd name="adj" fmla="val 16216"/>
            </a:avLst>
          </a:prstGeom>
          <a:solidFill>
            <a:srgbClr val="24345A"/>
          </a:solidFill>
          <a:ln/>
        </p:spPr>
        <p:txBody>
          <a:bodyPr wrap="none" lIns="0" tIns="0" rIns="0" bIns="0" rtlCol="0" anchor="ctr">
            <a:normAutofit/>
          </a:bodyPr>
          <a:lstStyle/>
          <a:p>
            <a:pPr marL="0" indent="0" algn="ctr">
              <a:lnSpc>
                <a:spcPts val="2100"/>
              </a:lnSpc>
              <a:buNone/>
            </a:pPr>
            <a:r>
              <a:rPr lang="en-US" sz="1500" b="1" dirty="0">
                <a:solidFill>
                  <a:srgbClr val="FBFBF8"/>
                </a:solidFill>
                <a:latin typeface="Nunito Sans" pitchFamily="34" charset="0"/>
                <a:ea typeface="Nunito Sans" pitchFamily="34" charset="-122"/>
                <a:cs typeface="Nunito Sans" pitchFamily="34" charset="-120"/>
              </a:rPr>
              <a:t>Strategy</a:t>
            </a:r>
            <a:endParaRPr lang="en-US" sz="1500" dirty="0"/>
          </a:p>
        </p:txBody>
      </p:sp>
      <p:pic>
        <p:nvPicPr>
          <p:cNvPr id="7" name="Image 1" descr="arrow-right"/>
          <p:cNvPicPr>
            <a:picLocks noChangeAspect="1"/>
          </p:cNvPicPr>
          <p:nvPr/>
        </p:nvPicPr>
        <p:blipFill>
          <a:blip r:embed="rId3"/>
          <a:srcRect/>
          <a:stretch/>
        </p:blipFill>
        <p:spPr>
          <a:xfrm>
            <a:off x="4185907" y="3628380"/>
            <a:ext cx="304800" cy="152400"/>
          </a:xfrm>
          <a:prstGeom prst="rect">
            <a:avLst/>
          </a:prstGeom>
        </p:spPr>
      </p:pic>
      <p:sp>
        <p:nvSpPr>
          <p:cNvPr id="8" name="Text 4"/>
          <p:cNvSpPr/>
          <p:nvPr/>
        </p:nvSpPr>
        <p:spPr>
          <a:xfrm>
            <a:off x="4617707" y="3469630"/>
            <a:ext cx="2509242" cy="469900"/>
          </a:xfrm>
          <a:prstGeom prst="roundRect">
            <a:avLst>
              <a:gd name="adj" fmla="val 16216"/>
            </a:avLst>
          </a:prstGeom>
          <a:solidFill>
            <a:srgbClr val="24345A"/>
          </a:solidFill>
          <a:ln/>
        </p:spPr>
        <p:txBody>
          <a:bodyPr wrap="none" lIns="0" tIns="0" rIns="0" bIns="0" rtlCol="0" anchor="ctr">
            <a:normAutofit/>
          </a:bodyPr>
          <a:lstStyle/>
          <a:p>
            <a:pPr marL="0" indent="0" algn="ctr">
              <a:lnSpc>
                <a:spcPts val="2100"/>
              </a:lnSpc>
              <a:buNone/>
            </a:pPr>
            <a:r>
              <a:rPr lang="en-US" sz="1500" b="1" dirty="0">
                <a:solidFill>
                  <a:srgbClr val="FBFBF8"/>
                </a:solidFill>
                <a:latin typeface="Nunito Sans" pitchFamily="34" charset="0"/>
                <a:ea typeface="Nunito Sans" pitchFamily="34" charset="-122"/>
                <a:cs typeface="Nunito Sans" pitchFamily="34" charset="-120"/>
              </a:rPr>
              <a:t>Use Cases / User Stories</a:t>
            </a:r>
            <a:endParaRPr lang="en-US" sz="1500" dirty="0"/>
          </a:p>
        </p:txBody>
      </p:sp>
      <p:pic>
        <p:nvPicPr>
          <p:cNvPr id="9" name="Image 2" descr="arrow-right"/>
          <p:cNvPicPr>
            <a:picLocks noChangeAspect="1"/>
          </p:cNvPicPr>
          <p:nvPr/>
        </p:nvPicPr>
        <p:blipFill>
          <a:blip r:embed="rId3"/>
          <a:srcRect/>
          <a:stretch/>
        </p:blipFill>
        <p:spPr>
          <a:xfrm>
            <a:off x="7253949" y="3628380"/>
            <a:ext cx="304800" cy="152400"/>
          </a:xfrm>
          <a:prstGeom prst="rect">
            <a:avLst/>
          </a:prstGeom>
        </p:spPr>
      </p:pic>
      <p:sp>
        <p:nvSpPr>
          <p:cNvPr id="10" name="Text 5"/>
          <p:cNvSpPr/>
          <p:nvPr/>
        </p:nvSpPr>
        <p:spPr>
          <a:xfrm>
            <a:off x="7685749" y="3469630"/>
            <a:ext cx="2076053" cy="469900"/>
          </a:xfrm>
          <a:prstGeom prst="roundRect">
            <a:avLst>
              <a:gd name="adj" fmla="val 16216"/>
            </a:avLst>
          </a:prstGeom>
          <a:solidFill>
            <a:srgbClr val="24345A"/>
          </a:solidFill>
          <a:ln/>
        </p:spPr>
        <p:txBody>
          <a:bodyPr wrap="none" lIns="0" tIns="0" rIns="0" bIns="0" rtlCol="0" anchor="ctr">
            <a:normAutofit/>
          </a:bodyPr>
          <a:lstStyle/>
          <a:p>
            <a:pPr marL="0" indent="0" algn="ctr">
              <a:lnSpc>
                <a:spcPts val="2100"/>
              </a:lnSpc>
              <a:buNone/>
            </a:pPr>
            <a:r>
              <a:rPr lang="en-US" sz="1500" b="1" dirty="0">
                <a:solidFill>
                  <a:srgbClr val="FBFBF8"/>
                </a:solidFill>
                <a:latin typeface="Nunito Sans" pitchFamily="34" charset="0"/>
                <a:ea typeface="Nunito Sans" pitchFamily="34" charset="-122"/>
                <a:cs typeface="Nunito Sans" pitchFamily="34" charset="-120"/>
              </a:rPr>
              <a:t>Acceptance Criteria</a:t>
            </a:r>
            <a:endParaRPr lang="en-US" sz="1500" dirty="0"/>
          </a:p>
        </p:txBody>
      </p:sp>
      <p:pic>
        <p:nvPicPr>
          <p:cNvPr id="11" name="Image 3" descr="arrow-right"/>
          <p:cNvPicPr>
            <a:picLocks noChangeAspect="1"/>
          </p:cNvPicPr>
          <p:nvPr/>
        </p:nvPicPr>
        <p:blipFill>
          <a:blip r:embed="rId3"/>
          <a:srcRect/>
          <a:stretch/>
        </p:blipFill>
        <p:spPr>
          <a:xfrm>
            <a:off x="9888803" y="3628380"/>
            <a:ext cx="304800" cy="152400"/>
          </a:xfrm>
          <a:prstGeom prst="rect">
            <a:avLst/>
          </a:prstGeom>
        </p:spPr>
      </p:pic>
      <p:sp>
        <p:nvSpPr>
          <p:cNvPr id="12" name="Text 6"/>
          <p:cNvSpPr/>
          <p:nvPr/>
        </p:nvSpPr>
        <p:spPr>
          <a:xfrm>
            <a:off x="812800" y="4066530"/>
            <a:ext cx="1631950" cy="469900"/>
          </a:xfrm>
          <a:prstGeom prst="roundRect">
            <a:avLst>
              <a:gd name="adj" fmla="val 16216"/>
            </a:avLst>
          </a:prstGeom>
          <a:solidFill>
            <a:srgbClr val="24345A"/>
          </a:solidFill>
          <a:ln/>
        </p:spPr>
        <p:txBody>
          <a:bodyPr wrap="none" lIns="0" tIns="0" rIns="0" bIns="0" rtlCol="0" anchor="ctr">
            <a:normAutofit/>
          </a:bodyPr>
          <a:lstStyle/>
          <a:p>
            <a:pPr marL="0" indent="0" algn="ctr">
              <a:lnSpc>
                <a:spcPts val="2100"/>
              </a:lnSpc>
              <a:buNone/>
            </a:pPr>
            <a:r>
              <a:rPr lang="en-US" sz="1500" b="1" dirty="0">
                <a:solidFill>
                  <a:srgbClr val="FBFBF8"/>
                </a:solidFill>
                <a:latin typeface="Nunito Sans" pitchFamily="34" charset="0"/>
                <a:ea typeface="Nunito Sans" pitchFamily="34" charset="-122"/>
                <a:cs typeface="Nunito Sans" pitchFamily="34" charset="-120"/>
              </a:rPr>
              <a:t>Test Scenarios</a:t>
            </a:r>
            <a:endParaRPr lang="en-US" sz="1500" dirty="0"/>
          </a:p>
        </p:txBody>
      </p:sp>
      <p:pic>
        <p:nvPicPr>
          <p:cNvPr id="13" name="Image 4" descr="arrow-right"/>
          <p:cNvPicPr>
            <a:picLocks noChangeAspect="1"/>
          </p:cNvPicPr>
          <p:nvPr/>
        </p:nvPicPr>
        <p:blipFill>
          <a:blip r:embed="rId3"/>
          <a:srcRect/>
          <a:stretch/>
        </p:blipFill>
        <p:spPr>
          <a:xfrm>
            <a:off x="2571750" y="4225280"/>
            <a:ext cx="304800" cy="152400"/>
          </a:xfrm>
          <a:prstGeom prst="rect">
            <a:avLst/>
          </a:prstGeom>
        </p:spPr>
      </p:pic>
      <p:sp>
        <p:nvSpPr>
          <p:cNvPr id="14" name="Text 7"/>
          <p:cNvSpPr/>
          <p:nvPr/>
        </p:nvSpPr>
        <p:spPr>
          <a:xfrm>
            <a:off x="3003550" y="4066530"/>
            <a:ext cx="1298244" cy="469900"/>
          </a:xfrm>
          <a:prstGeom prst="roundRect">
            <a:avLst>
              <a:gd name="adj" fmla="val 16216"/>
            </a:avLst>
          </a:prstGeom>
          <a:solidFill>
            <a:srgbClr val="24345A"/>
          </a:solidFill>
          <a:ln/>
        </p:spPr>
        <p:txBody>
          <a:bodyPr wrap="none" lIns="0" tIns="0" rIns="0" bIns="0" rtlCol="0" anchor="ctr">
            <a:normAutofit/>
          </a:bodyPr>
          <a:lstStyle/>
          <a:p>
            <a:pPr marL="0" indent="0" algn="ctr">
              <a:lnSpc>
                <a:spcPts val="2100"/>
              </a:lnSpc>
              <a:buNone/>
            </a:pPr>
            <a:r>
              <a:rPr lang="en-US" sz="1500" b="1" dirty="0">
                <a:solidFill>
                  <a:srgbClr val="FBFBF8"/>
                </a:solidFill>
                <a:latin typeface="Nunito Sans" pitchFamily="34" charset="0"/>
                <a:ea typeface="Nunito Sans" pitchFamily="34" charset="-122"/>
                <a:cs typeface="Nunito Sans" pitchFamily="34" charset="-120"/>
              </a:rPr>
              <a:t>Test Cases</a:t>
            </a:r>
            <a:endParaRPr lang="en-US" sz="1500" dirty="0"/>
          </a:p>
        </p:txBody>
      </p:sp>
      <p:pic>
        <p:nvPicPr>
          <p:cNvPr id="15" name="Image 5" descr="arrow-right"/>
          <p:cNvPicPr>
            <a:picLocks noChangeAspect="1"/>
          </p:cNvPicPr>
          <p:nvPr/>
        </p:nvPicPr>
        <p:blipFill>
          <a:blip r:embed="rId3"/>
          <a:srcRect/>
          <a:stretch/>
        </p:blipFill>
        <p:spPr>
          <a:xfrm>
            <a:off x="4428794" y="4225280"/>
            <a:ext cx="304800" cy="152400"/>
          </a:xfrm>
          <a:prstGeom prst="rect">
            <a:avLst/>
          </a:prstGeom>
        </p:spPr>
      </p:pic>
      <p:sp>
        <p:nvSpPr>
          <p:cNvPr id="16" name="Text 8"/>
          <p:cNvSpPr/>
          <p:nvPr/>
        </p:nvSpPr>
        <p:spPr>
          <a:xfrm>
            <a:off x="4860594" y="4066530"/>
            <a:ext cx="1030221" cy="469900"/>
          </a:xfrm>
          <a:prstGeom prst="roundRect">
            <a:avLst>
              <a:gd name="adj" fmla="val 16216"/>
            </a:avLst>
          </a:prstGeom>
          <a:solidFill>
            <a:srgbClr val="24345A"/>
          </a:solidFill>
          <a:ln/>
        </p:spPr>
        <p:txBody>
          <a:bodyPr wrap="none" lIns="0" tIns="0" rIns="0" bIns="0" rtlCol="0" anchor="ctr">
            <a:normAutofit/>
          </a:bodyPr>
          <a:lstStyle/>
          <a:p>
            <a:pPr marL="0" indent="0" algn="ctr">
              <a:lnSpc>
                <a:spcPts val="2100"/>
              </a:lnSpc>
              <a:buNone/>
            </a:pPr>
            <a:r>
              <a:rPr lang="en-US" sz="1500" b="1" dirty="0">
                <a:solidFill>
                  <a:srgbClr val="FBFBF8"/>
                </a:solidFill>
                <a:latin typeface="Nunito Sans" pitchFamily="34" charset="0"/>
                <a:ea typeface="Nunito Sans" pitchFamily="34" charset="-122"/>
                <a:cs typeface="Nunito Sans" pitchFamily="34" charset="-120"/>
              </a:rPr>
              <a:t>Defects</a:t>
            </a:r>
            <a:endParaRPr lang="en-US" sz="1500" dirty="0"/>
          </a:p>
        </p:txBody>
      </p:sp>
      <p:pic>
        <p:nvPicPr>
          <p:cNvPr id="17" name="Image 6" descr="arrow-right"/>
          <p:cNvPicPr>
            <a:picLocks noChangeAspect="1"/>
          </p:cNvPicPr>
          <p:nvPr/>
        </p:nvPicPr>
        <p:blipFill>
          <a:blip r:embed="rId3"/>
          <a:srcRect/>
          <a:stretch/>
        </p:blipFill>
        <p:spPr>
          <a:xfrm>
            <a:off x="6017816" y="4225280"/>
            <a:ext cx="304800" cy="152400"/>
          </a:xfrm>
          <a:prstGeom prst="rect">
            <a:avLst/>
          </a:prstGeom>
        </p:spPr>
      </p:pic>
      <p:sp>
        <p:nvSpPr>
          <p:cNvPr id="18" name="Text 9"/>
          <p:cNvSpPr/>
          <p:nvPr/>
        </p:nvSpPr>
        <p:spPr>
          <a:xfrm>
            <a:off x="6449616" y="4066530"/>
            <a:ext cx="1296326" cy="469900"/>
          </a:xfrm>
          <a:prstGeom prst="roundRect">
            <a:avLst>
              <a:gd name="adj" fmla="val 16216"/>
            </a:avLst>
          </a:prstGeom>
          <a:solidFill>
            <a:srgbClr val="F0A04B"/>
          </a:solidFill>
          <a:ln/>
        </p:spPr>
        <p:txBody>
          <a:bodyPr wrap="none" lIns="0" tIns="0" rIns="0" bIns="0" rtlCol="0" anchor="ctr">
            <a:normAutofit/>
          </a:bodyPr>
          <a:lstStyle/>
          <a:p>
            <a:pPr marL="0" indent="0" algn="ctr">
              <a:lnSpc>
                <a:spcPts val="2100"/>
              </a:lnSpc>
              <a:buNone/>
            </a:pPr>
            <a:r>
              <a:rPr lang="en-US" sz="1500" b="1" dirty="0">
                <a:solidFill>
                  <a:srgbClr val="14213D"/>
                </a:solidFill>
                <a:latin typeface="Nunito Sans" pitchFamily="34" charset="0"/>
                <a:ea typeface="Nunito Sans" pitchFamily="34" charset="-122"/>
                <a:cs typeface="Nunito Sans" pitchFamily="34" charset="-120"/>
              </a:rPr>
              <a:t>Estimation</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WHERE TO GO NEXT</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Keep building the skill</a:t>
            </a:r>
            <a:endParaRPr lang="en-US" sz="3200" dirty="0"/>
          </a:p>
        </p:txBody>
      </p:sp>
      <p:sp>
        <p:nvSpPr>
          <p:cNvPr id="4" name="Shape 2"/>
          <p:cNvSpPr/>
          <p:nvPr/>
        </p:nvSpPr>
        <p:spPr>
          <a:xfrm>
            <a:off x="812800" y="1828750"/>
            <a:ext cx="5207000" cy="1061641"/>
          </a:xfrm>
          <a:prstGeom prst="roundRect">
            <a:avLst>
              <a:gd name="adj" fmla="val 9570"/>
            </a:avLst>
          </a:prstGeom>
          <a:solidFill>
            <a:srgbClr val="EEF2F7"/>
          </a:solidFill>
          <a:ln/>
        </p:spPr>
      </p:sp>
      <p:pic>
        <p:nvPicPr>
          <p:cNvPr id="5" name="Image 0" descr="Wrench"/>
          <p:cNvPicPr>
            <a:picLocks noChangeAspect="1"/>
          </p:cNvPicPr>
          <p:nvPr/>
        </p:nvPicPr>
        <p:blipFill>
          <a:blip r:embed="rId3"/>
          <a:srcRect/>
          <a:stretch/>
        </p:blipFill>
        <p:spPr>
          <a:xfrm>
            <a:off x="1016000" y="2006550"/>
            <a:ext cx="254000" cy="254000"/>
          </a:xfrm>
          <a:prstGeom prst="rect">
            <a:avLst/>
          </a:prstGeom>
        </p:spPr>
      </p:pic>
      <p:sp>
        <p:nvSpPr>
          <p:cNvPr id="6" name="Text 3"/>
          <p:cNvSpPr/>
          <p:nvPr/>
        </p:nvSpPr>
        <p:spPr>
          <a:xfrm>
            <a:off x="1397000" y="2006550"/>
            <a:ext cx="455218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Domine" pitchFamily="18" charset="0"/>
                <a:ea typeface="Domine" pitchFamily="18" charset="-122"/>
                <a:cs typeface="Domine" pitchFamily="18" charset="-120"/>
              </a:rPr>
              <a:t>Practice</a:t>
            </a:r>
            <a:endParaRPr lang="en-US" sz="1500" dirty="0"/>
          </a:p>
        </p:txBody>
      </p:sp>
      <p:sp>
        <p:nvSpPr>
          <p:cNvPr id="7" name="Text 4"/>
          <p:cNvSpPr/>
          <p:nvPr/>
        </p:nvSpPr>
        <p:spPr>
          <a:xfrm>
            <a:off x="1397000" y="2285950"/>
            <a:ext cx="455218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Pick an app you use daily (food delivery, banking, ride-hailing); write scenarios and test cases for one feature.</a:t>
            </a:r>
            <a:endParaRPr lang="en-US" sz="1200" dirty="0"/>
          </a:p>
        </p:txBody>
      </p:sp>
      <p:sp>
        <p:nvSpPr>
          <p:cNvPr id="8" name="Shape 5"/>
          <p:cNvSpPr/>
          <p:nvPr/>
        </p:nvSpPr>
        <p:spPr>
          <a:xfrm>
            <a:off x="6172200" y="1828750"/>
            <a:ext cx="5207000" cy="1061641"/>
          </a:xfrm>
          <a:prstGeom prst="roundRect">
            <a:avLst>
              <a:gd name="adj" fmla="val 9570"/>
            </a:avLst>
          </a:prstGeom>
          <a:solidFill>
            <a:srgbClr val="EEF2F7"/>
          </a:solidFill>
          <a:ln/>
        </p:spPr>
      </p:sp>
      <p:pic>
        <p:nvPicPr>
          <p:cNvPr id="9" name="Image 1" descr="Tool"/>
          <p:cNvPicPr>
            <a:picLocks noChangeAspect="1"/>
          </p:cNvPicPr>
          <p:nvPr/>
        </p:nvPicPr>
        <p:blipFill>
          <a:blip r:embed="rId4"/>
          <a:srcRect/>
          <a:stretch/>
        </p:blipFill>
        <p:spPr>
          <a:xfrm>
            <a:off x="6375400" y="2006550"/>
            <a:ext cx="254000" cy="254000"/>
          </a:xfrm>
          <a:prstGeom prst="rect">
            <a:avLst/>
          </a:prstGeom>
        </p:spPr>
      </p:pic>
      <p:sp>
        <p:nvSpPr>
          <p:cNvPr id="10" name="Text 6"/>
          <p:cNvSpPr/>
          <p:nvPr/>
        </p:nvSpPr>
        <p:spPr>
          <a:xfrm>
            <a:off x="6756400" y="2006550"/>
            <a:ext cx="455218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Domine" pitchFamily="18" charset="0"/>
                <a:ea typeface="Domine" pitchFamily="18" charset="-122"/>
                <a:cs typeface="Domine" pitchFamily="18" charset="-120"/>
              </a:rPr>
              <a:t>Tools</a:t>
            </a:r>
            <a:endParaRPr lang="en-US" sz="1500" dirty="0"/>
          </a:p>
        </p:txBody>
      </p:sp>
      <p:sp>
        <p:nvSpPr>
          <p:cNvPr id="11" name="Text 7"/>
          <p:cNvSpPr/>
          <p:nvPr/>
        </p:nvSpPr>
        <p:spPr>
          <a:xfrm>
            <a:off x="6756400" y="2285950"/>
            <a:ext cx="455218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A test management tool (Jira + Xray/Zephyr, TestRail) and a bug tracker (Jira, Azure DevOps).</a:t>
            </a:r>
            <a:endParaRPr lang="en-US" sz="1200" dirty="0"/>
          </a:p>
        </p:txBody>
      </p:sp>
      <p:sp>
        <p:nvSpPr>
          <p:cNvPr id="12" name="Shape 8"/>
          <p:cNvSpPr/>
          <p:nvPr/>
        </p:nvSpPr>
        <p:spPr>
          <a:xfrm>
            <a:off x="812800" y="3042791"/>
            <a:ext cx="5207000" cy="1061641"/>
          </a:xfrm>
          <a:prstGeom prst="roundRect">
            <a:avLst>
              <a:gd name="adj" fmla="val 9570"/>
            </a:avLst>
          </a:prstGeom>
          <a:solidFill>
            <a:srgbClr val="EEF2F7"/>
          </a:solidFill>
          <a:ln/>
        </p:spPr>
      </p:sp>
      <p:pic>
        <p:nvPicPr>
          <p:cNvPr id="13" name="Image 2" descr="Code"/>
          <p:cNvPicPr>
            <a:picLocks noChangeAspect="1"/>
          </p:cNvPicPr>
          <p:nvPr/>
        </p:nvPicPr>
        <p:blipFill>
          <a:blip r:embed="rId5"/>
          <a:srcRect/>
          <a:stretch/>
        </p:blipFill>
        <p:spPr>
          <a:xfrm>
            <a:off x="1016000" y="3220591"/>
            <a:ext cx="254000" cy="254000"/>
          </a:xfrm>
          <a:prstGeom prst="rect">
            <a:avLst/>
          </a:prstGeom>
        </p:spPr>
      </p:pic>
      <p:sp>
        <p:nvSpPr>
          <p:cNvPr id="14" name="Text 9"/>
          <p:cNvSpPr/>
          <p:nvPr/>
        </p:nvSpPr>
        <p:spPr>
          <a:xfrm>
            <a:off x="1397000" y="3220591"/>
            <a:ext cx="455218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Domine" pitchFamily="18" charset="0"/>
                <a:ea typeface="Domine" pitchFamily="18" charset="-122"/>
                <a:cs typeface="Domine" pitchFamily="18" charset="-120"/>
              </a:rPr>
              <a:t>Next skills</a:t>
            </a:r>
            <a:endParaRPr lang="en-US" sz="1500" dirty="0"/>
          </a:p>
        </p:txBody>
      </p:sp>
      <p:sp>
        <p:nvSpPr>
          <p:cNvPr id="15" name="Text 10"/>
          <p:cNvSpPr/>
          <p:nvPr/>
        </p:nvSpPr>
        <p:spPr>
          <a:xfrm>
            <a:off x="1397000" y="3499991"/>
            <a:ext cx="455218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SQL for data validation, API testing with Postman, intro to automation (Selenium / Playwright).</a:t>
            </a:r>
            <a:endParaRPr lang="en-US" sz="1200" dirty="0"/>
          </a:p>
        </p:txBody>
      </p:sp>
      <p:sp>
        <p:nvSpPr>
          <p:cNvPr id="16" name="Shape 11"/>
          <p:cNvSpPr/>
          <p:nvPr/>
        </p:nvSpPr>
        <p:spPr>
          <a:xfrm>
            <a:off x="6172200" y="3042791"/>
            <a:ext cx="5207000" cy="1061641"/>
          </a:xfrm>
          <a:prstGeom prst="roundRect">
            <a:avLst>
              <a:gd name="adj" fmla="val 9570"/>
            </a:avLst>
          </a:prstGeom>
          <a:solidFill>
            <a:srgbClr val="EEF2F7"/>
          </a:solidFill>
          <a:ln/>
        </p:spPr>
      </p:sp>
      <p:pic>
        <p:nvPicPr>
          <p:cNvPr id="17" name="Image 3" descr="GraduationCap"/>
          <p:cNvPicPr>
            <a:picLocks noChangeAspect="1"/>
          </p:cNvPicPr>
          <p:nvPr/>
        </p:nvPicPr>
        <p:blipFill>
          <a:blip r:embed="rId6"/>
          <a:srcRect/>
          <a:stretch/>
        </p:blipFill>
        <p:spPr>
          <a:xfrm>
            <a:off x="6375400" y="3220591"/>
            <a:ext cx="254000" cy="254000"/>
          </a:xfrm>
          <a:prstGeom prst="rect">
            <a:avLst/>
          </a:prstGeom>
        </p:spPr>
      </p:pic>
      <p:sp>
        <p:nvSpPr>
          <p:cNvPr id="18" name="Text 12"/>
          <p:cNvSpPr/>
          <p:nvPr/>
        </p:nvSpPr>
        <p:spPr>
          <a:xfrm>
            <a:off x="6756400" y="3220591"/>
            <a:ext cx="455218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Domine" pitchFamily="18" charset="0"/>
                <a:ea typeface="Domine" pitchFamily="18" charset="-122"/>
                <a:cs typeface="Domine" pitchFamily="18" charset="-120"/>
              </a:rPr>
              <a:t>Certification (optional)</a:t>
            </a:r>
            <a:endParaRPr lang="en-US" sz="1500" dirty="0"/>
          </a:p>
        </p:txBody>
      </p:sp>
      <p:sp>
        <p:nvSpPr>
          <p:cNvPr id="19" name="Text 13"/>
          <p:cNvSpPr/>
          <p:nvPr/>
        </p:nvSpPr>
        <p:spPr>
          <a:xfrm>
            <a:off x="6756400" y="3499991"/>
            <a:ext cx="455218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ISTQB Certified Tester Foundation Level (CTFL) covers these concepts in depth.</a:t>
            </a:r>
            <a:endParaRPr lang="en-US" sz="1200" dirty="0"/>
          </a:p>
        </p:txBody>
      </p:sp>
      <p:sp>
        <p:nvSpPr>
          <p:cNvPr id="20" name="Shape 14"/>
          <p:cNvSpPr/>
          <p:nvPr/>
        </p:nvSpPr>
        <p:spPr>
          <a:xfrm>
            <a:off x="838200" y="4383832"/>
            <a:ext cx="0" cy="655241"/>
          </a:xfrm>
          <a:prstGeom prst="line">
            <a:avLst/>
          </a:prstGeom>
          <a:noFill/>
          <a:ln w="50800">
            <a:solidFill>
              <a:srgbClr val="A14F0A"/>
            </a:solidFill>
            <a:prstDash val="solid"/>
          </a:ln>
        </p:spPr>
      </p:sp>
      <p:sp>
        <p:nvSpPr>
          <p:cNvPr id="21" name="Text 15"/>
          <p:cNvSpPr/>
          <p:nvPr/>
        </p:nvSpPr>
        <p:spPr>
          <a:xfrm>
            <a:off x="1066800" y="4409232"/>
            <a:ext cx="10621772"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4213D"/>
                </a:solidFill>
                <a:latin typeface="Domine" pitchFamily="18" charset="0"/>
                <a:ea typeface="Domine" pitchFamily="18" charset="-122"/>
                <a:cs typeface="Domine" pitchFamily="18" charset="-120"/>
              </a:rPr>
              <a:t>Good testers don't just find bugs. They provide </a:t>
            </a:r>
            <a:r>
              <a:rPr lang="en-US" sz="1700" b="1" dirty="0">
                <a:solidFill>
                  <a:srgbClr val="A14F0A"/>
                </a:solidFill>
                <a:latin typeface="Domine" pitchFamily="18" charset="0"/>
                <a:ea typeface="Domine" pitchFamily="18" charset="-122"/>
                <a:cs typeface="Domine" pitchFamily="18" charset="-120"/>
              </a:rPr>
              <a:t>evidence about quality</a:t>
            </a:r>
            <a:r>
              <a:rPr lang="en-US" sz="1700" dirty="0">
                <a:solidFill>
                  <a:srgbClr val="14213D"/>
                </a:solidFill>
                <a:latin typeface="Domine" pitchFamily="18" charset="0"/>
                <a:ea typeface="Domine" pitchFamily="18" charset="-122"/>
                <a:cs typeface="Domine" pitchFamily="18" charset="-120"/>
              </a:rPr>
              <a:t> so their team can make </a:t>
            </a:r>
            <a:r>
              <a:rPr lang="en-US" sz="1700" b="1" dirty="0">
                <a:solidFill>
                  <a:srgbClr val="A14F0A"/>
                </a:solidFill>
                <a:latin typeface="Domine" pitchFamily="18" charset="0"/>
                <a:ea typeface="Domine" pitchFamily="18" charset="-122"/>
                <a:cs typeface="Domine" pitchFamily="18" charset="-120"/>
              </a:rPr>
              <a:t>confident decisions</a:t>
            </a:r>
            <a:r>
              <a:rPr lang="en-US" sz="1700" dirty="0">
                <a:solidFill>
                  <a:srgbClr val="14213D"/>
                </a:solidFill>
                <a:latin typeface="Domine" pitchFamily="18" charset="0"/>
                <a:ea typeface="Domine" pitchFamily="18" charset="-122"/>
                <a:cs typeface="Domine" pitchFamily="18" charset="-120"/>
              </a:rPr>
              <a:t>.</a:t>
            </a:r>
            <a:endParaRPr lang="en-US" sz="1700" dirty="0"/>
          </a:p>
        </p:txBody>
      </p:sp>
    </p:spTree>
  </p:cSld>
  <p:clrMapOvr>
    <a:masterClrMapping/>
  </p:clrMapOvr>
</p:sld>
</file>

<file path=ppt/theme/theme1.xml><?xml version="1.0" encoding="utf-8"?>
<a:theme xmlns:a="http://schemas.openxmlformats.org/drawingml/2006/main" name="Capstone: E-Commerce Checkout">
  <a:themeElements>
    <a:clrScheme name="Capstone: E-Commerce Checkout">
      <a:dk1>
        <a:srgbClr val="14213D"/>
      </a:dk1>
      <a:lt1>
        <a:srgbClr val="FBFBF8"/>
      </a:lt1>
      <a:dk2>
        <a:srgbClr val="4E586C"/>
      </a:dk2>
      <a:lt2>
        <a:srgbClr val="E4E5E5"/>
      </a:lt2>
      <a:accent1>
        <a:srgbClr val="A14F0A"/>
      </a:accent1>
      <a:accent2>
        <a:srgbClr val="F0A04B"/>
      </a:accent2>
      <a:accent3>
        <a:srgbClr val="24345A"/>
      </a:accent3>
      <a:accent4>
        <a:srgbClr val="2B5C9E"/>
      </a:accent4>
      <a:accent5>
        <a:srgbClr val="3D4A5C"/>
      </a:accent5>
      <a:accent6>
        <a:srgbClr val="DCE4F0"/>
      </a:accent6>
      <a:hlink>
        <a:srgbClr val="0563C1"/>
      </a:hlink>
      <a:folHlink>
        <a:srgbClr val="954F72"/>
      </a:folHlink>
    </a:clrScheme>
    <a:fontScheme name="Capstone: E-Commerce Checkout">
      <a:majorFont>
        <a:latin typeface="Dom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5964</Words>
  <Application>Microsoft Office PowerPoint</Application>
  <PresentationFormat>Widescreen</PresentationFormat>
  <Paragraphs>771</Paragraphs>
  <Slides>37</Slides>
  <Notes>37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Domine</vt:lpstr>
      <vt:lpstr>JetBrains Mono</vt:lpstr>
      <vt:lpstr>Nunito Sans</vt:lpstr>
      <vt:lpstr>Capstone: E-Commerce Checkout</vt:lpstr>
      <vt:lpstr>E-Commerce Checkout</vt:lpstr>
      <vt:lpstr>Six deliverables, one feature</vt:lpstr>
      <vt:lpstr>US-301 and its acceptance criteria</vt:lpstr>
      <vt:lpstr>What the team agreed</vt:lpstr>
      <vt:lpstr>Sandbox test cards</vt:lpstr>
      <vt:lpstr>Why and how does each type apply to checkout?</vt:lpstr>
      <vt:lpstr>Four types at the core</vt:lpstr>
      <vt:lpstr>Plus load, change and the customer</vt:lpstr>
      <vt:lpstr>Plan where to test hardest</vt:lpstr>
      <vt:lpstr>Money and orders top the list</vt:lpstr>
      <vt:lpstr>Depth where the risk is</vt:lpstr>
      <vt:lpstr>Repetitive, stable and critical</vt:lpstr>
      <vt:lpstr>When to start, when to stop</vt:lpstr>
      <vt:lpstr>List 15+ scenarios, classify each, map it to an AC</vt:lpstr>
      <vt:lpstr>Cart, shipping and card details</vt:lpstr>
      <vt:lpstr>Payment outcomes and interruptions</vt:lpstr>
      <vt:lpstr>Confirmation, security, retries, platforms</vt:lpstr>
      <vt:lpstr>Turn two scenarios into executable test cases</vt:lpstr>
      <vt:lpstr>The team's 18 test cases</vt:lpstr>
      <vt:lpstr>Successful purchase with a valid Visa card</vt:lpstr>
      <vt:lpstr>Expected results say what must not happen</vt:lpstr>
      <vt:lpstr>Test either side of every edge</vt:lpstr>
      <vt:lpstr>Payment outcome, rule by rule</vt:lpstr>
      <vt:lpstr>Report the failures, then follow them through</vt:lpstr>
      <vt:lpstr>What the test run found</vt:lpstr>
      <vt:lpstr>What happened next</vt:lpstr>
      <vt:lpstr>Checkout: double-clicking "Place Order" creates duplicate orders and double-charges the customer</vt:lpstr>
      <vt:lpstr>Payment: expired card (past expiry month) is accepted and an order is created</vt:lpstr>
      <vt:lpstr>Five defects, four different paths</vt:lpstr>
      <vt:lpstr>What these defects teach</vt:lpstr>
      <vt:lpstr>How long will checkout testing take?</vt:lpstr>
      <vt:lpstr>Most likely: about 102 hours</vt:lpstr>
      <vt:lpstr>About 106 hours, about 9 working days</vt:lpstr>
      <vt:lpstr>What the number depends on</vt:lpstr>
      <vt:lpstr>Check your work before you finish</vt:lpstr>
      <vt:lpstr>The journey you'll follow on real projects</vt:lpstr>
      <vt:lpstr>Keep building the skill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E-Commerce Checkout</dc:title>
  <dc:subject/>
  <dc:creator/>
  <cp:lastModifiedBy>Saurabh Kamath</cp:lastModifiedBy>
  <cp:revision>2</cp:revision>
  <dcterms:created xsi:type="dcterms:W3CDTF">2026-10-06T17:52:21Z</dcterms:created>
  <dcterms:modified xsi:type="dcterms:W3CDTF">2026-10-06T18:19:15Z</dcterms:modified>
</cp:coreProperties>
</file>